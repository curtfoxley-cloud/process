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Framing: this is a bridge between two mature control systems we already run — the SMS/SRM stack under SM-0001 and the CM stack under EIA-649-1. Neither standard mandates a GR&amp;A register today. The proposal is to make GR&amp;A a first-class controlled artifact so that assumption validity is re-examined by mechanism rather than by memory.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present this as a discipline failure. It is an incentive failure. Any fix that relies on bid teams voluntarily spending more will not hold.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that converts the topic from good engineering hygiene into an SMS compliance obligation. Lead with it when talking to program leadership.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incentive point: the cost of rebuilding GR&amp;A lands on the bid, the consequence of not rebuilding lands on execution. Process alone will not hold this. It needs an accountable owner spanning both — which points at the Safety Accountable Executive.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A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-914400"/>
            <a:ext cx="6035040" cy="5029200"/>
          </a:xfrm>
          <a:prstGeom prst="roundRect">
            <a:avLst>
              <a:gd name="adj" fmla="val 364"/>
            </a:avLst>
          </a:prstGeom>
          <a:solidFill>
            <a:srgbClr val="1B3866"/>
          </a:solidFill>
          <a:ln w="12700">
            <a:solidFill>
              <a:srgbClr val="1B38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01200" y="4279392"/>
            <a:ext cx="4572000" cy="3566160"/>
          </a:xfrm>
          <a:prstGeom prst="roundRect">
            <a:avLst>
              <a:gd name="adj" fmla="val 513"/>
            </a:avLst>
          </a:prstGeom>
          <a:solidFill>
            <a:srgbClr val="0E2545"/>
          </a:solidFill>
          <a:ln w="12700">
            <a:solidFill>
              <a:srgbClr val="0E254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38160" y="4279392"/>
            <a:ext cx="1280160" cy="1280160"/>
          </a:xfrm>
          <a:prstGeom prst="roundRect">
            <a:avLst>
              <a:gd name="adj" fmla="val 1429"/>
            </a:avLst>
          </a:prstGeom>
          <a:solidFill>
            <a:srgbClr val="B4530C"/>
          </a:solidFill>
          <a:ln w="12700">
            <a:solidFill>
              <a:srgbClr val="B4530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716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F0B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MANAGEMENT · CONFIGURATION MANAGEMENT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6949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 Rules &amp; Assumptions as Configuration-Controlled Safety Artifacts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48640" y="379476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C9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the gap between inherited GR&amp;A, SM-0001 safety risk management, and EIA-649-1 configuration control — across hardware, human factors, and interfaces.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507492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for: Enterprise SMS Technical Fellow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5376672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DB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draft — proposed practice, not current standard text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B45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PRACTICE TODAY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3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Programs inherit GR&amp;A on the basis of similarity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20440" cy="2395728"/>
          </a:xfrm>
          <a:prstGeom prst="roundRect">
            <a:avLst>
              <a:gd name="adj" fmla="val 2290"/>
            </a:avLst>
          </a:prstGeom>
          <a:solidFill>
            <a:srgbClr val="E9EEF7"/>
          </a:solidFill>
          <a:ln w="12700">
            <a:solidFill>
              <a:srgbClr val="D3DE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8288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B45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04672" y="2212848"/>
            <a:ext cx="3035808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GR&amp;A are written at proposal — several lifecycle states before configuration items exist and before any hazard analysis has been performed.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15968" y="1600200"/>
            <a:ext cx="3520440" cy="2395728"/>
          </a:xfrm>
          <a:prstGeom prst="roundRect">
            <a:avLst>
              <a:gd name="adj" fmla="val 2290"/>
            </a:avLst>
          </a:prstGeom>
          <a:solidFill>
            <a:srgbClr val="E9EEF7"/>
          </a:solidFill>
          <a:ln w="12700">
            <a:solidFill>
              <a:srgbClr val="D3DE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0" y="18288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B45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0" y="2212848"/>
            <a:ext cx="3035808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Rebuilding GR&amp;A is expensive. The cost of rebuilding lands on the bid; the consequence of not rebuilding lands on execution, years later. The incentive is structural, not cultural.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083296" y="1600200"/>
            <a:ext cx="3520440" cy="2395728"/>
          </a:xfrm>
          <a:prstGeom prst="roundRect">
            <a:avLst>
              <a:gd name="adj" fmla="val 2290"/>
            </a:avLst>
          </a:prstGeom>
          <a:solidFill>
            <a:srgbClr val="E9EEF7"/>
          </a:solidFill>
          <a:ln w="12700">
            <a:solidFill>
              <a:srgbClr val="D3DE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39328" y="18288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B45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TRANSFERS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339328" y="2212848"/>
            <a:ext cx="3035808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GR&amp;A statement and its conclusion. Rarely the conditions that made it true on the donor program, and almost never the evidence that those conditions still hold.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315968"/>
            <a:ext cx="11091672" cy="1143000"/>
          </a:xfrm>
          <a:prstGeom prst="roundRect">
            <a:avLst>
              <a:gd name="adj" fmla="val 4800"/>
            </a:avLst>
          </a:prstGeom>
          <a:solidFill>
            <a:srgbClr val="132A4E"/>
          </a:solidFill>
          <a:ln w="12700">
            <a:solidFill>
              <a:srgbClr val="132A4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448056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of hardware is a claim about one item. A GR&amp;A is a claim about that item inside a specific operating environment, installation, duty cycle, maintenance program, and organization.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5715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GR&amp;A that matter most are written by the people who best understand why — and read years later by people who cannot reconstruct that reasoning.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B45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MODE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3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conclusion travels. The conditions stay behind.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5394960" cy="1874520"/>
          </a:xfrm>
          <a:prstGeom prst="roundRect">
            <a:avLst>
              <a:gd name="adj" fmla="val 2927"/>
            </a:avLst>
          </a:prstGeom>
          <a:solidFill>
            <a:srgbClr val="FBEBDC"/>
          </a:solidFill>
          <a:ln w="12700">
            <a:solidFill>
              <a:srgbClr val="ECC8A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5564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GR&amp;A actually is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2084832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i="1" dirty="0">
                <a:solidFill>
                  <a:srgbClr val="1A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conditional risk-control credit: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i="1" dirty="0">
                <a:solidFill>
                  <a:srgbClr val="1A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"this risk is acceptable PROVIDED X is true."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45352" y="1572768"/>
            <a:ext cx="5394960" cy="1874520"/>
          </a:xfrm>
          <a:prstGeom prst="roundRect">
            <a:avLst>
              <a:gd name="adj" fmla="val 2927"/>
            </a:avLst>
          </a:prstGeom>
          <a:solidFill>
            <a:srgbClr val="E9EEF7"/>
          </a:solidFill>
          <a:ln w="12700">
            <a:solidFill>
              <a:srgbClr val="D3DE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19672" y="175564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hardware similarity establishes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19672" y="2084832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i="1" dirty="0">
                <a:solidFill>
                  <a:srgbClr val="1A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 most one of the X's — and only the ones expressed as part-level attributes.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363931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 that do not travel with a part number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041648"/>
            <a:ext cx="260604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3DE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6656" y="4041648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 &amp; mounting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346704" y="4041648"/>
            <a:ext cx="260604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3DE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0" y="4041648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Duty cycle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144768" y="4041648"/>
            <a:ext cx="260604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3DE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72784" y="4041648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 / vibration environment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942832" y="4041648"/>
            <a:ext cx="260604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3DE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70848" y="4041648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 interval &amp; detectability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791456"/>
            <a:ext cx="260604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3DE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6656" y="4791456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and maintainer behaviour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346704" y="4791456"/>
            <a:ext cx="260604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3DE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4791456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Interfacing systems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144768" y="4791456"/>
            <a:ext cx="260604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3DE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72784" y="4791456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Staffing &amp; training level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942832" y="4791456"/>
            <a:ext cx="2606040" cy="603504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3DEE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070848" y="4791456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utilisation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48640" y="5623560"/>
            <a:ext cx="11091672" cy="777240"/>
          </a:xfrm>
          <a:prstGeom prst="roundRect">
            <a:avLst>
              <a:gd name="adj" fmla="val 7059"/>
            </a:avLst>
          </a:prstGeom>
          <a:solidFill>
            <a:srgbClr val="132A4E"/>
          </a:solidFill>
          <a:ln w="12700">
            <a:solidFill>
              <a:srgbClr val="132A4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41248" y="571500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SM-0001 lists assumptions as a hazard-log field precisely so they can be re-examined when they change. Reuse-by-similarity copies an assumption into a state where nobody knows what a change would look like.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B45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THAT IS A COMPLIANCE FINDING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3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Second failure: risk acceptance with no accountable person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11091672" cy="1024128"/>
          </a:xfrm>
          <a:prstGeom prst="roundRect">
            <a:avLst>
              <a:gd name="adj" fmla="val 5357"/>
            </a:avLst>
          </a:prstGeom>
          <a:solidFill>
            <a:srgbClr val="E9EEF7"/>
          </a:solidFill>
          <a:ln w="12700">
            <a:solidFill>
              <a:srgbClr val="D3DE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1248" y="189280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32A4E"/>
          </a:solidFill>
          <a:ln w="12700">
            <a:solidFill>
              <a:srgbClr val="132A4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892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417320" y="171907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donor program accepted a risk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417320" y="2048256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Someone named, on another program, under another risk-tolerability envelope, accepted the residual risk that the GR&amp;A left open.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743200"/>
            <a:ext cx="11091672" cy="1024128"/>
          </a:xfrm>
          <a:prstGeom prst="roundRect">
            <a:avLst>
              <a:gd name="adj" fmla="val 5357"/>
            </a:avLst>
          </a:prstGeom>
          <a:solidFill>
            <a:srgbClr val="E9EEF7"/>
          </a:solidFill>
          <a:ln w="12700">
            <a:solidFill>
              <a:srgbClr val="D3DE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1248" y="30632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32A4E"/>
          </a:solidFill>
          <a:ln w="12700">
            <a:solidFill>
              <a:srgbClr val="132A4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3063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17320" y="2889504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receiving program inherits the credit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417320" y="3218688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statement arrives. The acceptance decision does not — there is no named acceptor on the receiving program, and no record that one was asked.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913632"/>
            <a:ext cx="11091672" cy="1024128"/>
          </a:xfrm>
          <a:prstGeom prst="roundRect">
            <a:avLst>
              <a:gd name="adj" fmla="val 5357"/>
            </a:avLst>
          </a:prstGeom>
          <a:solidFill>
            <a:srgbClr val="FBEBDC"/>
          </a:solidFill>
          <a:ln w="12700">
            <a:solidFill>
              <a:srgbClr val="ECC8A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1248" y="423367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B4530C"/>
          </a:solidFill>
          <a:ln w="12700">
            <a:solidFill>
              <a:srgbClr val="B4530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" y="4233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417320" y="4059936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assumption becomes background truth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417320" y="4389120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Unbound and unowned, it stops reading as a decision at all. By CDR it is simply how the program understands the product.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5175504"/>
            <a:ext cx="11091672" cy="1234440"/>
          </a:xfrm>
          <a:prstGeom prst="roundRect">
            <a:avLst>
              <a:gd name="adj" fmla="val 4444"/>
            </a:avLst>
          </a:prstGeom>
          <a:solidFill>
            <a:srgbClr val="132A4E"/>
          </a:solidFill>
          <a:ln w="12700">
            <a:solidFill>
              <a:srgbClr val="132A4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5321808"/>
            <a:ext cx="10469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SM-0001 requires risk acceptability criteria to be defined and responsibility for accepting risk to be clearly assigned.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provisional GR&amp;A still carrying risk credit at CDR is therefore a live noncompliance — not a schedule item. Framing it that way is what gets it funded.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B45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OBLIGATIONS, NOT NEW ONES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3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SM-0001 already gives us the hook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1920240"/>
          </a:xfrm>
          <a:prstGeom prst="roundRect">
            <a:avLst>
              <a:gd name="adj" fmla="val 2857"/>
            </a:avLst>
          </a:prstGeom>
          <a:solidFill>
            <a:srgbClr val="E9EEF7"/>
          </a:solidFill>
          <a:ln w="12700">
            <a:solidFill>
              <a:srgbClr val="D3DE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01368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13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Assumptions are a hazard-log field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404872"/>
            <a:ext cx="48646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2 lists assumptions among hazard-record content, with the stated rationale that they can be examined when they change to see whether the risk assessment still holds.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181344" y="1600200"/>
            <a:ext cx="5394960" cy="1920240"/>
          </a:xfrm>
          <a:prstGeom prst="roundRect">
            <a:avLst>
              <a:gd name="adj" fmla="val 2857"/>
            </a:avLst>
          </a:prstGeom>
          <a:solidFill>
            <a:srgbClr val="E9EEF7"/>
          </a:solidFill>
          <a:ln w="12700">
            <a:solidFill>
              <a:srgbClr val="D3DE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55664" y="1801368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13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description bounds scope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55664" y="2404872"/>
            <a:ext cx="48646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organizational system description documents which areas are subject to SRM — so it also bounds which GR&amp;A must be controlled, and lets us defend excluding the rest.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721608"/>
            <a:ext cx="5394960" cy="1920240"/>
          </a:xfrm>
          <a:prstGeom prst="roundRect">
            <a:avLst>
              <a:gd name="adj" fmla="val 2857"/>
            </a:avLst>
          </a:prstGeom>
          <a:solidFill>
            <a:srgbClr val="E9EEF7"/>
          </a:solidFill>
          <a:ln w="12700">
            <a:solidFill>
              <a:srgbClr val="D3DE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922776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13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acceptance must be owned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60" y="4526280"/>
            <a:ext cx="48646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Acceptability criteria and the responsibility for accepting risk must be clearly defined; the Accountable Executive owns tolerability and can stop work at unacceptable risk.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81344" y="3721608"/>
            <a:ext cx="5394960" cy="1920240"/>
          </a:xfrm>
          <a:prstGeom prst="roundRect">
            <a:avLst>
              <a:gd name="adj" fmla="val 2857"/>
            </a:avLst>
          </a:prstGeom>
          <a:solidFill>
            <a:srgbClr val="E9EEF7"/>
          </a:solidFill>
          <a:ln w="12700">
            <a:solidFill>
              <a:srgbClr val="D3DE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55664" y="3922776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600" b="1" dirty="0">
                <a:solidFill>
                  <a:srgbClr val="13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 &amp; organizational factors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55664" y="4526280"/>
            <a:ext cx="48646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controls must take operational, technical, human and organizational factors into account — which places human-factors GR&amp;A squarely inside the SMS, not beside it.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B45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not asking for a new requirement. We are asking that an existing hazard-record field be given an owner, a lifecycle, and a configuration anchor.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B45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NEEDS TO HAPPEN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3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record: what a controlled GR&amp;A carries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3520440" cy="1261872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3DE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171907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4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68096" y="2048256"/>
            <a:ext cx="312724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ID · owner · binding state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315968" y="1572768"/>
            <a:ext cx="3520440" cy="1261872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3DE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35424" y="171907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4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35424" y="2048256"/>
            <a:ext cx="312724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assertion, kept separate from its rationale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083296" y="1572768"/>
            <a:ext cx="3520440" cy="1261872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3DE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02752" y="171907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4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302752" y="2048256"/>
            <a:ext cx="312724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was made — the part that is impossible to reconstruct later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990088"/>
            <a:ext cx="3520440" cy="1261872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3DE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8096" y="313639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4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Validity conditions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68096" y="3465576"/>
            <a:ext cx="312724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Falsifiable claims about what must be true for the statement to hold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15968" y="2990088"/>
            <a:ext cx="3520440" cy="1261872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3DE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35424" y="313639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4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anchor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35424" y="3465576"/>
            <a:ext cx="312724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CI, baseline and revision each condition depends on — cited, never restated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083296" y="2990088"/>
            <a:ext cx="3520440" cy="1261872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3DE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02752" y="313639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4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Consuming analyses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302752" y="3465576"/>
            <a:ext cx="312724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FHA / FMEA / SSA / task analysis / compliance finding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4407408"/>
            <a:ext cx="3520440" cy="1261872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3DE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8096" y="455371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4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Dependent hazards &amp; controls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68096" y="4882896"/>
            <a:ext cx="312724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hazard and which risk control lose their basis if this fails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315968" y="4407408"/>
            <a:ext cx="3520440" cy="1261872"/>
          </a:xfrm>
          <a:prstGeom prst="roundRect">
            <a:avLst>
              <a:gd name="adj" fmla="val 4348"/>
            </a:avLst>
          </a:prstGeom>
          <a:solidFill>
            <a:srgbClr val="FBEBDC"/>
          </a:solidFill>
          <a:ln w="12700">
            <a:solidFill>
              <a:srgbClr val="ECC8A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35424" y="455371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risk acceptor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535424" y="4882896"/>
            <a:ext cx="312724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person on THIS program who accepts the residual risk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083296" y="4407408"/>
            <a:ext cx="3520440" cy="1261872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3DEE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02752" y="455371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4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 provenance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8302752" y="4882896"/>
            <a:ext cx="312724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 program, donor GR&amp;A ID and revision, basis of the similarity claim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48640" y="592531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SM-0001's own hazard-record data model — scope, owner, risk-control responsibility, assumptions — reused one level down.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B45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GR&amp;A ↔ CI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3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Configuration items work in both directions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5394960" cy="2286000"/>
          </a:xfrm>
          <a:prstGeom prst="roundRect">
            <a:avLst>
              <a:gd name="adj" fmla="val 2400"/>
            </a:avLst>
          </a:prstGeom>
          <a:solidFill>
            <a:srgbClr val="E9EEF7"/>
          </a:solidFill>
          <a:ln w="12700">
            <a:solidFill>
              <a:srgbClr val="D3DE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78308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32A4E"/>
          </a:solidFill>
          <a:ln w="12700">
            <a:solidFill>
              <a:srgbClr val="132A4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71600" y="1801368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Downward — dependency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2286000"/>
            <a:ext cx="4864608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GR&amp;A cites the configuration documentation that makes it true, rather than restating it. Restating is how assumptions go stale silently. This converts "these programs are similar" from a judgement into a CI-to-CI comparison against baselined product configuration information.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45352" y="1572768"/>
            <a:ext cx="5394960" cy="2286000"/>
          </a:xfrm>
          <a:prstGeom prst="roundRect">
            <a:avLst>
              <a:gd name="adj" fmla="val 2400"/>
            </a:avLst>
          </a:prstGeom>
          <a:solidFill>
            <a:srgbClr val="E9EEF7"/>
          </a:solidFill>
          <a:ln w="12700">
            <a:solidFill>
              <a:srgbClr val="D3DE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19672" y="178308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32A4E"/>
          </a:solidFill>
          <a:ln w="12700">
            <a:solidFill>
              <a:srgbClr val="132A4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19672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068312" y="1801368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Upward — scoping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519672" y="2286000"/>
            <a:ext cx="4864608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EIA-649-1 3.2.1(2)(b) already designates as a CI any item whose failure could cause serious injury, loss of life, or loss of primary capability. GEIA-HB-649 Appendix D adds criteria 5 and 10b. That safety-significant CI set is a defensible boundary for which GR&amp;A get floor treatment.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041648"/>
            <a:ext cx="11091672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3DE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4187952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management is the actual re-examination trigger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" y="4526280"/>
            <a:ext cx="105338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GR&amp;A cite CI baselines, configuration status accounting answers "which GR&amp;A depend on this CI at this revision" — and an engineering change against that CI mechanically surfaces every downstream assumption, hazard and risk control. Existing obligations do the work: 3.3.1.2 (safety-affecting changes are Class I), 3.3.1.4(1) (ECP data must support evaluation of full impacts), 3.4.1(3)(a) (CSA keyed by CI identifier).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5650992"/>
            <a:ext cx="11091672" cy="749808"/>
          </a:xfrm>
          <a:prstGeom prst="roundRect">
            <a:avLst>
              <a:gd name="adj" fmla="val 7317"/>
            </a:avLst>
          </a:prstGeom>
          <a:solidFill>
            <a:srgbClr val="FBEBDC"/>
          </a:solidFill>
          <a:ln w="12700">
            <a:solidFill>
              <a:srgbClr val="ECC8A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5742432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a GR&amp;A-impact field to the ECP form is a form change, not a new process. That is the single cheapest intervention in this deck.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B45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TIMING PROBLEM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3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GR&amp;A are born years before configuration items exist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GR&amp;A are at their most consequential and least verifiable at proposal — exactly when reuse-by-similarity is most tempting and configuration evidence is thinnest.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3063240"/>
            <a:ext cx="10698480" cy="0"/>
          </a:xfrm>
          <a:prstGeom prst="line">
            <a:avLst/>
          </a:prstGeom>
          <a:noFill/>
          <a:ln w="38100">
            <a:solidFill>
              <a:srgbClr val="D3DE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2648" y="2944368"/>
            <a:ext cx="237744" cy="237744"/>
          </a:xfrm>
          <a:prstGeom prst="ellipse">
            <a:avLst/>
          </a:prstGeom>
          <a:solidFill>
            <a:srgbClr val="B4530C"/>
          </a:solidFill>
          <a:ln w="12700">
            <a:solidFill>
              <a:srgbClr val="B4530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-228600" y="24871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-228600" y="327355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GR&amp;A created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34056" y="2944368"/>
            <a:ext cx="237744" cy="237744"/>
          </a:xfrm>
          <a:prstGeom prst="ellipse">
            <a:avLst/>
          </a:prstGeom>
          <a:solidFill>
            <a:srgbClr val="1F4380"/>
          </a:solidFill>
          <a:ln w="12700">
            <a:solidFill>
              <a:srgbClr val="1F43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92808" y="24871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892808" y="327355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baseline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855464" y="2944368"/>
            <a:ext cx="237744" cy="237744"/>
          </a:xfrm>
          <a:prstGeom prst="ellipse">
            <a:avLst/>
          </a:prstGeom>
          <a:solidFill>
            <a:srgbClr val="1F4380"/>
          </a:solidFill>
          <a:ln w="12700">
            <a:solidFill>
              <a:srgbClr val="1F438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14216" y="24871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014216" y="327355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Allocated baseline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976872" y="2944368"/>
            <a:ext cx="237744" cy="237744"/>
          </a:xfrm>
          <a:prstGeom prst="ellipse">
            <a:avLst/>
          </a:prstGeom>
          <a:solidFill>
            <a:srgbClr val="0F6B62"/>
          </a:solidFill>
          <a:ln w="12700">
            <a:solidFill>
              <a:srgbClr val="0F6B6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35624" y="24871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 design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35624" y="327355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identification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098280" y="2944368"/>
            <a:ext cx="237744" cy="237744"/>
          </a:xfrm>
          <a:prstGeom prst="ellipse">
            <a:avLst/>
          </a:prstGeom>
          <a:solidFill>
            <a:srgbClr val="1F4380"/>
          </a:solidFill>
          <a:ln w="12700">
            <a:solidFill>
              <a:srgbClr val="1F438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57032" y="24871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57032" y="327355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baseline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11219688" y="2944368"/>
            <a:ext cx="237744" cy="237744"/>
          </a:xfrm>
          <a:prstGeom prst="ellipse">
            <a:avLst/>
          </a:prstGeom>
          <a:solidFill>
            <a:srgbClr val="1F4380"/>
          </a:solidFill>
          <a:ln w="12700">
            <a:solidFill>
              <a:srgbClr val="1F438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378440" y="24871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service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378440" y="327355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evidence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31520" y="3950208"/>
            <a:ext cx="6400800" cy="402336"/>
          </a:xfrm>
          <a:prstGeom prst="roundRect">
            <a:avLst>
              <a:gd name="adj" fmla="val 11364"/>
            </a:avLst>
          </a:prstGeom>
          <a:solidFill>
            <a:srgbClr val="FBEBDC"/>
          </a:solidFill>
          <a:ln w="12700">
            <a:solidFill>
              <a:srgbClr val="ECC8A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3950208"/>
            <a:ext cx="6217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45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 live here, unverified and unowned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48640" y="4663440"/>
            <a:ext cx="5394960" cy="1691640"/>
          </a:xfrm>
          <a:prstGeom prst="roundRect">
            <a:avLst>
              <a:gd name="adj" fmla="val 3243"/>
            </a:avLst>
          </a:prstGeom>
          <a:solidFill>
            <a:srgbClr val="E9EEF7"/>
          </a:solidFill>
          <a:ln w="12700">
            <a:solidFill>
              <a:srgbClr val="D3DEE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" y="480974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wrong answer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22960" y="5138928"/>
            <a:ext cx="4864608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"Start controlling GR&amp;A at CI identification." That arrives years after the damage is done and after the assumptions have hardened into background truth.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245352" y="4663440"/>
            <a:ext cx="5394960" cy="1691640"/>
          </a:xfrm>
          <a:prstGeom prst="roundRect">
            <a:avLst>
              <a:gd name="adj" fmla="val 3243"/>
            </a:avLst>
          </a:prstGeom>
          <a:solidFill>
            <a:srgbClr val="132A4E"/>
          </a:solidFill>
          <a:ln w="12700">
            <a:solidFill>
              <a:srgbClr val="132A4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19672" y="480974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B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answer: progressive binding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19672" y="5138928"/>
            <a:ext cx="4864608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GR&amp;A early and unanchored, then bind them to successively firmer configuration artifacts as baselines emerge — tracking the residual unbound set as explicit debt.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B45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BINDING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3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Bind to baselines, not to CIs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4475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selection is explicitly iterative — top-level candidates emerge during concept and program definition, lower tiers follow. You do not need a CI set to start binding.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11091672" cy="768096"/>
          </a:xfrm>
          <a:prstGeom prst="roundRect">
            <a:avLst>
              <a:gd name="adj" fmla="val 7143"/>
            </a:avLst>
          </a:prstGeom>
          <a:solidFill>
            <a:srgbClr val="E9EEF7"/>
          </a:solidFill>
          <a:ln w="12700">
            <a:solidFill>
              <a:srgbClr val="D3DE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2185416"/>
            <a:ext cx="2148840" cy="420624"/>
          </a:xfrm>
          <a:prstGeom prst="roundRect">
            <a:avLst>
              <a:gd name="adj" fmla="val 13043"/>
            </a:avLst>
          </a:prstGeom>
          <a:solidFill>
            <a:srgbClr val="B4530C"/>
          </a:solidFill>
          <a:ln w="12700">
            <a:solidFill>
              <a:srgbClr val="B4530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2185416"/>
            <a:ext cx="2148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PROVISIONAL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090672" y="2011680"/>
            <a:ext cx="21488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303520" y="2011680"/>
            <a:ext cx="62179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Recorded with owner, rationale and falsifiable validity conditions. No configuration anchor exists.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880360"/>
            <a:ext cx="11091672" cy="768096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3DEE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9808" y="3054096"/>
            <a:ext cx="2148840" cy="420624"/>
          </a:xfrm>
          <a:prstGeom prst="roundRect">
            <a:avLst>
              <a:gd name="adj" fmla="val 13043"/>
            </a:avLst>
          </a:prstGeom>
          <a:solidFill>
            <a:srgbClr val="1F4380"/>
          </a:solidFill>
          <a:ln w="12700">
            <a:solidFill>
              <a:srgbClr val="1F43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3054096"/>
            <a:ext cx="2148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 — FUNCTIONAL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090672" y="2880360"/>
            <a:ext cx="21488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baseline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303520" y="2880360"/>
            <a:ext cx="62179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envelope and operating environment GR&amp;A bind. Many proposal GR&amp;A discharge or reopen here.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3749040"/>
            <a:ext cx="11091672" cy="768096"/>
          </a:xfrm>
          <a:prstGeom prst="roundRect">
            <a:avLst>
              <a:gd name="adj" fmla="val 7143"/>
            </a:avLst>
          </a:prstGeom>
          <a:solidFill>
            <a:srgbClr val="E9EEF7"/>
          </a:solidFill>
          <a:ln w="12700">
            <a:solidFill>
              <a:srgbClr val="D3DEE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9808" y="3922776"/>
            <a:ext cx="2148840" cy="420624"/>
          </a:xfrm>
          <a:prstGeom prst="roundRect">
            <a:avLst>
              <a:gd name="adj" fmla="val 13043"/>
            </a:avLst>
          </a:prstGeom>
          <a:solidFill>
            <a:srgbClr val="1F4380"/>
          </a:solidFill>
          <a:ln w="12700">
            <a:solidFill>
              <a:srgbClr val="1F438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" y="3922776"/>
            <a:ext cx="2148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 — ALLOCATED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090672" y="3749040"/>
            <a:ext cx="21488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Allocated baseline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303520" y="3749040"/>
            <a:ext cx="62179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Interface, installation, thermal, loads and duty-cycle GR&amp;A bind. Human-factors GR&amp;A bind to procedure and training baselines.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617720"/>
            <a:ext cx="11091672" cy="768096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3DEE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49808" y="4791456"/>
            <a:ext cx="2148840" cy="420624"/>
          </a:xfrm>
          <a:prstGeom prst="roundRect">
            <a:avLst>
              <a:gd name="adj" fmla="val 13043"/>
            </a:avLst>
          </a:prstGeom>
          <a:solidFill>
            <a:srgbClr val="0F6B62"/>
          </a:solidFill>
          <a:ln w="12700">
            <a:solidFill>
              <a:srgbClr val="0F6B6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9808" y="4791456"/>
            <a:ext cx="2148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 — CI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090672" y="4617720"/>
            <a:ext cx="21488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identification / CDR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303520" y="4617720"/>
            <a:ext cx="62179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 to specific CIs and revisions. First point at which "similar hardware" can be checked rather than asserted.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48640" y="5486400"/>
            <a:ext cx="11091672" cy="768096"/>
          </a:xfrm>
          <a:prstGeom prst="roundRect">
            <a:avLst>
              <a:gd name="adj" fmla="val 7143"/>
            </a:avLst>
          </a:prstGeom>
          <a:solidFill>
            <a:srgbClr val="E9EEF7"/>
          </a:solidFill>
          <a:ln w="12700">
            <a:solidFill>
              <a:srgbClr val="D3DEE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49808" y="5660136"/>
            <a:ext cx="2148840" cy="420624"/>
          </a:xfrm>
          <a:prstGeom prst="roundRect">
            <a:avLst>
              <a:gd name="adj" fmla="val 13043"/>
            </a:avLst>
          </a:prstGeom>
          <a:solidFill>
            <a:srgbClr val="0F6B62"/>
          </a:solidFill>
          <a:ln w="12700">
            <a:solidFill>
              <a:srgbClr val="0F6B6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9808" y="5660136"/>
            <a:ext cx="2148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090672" y="5486400"/>
            <a:ext cx="21488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3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baseline / FCA-PCA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303520" y="5486400"/>
            <a:ext cx="62179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Validity conditions confirmed by test, audit or analysis. Falsification becomes a Class I change.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matters is that the provisional population is visible and shrinking, and that named gates require its reduction.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B45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BASELINES EXIST — THIS STATE IS PURE PREVENTION OF LATER BLINDNESS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3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 0 · Proposal &amp; pre-award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1328"/>
          <a:ext cx="11091672" cy="914400"/>
        </p:xfrm>
        <a:graphic>
          <a:graphicData uri="http://schemas.openxmlformats.org/drawingml/2006/table">
            <a:tbl>
              <a:tblPr/>
              <a:tblGrid>
                <a:gridCol w="5943600"/>
                <a:gridCol w="2148840"/>
                <a:gridCol w="2999232"/>
              </a:tblGrid>
              <a:tr h="523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 / Requirement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54864" marB="54864" anchor="ctr">
                    <a:lnL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Owning activity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54864" marB="54864" anchor="ctr">
                    <a:lnL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Anchor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54864" marB="54864" anchor="ctr">
                    <a:lnL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E"/>
                    </a:solidFill>
                  </a:tcPr>
                </a:tc>
              </a:tr>
              <a:tr h="523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 a GR&amp;A record for every assumption that carries risk credit: ID, owner, statement, rationale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54864" marB="54864" anchor="ctr">
                    <a:lnL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43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 Mgmt · 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54864" marB="54864" anchor="ctr">
                    <a:lnL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i="1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GR&amp;A register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54864" marB="54864" anchor="ctr">
                    <a:lnL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3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 validity conditions as falsifiable claims about the eventual product and its environment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54864" marB="54864" anchor="ctr">
                    <a:lnL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43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Systems Engineering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54864" marB="54864" anchor="ctr">
                    <a:lnL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i="1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GR&amp;A record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54864" marB="54864" anchor="ctr">
                    <a:lnL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3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 inheritance provenance: donor program, GR&amp;A ID, revision, asserted basis of similarity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54864" marB="54864" anchor="ctr">
                    <a:lnL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43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Systems Engineering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54864" marB="54864" anchor="ctr">
                    <a:lnL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i="1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GR&amp;A record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54864" marB="54864" anchor="ctr">
                    <a:lnL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3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Capture the donor program hazards and risk controls the reused GR&amp;A were serving — seed hazard set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54864" marB="54864" anchor="ctr">
                    <a:lnL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43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54864" marB="54864" anchor="ctr">
                    <a:lnL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i="1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SM-0001 §6.2.1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54864" marB="54864" anchor="ctr">
                    <a:lnL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3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Flag every GR&amp;A provisional; stand up provisional-count as a metric from day one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54864" marB="54864" anchor="ctr">
                    <a:lnL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43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SMS (Safety Assurance)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54864" marB="54864" anchor="ctr">
                    <a:lnL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i="1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SM-0001 §6.3.2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54864" marB="54864" anchor="ctr">
                    <a:lnL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3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Separately tag GR&amp;A with no part number — human-factors and organizational assumptions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54864" marB="54864" anchor="ctr">
                    <a:lnL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43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 Factors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54864" marB="54864" anchor="ctr">
                    <a:lnL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i="1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GR&amp;A register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54864" marB="54864" anchor="ctr">
                    <a:lnL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3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 and scope the GR&amp;A discharge work in later states before bid submittal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54864" marB="54864" anchor="ctr">
                    <a:lnL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43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 Management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54864" marB="54864" anchor="ctr">
                    <a:lnL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i="1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 plan / basis of estimate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54864" marB="54864" anchor="ctr">
                    <a:lnL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3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 the GR&amp;A identifier convention and control class in the draft CM Plan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54864" marB="54864" anchor="ctr">
                    <a:lnL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43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Configuration Mgmt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54864" marB="54864" anchor="ctr">
                    <a:lnL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i="1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CMP · EIA-649-1 3.1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54864" marB="54864" anchor="ctr">
                    <a:lnL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B45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REAL HAZARD IDENTIFICATION; FIRST REAL BINDING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3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 1 · Concept &amp; material solution → functional baseline</a:t>
            </a:r>
            <a:endParaRPr lang="en-US" sz="3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1328"/>
          <a:ext cx="11091672" cy="914400"/>
        </p:xfrm>
        <a:graphic>
          <a:graphicData uri="http://schemas.openxmlformats.org/drawingml/2006/table">
            <a:tbl>
              <a:tblPr/>
              <a:tblGrid>
                <a:gridCol w="5943600"/>
                <a:gridCol w="2148840"/>
                <a:gridCol w="2999232"/>
              </a:tblGrid>
              <a:tr h="5886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 / Requirement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54864" marB="54864" anchor="ctr">
                    <a:lnL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Owning activity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54864" marB="54864" anchor="ctr">
                    <a:lnL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Anchor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54864" marB="54864" anchor="ctr">
                    <a:lnL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E"/>
                    </a:solidFill>
                  </a:tcPr>
                </a:tc>
              </a:tr>
              <a:tr h="5886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 system-level hazard identification and test each provisional GR&amp;A: does it carry risk credit?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54864" marB="54864" anchor="ctr">
                    <a:lnL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43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54864" marB="54864" anchor="ctr">
                    <a:lnL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i="1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SM-0001 §6.2.1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54864" marB="54864" anchor="ctr">
                    <a:lnL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86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Scoping decision — only risk-bearing GR&amp;A enter the controlled floor; the rest stay engineering notes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54864" marB="54864" anchor="ctr">
                    <a:lnL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43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SMS + SRM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54864" marB="54864" anchor="ctr">
                    <a:lnL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i="1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 description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54864" marB="54864" anchor="ctr">
                    <a:lnL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86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Assign a named risk acceptor to every risk-bearing GR&amp;A; inherited acceptance is void by default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54864" marB="54864" anchor="ctr">
                    <a:lnL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43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SMS (Accountable Exec)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54864" marB="54864" anchor="ctr">
                    <a:lnL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i="1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SM-0001 §6.2.2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54864" marB="54864" anchor="ctr">
                    <a:lnL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86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 the organizational system description — it bounds which GR&amp;A are in SMS scope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54864" marB="54864" anchor="ctr">
                    <a:lnL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43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54864" marB="54864" anchor="ctr">
                    <a:lnL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i="1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SM-0001 §6.2.2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54864" marB="54864" anchor="ctr">
                    <a:lnL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86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Bind performance-envelope and operating-environment GR&amp;A to the functional baseline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54864" marB="54864" anchor="ctr">
                    <a:lnL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43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Systems Engineering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54864" marB="54864" anchor="ctr">
                    <a:lnL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i="1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FCD · EIA-649-1 3.2.3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54864" marB="54864" anchor="ctr">
                    <a:lnL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86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Nominate top-level CI candidates using safety-criticality criteria; concur with acquirer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54864" marB="54864" anchor="ctr">
                    <a:lnL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43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 Mgmt + 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54864" marB="54864" anchor="ctr">
                    <a:lnL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i="1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EIA-649-1 3.2.1(2)(b)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54864" marB="54864" anchor="ctr">
                    <a:lnL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86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Establish GR&amp;A as a controlled data type in the engineering release system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54864" marB="54864" anchor="ctr">
                    <a:lnL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43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Configuration Mgmt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54864" marB="54864" anchor="ctr">
                    <a:lnL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i="1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CMP · EIA-649-1 3.2.2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54864" marB="54864" anchor="ctr">
                    <a:lnL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B45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INHERITED-ASSUMPTION FAILURE CONCENTRATES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3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 2 · Development → allocated baseline</a:t>
            </a:r>
            <a:endParaRPr lang="en-US" sz="3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1328"/>
          <a:ext cx="11091672" cy="914400"/>
        </p:xfrm>
        <a:graphic>
          <a:graphicData uri="http://schemas.openxmlformats.org/drawingml/2006/table">
            <a:tbl>
              <a:tblPr/>
              <a:tblGrid>
                <a:gridCol w="5943600"/>
                <a:gridCol w="2148840"/>
                <a:gridCol w="2999232"/>
              </a:tblGrid>
              <a:tr h="5886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 / Requirement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54864" marB="54864" anchor="ctr">
                    <a:lnL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Owning activity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54864" marB="54864" anchor="ctr">
                    <a:lnL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Anchor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54864" marB="54864" anchor="ctr">
                    <a:lnL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E"/>
                    </a:solidFill>
                  </a:tcPr>
                </a:tc>
              </a:tr>
              <a:tr h="5886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Decompose hazard analysis to subsystem; restate GR&amp;A validity conditions at that level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54864" marB="54864" anchor="ctr">
                    <a:lnL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43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54864" marB="54864" anchor="ctr">
                    <a:lnL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i="1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SM-0001 §6.2.1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54864" marB="54864" anchor="ctr">
                    <a:lnL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86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Bind interface, installation, thermal, loads and duty-cycle GR&amp;A to allocated baseline documentation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54864" marB="54864" anchor="ctr">
                    <a:lnL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43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Systems Engineering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54864" marB="54864" anchor="ctr">
                    <a:lnL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i="1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ACD · EIA-649-1 3.2.3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54864" marB="54864" anchor="ctr">
                    <a:lnL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86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Identify internal and external interface requirements; incorporate into FCD/ACD; place under control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54864" marB="54864" anchor="ctr">
                    <a:lnL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43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Configuration Mgmt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54864" marB="54864" anchor="ctr">
                    <a:lnL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i="1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EIA-649-1 3.2.5.1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54864" marB="54864" anchor="ctr">
                    <a:lnL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86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Nominate lower-tier safety-significant CIs; each pulls its dependent GR&amp;A into floor scope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54864" marB="54864" anchor="ctr">
                    <a:lnL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43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 Mgmt + 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54864" marB="54864" anchor="ctr">
                    <a:lnL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i="1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GEIA-HB-649 App. 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54864" marB="54864" anchor="ctr">
                    <a:lnL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86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Bind human-factors GR&amp;A to procedure, training-curriculum and manual baselines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54864" marB="54864" anchor="ctr">
                    <a:lnL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43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 Factors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54864" marB="54864" anchor="ctr">
                    <a:lnL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i="1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Procedural baselines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54864" marB="54864" anchor="ctr">
                    <a:lnL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86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Begin provisional-GR&amp;A burndown reporting against named gate criteria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54864" marB="54864" anchor="ctr">
                    <a:lnL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43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SMS (Safety Assurance)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54864" marB="54864" anchor="ctr">
                    <a:lnL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i="1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SM-0001 §6.3.2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54864" marB="54864" anchor="ctr">
                    <a:lnL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864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Flow GR&amp;A ownership and reporting obligations to suppliers through contract and interface documents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54864" marB="54864" anchor="ctr">
                    <a:lnL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43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Supply Chain + CM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54864" marB="54864" anchor="ctr">
                    <a:lnL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i="1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SM-0001 §7.5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54864" marB="54864" anchor="ctr">
                    <a:lnL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B45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GATE WHERE SIMILARITY IS FINALLY CHECKABLE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3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 3 · Detail design → CDR</a:t>
            </a:r>
            <a:endParaRPr lang="en-US" sz="3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1328"/>
          <a:ext cx="11091672" cy="914400"/>
        </p:xfrm>
        <a:graphic>
          <a:graphicData uri="http://schemas.openxmlformats.org/drawingml/2006/table">
            <a:tbl>
              <a:tblPr/>
              <a:tblGrid>
                <a:gridCol w="5943600"/>
                <a:gridCol w="2148840"/>
                <a:gridCol w="2999232"/>
              </a:tblGrid>
              <a:tr h="523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 / Requirement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54864" marB="54864" anchor="ctr">
                    <a:lnL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Owning activity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54864" marB="54864" anchor="ctr">
                    <a:lnL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Anchor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54864" marB="54864" anchor="ctr">
                    <a:lnL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E"/>
                    </a:solidFill>
                  </a:tcPr>
                </a:tc>
              </a:tr>
              <a:tr h="523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Bind remaining GR&amp;A to specific CIs and revisions — cite configuration documentation, never restate 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54864" marB="54864" anchor="ctr">
                    <a:lnL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43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Systems Eng + CM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54864" marB="54864" anchor="ctr">
                    <a:lnL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i="1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config information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54864" marB="54864" anchor="ctr">
                    <a:lnL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3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 the delta assessment for every inherited GR&amp;A: donor CI vs recipient CI, plus environment delta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54864" marB="54864" anchor="ctr">
                    <a:lnL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43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Systems Eng + SRM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54864" marB="54864" anchor="ctr">
                    <a:lnL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i="1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GR&amp;A register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54864" marB="54864" anchor="ctr">
                    <a:lnL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3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Conditions that cannot be verified against recipient configuration data reopen into SRM — no transfer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54864" marB="54864" anchor="ctr">
                    <a:lnL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43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54864" marB="54864" anchor="ctr">
                    <a:lnL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i="1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SM-0001 §6.2.1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54864" marB="54864" anchor="ctr">
                    <a:lnL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3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assessment against defined acceptability criteria; residual provisional GR&amp;A raised as noncompliance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54864" marB="54864" anchor="ctr">
                    <a:lnL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43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54864" marB="54864" anchor="ctr">
                    <a:lnL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i="1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SM-0001 §6.2.2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54864" marB="54864" anchor="ctr">
                    <a:lnL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3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a GR&amp;A-impact field to the ECP form and wire the GR&amp;A↔CI link into change impact assessment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54864" marB="54864" anchor="ctr">
                    <a:lnL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43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Configuration Mgmt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54864" marB="54864" anchor="ctr">
                    <a:lnL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i="1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EIA-649-1 3.3.1.4(1)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54864" marB="54864" anchor="ctr">
                    <a:lnL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3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Verify CSA can answer: which GR&amp;A depend on this CI at this revision?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54864" marB="54864" anchor="ctr">
                    <a:lnL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43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Configuration Mgmt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54864" marB="54864" anchor="ctr">
                    <a:lnL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i="1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EIA-649-1 3.4.1(3)(a)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54864" marB="54864" anchor="ctr">
                    <a:lnL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3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Validate operator and maintainer assumptions against draft procedures and task analysis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54864" marB="54864" anchor="ctr">
                    <a:lnL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43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 Factors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54864" marB="54864" anchor="ctr">
                    <a:lnL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i="1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 analysis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54864" marB="54864" anchor="ctr">
                    <a:lnL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3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 the CDR gate criterion: provisional GR&amp;A count at or below the agreed threshold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54864" marB="54864" anchor="ctr">
                    <a:lnL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43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 Management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54864" marB="54864" anchor="ctr">
                    <a:lnL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i="1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SETR criteria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54864" marB="54864" anchor="ctr">
                    <a:lnL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B45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REPLACES ASSERTION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3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 4 · Verification, FCA / PCA &amp; certification</a:t>
            </a:r>
            <a:endParaRPr lang="en-US" sz="3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1328"/>
          <a:ext cx="11091672" cy="914400"/>
        </p:xfrm>
        <a:graphic>
          <a:graphicData uri="http://schemas.openxmlformats.org/drawingml/2006/table">
            <a:tbl>
              <a:tblPr/>
              <a:tblGrid>
                <a:gridCol w="5943600"/>
                <a:gridCol w="2148840"/>
                <a:gridCol w="2999232"/>
              </a:tblGrid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 / Requirement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54864" marB="54864" anchor="ctr">
                    <a:lnL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Owning activity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54864" marB="54864" anchor="ctr">
                    <a:lnL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Anchor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54864" marB="54864" anchor="ctr">
                    <a:lnL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E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Move GR&amp;A binding state from bound to verified as test and analysis evidence accrues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54864" marB="54864" anchor="ctr">
                    <a:lnL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43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Systems Engineering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54864" marB="54864" anchor="ctr">
                    <a:lnL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i="1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GR&amp;A register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54864" marB="54864" anchor="ctr">
                    <a:lnL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Extend requirements-to-test traceability through to the GR&amp;A that scoped each requirement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54864" marB="54864" anchor="ctr">
                    <a:lnL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43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Systems Eng + Quality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54864" marB="54864" anchor="ctr">
                    <a:lnL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i="1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EIA-649-1 3.5.2.1(1)(c)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54864" marB="54864" anchor="ctr">
                    <a:lnL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 any GR&amp;A falsified by test as a Class I (major) change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54864" marB="54864" anchor="ctr">
                    <a:lnL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43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Configuration Mgmt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54864" marB="54864" anchor="ctr">
                    <a:lnL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i="1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EIA-649-1 3.3.1.2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54864" marB="54864" anchor="ctr">
                    <a:lnL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Conduct FCA and PCA; document non-compliances; reconcile production vs development CI differences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54864" marB="54864" anchor="ctr">
                    <a:lnL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43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 Mgmt + Quality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54864" marB="54864" anchor="ctr">
                    <a:lnL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i="1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EIA-649-1 3.5.2 / 3.5.3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54864" marB="54864" anchor="ctr">
                    <a:lnL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Validate the risk controls that depended on GR&amp;A; confirm effectiveness measures are in place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54864" marB="54864" anchor="ctr">
                    <a:lnL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43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SRM + SMS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54864" marB="54864" anchor="ctr">
                    <a:lnL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i="1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SM-0001 §6.3.1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54864" marB="54864" anchor="ctr">
                    <a:lnL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 assumed task times, detectability and workload by test or simulation rather than assertion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54864" marB="54864" anchor="ctr">
                    <a:lnL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43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 Factors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54864" marB="54864" anchor="ctr">
                    <a:lnL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i="1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HF validation plan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54864" marB="54864" anchor="ctr">
                    <a:lnL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B45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THE LINK ALIVE THROUGH CHANGE VOLUME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3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 5 · Production</a:t>
            </a:r>
            <a:endParaRPr lang="en-US" sz="3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1328"/>
          <a:ext cx="11091672" cy="914400"/>
        </p:xfrm>
        <a:graphic>
          <a:graphicData uri="http://schemas.openxmlformats.org/drawingml/2006/table">
            <a:tbl>
              <a:tblPr/>
              <a:tblGrid>
                <a:gridCol w="5943600"/>
                <a:gridCol w="2148840"/>
                <a:gridCol w="2999232"/>
              </a:tblGrid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 / Requirement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54864" marB="54864" anchor="ctr">
                    <a:lnL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Owning activity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54864" marB="54864" anchor="ctr">
                    <a:lnL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Anchor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54864" marB="54864" anchor="ctr">
                    <a:lnL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E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Screen every engineering change proposal for GR&amp;A impact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54864" marB="54864" anchor="ctr">
                    <a:lnL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43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Configuration Mgmt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54864" marB="54864" anchor="ctr">
                    <a:lnL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i="1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EIA-649-1 3.3.1.4(1)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54864" marB="54864" anchor="ctr">
                    <a:lnL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Reopen the affected GR&amp;A whenever a recurring variance is converted to permanent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54864" marB="54864" anchor="ctr">
                    <a:lnL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43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 Mgmt + SRM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54864" marB="54864" anchor="ctr">
                    <a:lnL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i="1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EIA-649-1 3.3.2(2)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54864" marB="54864" anchor="ctr">
                    <a:lnL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 whether GR&amp;A re-validation is actually happening on change, or being waived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54864" marB="54864" anchor="ctr">
                    <a:lnL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43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SMS (Safety Assurance)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54864" marB="54864" anchor="ctr">
                    <a:lnL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i="1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SM-0001 §6.3.2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54864" marB="54864" anchor="ctr">
                    <a:lnL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Maintain CSA by CI identifier; perform as-designed to as-built reconciliation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54864" marB="54864" anchor="ctr">
                    <a:lnL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43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Configuration Mgmt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54864" marB="54864" anchor="ctr">
                    <a:lnL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i="1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EIA-649-1 3.4.1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54864" marB="54864" anchor="ctr">
                    <a:lnL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Treat repeat nonconformances as candidate invalid manufacturing or human-factors GR&amp;A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54864" marB="54864" anchor="ctr">
                    <a:lnL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43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Quality + Human Factors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54864" marB="54864" anchor="ctr">
                    <a:lnL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i="1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SM-0001 §6.2.1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54864" marB="54864" anchor="ctr">
                    <a:lnL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Trigger HF GR&amp;A review on procedure or training revision even where no hardware ECP exists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54864" marB="54864" anchor="ctr">
                    <a:lnL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43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 Factors + CM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54864" marB="54864" anchor="ctr">
                    <a:lnL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i="1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Procedural baselines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54864" marB="54864" anchor="ctr">
                    <a:lnL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B45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 CLOSES — AND REOPENS FOR THE NEXT PROGRAM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3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 6 · In service, continued airworthiness &amp; reuse export</a:t>
            </a:r>
            <a:endParaRPr lang="en-US" sz="30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1328"/>
          <a:ext cx="11091672" cy="914400"/>
        </p:xfrm>
        <a:graphic>
          <a:graphicData uri="http://schemas.openxmlformats.org/drawingml/2006/table">
            <a:tbl>
              <a:tblPr/>
              <a:tblGrid>
                <a:gridCol w="5943600"/>
                <a:gridCol w="2148840"/>
                <a:gridCol w="2999232"/>
              </a:tblGrid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 / Requirement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54864" marB="54864" anchor="ctr">
                    <a:lnL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Owning activity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54864" marB="54864" anchor="ctr">
                    <a:lnL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Anchor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54864" marB="54864" anchor="ctr">
                    <a:lnL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E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 continued-operational-safety findings to GR&amp;A owners, not only to hazard owners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54864" marB="54864" anchor="ctr">
                    <a:lnL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43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54864" marB="54864" anchor="ctr">
                    <a:lnL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i="1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SM-0001 §6.3.1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54864" marB="54864" anchor="ctr">
                    <a:lnL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Re-validate GR&amp;A on schedule and on trigger; track assumption age as an indicator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54864" marB="54864" anchor="ctr">
                    <a:lnL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43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SMS (Safety Assurance)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54864" marB="54864" anchor="ctr">
                    <a:lnL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i="1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SM-0001 §6.3.3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54864" marB="54864" anchor="ctr">
                    <a:lnL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 retrofit incorporation matches the configuration the GR&amp;A assumed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54864" marB="54864" anchor="ctr">
                    <a:lnL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43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Configuration Mgmt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54864" marB="54864" anchor="ctr">
                    <a:lnL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i="1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EIA-649-1 3.4.1(6)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54864" marB="54864" anchor="ctr">
                    <a:lnL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historical configuration traceability to scope which units a falsified GR&amp;A affects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54864" marB="54864" anchor="ctr">
                    <a:lnL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43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Configuration Mgmt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54864" marB="54864" anchor="ctr">
                    <a:lnL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i="1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EIA-649-1 3.4.1(3)(b)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54864" marB="54864" anchor="ctr">
                    <a:lnL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Export GR&amp;A with validity conditions, configuration references and verification evidence attached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54864" marB="54864" anchor="ctr">
                    <a:lnL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43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 Mgmt + 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54864" marB="54864" anchor="ctr">
                    <a:lnL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i="1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GR&amp;A register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54864" marB="54864" anchor="ctr">
                    <a:lnL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Prohibit export of bare GR&amp;A statements — that is what reproduces the original failure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54864" marB="54864" anchor="ctr">
                    <a:lnL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43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54864" marB="54864" anchor="ctr">
                    <a:lnL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i="1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 policy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0584" marR="100584" marT="54864" marB="54864" anchor="ctr">
                    <a:lnL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3DE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B45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 SUMMARY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3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owns what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36192"/>
            <a:ext cx="5394960" cy="1389888"/>
          </a:xfrm>
          <a:prstGeom prst="roundRect">
            <a:avLst>
              <a:gd name="adj" fmla="val 3947"/>
            </a:avLst>
          </a:prstGeom>
          <a:solidFill>
            <a:srgbClr val="E9EEF7"/>
          </a:solidFill>
          <a:ln w="12700">
            <a:solidFill>
              <a:srgbClr val="D3DE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682496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Management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04672" y="2011680"/>
            <a:ext cx="48828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Funds and schedules GR&amp;A discharge; owns gate criteria and the provisional-debt position; owns export discipline on derivative bids.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181344" y="1536192"/>
            <a:ext cx="5394960" cy="1389888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D3DE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37376" y="1682496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Engineering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37376" y="2011680"/>
            <a:ext cx="48828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validity conditions; performs binding and the delta assessment; owns the GR&amp;A-to-configuration citation.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108960"/>
            <a:ext cx="5394960" cy="1389888"/>
          </a:xfrm>
          <a:prstGeom prst="roundRect">
            <a:avLst>
              <a:gd name="adj" fmla="val 3947"/>
            </a:avLst>
          </a:prstGeom>
          <a:solidFill>
            <a:srgbClr val="E9EEF7"/>
          </a:solidFill>
          <a:ln w="12700">
            <a:solidFill>
              <a:srgbClr val="D3DE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3255264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Mgmt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04672" y="3584448"/>
            <a:ext cx="48828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GR&amp;A a controlled data type; owns the CI link, the CSA query surface, the ECP impact field, and interface control.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81344" y="3108960"/>
            <a:ext cx="5394960" cy="1389888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D3DE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37376" y="3255264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SRM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37376" y="3584448"/>
            <a:ext cx="48828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Determines which GR&amp;A carry risk credit; reopens unverifiable assumptions; routes in-service findings back to GR&amp;A owners.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681728"/>
            <a:ext cx="5394960" cy="1389888"/>
          </a:xfrm>
          <a:prstGeom prst="roundRect">
            <a:avLst>
              <a:gd name="adj" fmla="val 3947"/>
            </a:avLst>
          </a:prstGeom>
          <a:solidFill>
            <a:srgbClr val="E9EEF7"/>
          </a:solidFill>
          <a:ln w="12700">
            <a:solidFill>
              <a:srgbClr val="D3DE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4672" y="4828032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/ Safety Assurance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04672" y="5157216"/>
            <a:ext cx="48828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scope via the system description, the named-risk-acceptor rule, burndown monitoring, and periodic re-validation.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81344" y="4681728"/>
            <a:ext cx="5394960" cy="1389888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D3DE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37376" y="4828032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Factors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37376" y="5157216"/>
            <a:ext cx="48828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the GR&amp;A class with no part number; binds to procedural and training baselines; validates task, workload and detectability claims.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48640" y="63093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B45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Quality, Supply Chain and Training carry supporting actions at States 2, 4 and 5. No activity owns this end-to-end today — that is the gap.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B45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HARDWARE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3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 factors: the GR&amp;A class with no part number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36192"/>
            <a:ext cx="11091672" cy="1417320"/>
          </a:xfrm>
          <a:prstGeom prst="roundRect">
            <a:avLst>
              <a:gd name="adj" fmla="val 3871"/>
            </a:avLst>
          </a:prstGeom>
          <a:solidFill>
            <a:srgbClr val="FBEBDC"/>
          </a:solidFill>
          <a:ln w="12700">
            <a:solidFill>
              <a:srgbClr val="ECC8A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166420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B45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hardware similarity review is structurally silent on these. They have no part number, so nothing in the CI comparison surfaces them — yet they are the most reused GR&amp;A we hold.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41248" y="21945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Assumed training and certification level · crew workload · maintainer skill mix · inspection detectability · time available to complete a task · alert salience and annunciation · staffing levels · shift and fatigue patterns · assumed compliance with procedure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3127248"/>
            <a:ext cx="5394960" cy="1481328"/>
          </a:xfrm>
          <a:prstGeom prst="roundRect">
            <a:avLst>
              <a:gd name="adj" fmla="val 3704"/>
            </a:avLst>
          </a:prstGeom>
          <a:solidFill>
            <a:srgbClr val="E9EEF7"/>
          </a:solidFill>
          <a:ln w="12700">
            <a:solidFill>
              <a:srgbClr val="D3DE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327355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their validity lives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04672" y="3584448"/>
            <a:ext cx="488289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in configuration documentation. In the operating environment — personnel, procedures, facilities, training — which SM-0001 already treats as part of the system description.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81344" y="3127248"/>
            <a:ext cx="5394960" cy="1481328"/>
          </a:xfrm>
          <a:prstGeom prst="roundRect">
            <a:avLst>
              <a:gd name="adj" fmla="val 3704"/>
            </a:avLst>
          </a:prstGeom>
          <a:solidFill>
            <a:srgbClr val="E9EEF7"/>
          </a:solidFill>
          <a:ln w="12700">
            <a:solidFill>
              <a:srgbClr val="D3DE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37376" y="327355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anchor them to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437376" y="3584448"/>
            <a:ext cx="488289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Procedure, training-curriculum, task-analysis and manual baselines. EIA-649 already treats operation and maintenance manuals as derived from configuration documentation; extend control to the ones that carry risk credit.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4791456"/>
            <a:ext cx="5394960" cy="1481328"/>
          </a:xfrm>
          <a:prstGeom prst="roundRect">
            <a:avLst>
              <a:gd name="adj" fmla="val 3704"/>
            </a:avLst>
          </a:prstGeom>
          <a:solidFill>
            <a:srgbClr val="E9EEF7"/>
          </a:solidFill>
          <a:ln w="12700">
            <a:solidFill>
              <a:srgbClr val="D3DE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4672" y="493776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that lets them rot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04672" y="5248656"/>
            <a:ext cx="488289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procedure or curriculum revision generates no hardware ECP. Nothing triggers re-examination. Close it by making procedural baseline changes a GR&amp;A review trigger in their own right.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81344" y="4791456"/>
            <a:ext cx="5394960" cy="1481328"/>
          </a:xfrm>
          <a:prstGeom prst="roundRect">
            <a:avLst>
              <a:gd name="adj" fmla="val 3704"/>
            </a:avLst>
          </a:prstGeom>
          <a:solidFill>
            <a:srgbClr val="E9EEF7"/>
          </a:solidFill>
          <a:ln w="12700">
            <a:solidFill>
              <a:srgbClr val="D3DE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37376" y="493776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disguised case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37376" y="5248656"/>
            <a:ext cx="488289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FMEA detectability ratings are human-performance assumptions wearing hardware clothing. So are assumed inspection intervals. Reuse them and you have silently reused another program's workforce.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B45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HARDWARE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3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Interfaces: same box, different context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44752"/>
            <a:ext cx="11064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Reuse-by-similarity is a claim about the item. An interface GR&amp;A is a claim about the item's context — which is precisely what did not travel.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38528"/>
            <a:ext cx="5394960" cy="2286000"/>
          </a:xfrm>
          <a:prstGeom prst="roundRect">
            <a:avLst>
              <a:gd name="adj" fmla="val 2400"/>
            </a:avLst>
          </a:prstGeom>
          <a:solidFill>
            <a:srgbClr val="E9EEF7"/>
          </a:solidFill>
          <a:ln w="12700">
            <a:solidFill>
              <a:srgbClr val="D3DE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10312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interfaces  (CI ↔ CI)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468880"/>
            <a:ext cx="48646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obligated: identify internal and external interface requirements, incorporate them into the FCD/ACD/PCD, and maintain configuration control of the baselined requirements (3.2.5.1); provide an ICWG representative where one exists (3.2.5.2). Bind interface GR&amp;A to these artifacts.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45352" y="1938528"/>
            <a:ext cx="5394960" cy="2286000"/>
          </a:xfrm>
          <a:prstGeom prst="roundRect">
            <a:avLst>
              <a:gd name="adj" fmla="val 2400"/>
            </a:avLst>
          </a:prstGeom>
          <a:solidFill>
            <a:srgbClr val="E9EEF7"/>
          </a:solidFill>
          <a:ln w="12700">
            <a:solidFill>
              <a:srgbClr val="D3DE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19672" y="210312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Organizational interfaces  (org ↔ org)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19672" y="2468880"/>
            <a:ext cx="48646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SM-0001 §7. The classic failure: the supplier assumed the integrator covered it; the integrator assumed the supplier had. The assumption falls into the gap between two SMSs, each of which believes the other owns it. Name the GR&amp;A owner per interface in the interface documentation (§7.5).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4407408"/>
            <a:ext cx="11091672" cy="1170432"/>
          </a:xfrm>
          <a:prstGeom prst="roundRect">
            <a:avLst>
              <a:gd name="adj" fmla="val 4688"/>
            </a:avLst>
          </a:prstGeom>
          <a:solidFill>
            <a:srgbClr val="132A4E"/>
          </a:solidFill>
          <a:ln w="12700">
            <a:solidFill>
              <a:srgbClr val="132A4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" y="451713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B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caution on §7.4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41248" y="4828032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SM-0001 rightly limits the propagation of hazard and risk analyses across interfaces to avoid unnecessary noise. That must not be read as licence to withhold interface GR&amp;A. The assumptions that cross an organizational boundary are the minimum necessary exchange — they are exactly the content §7.4 was written to protect, not to suppress.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5760720"/>
            <a:ext cx="11091672" cy="658368"/>
          </a:xfrm>
          <a:prstGeom prst="roundRect">
            <a:avLst>
              <a:gd name="adj" fmla="val 8333"/>
            </a:avLst>
          </a:prstGeom>
          <a:solidFill>
            <a:srgbClr val="FBEBDC"/>
          </a:solidFill>
          <a:ln w="12700">
            <a:solidFill>
              <a:srgbClr val="ECC8A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" y="5760720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45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GR&amp;A are where inherited-assumption failure concentrates: the hardware is genuinely the same, and everything it touches is different.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515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B45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32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classes of GR&amp;A, three anchors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11091672" cy="1316736"/>
          </a:xfrm>
          <a:prstGeom prst="roundRect">
            <a:avLst>
              <a:gd name="adj" fmla="val 4167"/>
            </a:avLst>
          </a:prstGeom>
          <a:solidFill>
            <a:srgbClr val="E9EEF7"/>
          </a:solidFill>
          <a:ln w="12700">
            <a:solidFill>
              <a:srgbClr val="D3DE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" y="1792224"/>
            <a:ext cx="2651760" cy="877824"/>
          </a:xfrm>
          <a:prstGeom prst="roundRect">
            <a:avLst>
              <a:gd name="adj" fmla="val 6250"/>
            </a:avLst>
          </a:prstGeom>
          <a:solidFill>
            <a:srgbClr val="1F4380"/>
          </a:solidFill>
          <a:ln w="12700">
            <a:solidFill>
              <a:srgbClr val="1F43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1792224"/>
            <a:ext cx="24688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&amp; performance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11880" y="1755648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Anchors to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611880" y="1993392"/>
            <a:ext cx="4754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13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and product configuration information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549640" y="17556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43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Engineering + CM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549640" y="2029968"/>
            <a:ext cx="29443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Binds at allocated baseline through CDR; verified at FCA/PCA.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3054096"/>
            <a:ext cx="11091672" cy="1316736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D3DEE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8096" y="3273552"/>
            <a:ext cx="2651760" cy="877824"/>
          </a:xfrm>
          <a:prstGeom prst="roundRect">
            <a:avLst>
              <a:gd name="adj" fmla="val 6250"/>
            </a:avLst>
          </a:prstGeom>
          <a:solidFill>
            <a:srgbClr val="B4530C"/>
          </a:solidFill>
          <a:ln w="12700">
            <a:solidFill>
              <a:srgbClr val="B4530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9536" y="3273552"/>
            <a:ext cx="24688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factors &amp; organizational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11880" y="3236976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Anchors to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611880" y="3474720"/>
            <a:ext cx="4754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13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description plus procedure, training and manual baselines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549640" y="323697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453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Factors + SMS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549640" y="3511296"/>
            <a:ext cx="29443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Binds at allocated baseline; revalidated on every procedural or curriculum change.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4535424"/>
            <a:ext cx="11091672" cy="1316736"/>
          </a:xfrm>
          <a:prstGeom prst="roundRect">
            <a:avLst>
              <a:gd name="adj" fmla="val 4167"/>
            </a:avLst>
          </a:prstGeom>
          <a:solidFill>
            <a:srgbClr val="E9EEF7"/>
          </a:solidFill>
          <a:ln w="12700">
            <a:solidFill>
              <a:srgbClr val="D3DEE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68096" y="4754880"/>
            <a:ext cx="2651760" cy="877824"/>
          </a:xfrm>
          <a:prstGeom prst="roundRect">
            <a:avLst>
              <a:gd name="adj" fmla="val 6250"/>
            </a:avLst>
          </a:prstGeom>
          <a:solidFill>
            <a:srgbClr val="0F6B62"/>
          </a:solidFill>
          <a:ln w="12700">
            <a:solidFill>
              <a:srgbClr val="0F6B6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9536" y="4754880"/>
            <a:ext cx="24688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11880" y="4718304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20" kern="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Anchors to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611880" y="4956048"/>
            <a:ext cx="4754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132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ICD / FCD / ACD plus interface agreements and contracts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549640" y="471830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6B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 + Supply Chain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549640" y="4992624"/>
            <a:ext cx="29443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1A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Binds at allocated baseline; owner named per interface in interface documentation.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6053328"/>
            <a:ext cx="11091672" cy="566928"/>
          </a:xfrm>
          <a:prstGeom prst="roundRect">
            <a:avLst>
              <a:gd name="adj" fmla="val 9677"/>
            </a:avLst>
          </a:prstGeom>
          <a:solidFill>
            <a:srgbClr val="132A4E"/>
          </a:solidFill>
          <a:ln w="12700">
            <a:solidFill>
              <a:srgbClr val="132A4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1248" y="605332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GR&amp;A with no anchor in any of the three is not an assumption. It is a hope with a document number.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32A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F0B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AM ASKING FOR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59536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decisions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1907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B4530C"/>
          </a:solidFill>
          <a:ln w="12700">
            <a:solidFill>
              <a:srgbClr val="B4530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719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15568" y="1664208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 GR&amp;A as a controlled data type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577840" y="1664208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9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in the enterprise CM Plan, with an identifier convention, a control class and a CSA field. CM owns the mechanism.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505456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B4530C"/>
          </a:solidFill>
          <a:ln w="12700">
            <a:solidFill>
              <a:srgbClr val="B4530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505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15568" y="2450592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 a named risk acceptor per risk-bearing GR&amp;A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577840" y="2450592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9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Inherited acceptance void by default. SMS owns the rule; this is the compliance-relevant item.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2918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B4530C"/>
          </a:solidFill>
          <a:ln w="12700">
            <a:solidFill>
              <a:srgbClr val="B4530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15568" y="3236976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GR&amp;A-impact field to the ECP form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577840" y="3236976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9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Cheapest intervention in the deck. A form change, not a new process.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078224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B4530C"/>
          </a:solidFill>
          <a:ln w="12700">
            <a:solidFill>
              <a:srgbClr val="B4530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078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15568" y="4023360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provisional-GR&amp;A count a reported gate criterion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577840" y="402336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9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SRR, PDR and CDR. Program Management owns the position; Safety Assurance owns the metric.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86460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B4530C"/>
          </a:solidFill>
          <a:ln w="12700">
            <a:solidFill>
              <a:srgbClr val="B4530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4864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15568" y="4809744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Prohibit export of bare GR&amp;A statements to derivative programs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5577840" y="4809744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9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Validity conditions, configuration references and verification evidence travel or nothing does.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5596128"/>
            <a:ext cx="11091672" cy="987552"/>
          </a:xfrm>
          <a:prstGeom prst="roundRect">
            <a:avLst>
              <a:gd name="adj" fmla="val 5556"/>
            </a:avLst>
          </a:prstGeom>
          <a:solidFill>
            <a:srgbClr val="1F4380"/>
          </a:solidFill>
          <a:ln w="12700">
            <a:solidFill>
              <a:srgbClr val="1F438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56875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B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honest caveats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22960" y="596188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D6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SM-0001 nor EIA-649-1 mandates a GR&amp;A register — this is a bridge we are constructing, so it should carry the same Clean / Judgment / Conditional annotation as the CM Floor Register. And applied broadly it is expensive: scope it to GR&amp;A a hazard analysis or compliance finding actually depends on, and defend that scoping through the system description.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2026-08-04T21:03:44Z</dcterms:created>
  <dcterms:modified xsi:type="dcterms:W3CDTF">2026-08-04T21:03:44Z</dcterms:modified>
</cp:coreProperties>
</file>