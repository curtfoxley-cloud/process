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briefing on configuration items for a general audience: engineering, program management, quality, and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per the national consensus standard family. Emphasize: designation is a decision with consequences, not a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cards state what non-designation means. Close on the safety floor concept without citing internal document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Two-step screen. Highlight criterion (b) as the safety anchor. Documented rationale for every candidate is what makes the screen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three-column consequence framing. Over-designation breeds workarounds; under-designation loses control where change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recurring puzzles and their opposite resolutions. Antenna case and connector-variant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graphic on the left; three rules on the right. The mirror rule and the never-record-against-a-divergent-model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Division of labor on interfaces and the coverage-not-content principle. Middle card carries the CM role emphasis.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retention rules, framed as the safety-bearing subset of identifier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of the three baselines with the audit tie for the product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re-identification triggers; the new-supplier card is highlighted because it is the one most often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takeaways; end on the safety floor and the living-process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937760" cy="4937760"/>
          </a:xfrm>
          <a:prstGeom prst="ellipse">
            <a:avLst/>
          </a:prstGeom>
          <a:solidFill>
            <a:srgbClr val="4A5A9E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4023360" cy="4023360"/>
          </a:xfrm>
          <a:prstGeom prst="ellipse">
            <a:avLst/>
          </a:prstGeom>
          <a:solidFill>
            <a:srgbClr val="4A5A9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051560"/>
            <a:ext cx="822960" cy="8229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Items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how they are chosen, and why the choice carries the weight of the whole configuration management system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 ·  Overview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configuration item 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hardware, software, firmware — or aggregation of them — that satisfies a system end-use function and is designated for separate configuration management.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word is designated: being a CI is a decision, not a property of the part.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 buys four things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that is not a CI has none of these in its own right — it is controlled only inside its parent’s documentation. For most items, that is exactly right.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944" y="1517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0" y="13624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requirements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49440" y="1655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specification of its own — performance stated and owned at its level.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260604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70662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25511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verification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949440" y="28437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performance is proven against those requirements, on the record.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09360" y="379476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389534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9440" y="3739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change addressability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949440" y="40325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proposed, evaluated, and approved against it by identity.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9360" y="498348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50840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49286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status visibility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949440" y="52212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configuration is known — as designed, as built, as maintained — at any time.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decision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731520" cy="73152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2763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4813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selection decision is a decision about which items get the machinery.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4A5A9E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separately auditable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walks its requirements to test evidence, and no physical audit examines its as-built truth.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6517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4A5A9E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separately change-controlled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61772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to it are never proposed or approved against it — they simply happen inside a parent’s drawing package.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38160" y="26517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4A5A9E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in status accounting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6676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answer “what configuration is it in?” — because no record is kept at its level.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items that is acceptable. For a safety-critical item, it means the thing whose failure could kill someone sits outside every barrier the CM system provides — which is why safety-critical selection is treated as non-negotiable regardless of what a contract flows down.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items are selected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383280" cy="4846320"/>
          </a:xfrm>
          <a:prstGeom prst="roundRect">
            <a:avLst>
              <a:gd name="adj" fmla="val 2162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end-use function gate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item satisfy a system end-use function?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the gate: 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materials, bulk commodities, structural elements with no defined functional role. These are controlled inside their parent’s documentation — not designated.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passes essentially always — and is essentially always designated.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72237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874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selection criteria — one or more designates the item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17720" y="2414016"/>
            <a:ext cx="347472" cy="347472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377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to the functioning of the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294436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9077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could cause serious injury, loss of life, or loss of primary capability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3474720"/>
            <a:ext cx="347472" cy="347472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43814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not well known, critical to program goals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17720" y="4005072"/>
            <a:ext cx="347472" cy="347472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396849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control as designated by the customer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4535424"/>
            <a:ext cx="347472" cy="347472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535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44988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separate type designation, versions, or nomenclature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17720" y="5065776"/>
            <a:ext cx="347472" cy="347472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50292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or high risk with significant financial impact of failure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17720" y="5596128"/>
            <a:ext cx="347472" cy="347472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5596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555955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logistics elements — provisioning, manuals, test equipment, maintenance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57424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(b) is the safety-critical criterion — applied on safety-significant product lines regardless of contract flow-down, and every candidate gets a documented rationale, designated or not.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everything should be a CI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level is chosen for acquisition and support together — the level at which items are specified, contracted, accepted, and supported.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6517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minor revision becomes formal change traffic. Board agendas swell, cycle times stretch — and the real failure appears: engineers route around the process.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not paperwork. It is workarounds.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90872" y="26517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designated where they are separately specified, verified, released, or supported — and not below. Changes address the item that changed.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90872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is a sentence, the judgment is the job.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CIs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85632" y="26517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Replaceable units have no identity to provision against. Software cannot release on its own cadence. Changes to one thing are changes to everything.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85632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and control are lost exactly where things change.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 is not a part number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is a functional designation; a part number is a design identity. The two map to each other — but not one-to-one.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part, different functions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377440" y="26060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 number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3108960"/>
            <a:ext cx="-1097280" cy="5486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3108960"/>
            <a:ext cx="1097280" cy="5486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0120" y="37033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Command-link antenna CI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0" y="37033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antenna CI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617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installations, each with its own requirements and its own verification → two CIs sharing one part number. Merging them leaves one function without addressable requirements.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function, variant builds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92440" y="26060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32520" y="3108960"/>
            <a:ext cx="-1097280" cy="5486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64040" y="3108960"/>
            <a:ext cx="1097280" cy="5486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0" y="37033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no. -001 (units 1–12)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55480" y="37033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no. -002 (units 13 on)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29400" y="4617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non-interchangeable detail (a connector change) separates part numbers, not CIs. The variant mapping lives in the CI index — and each variant’s interface callout is its own interface record.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mirrors the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91840" y="2103120"/>
            <a:ext cx="-1463040" cy="640080"/>
          </a:xfrm>
          <a:prstGeom prst="line">
            <a:avLst/>
          </a:prstGeom>
          <a:noFill/>
          <a:ln w="15875">
            <a:solidFill>
              <a:srgbClr val="4A5A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2103120"/>
            <a:ext cx="1463040" cy="640080"/>
          </a:xfrm>
          <a:prstGeom prst="line">
            <a:avLst/>
          </a:prstGeom>
          <a:noFill/>
          <a:ln w="15875">
            <a:solidFill>
              <a:srgbClr val="4A5A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3291840"/>
            <a:ext cx="-731520" cy="640080"/>
          </a:xfrm>
          <a:prstGeom prst="line">
            <a:avLst/>
          </a:prstGeom>
          <a:noFill/>
          <a:ln w="15875">
            <a:solidFill>
              <a:srgbClr val="4A5A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3291840"/>
            <a:ext cx="914400" cy="640080"/>
          </a:xfrm>
          <a:prstGeom prst="line">
            <a:avLst/>
          </a:prstGeom>
          <a:noFill/>
          <a:ln w="15875">
            <a:solidFill>
              <a:srgbClr val="4A5A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3291840"/>
            <a:ext cx="-365760" cy="640080"/>
          </a:xfrm>
          <a:prstGeom prst="line">
            <a:avLst/>
          </a:prstGeom>
          <a:noFill/>
          <a:ln w="15875">
            <a:solidFill>
              <a:srgbClr val="4A5A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3291840"/>
            <a:ext cx="1280160" cy="640080"/>
          </a:xfrm>
          <a:prstGeom prst="line">
            <a:avLst/>
          </a:prstGeom>
          <a:noFill/>
          <a:ln w="15875">
            <a:solidFill>
              <a:srgbClr val="4A5A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55448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0" y="27432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011680" y="39319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0" y="39319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03520" y="39319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decomposition, two views: the CI hierarchy and the architecture model are not allowed to diverge.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40880" y="164592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4" y="1746504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80960" y="15910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rule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680960" y="18836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model-based architecture exists, CI parent-child structure mirrors its decomposition — each CI cross-referenced to its model element, each element carrying its CI identity.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040880" y="306324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3163824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680960" y="30083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hold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7680960" y="33009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decision that disagrees with the model is held until the model is dispositioned. Recording against a divergent model creates two truths — the disease CM exists to prevent.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7040880" y="448056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4581144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680960" y="44256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boundary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7680960" y="47183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Customer-controlled CIs are distinguished from internally controlled levels; below the customer’s line, the company decides what to manage and how.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live at CI boundaries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 structure defines a finite set of boundaries — every pair of interfacing siblings, every external system, every customer/internal control line. That finiteness is what makes interface coverage checkable.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957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identifies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6112" y="32004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 each boundary — signals, loads, data, power — is systems engineering work. CM does not derive interface requirements.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21488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23957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records and verifies coverage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90872" y="32004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boundary appears in the interface register with either defining documentation or an explicit, signed no-interface determination. No boundary is left blank — and coverage, unlike content, is checkable without engineering judgment.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21488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23957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protect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85632" y="32004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requirements enter the configuration documentation as it develops; once baselined, they change only by formal change action.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appearing on the same interface document is not evidence of a common interface — one document can define several distinct interfaces.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Identifiers carry the history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is convention; retention is the discipline. Three rules carry safety weight: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0208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653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numbers change on non-interchangeability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1579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modification that breaks interchangeability changes the part number — that is the signal the number exists to send. The design identity moves with the design.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315468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2552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09981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identifiers never change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339242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Serial, lot, and batch numbers are never revised or re-used. A modified unit keeps its serial through the part-number change — the serial is the thread its whole history hangs 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" y="438912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48970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33425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survives everything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46268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life-limited part’s consumed life carries through modification and overhaul, exactly as its serial number does. Resetting it is a safety event, not bookkeeping.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731520" y="5577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software versions get distinct identifiers whenever build equivalence is not guaranteed, and part numbers are unique only within a design activity’s enterprise code.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 anchor the lifecycle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3063240"/>
            <a:ext cx="9966960" cy="0"/>
          </a:xfrm>
          <a:prstGeom prst="line">
            <a:avLst/>
          </a:prstGeom>
          <a:noFill/>
          <a:ln w="25400">
            <a:solidFill>
              <a:srgbClr val="4A5A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1720" y="29260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55448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17190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baseline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20848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performance requirements and their verification — typically at the system requirements/functional review.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06440" y="29260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365760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3822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baseline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73168" y="418795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requirements allocated to each CI — typically at preliminary design review for the item. Interface requirements ride in the invoking specifications.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81160" y="29260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55448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7190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baseline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20848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released design description and acceptance requirements — established through the physical configuration audit; every change thereafter is formal change action.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plus its approved changes is the current approved configuration — the reference point every change, audit, and status record addresses.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is never finished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 set you shipped at the design review is a snapshot. The process owns keeping it true — re-running the screen and the structure alignment on triggers: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762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change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items, new functions, new interfaces — or a variant that breaks interchangeability.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1762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change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54203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decomposition moves; the CI structure re-aligns with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1762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hazard finding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58200" y="254203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analysis identifies a safety-critical item — it gets screened, and will almost always designate.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42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strategy shift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5079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becomes separately provisioned or separately repaired — the logistics criterion re-fires.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142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change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45079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directs designation or de-designation; concurrence is iterative, not one-time.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41422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supplier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45079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programs forget: a source change is itself a risk trigger across the CM system.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4A5A9E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45389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53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is a decision, and the decision selects which items get requirements, verification, change control, and status visibility of their own.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249424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2128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two steps — the end-use function gate, then the criteria — with a documented rationale for every candidate, kept honest by restraint.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00837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matters as much as membership: designate where items are separately specified, verified, released, or supported, and not below.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3840480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80390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numbers and CIs map many-to-many; structure mirrors the architecture model; boundaries are covered or explicitly determined empty — never blank.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7240" y="4636008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5994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numbers and consumed life outlive every modification; that permanence is a safety barrier, not an administrative habit.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77240" y="543153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31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53949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designation is the floor: it holds regardless of what a contract flows down, and identification re-runs whenever the facts move.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2026-07-19T17:51:13Z</dcterms:created>
  <dcterms:modified xsi:type="dcterms:W3CDTF">2026-07-19T17:51:13Z</dcterms:modified>
</cp:coreProperties>
</file>