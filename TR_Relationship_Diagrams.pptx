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traceability (TR) diagrams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block names a part; the codes and the verbatim part note text sit beside it. Arrows run up the product tree to the end item. Every example slide is self-contained.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108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physical 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3108960" cy="822960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715768"/>
            <a:ext cx="3108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831336"/>
            <a:ext cx="3108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48640" y="3831336"/>
            <a:ext cx="31089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drawing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1801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border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916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border + gray fill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40325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border — not a physical part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Codes used in these examples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1874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Serialization recording — identifies a single unit.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441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Lot/batch recording — identifies a manufacturing lot/batch.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0083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Traceability records — parent-child links to the end item.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5753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IUID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Unique item identifier, reported to the DoD registry.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4142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Life-limited — states the limit; adds no record.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Critical Safety Item designation.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5276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Fracture-Critical Item designation.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rule (§6.4.1): when an item holds SER or LOT, serialization and traceability records are maintained up the product tree to the end item. LL, CSI, and FC identify a condition — they do not create records on their own and do not cascade.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Life-limited detail, cycle/usage-controlled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§6.6.1 — remaining life is a per-unit quantity, so the item is serialized. The cascade to the end item begins at its parent.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904134"/>
            <a:ext cx="2834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904134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Higher-level physical parent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2905872"/>
            <a:ext cx="7863840" cy="56345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2905872"/>
            <a:ext cx="7863840" cy="563453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9836" y="3155594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3187598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3670493"/>
            <a:ext cx="2834640" cy="105887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670493"/>
            <a:ext cx="2834640" cy="105887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 disk (detail part)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670493"/>
            <a:ext cx="7863840" cy="1058875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3670493"/>
            <a:ext cx="7863840" cy="1058875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LIFE LIMITED PART. THIS PART IS CYCLE/USAGE-CONTROLLED AND IS LIMITED TO A SPECIFIC NUMBER OF USAGES. [NUMBER OF FLIGHTS, CYCLE LIMIT, ETC.].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 THIS ITEM IS SERIALIZED AND TRACEABILITY MUST BE MAINTAINED BETWEEN THIS ITEM AND ALL HIGHER-LEVEL PHYSICAL ITEMS UP TO THE END ITEM.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59836" y="4167927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4199931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1874520" y="3471062"/>
            <a:ext cx="0" cy="19943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landing gear assemblies, shock struts, actuator ballscrews, compressor disks, blades. Each higher physical parent repeats SER + TR up to the end item, which carries the TR terminator note.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— Life-limited detail, age/shelf-life-controlled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§6.6.2 — the limit attaches to the manufacturing lot/batch, so the item is lot/batch recorded and its parent is serialized.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821564"/>
            <a:ext cx="2834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821564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Higher-level physical parent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2823301"/>
            <a:ext cx="7863840" cy="56345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2823301"/>
            <a:ext cx="7863840" cy="563453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9836" y="3073024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3105028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3651291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651291"/>
            <a:ext cx="2834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O-ring / sealant / prepreg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587923"/>
            <a:ext cx="7863840" cy="122401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3587923"/>
            <a:ext cx="7863840" cy="12240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LIFE LIMITED PART. THIS PART IS AGE/SHELF-LIFE-CONTROLLED IRRESPECTIVE OF HOW MANY TIMES IT IS USED. [SHELF LIFE, CURE DATE LIMIT, OR STORAGE AGE LIMIT].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LOT/BATCH RECORDING REQUIRED. THIS ITEM REQUIRES LOT/BATCH TRACEABILITY AND TRACEABILITY MUST BE MAINTAINED BETWEEN THIS ITEM AND ALL HIGHER-LEVEL PHYSICAL ITEMS UP TO THE END ITEM.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59836" y="4167927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4199931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1874520" y="3388492"/>
            <a:ext cx="0" cy="26279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lot number alone cannot fix location, so the parent is serialized (SER + TR). Contrast §6.6.2's other pairing: a calendar-limited discrete part carrying an ALS entry takes LL + SER, per 14 CFR 45.15(c).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 — Serialized detail cascading to the end item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§6.4.1 — a serialized item's physical parents are serialized too, up to the end item.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721254"/>
            <a:ext cx="2834640" cy="566928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21254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 (aircraft tail no.)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2766974"/>
            <a:ext cx="7863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2766974"/>
            <a:ext cx="7863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BEYOND THIS LEVEL IS NOT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9836" y="2972714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3004718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3441893"/>
            <a:ext cx="2834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441893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assembly (physical parent)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443630"/>
            <a:ext cx="7863840" cy="56345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3443630"/>
            <a:ext cx="7863840" cy="563453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59836" y="3693353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725357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457200" y="4208252"/>
            <a:ext cx="2834640" cy="66001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208252"/>
            <a:ext cx="2834640" cy="66001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(serialized detail)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4208252"/>
            <a:ext cx="7863840" cy="660014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4208252"/>
            <a:ext cx="7863840" cy="66001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 THIS ITEM IS SERIALIZED AND TRACEABILITY MUST BE MAINTAINED BETWEEN THIS ITEM AND ALL HIGHER-LEVEL PHYSICAL ITEMS UP TO THE END ITEM.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9836" y="4506255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538259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1874520" y="3288182"/>
            <a:ext cx="0" cy="15371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1874520" y="4008821"/>
            <a:ext cx="0" cy="19943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leaf holds its own serialization requirement (full SER note). Each physical parent below the end item takes the short SER + TR notes. The end item takes the TR terminator note and receives no SER.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4 — Lot/batch detail under a serialized parent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§6.3.2 + §6.4.1 — a lot number alone can't establish location, so the parent of a LOT item is serialized.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813517"/>
            <a:ext cx="2834640" cy="566928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813517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2859237"/>
            <a:ext cx="7863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2859237"/>
            <a:ext cx="7863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BEYOND THIS LEVEL IS NOT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9836" y="3064977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3096981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3534156"/>
            <a:ext cx="2834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534156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(physical parent)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535893"/>
            <a:ext cx="7863840" cy="56345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3535893"/>
            <a:ext cx="7863840" cy="563453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59836" y="3785616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817620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457200" y="4254795"/>
            <a:ext cx="2834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254795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stock / bulk sealant callout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4300515"/>
            <a:ext cx="7863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4300515"/>
            <a:ext cx="7863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LOT/BATCH RECORDING REQUIRED.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9836" y="4506255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538259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1874520" y="3380445"/>
            <a:ext cx="0" cy="15371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1874520" y="4101084"/>
            <a:ext cx="0" cy="15371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raw-material callout takes the short LOT note text (§6.3.2). The chain of serialized parents then continues up to the end item under §6.4.1.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5 — One parent over a SER branch and a LOT branch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§6.2.2 + §6.4.1 — TR appears on any node that has children holding SER or LOT.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554480" y="1298448"/>
            <a:ext cx="3474720" cy="658368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298448"/>
            <a:ext cx="3474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331720"/>
            <a:ext cx="34747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331720"/>
            <a:ext cx="3474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assembly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2743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Subassembly (serialized)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3703320"/>
            <a:ext cx="2743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 (lot-recorded)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956816"/>
            <a:ext cx="0" cy="37490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342900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429000"/>
            <a:ext cx="8229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3429000"/>
            <a:ext cx="0" cy="2743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3429000"/>
            <a:ext cx="13258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3108960"/>
            <a:ext cx="0" cy="3200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3108960"/>
            <a:ext cx="0" cy="3200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6537960" y="1298448"/>
            <a:ext cx="5212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1298448"/>
            <a:ext cx="521208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BEYOND THIS LEVEL IS NOT REQUIRED.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97196" y="1595628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572768"/>
            <a:ext cx="1508760" cy="54864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3" name="Shape 21"/>
          <p:cNvSpPr/>
          <p:nvPr/>
        </p:nvSpPr>
        <p:spPr>
          <a:xfrm>
            <a:off x="6537960" y="228600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2286000"/>
            <a:ext cx="52120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97196" y="2683764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2715768"/>
            <a:ext cx="150876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7" name="Shape 25"/>
          <p:cNvSpPr/>
          <p:nvPr/>
        </p:nvSpPr>
        <p:spPr>
          <a:xfrm>
            <a:off x="457200" y="4800600"/>
            <a:ext cx="11247120" cy="153985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800600"/>
            <a:ext cx="11247120" cy="153985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Subassembly — own SER, and TR because it has a lot-recorded child: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 THIS ITEM IS SERIALIZED AND TRACEABILITY MUST BE MAINTAINED BETWEEN THIS ITEM AND ALL HIGHER-LEVEL PHYSICAL ITEMS UP TO THE END ITEM.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 — lot/batch recorded detail part: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LOT/BATCH RECORDING REQUIRED. THIS ITEM REQUIRES LOT/BATCH TRACEABILITY AND TRACEABILITY MUST BE MAINTAINED BETWEEN THIS ITEM AND ALL HIGHER-LEVEL PHYSICAL ITEMS UP TO THE END ITEM.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96796" y="4539996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4572000"/>
            <a:ext cx="0" cy="2286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31" name="Shape 29"/>
          <p:cNvSpPr/>
          <p:nvPr/>
        </p:nvSpPr>
        <p:spPr>
          <a:xfrm>
            <a:off x="4951476" y="4539996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4572000"/>
            <a:ext cx="0" cy="2286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33" name="Text 31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physical parent ends up SER + TR whether the SER is its own requirement or assigned by the cascade. Both branches trace up to the end item under §6.4.1.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6 — Installation drawing in the path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§6.4.2 — an installation drawing depicts installation, is not consumed as a physical part, and takes TR only (no SER).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672974"/>
            <a:ext cx="2834640" cy="566928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672974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2718694"/>
            <a:ext cx="7863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2718694"/>
            <a:ext cx="7863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BEYOND THIS LEVEL IS NOT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9836" y="2924434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956438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3395350"/>
            <a:ext cx="2834640" cy="66001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57200" y="3395350"/>
            <a:ext cx="2834640" cy="66001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drawing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395350"/>
            <a:ext cx="7863840" cy="660014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3395350"/>
            <a:ext cx="7863840" cy="66001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 THIS INSTALLATION DRAWING DEPICTS TRACEABLE PARTS WHOSE SERIAL NUMBERS MUST BE TRACED TO ALL HIGHER-LEVEL PHYSICAL ITEMS UP TO THE END ITEM.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59836" y="3693353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725357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457200" y="4256532"/>
            <a:ext cx="2834640" cy="66001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256532"/>
            <a:ext cx="2834640" cy="66001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Serialized item (traceable part)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4256532"/>
            <a:ext cx="7863840" cy="660014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4256532"/>
            <a:ext cx="7863840" cy="66001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 THIS ITEM IS SERIALIZED AND TRACEABILITY MUST BE MAINTAINED BETWEEN THIS ITEM AND ALL HIGHER-LEVEL PHYSICAL ITEMS UP TO THE END ITEM.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9836" y="4554535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586539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1874520" y="3239902"/>
            <a:ext cx="0" cy="15544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1874520" y="4055364"/>
            <a:ext cx="0" cy="20116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installation drawing is the exception to the SER + TR rule for parents: it takes the TR installation note and no SER. Physical parents on either side still cascade normally.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7 — IUID item and its parent item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§6.5.4 — IUID + SER on the item; SER + TR cascade up, but IUID does not flow up on its own.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6057"/>
            <a:ext cx="2834640" cy="566928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6057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1835658"/>
            <a:ext cx="7863840" cy="54772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835658"/>
            <a:ext cx="7863840" cy="54772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BEYOND THIS LEVEL IS NOT REQUIRED.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IUID to the end item only if the contract requires it.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9836" y="2077517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109521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2574950"/>
            <a:ext cx="2834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74950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physical parent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2584552"/>
            <a:ext cx="7863840" cy="54772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2584552"/>
            <a:ext cx="7863840" cy="54772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59836" y="2826410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858414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457200" y="3333445"/>
            <a:ext cx="2834640" cy="108813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3445"/>
            <a:ext cx="2834640" cy="10881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item (embeds a UII)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3333445"/>
            <a:ext cx="7863840" cy="108813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3333445"/>
            <a:ext cx="7863840" cy="10881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IUID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ITEM UNIQUE IDENTIFICATION REQUIRED. THIS ITEM IS A PARENT ITEM. MARK THIS ITEM WITH A UNIQUE ITEM IDENTIFIER (UII) IN ACCORDANCE WITH MIL-STD-130 AND REPORT THE UIIS OF ITS EMBEDDED ITEMS IN ACCORDANCE WITH DFARS 252.211-7003.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59836" y="3845509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877513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457200" y="4662526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662526"/>
            <a:ext cx="2834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 serially managed item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94760" y="4622749"/>
            <a:ext cx="7863840" cy="117683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94760" y="4622749"/>
            <a:ext cx="7863840" cy="1176833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IUID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ITEM UNIQUE IDENTIFICATION REQUIRED. MARK THIS ITEM WITH A UNIQUE ITEM IDENTIFIER (UII) IN ACCORDANCE WITH MIL-STD-130 AND REPORT THE UII IN ACCORDANCE WITH DFARS 252.211-7003.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 THIS ITEM IS SERIALIZED AND TRACEABILITY MUST BE MAINTAINED BETWEEN THIS ITEM AND ALL HIGHER-LEVEL PHYSICAL ITEMS UP TO THE END ITEM.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59836" y="5179162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5211166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8" name="Shape 26"/>
          <p:cNvSpPr/>
          <p:nvPr/>
        </p:nvSpPr>
        <p:spPr>
          <a:xfrm>
            <a:off x="1874520" y="2392985"/>
            <a:ext cx="0" cy="18196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1874520" y="3141878"/>
            <a:ext cx="0" cy="19156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1874520" y="4421581"/>
            <a:ext cx="0" cy="24094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IUID only to items that hold an IUID requirement and to the parent items the contract identifies. SER and TR are what cascade to the end item.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8 — Critical Safety Item (CSI)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§6.7.1 — CSI + SER + LOT + IUID on the item; CSI does not cascade; SER + TR do.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974647"/>
            <a:ext cx="2834640" cy="566928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74647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2020367"/>
            <a:ext cx="7863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2020367"/>
            <a:ext cx="7863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BEYOND THIS LEVEL IS NOT REQUIRED.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9836" y="2226107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258111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2697023"/>
            <a:ext cx="2834640" cy="77358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97023"/>
            <a:ext cx="2834640" cy="77358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parent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2697023"/>
            <a:ext cx="7863840" cy="773582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2697023"/>
            <a:ext cx="7863840" cy="77358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IUID here if the contract identifies this as a parent item.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59836" y="3051810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083814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457200" y="4094683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94683"/>
            <a:ext cx="2834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Safety Item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3671773"/>
            <a:ext cx="7863840" cy="19431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3671773"/>
            <a:ext cx="7863840" cy="19431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CRITICAL SAFETY ITEM.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 THIS ITEM IS SERIALIZED AND TRACEABILITY MUST BE MAINTAINED BETWEEN THIS ITEM AND ALL HIGHER-LEVEL PHYSICAL ITEMS UP TO THE END ITEM.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LOT/BATCH RECORDING REQUIRED. THIS ITEM REQUIRES LOT/BATCH TRACEABILITY AND TRACEABILITY MUST BE MAINTAINED BETWEEN THIS ITEM AND ALL HIGHER-LEVEL PHYSICAL ITEMS UP TO THE END ITEM.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IUID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ITEM UNIQUE IDENTIFICATION REQUIRED. MARK THIS ITEM WITH A UNIQUE ITEM IDENTIFIER (UII) IN ACCORDANCE WITH MIL-STD-130 AND REPORT THE UII IN ACCORDANCE WITH DFARS 252.211-7003.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59836" y="4611319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643323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1874520" y="2541575"/>
            <a:ext cx="0" cy="15544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1874520" y="3470605"/>
            <a:ext cx="0" cy="62407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marks the condition and stays on the item. Serialization reaches a CSI through IUID (§6.7.1). SER + TR cascade to the end item; IUID applies to the item and to contract-identified parent items.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9 — Fracture-Critical Traceable Part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§6.7.2 — a safety-of-flight structural component that is single load path or sized by durability/damage tolerance. Takes FC + SER + LOT.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322393"/>
            <a:ext cx="2834640" cy="566928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322393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2368113"/>
            <a:ext cx="7863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2368113"/>
            <a:ext cx="7863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BEYOND THIS LEVEL IS NOT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9836" y="2573853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605857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3043032"/>
            <a:ext cx="2834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43032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parent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044769"/>
            <a:ext cx="7863840" cy="56345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3044769"/>
            <a:ext cx="7863840" cy="563453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59836" y="3294492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326496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457200" y="3989619"/>
            <a:ext cx="28346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89619"/>
            <a:ext cx="2834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Fracture-Critical Traceable Part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3809390"/>
            <a:ext cx="7863840" cy="145773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3809390"/>
            <a:ext cx="7863840" cy="14577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FRACTURE-CRITICAL ITEM.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 THIS ITEM IS SERIALIZED AND TRACEABILITY MUST BE MAINTAINED BETWEEN THIS ITEM AND ALL HIGHER-LEVEL PHYSICAL ITEMS UP TO THE END ITEM.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LOT/BATCH RECORDING REQUIRED. THIS ITEM REQUIRES LOT/BATCH TRACEABILITY AND TRACEABILITY MUST BE MAINTAINED BETWEEN THIS ITEM AND ALL HIGHER-LEVEL PHYSICAL ITEMS UP TO THE END ITEM.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9836" y="4506255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538259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1874520" y="2889321"/>
            <a:ext cx="0" cy="15371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1874520" y="3609960"/>
            <a:ext cx="0" cy="37965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marks the condition and does not cascade; SER + TR cascade up to the end item. Contrast Example 10: a Fracture-Critical Part (not traceable) is a separate category that takes LOT only.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10 — Fracture-Critical Part (not traceable)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7782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§6.7.2 — a separate category: not single load path, not sized by durability/damage tolerance. No FC code, no SER on this basis — LOT only.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721254"/>
            <a:ext cx="2834640" cy="566928"/>
          </a:xfrm>
          <a:prstGeom prst="rect">
            <a:avLst/>
          </a:prstGeom>
          <a:solidFill>
            <a:srgbClr val="E6E6E6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21254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item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94760" y="2766974"/>
            <a:ext cx="7863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2766974"/>
            <a:ext cx="7863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BEYOND THIS LEVEL IS NOT REQUIRED.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9836" y="2972714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3004718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0" name="Shape 8"/>
          <p:cNvSpPr/>
          <p:nvPr/>
        </p:nvSpPr>
        <p:spPr>
          <a:xfrm>
            <a:off x="457200" y="3441893"/>
            <a:ext cx="2834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441893"/>
            <a:ext cx="28346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parent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3443630"/>
            <a:ext cx="7863840" cy="563453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3443630"/>
            <a:ext cx="7863840" cy="563453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SERIALIZATION RECORDING REQUIRED.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TRACEABILITY RECORDS REQUIRED.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59836" y="3693353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725357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457200" y="4208252"/>
            <a:ext cx="2834640" cy="66001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208252"/>
            <a:ext cx="2834640" cy="66001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Fracture-Critical Part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4208252"/>
            <a:ext cx="7863840" cy="660014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4208252"/>
            <a:ext cx="7863840" cy="66001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LOT/BATCH RECORDING REQUIRED. THIS ITEM REQUIRES LOT/BATCH TRACEABILITY AND TRACEABILITY MUST BE MAINTAINED BETWEEN THIS ITEM AND ALL HIGHER-LEVEL PHYSICAL ITEMS UP TO THE END ITEM.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9836" y="4506255"/>
            <a:ext cx="64008" cy="64008"/>
          </a:xfrm>
          <a:prstGeom prst="ellipse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538259"/>
            <a:ext cx="5029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1874520" y="3288182"/>
            <a:ext cx="0" cy="15371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3" name="Shape 21"/>
          <p:cNvSpPr/>
          <p:nvPr/>
        </p:nvSpPr>
        <p:spPr>
          <a:xfrm>
            <a:off x="1874520" y="4008821"/>
            <a:ext cx="0" cy="19943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carries lot/batch recording only for material and process traceability. Its serialized parent still cascades SER + TR to the end item because the LOT child triggers §6.4.1.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2026-09-22T01:26:08Z</dcterms:created>
  <dcterms:modified xsi:type="dcterms:W3CDTF">2026-09-22T01:26:08Z</dcterms:modified>
</cp:coreProperties>
</file>