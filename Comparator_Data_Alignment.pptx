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in Comparator belongs to one EBOM line item: a part number under its next higher assembly. MBOM and ABOM decide whether each line is planned and built. Change Pedigree, the CI list, ACN and engineer adjudications attach by part number. WO5, NCR and RFV have no part position of their own, so they reach the line through the work order that built it. Matches are exact; part numbers are compared after trimming spaces and ignoring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arator 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56032"/>
            <a:ext cx="5486400" cy="256032"/>
          </a:xfrm>
          <a:prstGeom prst="rect">
            <a:avLst/>
          </a:prstGeom>
          <a:noFill/>
          <a:ln/>
        </p:spPr>
        <p:txBody>
          <a:bodyPr wrap="square" rtlCol="0"/>
          <a:lstStyle>
            <a:lvl1pPr algn="l" indent="0" marL="0">
              <a:buNone/>
              <a:defRPr lang="en-US" sz="1100" b="1" spc="150" kern="0" dirty="0">
                <a:solidFill>
                  <a:schemeClr val="accent1"/>
                </a:solidFill>
                <a:latin typeface="Calibri" pitchFamily="34" charset="0"/>
                <a:ea typeface="Calibri" pitchFamily="34" charset="-122"/>
                <a:cs typeface="Calibri" pitchFamily="34" charset="-120"/>
              </a:defRPr>
            </a:lvl1pPr>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SECTION</a:t>
            </a:r>
            <a:endParaRPr lang="en-US" sz="1100" dirty="0"/>
          </a:p>
        </p:txBody>
      </p:sp>
      <p:sp>
        <p:nvSpPr>
          <p:cNvPr id="3" name="Text 0"/>
          <p:cNvSpPr/>
          <p:nvPr>
            <p:ph idx="101" type="title" hasCustomPrompt="1"/>
          </p:nvPr>
        </p:nvSpPr>
        <p:spPr>
          <a:xfrm>
            <a:off x="502920" y="475488"/>
            <a:ext cx="8138160" cy="50292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r>
              <a:rPr lang="en-US" sz="2600" b="1" dirty="0">
                <a:solidFill>
                  <a:schemeClr val="tx2"/>
                </a:solidFill>
                <a:latin typeface="Cambria" pitchFamily="34" charset="0"/>
                <a:ea typeface="Cambria" pitchFamily="34" charset="-122"/>
                <a:cs typeface="Cambria" pitchFamily="34" charset="-120"/>
              </a:rPr>
              <a:t>Title</a:t>
            </a:r>
            <a:endParaRPr lang="en-US" sz="2600" dirty="0"/>
          </a:p>
        </p:txBody>
      </p:sp>
      <p:sp>
        <p:nvSpPr>
          <p:cNvPr id="4" name="Text 0"/>
          <p:cNvSpPr/>
          <p:nvPr/>
        </p:nvSpPr>
        <p:spPr>
          <a:xfrm>
            <a:off x="502920" y="4837176"/>
            <a:ext cx="4572000" cy="228600"/>
          </a:xfrm>
          <a:prstGeom prst="rect">
            <a:avLst/>
          </a:prstGeom>
          <a:noFill/>
          <a:ln/>
        </p:spPr>
        <p:txBody>
          <a:bodyPr wrap="square" lIns="0" tIns="0" rIns="0" bIns="0" rtlCol="0" anchor="ctr"/>
          <a:lstStyle/>
          <a:p>
            <a:pPr indent="0" marL="0">
              <a:buNone/>
            </a:pPr>
            <a:r>
              <a:rPr lang="en-US" sz="850" dirty="0">
                <a:solidFill>
                  <a:schemeClr val="accent4"/>
                </a:solidFill>
                <a:latin typeface="Calibri" pitchFamily="34" charset="0"/>
                <a:ea typeface="Calibri" pitchFamily="34" charset="-122"/>
                <a:cs typeface="Calibri" pitchFamily="34" charset="-120"/>
              </a:rPr>
              <a:t>Comparator v185 · Configuration Status Accounting</a:t>
            </a:r>
            <a:endParaRPr lang="en-US" sz="850" dirty="0"/>
          </a:p>
        </p:txBody>
      </p:sp>
      <p:sp>
        <p:nvSpPr>
          <p:cNvPr id="25" name="Slide Number Placeholder 0"/>
          <p:cNvSpPr>
            <a:spLocks noGrp="1"/>
          </p:cNvSpPr>
          <p:nvPr>
            <p:ph type="sldNum" sz="quarter" idx="4294967295"/>
          </p:nvPr>
        </p:nvSpPr>
        <p:spPr>
          <a:xfrm>
            <a:off x="8321040" y="4837176"/>
            <a:ext cx="320040" cy="228600"/>
          </a:xfrm>
          <a:prstGeom prst="rect">
            <a:avLst/>
          </a:prstGeom>
          <a:extLst>
            <a:ext uri="{C572A759-6A51-4108-AA02-DFA0A04FC94B}">
              <ma14:wrappingTextBoxFlag xmlns:ma14="http://schemas.microsoft.com/office/mac/drawingml/2011/main" val="0"/>
            </a:ext>
          </a:extLst>
        </p:spPr>
        <p:txBody>
          <a:bodyPr/>
          <a:lstStyle>
            <a:lvl1pPr>
              <a:defRPr sz="850">
                <a:solidFill>
                  <a:schemeClr val="accent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37176"/>
            <a:ext cx="320040" cy="228600"/>
          </a:xfrm>
          <a:prstGeom prst="rect">
            <a:avLst/>
          </a:prstGeom>
          <a:extLst>
            <a:ext uri="{C572A759-6A51-4108-AA02-DFA0A04FC94B}">
              <ma14:wrappingTextBoxFlag xmlns:ma14="http://schemas.microsoft.com/office/mac/drawingml/2011/main" val="0"/>
            </a:ext>
          </a:extLst>
        </p:spPr>
        <p:txBody>
          <a:bodyPr/>
          <a:lstStyle>
            <a:lvl1pPr>
              <a:defRPr sz="85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02920" y="256032"/>
            <a:ext cx="5486400" cy="256032"/>
          </a:xfrm>
          <a:prstGeom prst="rect">
            <a:avLst/>
          </a:prstGeom>
          <a:noFill/>
          <a:ln/>
        </p:spPr>
        <p:txBody>
          <a:bodyPr wrap="square" lIns="0" tIns="0" rIns="0" bIns="0" rtlCol="0" anchor="ctr"/>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DATA ALIGNMENT</a:t>
            </a:r>
            <a:endParaRPr lang="en-US" sz="1100" dirty="0"/>
          </a:p>
        </p:txBody>
      </p:sp>
      <p:sp>
        <p:nvSpPr>
          <p:cNvPr id="3" name="Text 0"/>
          <p:cNvSpPr/>
          <p:nvPr>
            <p:ph idx="101" type="title" hasCustomPrompt="1"/>
          </p:nvPr>
        </p:nvSpPr>
        <p:spPr>
          <a:xfrm>
            <a:off x="502920" y="475488"/>
            <a:ext cx="8138160" cy="50292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How Comparator Lines Up Program Data</a:t>
            </a:r>
            <a:endParaRPr lang="en-US" sz="2600" dirty="0"/>
          </a:p>
        </p:txBody>
      </p:sp>
      <p:sp>
        <p:nvSpPr>
          <p:cNvPr id="4" name="Legend core swatch"/>
          <p:cNvSpPr/>
          <p:nvPr/>
        </p:nvSpPr>
        <p:spPr>
          <a:xfrm>
            <a:off x="6400800" y="1010412"/>
            <a:ext cx="182880" cy="109728"/>
          </a:xfrm>
          <a:prstGeom prst="roundRect">
            <a:avLst>
              <a:gd name="adj" fmla="val 16667"/>
            </a:avLst>
          </a:prstGeom>
          <a:solidFill>
            <a:schemeClr val="bg2"/>
          </a:solidFill>
          <a:ln w="12700">
            <a:solidFill>
              <a:schemeClr val="tx2"/>
            </a:solidFill>
            <a:prstDash val="solid"/>
          </a:ln>
        </p:spPr>
      </p:sp>
      <p:sp>
        <p:nvSpPr>
          <p:cNvPr id="5" name="Legend core"/>
          <p:cNvSpPr txBox="1"/>
          <p:nvPr/>
        </p:nvSpPr>
        <p:spPr>
          <a:xfrm>
            <a:off x="6629400" y="969264"/>
            <a:ext cx="548640" cy="192024"/>
          </a:xfrm>
          <a:prstGeom prst="rect">
            <a:avLst/>
          </a:prstGeom>
          <a:noFill/>
          <a:ln/>
        </p:spPr>
        <p:txBody>
          <a:bodyPr wrap="square" lIns="0" tIns="0" rIns="0" bIns="0" rtlCol="0" anchor="ctr"/>
          <a:lstStyle/>
          <a:p>
            <a:pPr indent="0" marL="0">
              <a:buNone/>
            </a:pPr>
            <a:r>
              <a:rPr lang="en-US" sz="800" dirty="0">
                <a:solidFill>
                  <a:schemeClr val="accent4"/>
                </a:solidFill>
                <a:latin typeface="Calibri" pitchFamily="34" charset="0"/>
                <a:ea typeface="Calibri" pitchFamily="34" charset="-122"/>
                <a:cs typeface="Calibri" pitchFamily="34" charset="-120"/>
              </a:rPr>
              <a:t>Core BOM</a:t>
            </a:r>
            <a:endParaRPr lang="en-US" sz="800" dirty="0"/>
          </a:p>
        </p:txBody>
      </p:sp>
      <p:sp>
        <p:nvSpPr>
          <p:cNvPr id="6" name="Legend supp swatch"/>
          <p:cNvSpPr/>
          <p:nvPr/>
        </p:nvSpPr>
        <p:spPr>
          <a:xfrm>
            <a:off x="7223760" y="1010412"/>
            <a:ext cx="182880" cy="109728"/>
          </a:xfrm>
          <a:prstGeom prst="roundRect">
            <a:avLst>
              <a:gd name="adj" fmla="val 16667"/>
            </a:avLst>
          </a:prstGeom>
          <a:solidFill>
            <a:schemeClr val="bg1"/>
          </a:solidFill>
          <a:ln w="12700">
            <a:solidFill>
              <a:schemeClr val="accent4"/>
            </a:solidFill>
            <a:prstDash val="solid"/>
          </a:ln>
        </p:spPr>
      </p:sp>
      <p:sp>
        <p:nvSpPr>
          <p:cNvPr id="7" name="Legend supp"/>
          <p:cNvSpPr txBox="1"/>
          <p:nvPr/>
        </p:nvSpPr>
        <p:spPr>
          <a:xfrm>
            <a:off x="7452360" y="969264"/>
            <a:ext cx="685800" cy="192024"/>
          </a:xfrm>
          <a:prstGeom prst="rect">
            <a:avLst/>
          </a:prstGeom>
          <a:noFill/>
          <a:ln/>
        </p:spPr>
        <p:txBody>
          <a:bodyPr wrap="square" lIns="0" tIns="0" rIns="0" bIns="0" rtlCol="0" anchor="ctr"/>
          <a:lstStyle/>
          <a:p>
            <a:pPr indent="0" marL="0">
              <a:buNone/>
            </a:pPr>
            <a:r>
              <a:rPr lang="en-US" sz="800" dirty="0">
                <a:solidFill>
                  <a:schemeClr val="accent4"/>
                </a:solidFill>
                <a:latin typeface="Calibri" pitchFamily="34" charset="0"/>
                <a:ea typeface="Calibri" pitchFamily="34" charset="-122"/>
                <a:cs typeface="Calibri" pitchFamily="34" charset="-120"/>
              </a:rPr>
              <a:t>Supplemental</a:t>
            </a:r>
            <a:endParaRPr lang="en-US" sz="800" dirty="0"/>
          </a:p>
        </p:txBody>
      </p:sp>
      <p:sp>
        <p:nvSpPr>
          <p:cNvPr id="8" name="Legend after swatch"/>
          <p:cNvSpPr/>
          <p:nvPr/>
        </p:nvSpPr>
        <p:spPr>
          <a:xfrm>
            <a:off x="6400800" y="1184148"/>
            <a:ext cx="182880" cy="109728"/>
          </a:xfrm>
          <a:prstGeom prst="roundRect">
            <a:avLst>
              <a:gd name="adj" fmla="val 16667"/>
            </a:avLst>
          </a:prstGeom>
          <a:solidFill>
            <a:schemeClr val="accent3">
              <a:alpha val="12000"/>
            </a:schemeClr>
          </a:solidFill>
          <a:ln w="12700">
            <a:solidFill>
              <a:schemeClr val="accent3"/>
            </a:solidFill>
            <a:prstDash val="solid"/>
          </a:ln>
        </p:spPr>
      </p:sp>
      <p:sp>
        <p:nvSpPr>
          <p:cNvPr id="9" name="Legend after"/>
          <p:cNvSpPr txBox="1"/>
          <p:nvPr/>
        </p:nvSpPr>
        <p:spPr>
          <a:xfrm>
            <a:off x="6629400" y="1143000"/>
            <a:ext cx="1097280" cy="192024"/>
          </a:xfrm>
          <a:prstGeom prst="rect">
            <a:avLst/>
          </a:prstGeom>
          <a:noFill/>
          <a:ln/>
        </p:spPr>
        <p:txBody>
          <a:bodyPr wrap="square" lIns="0" tIns="0" rIns="0" bIns="0" rtlCol="0" anchor="ctr"/>
          <a:lstStyle/>
          <a:p>
            <a:pPr indent="0" marL="0">
              <a:buNone/>
            </a:pPr>
            <a:r>
              <a:rPr lang="en-US" sz="800" dirty="0">
                <a:solidFill>
                  <a:schemeClr val="accent4"/>
                </a:solidFill>
                <a:latin typeface="Calibri" pitchFamily="34" charset="0"/>
                <a:ea typeface="Calibri" pitchFamily="34" charset="-122"/>
                <a:cs typeface="Calibri" pitchFamily="34" charset="-120"/>
              </a:rPr>
              <a:t>Loaded after a run</a:t>
            </a:r>
            <a:endParaRPr lang="en-US" sz="800" dirty="0"/>
          </a:p>
        </p:txBody>
      </p:sp>
      <p:sp>
        <p:nvSpPr>
          <p:cNvPr id="10" name="Legend solid line"/>
          <p:cNvSpPr/>
          <p:nvPr/>
        </p:nvSpPr>
        <p:spPr>
          <a:xfrm>
            <a:off x="6400800" y="1412748"/>
            <a:ext cx="182880" cy="0"/>
          </a:xfrm>
          <a:prstGeom prst="line">
            <a:avLst/>
          </a:prstGeom>
          <a:noFill/>
          <a:ln w="15875">
            <a:solidFill>
              <a:schemeClr val="accent4"/>
            </a:solidFill>
            <a:prstDash val="solid"/>
          </a:ln>
        </p:spPr>
      </p:sp>
      <p:sp>
        <p:nvSpPr>
          <p:cNvPr id="11" name="Legend solid"/>
          <p:cNvSpPr txBox="1"/>
          <p:nvPr/>
        </p:nvSpPr>
        <p:spPr>
          <a:xfrm>
            <a:off x="6629400" y="1316736"/>
            <a:ext cx="2011680" cy="192024"/>
          </a:xfrm>
          <a:prstGeom prst="rect">
            <a:avLst/>
          </a:prstGeom>
          <a:noFill/>
          <a:ln/>
        </p:spPr>
        <p:txBody>
          <a:bodyPr wrap="square" lIns="0" tIns="0" rIns="0" bIns="0" rtlCol="0" anchor="ctr"/>
          <a:lstStyle/>
          <a:p>
            <a:pPr indent="0" marL="0">
              <a:buNone/>
            </a:pPr>
            <a:r>
              <a:rPr lang="en-US" sz="800" dirty="0">
                <a:solidFill>
                  <a:schemeClr val="accent4"/>
                </a:solidFill>
                <a:latin typeface="Calibri" pitchFamily="34" charset="0"/>
                <a:ea typeface="Calibri" pitchFamily="34" charset="-122"/>
                <a:cs typeface="Calibri" pitchFamily="34" charset="-120"/>
              </a:rPr>
              <a:t>Matches the EBOM line directly</a:t>
            </a:r>
            <a:endParaRPr lang="en-US" sz="800" dirty="0"/>
          </a:p>
        </p:txBody>
      </p:sp>
      <p:sp>
        <p:nvSpPr>
          <p:cNvPr id="12" name="Legend dashed line"/>
          <p:cNvSpPr/>
          <p:nvPr/>
        </p:nvSpPr>
        <p:spPr>
          <a:xfrm>
            <a:off x="6400800" y="1586484"/>
            <a:ext cx="182880" cy="0"/>
          </a:xfrm>
          <a:prstGeom prst="line">
            <a:avLst/>
          </a:prstGeom>
          <a:noFill/>
          <a:ln w="15875">
            <a:solidFill>
              <a:schemeClr val="accent4"/>
            </a:solidFill>
            <a:prstDash val="dash"/>
          </a:ln>
        </p:spPr>
      </p:sp>
      <p:sp>
        <p:nvSpPr>
          <p:cNvPr id="13" name="Legend dashed"/>
          <p:cNvSpPr txBox="1"/>
          <p:nvPr/>
        </p:nvSpPr>
        <p:spPr>
          <a:xfrm>
            <a:off x="6629400" y="1490472"/>
            <a:ext cx="2011680" cy="192024"/>
          </a:xfrm>
          <a:prstGeom prst="rect">
            <a:avLst/>
          </a:prstGeom>
          <a:noFill/>
          <a:ln/>
        </p:spPr>
        <p:txBody>
          <a:bodyPr wrap="square" lIns="0" tIns="0" rIns="0" bIns="0" rtlCol="0" anchor="ctr"/>
          <a:lstStyle/>
          <a:p>
            <a:pPr indent="0" marL="0">
              <a:buNone/>
            </a:pPr>
            <a:r>
              <a:rPr lang="en-US" sz="800" dirty="0">
                <a:solidFill>
                  <a:schemeClr val="accent4"/>
                </a:solidFill>
                <a:latin typeface="Calibri" pitchFamily="34" charset="0"/>
                <a:ea typeface="Calibri" pitchFamily="34" charset="-122"/>
                <a:cs typeface="Calibri" pitchFamily="34" charset="-120"/>
              </a:rPr>
              <a:t>Matches through a work order or NCR</a:t>
            </a:r>
            <a:endParaRPr lang="en-US" sz="800" dirty="0"/>
          </a:p>
        </p:txBody>
      </p:sp>
      <p:sp>
        <p:nvSpPr>
          <p:cNvPr id="14" name="EBOM"/>
          <p:cNvSpPr/>
          <p:nvPr/>
        </p:nvSpPr>
        <p:spPr>
          <a:xfrm>
            <a:off x="3794760" y="1024128"/>
            <a:ext cx="1554480" cy="420624"/>
          </a:xfrm>
          <a:prstGeom prst="roundRect">
            <a:avLst>
              <a:gd name="adj" fmla="val 13043"/>
            </a:avLst>
          </a:prstGeom>
          <a:solidFill>
            <a:schemeClr val="bg2"/>
          </a:solidFill>
          <a:ln w="15875">
            <a:solidFill>
              <a:schemeClr val="tx2"/>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EBOM</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Engineering BOM · as designed</a:t>
            </a:r>
            <a:endParaRPr lang="en-US" sz="1100" dirty="0"/>
          </a:p>
        </p:txBody>
      </p:sp>
      <p:sp>
        <p:nvSpPr>
          <p:cNvPr id="15" name="EBOM to line"/>
          <p:cNvSpPr/>
          <p:nvPr/>
        </p:nvSpPr>
        <p:spPr>
          <a:xfrm>
            <a:off x="4572000" y="1444752"/>
            <a:ext cx="0" cy="256032"/>
          </a:xfrm>
          <a:prstGeom prst="line">
            <a:avLst/>
          </a:prstGeom>
          <a:noFill/>
          <a:ln w="15875">
            <a:solidFill>
              <a:schemeClr val="accent4"/>
            </a:solidFill>
            <a:prstDash val="solid"/>
            <a:tailEnd type="triangle"/>
          </a:ln>
        </p:spPr>
      </p:sp>
      <p:sp>
        <p:nvSpPr>
          <p:cNvPr id="16" name="EBOM key"/>
          <p:cNvSpPr txBox="1"/>
          <p:nvPr/>
        </p:nvSpPr>
        <p:spPr>
          <a:xfrm>
            <a:off x="4645152" y="1481328"/>
            <a:ext cx="2103120" cy="182880"/>
          </a:xfrm>
          <a:prstGeom prst="rect">
            <a:avLst/>
          </a:prstGeom>
          <a:noFill/>
          <a:ln/>
        </p:spPr>
        <p:txBody>
          <a:bodyPr wrap="square" lIns="0" tIns="0" rIns="0" bIns="0" rtlCol="0" anchor="ctr"/>
          <a:lstStyle/>
          <a:p>
            <a:pPr algn="l" indent="0" marL="0">
              <a:buNone/>
            </a:pPr>
            <a:r>
              <a:rPr lang="en-US" sz="850" b="1" dirty="0">
                <a:solidFill>
                  <a:schemeClr val="tx1"/>
                </a:solidFill>
                <a:latin typeface="Calibri" pitchFamily="34" charset="0"/>
                <a:ea typeface="Calibri" pitchFamily="34" charset="-122"/>
                <a:cs typeface="Calibri" pitchFamily="34" charset="-120"/>
              </a:rPr>
              <a:t>one line per Part # + Next Higher</a:t>
            </a:r>
            <a:endParaRPr lang="en-US" sz="850" dirty="0"/>
          </a:p>
        </p:txBody>
      </p:sp>
      <p:sp>
        <p:nvSpPr>
          <p:cNvPr id="17" name="EBOM line item"/>
          <p:cNvSpPr/>
          <p:nvPr/>
        </p:nvSpPr>
        <p:spPr>
          <a:xfrm>
            <a:off x="3337560" y="1719072"/>
            <a:ext cx="2468880" cy="1847088"/>
          </a:xfrm>
          <a:prstGeom prst="roundRect">
            <a:avLst>
              <a:gd name="adj" fmla="val 2970"/>
            </a:avLst>
          </a:prstGeom>
          <a:solidFill>
            <a:schemeClr val="bg1"/>
          </a:solidFill>
          <a:ln w="28575">
            <a:solidFill>
              <a:schemeClr val="tx2"/>
            </a:solidFill>
            <a:prstDash val="solid"/>
          </a:ln>
        </p:spPr>
      </p:sp>
      <p:sp>
        <p:nvSpPr>
          <p:cNvPr id="18" name="Line item heading"/>
          <p:cNvSpPr txBox="1"/>
          <p:nvPr/>
        </p:nvSpPr>
        <p:spPr>
          <a:xfrm>
            <a:off x="3429000" y="1783080"/>
            <a:ext cx="2286000" cy="457200"/>
          </a:xfrm>
          <a:prstGeom prst="rect">
            <a:avLst/>
          </a:prstGeom>
          <a:noFill/>
          <a:ln/>
        </p:spPr>
        <p:txBody>
          <a:bodyPr wrap="square" lIns="0" tIns="0" rIns="0" bIns="0" rtlCol="0" anchor="ctr"/>
          <a:lstStyle/>
          <a:p>
            <a:pPr algn="ctr" indent="0" marL="0">
              <a:buNone/>
            </a:pPr>
            <a:r>
              <a:rPr lang="en-US" sz="900" b="1" spc="150" kern="0" dirty="0">
                <a:solidFill>
                  <a:schemeClr val="accent4"/>
                </a:solidFill>
                <a:latin typeface="Calibri" pitchFamily="34" charset="0"/>
                <a:ea typeface="Calibri" pitchFamily="34" charset="-122"/>
                <a:cs typeface="Calibri" pitchFamily="34" charset="-120"/>
              </a:rPr>
              <a:t>EBOM LINE ITEM</a:t>
            </a:r>
            <a:endParaRPr lang="en-US" sz="900" dirty="0"/>
          </a:p>
          <a:p>
            <a:pPr algn="ctr" indent="0" marL="0">
              <a:buNone/>
            </a:pPr>
            <a:r>
              <a:rPr lang="en-US" sz="1400" b="1" dirty="0">
                <a:solidFill>
                  <a:schemeClr val="accent1"/>
                </a:solidFill>
                <a:latin typeface="Cambria" pitchFamily="34" charset="0"/>
                <a:ea typeface="Cambria" pitchFamily="34" charset="-122"/>
                <a:cs typeface="Cambria" pitchFamily="34" charset="-120"/>
              </a:rPr>
              <a:t>Part # + Next Higher</a:t>
            </a:r>
            <a:endParaRPr lang="en-US" sz="900" dirty="0"/>
          </a:p>
        </p:txBody>
      </p:sp>
      <p:sp>
        <p:nvSpPr>
          <p:cNvPr id="19" name="Line item rule"/>
          <p:cNvSpPr/>
          <p:nvPr/>
        </p:nvSpPr>
        <p:spPr>
          <a:xfrm>
            <a:off x="3611880" y="2286000"/>
            <a:ext cx="1920240" cy="0"/>
          </a:xfrm>
          <a:prstGeom prst="line">
            <a:avLst/>
          </a:prstGeom>
          <a:noFill/>
          <a:ln w="12700">
            <a:solidFill>
              <a:schemeClr val="accent5"/>
            </a:solidFill>
            <a:prstDash val="solid"/>
          </a:ln>
        </p:spPr>
      </p:sp>
      <p:sp>
        <p:nvSpPr>
          <p:cNvPr id="20" name="Line item questions"/>
          <p:cNvSpPr txBox="1"/>
          <p:nvPr/>
        </p:nvSpPr>
        <p:spPr>
          <a:xfrm>
            <a:off x="3429000" y="2340864"/>
            <a:ext cx="2286000" cy="960120"/>
          </a:xfrm>
          <a:prstGeom prst="rect">
            <a:avLst/>
          </a:prstGeom>
          <a:noFill/>
          <a:ln/>
        </p:spPr>
        <p:txBody>
          <a:bodyPr wrap="square" lIns="0" tIns="0" rIns="0" bIns="0" rtlCol="0" anchor="ctr"/>
          <a:lstStyle/>
          <a:p>
            <a:pPr algn="ctr" indent="0" marL="0">
              <a:spcAft>
                <a:spcPts val="100"/>
              </a:spcAft>
              <a:buNone/>
            </a:pPr>
            <a:r>
              <a:rPr lang="en-US" sz="950" dirty="0">
                <a:solidFill>
                  <a:schemeClr val="tx1"/>
                </a:solidFill>
                <a:latin typeface="Calibri" pitchFamily="34" charset="0"/>
                <a:ea typeface="Calibri" pitchFamily="34" charset="-122"/>
                <a:cs typeface="Calibri" pitchFamily="34" charset="-120"/>
              </a:rPr>
              <a:t>Is it planned?</a:t>
            </a:r>
            <a:endParaRPr lang="en-US" sz="950" dirty="0"/>
          </a:p>
          <a:p>
            <a:pPr algn="ctr" indent="0" marL="0">
              <a:spcAft>
                <a:spcPts val="100"/>
              </a:spcAft>
              <a:buNone/>
            </a:pPr>
            <a:r>
              <a:rPr lang="en-US" sz="950" dirty="0">
                <a:solidFill>
                  <a:schemeClr val="tx1"/>
                </a:solidFill>
                <a:latin typeface="Calibri" pitchFamily="34" charset="0"/>
                <a:ea typeface="Calibri" pitchFamily="34" charset="-122"/>
                <a:cs typeface="Calibri" pitchFamily="34" charset="-120"/>
              </a:rPr>
              <a:t>Is it built?</a:t>
            </a:r>
            <a:endParaRPr lang="en-US" sz="950" dirty="0"/>
          </a:p>
          <a:p>
            <a:pPr algn="ctr" indent="0" marL="0">
              <a:spcAft>
                <a:spcPts val="100"/>
              </a:spcAft>
              <a:buNone/>
            </a:pPr>
            <a:r>
              <a:rPr lang="en-US" sz="950" dirty="0">
                <a:solidFill>
                  <a:schemeClr val="tx1"/>
                </a:solidFill>
                <a:latin typeface="Calibri" pitchFamily="34" charset="0"/>
                <a:ea typeface="Calibri" pitchFamily="34" charset="-122"/>
                <a:cs typeface="Calibri" pitchFamily="34" charset="-120"/>
              </a:rPr>
              <a:t>Under a closed work order?</a:t>
            </a:r>
            <a:endParaRPr lang="en-US" sz="950" dirty="0"/>
          </a:p>
          <a:p>
            <a:pPr algn="ctr" indent="0" marL="0">
              <a:spcAft>
                <a:spcPts val="100"/>
              </a:spcAft>
              <a:buNone/>
            </a:pPr>
            <a:r>
              <a:rPr lang="en-US" sz="950" dirty="0">
                <a:solidFill>
                  <a:schemeClr val="tx1"/>
                </a:solidFill>
                <a:latin typeface="Calibri" pitchFamily="34" charset="0"/>
                <a:ea typeface="Calibri" pitchFamily="34" charset="-122"/>
                <a:cs typeface="Calibri" pitchFamily="34" charset="-120"/>
              </a:rPr>
              <a:t>In the right quantity?</a:t>
            </a:r>
            <a:endParaRPr lang="en-US" sz="950" dirty="0"/>
          </a:p>
          <a:p>
            <a:pPr algn="ctr" indent="0" marL="0">
              <a:spcAft>
                <a:spcPts val="100"/>
              </a:spcAft>
              <a:buNone/>
            </a:pPr>
            <a:r>
              <a:rPr lang="en-US" sz="950" dirty="0">
                <a:solidFill>
                  <a:schemeClr val="tx1"/>
                </a:solidFill>
                <a:latin typeface="Calibri" pitchFamily="34" charset="0"/>
                <a:ea typeface="Calibri" pitchFamily="34" charset="-122"/>
                <a:cs typeface="Calibri" pitchFamily="34" charset="-120"/>
              </a:rPr>
              <a:t>What changed? What is open?</a:t>
            </a:r>
            <a:endParaRPr lang="en-US" sz="950" dirty="0"/>
          </a:p>
        </p:txBody>
      </p:sp>
      <p:sp>
        <p:nvSpPr>
          <p:cNvPr id="21" name="Line item footnote"/>
          <p:cNvSpPr txBox="1"/>
          <p:nvPr/>
        </p:nvSpPr>
        <p:spPr>
          <a:xfrm>
            <a:off x="3429000" y="3319272"/>
            <a:ext cx="2286000" cy="182880"/>
          </a:xfrm>
          <a:prstGeom prst="rect">
            <a:avLst/>
          </a:prstGeom>
          <a:noFill/>
          <a:ln/>
        </p:spPr>
        <p:txBody>
          <a:bodyPr wrap="square" lIns="0" tIns="0" rIns="0" bIns="0" rtlCol="0" anchor="ctr"/>
          <a:lstStyle/>
          <a:p>
            <a:pPr algn="ctr" indent="0" marL="0">
              <a:buNone/>
            </a:pPr>
            <a:r>
              <a:rPr lang="en-US" sz="800" i="1" dirty="0">
                <a:solidFill>
                  <a:schemeClr val="accent4"/>
                </a:solidFill>
                <a:latin typeface="Calibri" pitchFamily="34" charset="0"/>
                <a:ea typeface="Calibri" pitchFamily="34" charset="-122"/>
                <a:cs typeface="Calibri" pitchFamily="34" charset="-120"/>
              </a:rPr>
              <a:t>one result per line</a:t>
            </a:r>
            <a:endParaRPr lang="en-US" sz="800" dirty="0"/>
          </a:p>
        </p:txBody>
      </p:sp>
      <p:sp>
        <p:nvSpPr>
          <p:cNvPr id="22" name="MBOM"/>
          <p:cNvSpPr/>
          <p:nvPr/>
        </p:nvSpPr>
        <p:spPr>
          <a:xfrm>
            <a:off x="502920" y="1938528"/>
            <a:ext cx="1645920" cy="420624"/>
          </a:xfrm>
          <a:prstGeom prst="roundRect">
            <a:avLst>
              <a:gd name="adj" fmla="val 13043"/>
            </a:avLst>
          </a:prstGeom>
          <a:solidFill>
            <a:schemeClr val="bg2"/>
          </a:solidFill>
          <a:ln w="15875">
            <a:solidFill>
              <a:schemeClr val="tx2"/>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MBOM</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Manufacturing BOM · as planned</a:t>
            </a:r>
            <a:endParaRPr lang="en-US" sz="1100" dirty="0"/>
          </a:p>
        </p:txBody>
      </p:sp>
      <p:sp>
        <p:nvSpPr>
          <p:cNvPr id="23" name="MBOM to line"/>
          <p:cNvSpPr/>
          <p:nvPr/>
        </p:nvSpPr>
        <p:spPr>
          <a:xfrm>
            <a:off x="2148840" y="2148840"/>
            <a:ext cx="1170432" cy="0"/>
          </a:xfrm>
          <a:prstGeom prst="line">
            <a:avLst/>
          </a:prstGeom>
          <a:noFill/>
          <a:ln w="15875">
            <a:solidFill>
              <a:schemeClr val="accent4"/>
            </a:solidFill>
            <a:prstDash val="solid"/>
            <a:tailEnd type="triangle"/>
          </a:ln>
        </p:spPr>
      </p:sp>
      <p:sp>
        <p:nvSpPr>
          <p:cNvPr id="24" name="MBOM key"/>
          <p:cNvSpPr txBox="1"/>
          <p:nvPr/>
        </p:nvSpPr>
        <p:spPr>
          <a:xfrm>
            <a:off x="2194560" y="1947672"/>
            <a:ext cx="1097280" cy="182880"/>
          </a:xfrm>
          <a:prstGeom prst="rect">
            <a:avLst/>
          </a:prstGeom>
          <a:noFill/>
          <a:ln/>
        </p:spPr>
        <p:txBody>
          <a:bodyPr wrap="square" lIns="0" tIns="0" rIns="0" bIns="0" rtlCol="0" anchor="ctr"/>
          <a:lstStyle/>
          <a:p>
            <a:pPr algn="ctr" indent="0" marL="0">
              <a:buNone/>
            </a:pPr>
            <a:r>
              <a:rPr lang="en-US" sz="900" b="1" dirty="0">
                <a:solidFill>
                  <a:schemeClr val="tx1"/>
                </a:solidFill>
                <a:latin typeface="Calibri" pitchFamily="34" charset="0"/>
                <a:ea typeface="Calibri" pitchFamily="34" charset="-122"/>
                <a:cs typeface="Calibri" pitchFamily="34" charset="-120"/>
              </a:rPr>
              <a:t>Part # + Used On</a:t>
            </a:r>
            <a:endParaRPr lang="en-US" sz="900" dirty="0"/>
          </a:p>
        </p:txBody>
      </p:sp>
      <p:sp>
        <p:nvSpPr>
          <p:cNvPr id="25" name="MBOM note"/>
          <p:cNvSpPr txBox="1"/>
          <p:nvPr/>
        </p:nvSpPr>
        <p:spPr>
          <a:xfrm>
            <a:off x="2194560" y="2185416"/>
            <a:ext cx="1097280" cy="182880"/>
          </a:xfrm>
          <a:prstGeom prst="rect">
            <a:avLst/>
          </a:prstGeom>
          <a:noFill/>
          <a:ln/>
        </p:spPr>
        <p:txBody>
          <a:bodyPr wrap="square" lIns="0" tIns="0" rIns="0" bIns="0" rtlCol="0" anchor="ctr"/>
          <a:lstStyle/>
          <a:p>
            <a:pPr algn="ctr" indent="0" marL="0">
              <a:buNone/>
            </a:pPr>
            <a:r>
              <a:rPr lang="en-US" sz="800" i="1" dirty="0">
                <a:solidFill>
                  <a:schemeClr val="accent4"/>
                </a:solidFill>
                <a:latin typeface="Calibri" pitchFamily="34" charset="0"/>
                <a:ea typeface="Calibri" pitchFamily="34" charset="-122"/>
                <a:cs typeface="Calibri" pitchFamily="34" charset="-120"/>
              </a:rPr>
              <a:t>3 passes</a:t>
            </a:r>
            <a:endParaRPr lang="en-US" sz="800" dirty="0"/>
          </a:p>
        </p:txBody>
      </p:sp>
      <p:sp>
        <p:nvSpPr>
          <p:cNvPr id="26" name="ABOM"/>
          <p:cNvSpPr/>
          <p:nvPr/>
        </p:nvSpPr>
        <p:spPr>
          <a:xfrm>
            <a:off x="502920" y="2761488"/>
            <a:ext cx="1645920" cy="420624"/>
          </a:xfrm>
          <a:prstGeom prst="roundRect">
            <a:avLst>
              <a:gd name="adj" fmla="val 13043"/>
            </a:avLst>
          </a:prstGeom>
          <a:solidFill>
            <a:schemeClr val="bg2"/>
          </a:solidFill>
          <a:ln w="15875">
            <a:solidFill>
              <a:schemeClr val="tx2"/>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ABOM</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As-Built BOM · as built</a:t>
            </a:r>
            <a:endParaRPr lang="en-US" sz="1100" dirty="0"/>
          </a:p>
        </p:txBody>
      </p:sp>
      <p:sp>
        <p:nvSpPr>
          <p:cNvPr id="27" name="ABOM to line"/>
          <p:cNvSpPr/>
          <p:nvPr/>
        </p:nvSpPr>
        <p:spPr>
          <a:xfrm>
            <a:off x="2148840" y="2971800"/>
            <a:ext cx="1170432" cy="0"/>
          </a:xfrm>
          <a:prstGeom prst="line">
            <a:avLst/>
          </a:prstGeom>
          <a:noFill/>
          <a:ln w="15875">
            <a:solidFill>
              <a:schemeClr val="accent4"/>
            </a:solidFill>
            <a:prstDash val="solid"/>
            <a:tailEnd type="triangle"/>
          </a:ln>
        </p:spPr>
      </p:sp>
      <p:sp>
        <p:nvSpPr>
          <p:cNvPr id="28" name="ABOM key"/>
          <p:cNvSpPr txBox="1"/>
          <p:nvPr/>
        </p:nvSpPr>
        <p:spPr>
          <a:xfrm>
            <a:off x="2194560" y="2770632"/>
            <a:ext cx="1097280" cy="182880"/>
          </a:xfrm>
          <a:prstGeom prst="rect">
            <a:avLst/>
          </a:prstGeom>
          <a:noFill/>
          <a:ln/>
        </p:spPr>
        <p:txBody>
          <a:bodyPr wrap="square" lIns="0" tIns="0" rIns="0" bIns="0" rtlCol="0" anchor="ctr"/>
          <a:lstStyle/>
          <a:p>
            <a:pPr algn="ctr" indent="0" marL="0">
              <a:buNone/>
            </a:pPr>
            <a:r>
              <a:rPr lang="en-US" sz="900" b="1" dirty="0">
                <a:solidFill>
                  <a:schemeClr val="tx1"/>
                </a:solidFill>
                <a:latin typeface="Calibri" pitchFamily="34" charset="0"/>
                <a:ea typeface="Calibri" pitchFamily="34" charset="-122"/>
                <a:cs typeface="Calibri" pitchFamily="34" charset="-120"/>
              </a:rPr>
              <a:t>Part # + Used On</a:t>
            </a:r>
            <a:endParaRPr lang="en-US" sz="900" dirty="0"/>
          </a:p>
        </p:txBody>
      </p:sp>
      <p:sp>
        <p:nvSpPr>
          <p:cNvPr id="29" name="ABOM note"/>
          <p:cNvSpPr txBox="1"/>
          <p:nvPr/>
        </p:nvSpPr>
        <p:spPr>
          <a:xfrm>
            <a:off x="2194560" y="3008376"/>
            <a:ext cx="1097280" cy="182880"/>
          </a:xfrm>
          <a:prstGeom prst="rect">
            <a:avLst/>
          </a:prstGeom>
          <a:noFill/>
          <a:ln/>
        </p:spPr>
        <p:txBody>
          <a:bodyPr wrap="square" lIns="0" tIns="0" rIns="0" bIns="0" rtlCol="0" anchor="ctr"/>
          <a:lstStyle/>
          <a:p>
            <a:pPr algn="ctr" indent="0" marL="0">
              <a:buNone/>
            </a:pPr>
            <a:r>
              <a:rPr lang="en-US" sz="800" i="1" dirty="0">
                <a:solidFill>
                  <a:schemeClr val="accent4"/>
                </a:solidFill>
                <a:latin typeface="Calibri" pitchFamily="34" charset="0"/>
                <a:ea typeface="Calibri" pitchFamily="34" charset="-122"/>
                <a:cs typeface="Calibri" pitchFamily="34" charset="-120"/>
              </a:rPr>
              <a:t>3 passes</a:t>
            </a:r>
            <a:endParaRPr lang="en-US" sz="800" dirty="0"/>
          </a:p>
        </p:txBody>
      </p:sp>
      <p:sp>
        <p:nvSpPr>
          <p:cNvPr id="30" name="Change Pedigree"/>
          <p:cNvSpPr/>
          <p:nvPr/>
        </p:nvSpPr>
        <p:spPr>
          <a:xfrm>
            <a:off x="7178040" y="1773936"/>
            <a:ext cx="146304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CHANGE PEDIGREE</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DCN · ECN · ECR history</a:t>
            </a:r>
            <a:endParaRPr lang="en-US" sz="1100" dirty="0"/>
          </a:p>
        </p:txBody>
      </p:sp>
      <p:sp>
        <p:nvSpPr>
          <p:cNvPr id="31" name="Change Pedigree to line"/>
          <p:cNvSpPr/>
          <p:nvPr/>
        </p:nvSpPr>
        <p:spPr>
          <a:xfrm flipH="1">
            <a:off x="5824728" y="1965960"/>
            <a:ext cx="1353312" cy="0"/>
          </a:xfrm>
          <a:prstGeom prst="line">
            <a:avLst/>
          </a:prstGeom>
          <a:noFill/>
          <a:ln w="15875">
            <a:solidFill>
              <a:schemeClr val="accent4"/>
            </a:solidFill>
            <a:prstDash val="solid"/>
            <a:tailEnd type="triangle"/>
          </a:ln>
        </p:spPr>
      </p:sp>
      <p:sp>
        <p:nvSpPr>
          <p:cNvPr id="32" name="Change Pedigree key"/>
          <p:cNvSpPr txBox="1"/>
          <p:nvPr/>
        </p:nvSpPr>
        <p:spPr>
          <a:xfrm>
            <a:off x="5852160" y="1773936"/>
            <a:ext cx="1298448" cy="182880"/>
          </a:xfrm>
          <a:prstGeom prst="rect">
            <a:avLst/>
          </a:prstGeom>
          <a:noFill/>
          <a:ln/>
        </p:spPr>
        <p:txBody>
          <a:bodyPr wrap="square" lIns="0" tIns="0" rIns="0" bIns="0" rtlCol="0" anchor="ctr"/>
          <a:lstStyle/>
          <a:p>
            <a:pPr algn="ctr" indent="0" marL="0">
              <a:buNone/>
            </a:pPr>
            <a:r>
              <a:rPr lang="en-US" sz="850" b="1" dirty="0">
                <a:solidFill>
                  <a:schemeClr val="tx1"/>
                </a:solidFill>
                <a:latin typeface="Calibri" pitchFamily="34" charset="0"/>
                <a:ea typeface="Calibri" pitchFamily="34" charset="-122"/>
                <a:cs typeface="Calibri" pitchFamily="34" charset="-120"/>
              </a:rPr>
              <a:t>Part # + Next Higher</a:t>
            </a:r>
            <a:endParaRPr lang="en-US" sz="850" dirty="0"/>
          </a:p>
        </p:txBody>
      </p:sp>
      <p:sp>
        <p:nvSpPr>
          <p:cNvPr id="33" name="Change Pedigree note"/>
          <p:cNvSpPr txBox="1"/>
          <p:nvPr/>
        </p:nvSpPr>
        <p:spPr>
          <a:xfrm>
            <a:off x="5852160" y="1984248"/>
            <a:ext cx="1298448" cy="164592"/>
          </a:xfrm>
          <a:prstGeom prst="rect">
            <a:avLst/>
          </a:prstGeom>
          <a:noFill/>
          <a:ln/>
        </p:spPr>
        <p:txBody>
          <a:bodyPr wrap="square" lIns="0" tIns="0" rIns="0" bIns="0" rtlCol="0" anchor="ctr"/>
          <a:lstStyle/>
          <a:p>
            <a:pPr algn="ctr" indent="0" marL="0">
              <a:buNone/>
            </a:pPr>
            <a:r>
              <a:rPr lang="en-US" sz="750" i="1" dirty="0">
                <a:solidFill>
                  <a:schemeClr val="accent4"/>
                </a:solidFill>
                <a:latin typeface="Calibri" pitchFamily="34" charset="0"/>
                <a:ea typeface="Calibri" pitchFamily="34" charset="-122"/>
                <a:cs typeface="Calibri" pitchFamily="34" charset="-120"/>
              </a:rPr>
              <a:t>or Drawing #, set per program</a:t>
            </a:r>
            <a:endParaRPr lang="en-US" sz="750" dirty="0"/>
          </a:p>
        </p:txBody>
      </p:sp>
      <p:sp>
        <p:nvSpPr>
          <p:cNvPr id="34" name="Config Items"/>
          <p:cNvSpPr/>
          <p:nvPr/>
        </p:nvSpPr>
        <p:spPr>
          <a:xfrm>
            <a:off x="7178040" y="2231136"/>
            <a:ext cx="146304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CONFIG ITEMS</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the CI list</a:t>
            </a:r>
            <a:endParaRPr lang="en-US" sz="1100" dirty="0"/>
          </a:p>
        </p:txBody>
      </p:sp>
      <p:sp>
        <p:nvSpPr>
          <p:cNvPr id="35" name="Config Items to line"/>
          <p:cNvSpPr/>
          <p:nvPr/>
        </p:nvSpPr>
        <p:spPr>
          <a:xfrm flipH="1">
            <a:off x="5824728" y="2423160"/>
            <a:ext cx="1353312" cy="0"/>
          </a:xfrm>
          <a:prstGeom prst="line">
            <a:avLst/>
          </a:prstGeom>
          <a:noFill/>
          <a:ln w="15875">
            <a:solidFill>
              <a:schemeClr val="accent4"/>
            </a:solidFill>
            <a:prstDash val="solid"/>
            <a:tailEnd type="triangle"/>
          </a:ln>
        </p:spPr>
      </p:sp>
      <p:sp>
        <p:nvSpPr>
          <p:cNvPr id="36" name="Config Items key"/>
          <p:cNvSpPr txBox="1"/>
          <p:nvPr/>
        </p:nvSpPr>
        <p:spPr>
          <a:xfrm>
            <a:off x="5852160" y="2231136"/>
            <a:ext cx="1298448" cy="182880"/>
          </a:xfrm>
          <a:prstGeom prst="rect">
            <a:avLst/>
          </a:prstGeom>
          <a:noFill/>
          <a:ln/>
        </p:spPr>
        <p:txBody>
          <a:bodyPr wrap="square" lIns="0" tIns="0" rIns="0" bIns="0" rtlCol="0" anchor="ctr"/>
          <a:lstStyle/>
          <a:p>
            <a:pPr algn="ctr" indent="0" marL="0">
              <a:buNone/>
            </a:pPr>
            <a:r>
              <a:rPr lang="en-US" sz="850" b="1" dirty="0">
                <a:solidFill>
                  <a:schemeClr val="tx1"/>
                </a:solidFill>
                <a:latin typeface="Calibri" pitchFamily="34" charset="0"/>
                <a:ea typeface="Calibri" pitchFamily="34" charset="-122"/>
                <a:cs typeface="Calibri" pitchFamily="34" charset="-120"/>
              </a:rPr>
              <a:t>Part # + Next Higher</a:t>
            </a:r>
            <a:endParaRPr lang="en-US" sz="850" dirty="0"/>
          </a:p>
        </p:txBody>
      </p:sp>
      <p:sp>
        <p:nvSpPr>
          <p:cNvPr id="37" name="ACN"/>
          <p:cNvSpPr/>
          <p:nvPr/>
        </p:nvSpPr>
        <p:spPr>
          <a:xfrm>
            <a:off x="7178040" y="2688336"/>
            <a:ext cx="146304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ACN</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clearance level and record</a:t>
            </a:r>
            <a:endParaRPr lang="en-US" sz="1100" dirty="0"/>
          </a:p>
        </p:txBody>
      </p:sp>
      <p:sp>
        <p:nvSpPr>
          <p:cNvPr id="38" name="ACN to line"/>
          <p:cNvSpPr/>
          <p:nvPr/>
        </p:nvSpPr>
        <p:spPr>
          <a:xfrm flipH="1">
            <a:off x="5824728" y="2880360"/>
            <a:ext cx="1353312" cy="0"/>
          </a:xfrm>
          <a:prstGeom prst="line">
            <a:avLst/>
          </a:prstGeom>
          <a:noFill/>
          <a:ln w="15875">
            <a:solidFill>
              <a:schemeClr val="accent4"/>
            </a:solidFill>
            <a:prstDash val="solid"/>
            <a:tailEnd type="triangle"/>
          </a:ln>
        </p:spPr>
      </p:sp>
      <p:sp>
        <p:nvSpPr>
          <p:cNvPr id="39" name="ACN key"/>
          <p:cNvSpPr txBox="1"/>
          <p:nvPr/>
        </p:nvSpPr>
        <p:spPr>
          <a:xfrm>
            <a:off x="5852160" y="2688336"/>
            <a:ext cx="1298448" cy="182880"/>
          </a:xfrm>
          <a:prstGeom prst="rect">
            <a:avLst/>
          </a:prstGeom>
          <a:noFill/>
          <a:ln/>
        </p:spPr>
        <p:txBody>
          <a:bodyPr wrap="square" lIns="0" tIns="0" rIns="0" bIns="0" rtlCol="0" anchor="ctr"/>
          <a:lstStyle/>
          <a:p>
            <a:pPr algn="ctr" indent="0" marL="0">
              <a:buNone/>
            </a:pPr>
            <a:r>
              <a:rPr lang="en-US" sz="850" b="1" dirty="0">
                <a:solidFill>
                  <a:schemeClr val="tx1"/>
                </a:solidFill>
                <a:latin typeface="Calibri" pitchFamily="34" charset="0"/>
                <a:ea typeface="Calibri" pitchFamily="34" charset="-122"/>
                <a:cs typeface="Calibri" pitchFamily="34" charset="-120"/>
              </a:rPr>
              <a:t>Part # only</a:t>
            </a:r>
            <a:endParaRPr lang="en-US" sz="850" dirty="0"/>
          </a:p>
        </p:txBody>
      </p:sp>
      <p:sp>
        <p:nvSpPr>
          <p:cNvPr id="40" name="ME ADJ"/>
          <p:cNvSpPr/>
          <p:nvPr/>
        </p:nvSpPr>
        <p:spPr>
          <a:xfrm>
            <a:off x="7178040" y="3145536"/>
            <a:ext cx="1463040" cy="384048"/>
          </a:xfrm>
          <a:prstGeom prst="roundRect">
            <a:avLst>
              <a:gd name="adj" fmla="val 14286"/>
            </a:avLst>
          </a:prstGeom>
          <a:solidFill>
            <a:schemeClr val="accent3">
              <a:alpha val="12000"/>
            </a:schemeClr>
          </a:solidFill>
          <a:ln w="15875">
            <a:solidFill>
              <a:schemeClr val="accent3"/>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ME ADJ</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engineer calls, after a run</a:t>
            </a:r>
            <a:endParaRPr lang="en-US" sz="1100" dirty="0"/>
          </a:p>
        </p:txBody>
      </p:sp>
      <p:sp>
        <p:nvSpPr>
          <p:cNvPr id="41" name="ME ADJ to line"/>
          <p:cNvSpPr/>
          <p:nvPr/>
        </p:nvSpPr>
        <p:spPr>
          <a:xfrm flipH="1">
            <a:off x="5824728" y="3337560"/>
            <a:ext cx="1353312" cy="0"/>
          </a:xfrm>
          <a:prstGeom prst="line">
            <a:avLst/>
          </a:prstGeom>
          <a:noFill/>
          <a:ln w="15875">
            <a:solidFill>
              <a:schemeClr val="accent4"/>
            </a:solidFill>
            <a:prstDash val="solid"/>
            <a:tailEnd type="triangle"/>
          </a:ln>
        </p:spPr>
      </p:sp>
      <p:sp>
        <p:nvSpPr>
          <p:cNvPr id="42" name="ME ADJ key"/>
          <p:cNvSpPr txBox="1"/>
          <p:nvPr/>
        </p:nvSpPr>
        <p:spPr>
          <a:xfrm>
            <a:off x="5852160" y="3145536"/>
            <a:ext cx="1298448" cy="182880"/>
          </a:xfrm>
          <a:prstGeom prst="rect">
            <a:avLst/>
          </a:prstGeom>
          <a:noFill/>
          <a:ln/>
        </p:spPr>
        <p:txBody>
          <a:bodyPr wrap="square" lIns="0" tIns="0" rIns="0" bIns="0" rtlCol="0" anchor="ctr"/>
          <a:lstStyle/>
          <a:p>
            <a:pPr algn="ctr" indent="0" marL="0">
              <a:buNone/>
            </a:pPr>
            <a:r>
              <a:rPr lang="en-US" sz="850" b="1" dirty="0">
                <a:solidFill>
                  <a:schemeClr val="tx1"/>
                </a:solidFill>
                <a:latin typeface="Calibri" pitchFamily="34" charset="0"/>
                <a:ea typeface="Calibri" pitchFamily="34" charset="-122"/>
                <a:cs typeface="Calibri" pitchFamily="34" charset="-120"/>
              </a:rPr>
              <a:t>Part # → failing position</a:t>
            </a:r>
            <a:endParaRPr lang="en-US" sz="850" dirty="0"/>
          </a:p>
        </p:txBody>
      </p:sp>
      <p:sp>
        <p:nvSpPr>
          <p:cNvPr id="43" name="ABOM to work order"/>
          <p:cNvSpPr/>
          <p:nvPr/>
        </p:nvSpPr>
        <p:spPr>
          <a:xfrm>
            <a:off x="1234440" y="3182112"/>
            <a:ext cx="0" cy="585216"/>
          </a:xfrm>
          <a:prstGeom prst="line">
            <a:avLst/>
          </a:prstGeom>
          <a:noFill/>
          <a:ln w="15875">
            <a:solidFill>
              <a:schemeClr val="accent4"/>
            </a:solidFill>
            <a:prstDash val="solid"/>
          </a:ln>
        </p:spPr>
      </p:sp>
      <p:sp>
        <p:nvSpPr>
          <p:cNvPr id="44" name="ABOM WO note"/>
          <p:cNvSpPr txBox="1"/>
          <p:nvPr/>
        </p:nvSpPr>
        <p:spPr>
          <a:xfrm>
            <a:off x="1298448" y="3383280"/>
            <a:ext cx="1463040" cy="182880"/>
          </a:xfrm>
          <a:prstGeom prst="rect">
            <a:avLst/>
          </a:prstGeom>
          <a:noFill/>
          <a:ln/>
        </p:spPr>
        <p:txBody>
          <a:bodyPr wrap="square" lIns="0" tIns="0" rIns="0" bIns="0" rtlCol="0" anchor="ctr"/>
          <a:lstStyle/>
          <a:p>
            <a:pPr algn="l" indent="0" marL="0">
              <a:buNone/>
            </a:pPr>
            <a:r>
              <a:rPr lang="en-US" sz="800" i="1" dirty="0">
                <a:solidFill>
                  <a:schemeClr val="accent4"/>
                </a:solidFill>
                <a:latin typeface="Calibri" pitchFamily="34" charset="0"/>
                <a:ea typeface="Calibri" pitchFamily="34" charset="-122"/>
                <a:cs typeface="Calibri" pitchFamily="34" charset="-120"/>
              </a:rPr>
              <a:t>each row carries its WO #</a:t>
            </a:r>
            <a:endParaRPr lang="en-US" sz="800" dirty="0"/>
          </a:p>
        </p:txBody>
      </p:sp>
      <p:sp>
        <p:nvSpPr>
          <p:cNvPr id="45" name="Work order bridge"/>
          <p:cNvSpPr/>
          <p:nvPr/>
        </p:nvSpPr>
        <p:spPr>
          <a:xfrm>
            <a:off x="502920" y="3767328"/>
            <a:ext cx="3246120" cy="274320"/>
          </a:xfrm>
          <a:prstGeom prst="roundRect">
            <a:avLst>
              <a:gd name="adj" fmla="val 13333"/>
            </a:avLst>
          </a:prstGeom>
          <a:solidFill>
            <a:schemeClr val="accent6"/>
          </a:solidFill>
          <a:ln w="12700">
            <a:solidFill>
              <a:schemeClr val="accent4"/>
            </a:solidFill>
            <a:prstDash val="dash"/>
          </a:ln>
        </p:spPr>
        <p:txBody>
          <a:bodyPr wrap="square" lIns="76200" tIns="76200" rIns="76200" bIns="76200" rtlCol="0" anchor="ctr"/>
          <a:lstStyle/>
          <a:p>
            <a:pPr algn="l" indent="0" marL="0">
              <a:buNone/>
            </a:pPr>
            <a:r>
              <a:rPr lang="en-US" sz="900" b="1" spc="100" kern="0" dirty="0">
                <a:solidFill>
                  <a:schemeClr val="tx2"/>
                </a:solidFill>
                <a:latin typeface="Calibri" pitchFamily="34" charset="0"/>
                <a:ea typeface="Calibri" pitchFamily="34" charset="-122"/>
                <a:cs typeface="Calibri" pitchFamily="34" charset="-120"/>
              </a:rPr>
              <a:t>WORK ORDER #   </a:t>
            </a:r>
            <a:pPr algn="l" indent="0" marL="0">
              <a:buNone/>
            </a:pPr>
            <a:r>
              <a:rPr lang="en-US" sz="850" dirty="0">
                <a:solidFill>
                  <a:schemeClr val="accent4"/>
                </a:solidFill>
                <a:latin typeface="Calibri" pitchFamily="34" charset="0"/>
                <a:ea typeface="Calibri" pitchFamily="34" charset="-122"/>
                <a:cs typeface="Calibri" pitchFamily="34" charset="-120"/>
              </a:rPr>
              <a:t>from the ABOM, links records to EBOM lines</a:t>
            </a:r>
            <a:endParaRPr lang="en-US" sz="900" dirty="0"/>
          </a:p>
        </p:txBody>
      </p:sp>
      <p:sp>
        <p:nvSpPr>
          <p:cNvPr id="46" name="WO5"/>
          <p:cNvSpPr/>
          <p:nvPr/>
        </p:nvSpPr>
        <p:spPr>
          <a:xfrm>
            <a:off x="502920" y="4389120"/>
            <a:ext cx="146304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WO5</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install and remove log</a:t>
            </a:r>
            <a:endParaRPr lang="en-US" sz="1100" dirty="0"/>
          </a:p>
        </p:txBody>
      </p:sp>
      <p:sp>
        <p:nvSpPr>
          <p:cNvPr id="47" name="WO5 to work order"/>
          <p:cNvSpPr/>
          <p:nvPr/>
        </p:nvSpPr>
        <p:spPr>
          <a:xfrm flipV="1">
            <a:off x="1234440" y="4059936"/>
            <a:ext cx="0" cy="329184"/>
          </a:xfrm>
          <a:prstGeom prst="line">
            <a:avLst/>
          </a:prstGeom>
          <a:noFill/>
          <a:ln w="15875">
            <a:solidFill>
              <a:schemeClr val="accent4"/>
            </a:solidFill>
            <a:prstDash val="dash"/>
            <a:tailEnd type="triangle"/>
          </a:ln>
        </p:spPr>
      </p:sp>
      <p:sp>
        <p:nvSpPr>
          <p:cNvPr id="48" name="WO5 key"/>
          <p:cNvSpPr txBox="1"/>
          <p:nvPr/>
        </p:nvSpPr>
        <p:spPr>
          <a:xfrm>
            <a:off x="1298448" y="4133088"/>
            <a:ext cx="1097280" cy="182880"/>
          </a:xfrm>
          <a:prstGeom prst="rect">
            <a:avLst/>
          </a:prstGeom>
          <a:noFill/>
          <a:ln/>
        </p:spPr>
        <p:txBody>
          <a:bodyPr wrap="square" lIns="0" tIns="0" rIns="0" bIns="0" rtlCol="0" anchor="ctr"/>
          <a:lstStyle/>
          <a:p>
            <a:pPr algn="l" indent="0" marL="0">
              <a:buNone/>
            </a:pPr>
            <a:r>
              <a:rPr lang="en-US" sz="850" b="1" dirty="0">
                <a:solidFill>
                  <a:schemeClr val="tx1"/>
                </a:solidFill>
                <a:latin typeface="Calibri" pitchFamily="34" charset="0"/>
                <a:ea typeface="Calibri" pitchFamily="34" charset="-122"/>
                <a:cs typeface="Calibri" pitchFamily="34" charset="-120"/>
              </a:rPr>
              <a:t>WO # + Part #</a:t>
            </a:r>
            <a:endParaRPr lang="en-US" sz="850" dirty="0"/>
          </a:p>
        </p:txBody>
      </p:sp>
      <p:sp>
        <p:nvSpPr>
          <p:cNvPr id="49" name="NCR"/>
          <p:cNvSpPr/>
          <p:nvPr/>
        </p:nvSpPr>
        <p:spPr>
          <a:xfrm>
            <a:off x="2240280" y="4389120"/>
            <a:ext cx="128016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NCR</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nonconformances</a:t>
            </a:r>
            <a:endParaRPr lang="en-US" sz="1100" dirty="0"/>
          </a:p>
        </p:txBody>
      </p:sp>
      <p:sp>
        <p:nvSpPr>
          <p:cNvPr id="50" name="NCR to work order"/>
          <p:cNvSpPr/>
          <p:nvPr/>
        </p:nvSpPr>
        <p:spPr>
          <a:xfrm flipV="1">
            <a:off x="2880360" y="4059936"/>
            <a:ext cx="0" cy="329184"/>
          </a:xfrm>
          <a:prstGeom prst="line">
            <a:avLst/>
          </a:prstGeom>
          <a:noFill/>
          <a:ln w="15875">
            <a:solidFill>
              <a:schemeClr val="accent4"/>
            </a:solidFill>
            <a:prstDash val="dash"/>
            <a:tailEnd type="triangle"/>
          </a:ln>
        </p:spPr>
      </p:sp>
      <p:sp>
        <p:nvSpPr>
          <p:cNvPr id="51" name="NCR key"/>
          <p:cNvSpPr txBox="1"/>
          <p:nvPr/>
        </p:nvSpPr>
        <p:spPr>
          <a:xfrm>
            <a:off x="2944368" y="4133088"/>
            <a:ext cx="1005840" cy="182880"/>
          </a:xfrm>
          <a:prstGeom prst="rect">
            <a:avLst/>
          </a:prstGeom>
          <a:noFill/>
          <a:ln/>
        </p:spPr>
        <p:txBody>
          <a:bodyPr wrap="square" lIns="0" tIns="0" rIns="0" bIns="0" rtlCol="0" anchor="ctr"/>
          <a:lstStyle/>
          <a:p>
            <a:pPr algn="l" indent="0" marL="0">
              <a:buNone/>
            </a:pPr>
            <a:r>
              <a:rPr lang="en-US" sz="850" b="1" dirty="0">
                <a:solidFill>
                  <a:schemeClr val="tx1"/>
                </a:solidFill>
                <a:latin typeface="Calibri" pitchFamily="34" charset="0"/>
                <a:ea typeface="Calibri" pitchFamily="34" charset="-122"/>
                <a:cs typeface="Calibri" pitchFamily="34" charset="-120"/>
              </a:rPr>
              <a:t>originating WO #</a:t>
            </a:r>
            <a:endParaRPr lang="en-US" sz="850" dirty="0"/>
          </a:p>
        </p:txBody>
      </p:sp>
      <p:sp>
        <p:nvSpPr>
          <p:cNvPr id="52" name="RFV"/>
          <p:cNvSpPr/>
          <p:nvPr/>
        </p:nvSpPr>
        <p:spPr>
          <a:xfrm>
            <a:off x="4251960" y="4389120"/>
            <a:ext cx="1463040" cy="384048"/>
          </a:xfrm>
          <a:prstGeom prst="roundRect">
            <a:avLst>
              <a:gd name="adj" fmla="val 14286"/>
            </a:avLst>
          </a:prstGeom>
          <a:solidFill>
            <a:schemeClr val="bg1"/>
          </a:solidFill>
          <a:ln w="12700">
            <a:solidFill>
              <a:schemeClr val="accent4"/>
            </a:solidFill>
          </a:ln>
        </p:spPr>
        <p:txBody>
          <a:bodyPr wrap="square" lIns="25400" tIns="25400" rIns="25400" bIns="25400" rtlCol="0" anchor="ctr"/>
          <a:lstStyle/>
          <a:p>
            <a:pPr algn="ctr" indent="0" marL="0">
              <a:buNone/>
            </a:pPr>
            <a:r>
              <a:rPr lang="en-US" sz="1100" b="1" dirty="0">
                <a:solidFill>
                  <a:schemeClr val="tx2"/>
                </a:solidFill>
                <a:latin typeface="Cambria" pitchFamily="34" charset="0"/>
                <a:ea typeface="Cambria" pitchFamily="34" charset="-122"/>
                <a:cs typeface="Cambria" pitchFamily="34" charset="-120"/>
              </a:rPr>
              <a:t>RFV</a:t>
            </a:r>
            <a:endParaRPr lang="en-US" sz="1100" dirty="0"/>
          </a:p>
          <a:p>
            <a:pPr algn="ctr" indent="0" marL="0">
              <a:buNone/>
            </a:pPr>
            <a:r>
              <a:rPr lang="en-US" sz="850" dirty="0">
                <a:solidFill>
                  <a:schemeClr val="accent4"/>
                </a:solidFill>
                <a:latin typeface="Calibri" pitchFamily="34" charset="0"/>
                <a:ea typeface="Calibri" pitchFamily="34" charset="-122"/>
                <a:cs typeface="Calibri" pitchFamily="34" charset="-120"/>
              </a:rPr>
              <a:t>approved variances</a:t>
            </a:r>
            <a:endParaRPr lang="en-US" sz="1100" dirty="0"/>
          </a:p>
        </p:txBody>
      </p:sp>
      <p:sp>
        <p:nvSpPr>
          <p:cNvPr id="53" name="RFV to NCR"/>
          <p:cNvSpPr/>
          <p:nvPr/>
        </p:nvSpPr>
        <p:spPr>
          <a:xfrm flipH="1">
            <a:off x="3538728" y="4581144"/>
            <a:ext cx="713232" cy="0"/>
          </a:xfrm>
          <a:prstGeom prst="line">
            <a:avLst/>
          </a:prstGeom>
          <a:noFill/>
          <a:ln w="15875">
            <a:solidFill>
              <a:schemeClr val="accent4"/>
            </a:solidFill>
            <a:prstDash val="dash"/>
            <a:tailEnd type="triangle"/>
          </a:ln>
        </p:spPr>
      </p:sp>
      <p:sp>
        <p:nvSpPr>
          <p:cNvPr id="54" name="RFV NCR key"/>
          <p:cNvSpPr txBox="1"/>
          <p:nvPr/>
        </p:nvSpPr>
        <p:spPr>
          <a:xfrm>
            <a:off x="3566160" y="4407408"/>
            <a:ext cx="658368" cy="155448"/>
          </a:xfrm>
          <a:prstGeom prst="rect">
            <a:avLst/>
          </a:prstGeom>
          <a:noFill/>
          <a:ln/>
        </p:spPr>
        <p:txBody>
          <a:bodyPr wrap="square" lIns="0" tIns="0" rIns="0" bIns="0" rtlCol="0" anchor="ctr"/>
          <a:lstStyle/>
          <a:p>
            <a:pPr algn="ctr" indent="0" marL="0">
              <a:buNone/>
            </a:pPr>
            <a:r>
              <a:rPr lang="en-US" sz="800" b="1" dirty="0">
                <a:solidFill>
                  <a:schemeClr val="tx1"/>
                </a:solidFill>
                <a:latin typeface="Calibri" pitchFamily="34" charset="0"/>
                <a:ea typeface="Calibri" pitchFamily="34" charset="-122"/>
                <a:cs typeface="Calibri" pitchFamily="34" charset="-120"/>
              </a:rPr>
              <a:t>NCR Disp #</a:t>
            </a:r>
            <a:endParaRPr lang="en-US" sz="800" dirty="0"/>
          </a:p>
        </p:txBody>
      </p:sp>
      <p:sp>
        <p:nvSpPr>
          <p:cNvPr id="55" name="RFV to work order (up)"/>
          <p:cNvSpPr/>
          <p:nvPr/>
        </p:nvSpPr>
        <p:spPr>
          <a:xfrm flipV="1">
            <a:off x="4407408" y="3904488"/>
            <a:ext cx="0" cy="484632"/>
          </a:xfrm>
          <a:prstGeom prst="line">
            <a:avLst/>
          </a:prstGeom>
          <a:noFill/>
          <a:ln w="15875">
            <a:solidFill>
              <a:schemeClr val="accent4"/>
            </a:solidFill>
            <a:prstDash val="dash"/>
          </a:ln>
        </p:spPr>
      </p:sp>
      <p:sp>
        <p:nvSpPr>
          <p:cNvPr id="56" name="RFV to work order"/>
          <p:cNvSpPr/>
          <p:nvPr/>
        </p:nvSpPr>
        <p:spPr>
          <a:xfrm flipH="1">
            <a:off x="3767328" y="3904488"/>
            <a:ext cx="640080" cy="0"/>
          </a:xfrm>
          <a:prstGeom prst="line">
            <a:avLst/>
          </a:prstGeom>
          <a:noFill/>
          <a:ln w="15875">
            <a:solidFill>
              <a:schemeClr val="accent4"/>
            </a:solidFill>
            <a:prstDash val="dash"/>
            <a:tailEnd type="triangle"/>
          </a:ln>
        </p:spPr>
      </p:sp>
      <p:sp>
        <p:nvSpPr>
          <p:cNvPr id="57" name="RFV WO key"/>
          <p:cNvSpPr txBox="1"/>
          <p:nvPr/>
        </p:nvSpPr>
        <p:spPr>
          <a:xfrm>
            <a:off x="4471416" y="4133088"/>
            <a:ext cx="365760" cy="182880"/>
          </a:xfrm>
          <a:prstGeom prst="rect">
            <a:avLst/>
          </a:prstGeom>
          <a:noFill/>
          <a:ln/>
        </p:spPr>
        <p:txBody>
          <a:bodyPr wrap="square" lIns="0" tIns="0" rIns="0" bIns="0" rtlCol="0" anchor="ctr"/>
          <a:lstStyle/>
          <a:p>
            <a:pPr algn="l" indent="0" marL="0">
              <a:buNone/>
            </a:pPr>
            <a:r>
              <a:rPr lang="en-US" sz="850" b="1" dirty="0">
                <a:solidFill>
                  <a:schemeClr val="tx1"/>
                </a:solidFill>
                <a:latin typeface="Calibri" pitchFamily="34" charset="0"/>
                <a:ea typeface="Calibri" pitchFamily="34" charset="-122"/>
                <a:cs typeface="Calibri" pitchFamily="34" charset="-120"/>
              </a:rPr>
              <a:t>WO #</a:t>
            </a:r>
            <a:endParaRPr lang="en-US" sz="850" dirty="0"/>
          </a:p>
        </p:txBody>
      </p:sp>
      <p:sp>
        <p:nvSpPr>
          <p:cNvPr id="58" name="RFV to line"/>
          <p:cNvSpPr/>
          <p:nvPr/>
        </p:nvSpPr>
        <p:spPr>
          <a:xfrm flipV="1">
            <a:off x="4937760" y="3584448"/>
            <a:ext cx="0" cy="804672"/>
          </a:xfrm>
          <a:prstGeom prst="line">
            <a:avLst/>
          </a:prstGeom>
          <a:noFill/>
          <a:ln w="15875">
            <a:solidFill>
              <a:schemeClr val="accent4"/>
            </a:solidFill>
            <a:prstDash val="solid"/>
            <a:tailEnd type="triangle"/>
          </a:ln>
        </p:spPr>
      </p:sp>
      <p:sp>
        <p:nvSpPr>
          <p:cNvPr id="59" name="RFV PN key"/>
          <p:cNvSpPr txBox="1"/>
          <p:nvPr/>
        </p:nvSpPr>
        <p:spPr>
          <a:xfrm>
            <a:off x="5001768" y="4133088"/>
            <a:ext cx="1188720" cy="182880"/>
          </a:xfrm>
          <a:prstGeom prst="rect">
            <a:avLst/>
          </a:prstGeom>
          <a:noFill/>
          <a:ln/>
        </p:spPr>
        <p:txBody>
          <a:bodyPr wrap="square" lIns="0" tIns="0" rIns="0" bIns="0" rtlCol="0" anchor="ctr"/>
          <a:lstStyle/>
          <a:p>
            <a:pPr algn="l" indent="0" marL="0">
              <a:buNone/>
            </a:pPr>
            <a:r>
              <a:rPr lang="en-US" sz="850" b="1" dirty="0">
                <a:solidFill>
                  <a:schemeClr val="tx1"/>
                </a:solidFill>
                <a:latin typeface="Calibri" pitchFamily="34" charset="0"/>
                <a:ea typeface="Calibri" pitchFamily="34" charset="-122"/>
                <a:cs typeface="Calibri" pitchFamily="34" charset="-120"/>
              </a:rPr>
              <a:t>Part # + Next Higher</a:t>
            </a:r>
            <a:endParaRPr lang="en-US" sz="850" dirty="0"/>
          </a:p>
        </p:txBody>
      </p:sp>
      <p:sp>
        <p:nvSpPr>
          <p:cNvPr id="60" name="Line to outputs (down)"/>
          <p:cNvSpPr/>
          <p:nvPr/>
        </p:nvSpPr>
        <p:spPr>
          <a:xfrm>
            <a:off x="5577840" y="3566160"/>
            <a:ext cx="0" cy="457200"/>
          </a:xfrm>
          <a:prstGeom prst="line">
            <a:avLst/>
          </a:prstGeom>
          <a:noFill/>
          <a:ln w="15875">
            <a:solidFill>
              <a:schemeClr val="accent4"/>
            </a:solidFill>
            <a:prstDash val="solid"/>
          </a:ln>
        </p:spPr>
      </p:sp>
      <p:sp>
        <p:nvSpPr>
          <p:cNvPr id="61" name="Line to outputs"/>
          <p:cNvSpPr/>
          <p:nvPr/>
        </p:nvSpPr>
        <p:spPr>
          <a:xfrm>
            <a:off x="5577840" y="4023360"/>
            <a:ext cx="804672" cy="0"/>
          </a:xfrm>
          <a:prstGeom prst="line">
            <a:avLst/>
          </a:prstGeom>
          <a:noFill/>
          <a:ln w="15875">
            <a:solidFill>
              <a:schemeClr val="accent4"/>
            </a:solidFill>
            <a:prstDash val="solid"/>
            <a:tailEnd type="triangle"/>
          </a:ln>
        </p:spPr>
      </p:sp>
      <p:sp>
        <p:nvSpPr>
          <p:cNvPr id="62" name="Outputs note"/>
          <p:cNvSpPr txBox="1"/>
          <p:nvPr/>
        </p:nvSpPr>
        <p:spPr>
          <a:xfrm>
            <a:off x="5641848" y="3657600"/>
            <a:ext cx="914400" cy="182880"/>
          </a:xfrm>
          <a:prstGeom prst="rect">
            <a:avLst/>
          </a:prstGeom>
          <a:noFill/>
          <a:ln/>
        </p:spPr>
        <p:txBody>
          <a:bodyPr wrap="square" lIns="0" tIns="0" rIns="0" bIns="0" rtlCol="0" anchor="ctr"/>
          <a:lstStyle/>
          <a:p>
            <a:pPr algn="l" indent="0" marL="0">
              <a:buNone/>
            </a:pPr>
            <a:r>
              <a:rPr lang="en-US" sz="800" i="1" dirty="0">
                <a:solidFill>
                  <a:schemeClr val="accent4"/>
                </a:solidFill>
                <a:latin typeface="Calibri" pitchFamily="34" charset="0"/>
                <a:ea typeface="Calibri" pitchFamily="34" charset="-122"/>
                <a:cs typeface="Calibri" pitchFamily="34" charset="-120"/>
              </a:rPr>
              <a:t>results per line</a:t>
            </a:r>
            <a:endParaRPr lang="en-US" sz="800" dirty="0"/>
          </a:p>
        </p:txBody>
      </p:sp>
      <p:sp>
        <p:nvSpPr>
          <p:cNvPr id="63" name="Outputs"/>
          <p:cNvSpPr/>
          <p:nvPr/>
        </p:nvSpPr>
        <p:spPr>
          <a:xfrm>
            <a:off x="6400800" y="3675888"/>
            <a:ext cx="2240280" cy="1005840"/>
          </a:xfrm>
          <a:prstGeom prst="roundRect">
            <a:avLst>
              <a:gd name="adj" fmla="val 4545"/>
            </a:avLst>
          </a:prstGeom>
          <a:solidFill>
            <a:schemeClr val="accent6"/>
          </a:solidFill>
          <a:ln w="12700">
            <a:solidFill>
              <a:schemeClr val="accent5"/>
            </a:solidFill>
          </a:ln>
        </p:spPr>
        <p:txBody>
          <a:bodyPr wrap="square" lIns="76200" tIns="76200" rIns="76200" bIns="76200" rtlCol="0" anchor="ctr"/>
          <a:lstStyle/>
          <a:p>
            <a:pPr indent="0" marL="0">
              <a:spcAft>
                <a:spcPts val="100"/>
              </a:spcAft>
              <a:buNone/>
            </a:pPr>
            <a:r>
              <a:rPr lang="en-US" sz="900" b="1" spc="150" kern="0" dirty="0">
                <a:solidFill>
                  <a:schemeClr val="tx2"/>
                </a:solidFill>
                <a:latin typeface="Calibri" pitchFamily="34" charset="0"/>
                <a:ea typeface="Calibri" pitchFamily="34" charset="-122"/>
                <a:cs typeface="Calibri" pitchFamily="34" charset="-120"/>
              </a:rPr>
              <a:t>WHAT COMES OUT</a:t>
            </a:r>
            <a:endParaRPr lang="en-US" sz="900" dirty="0"/>
          </a:p>
          <a:p>
            <a:pPr marL="114300" indent="-114300">
              <a:spcAft>
                <a:spcPts val="100"/>
              </a:spcAft>
              <a:buSzPct val="100000"/>
              <a:buChar char="•"/>
            </a:pPr>
            <a:r>
              <a:rPr lang="en-US" sz="900" dirty="0">
                <a:solidFill>
                  <a:schemeClr val="tx1"/>
                </a:solidFill>
                <a:latin typeface="Calibri" pitchFamily="34" charset="0"/>
                <a:ea typeface="Calibri" pitchFamily="34" charset="-122"/>
                <a:cs typeface="Calibri" pitchFamily="34" charset="-120"/>
              </a:rPr>
              <a:t>Coverage %: planned, built, closed</a:t>
            </a:r>
            <a:endParaRPr lang="en-US" sz="900" dirty="0"/>
          </a:p>
          <a:p>
            <a:pPr marL="114300" indent="-114300">
              <a:spcAft>
                <a:spcPts val="100"/>
              </a:spcAft>
              <a:buSzPct val="100000"/>
              <a:buChar char="•"/>
            </a:pPr>
            <a:r>
              <a:rPr lang="en-US" sz="900" dirty="0">
                <a:solidFill>
                  <a:schemeClr val="tx1"/>
                </a:solidFill>
                <a:latin typeface="Calibri" pitchFamily="34" charset="0"/>
                <a:ea typeface="Calibri" pitchFamily="34" charset="-122"/>
                <a:cs typeface="Calibri" pitchFamily="34" charset="-120"/>
              </a:rPr>
              <a:t>Issue cards and drill-downs</a:t>
            </a:r>
            <a:endParaRPr lang="en-US" sz="900" dirty="0"/>
          </a:p>
          <a:p>
            <a:pPr marL="114300" indent="-114300">
              <a:spcAft>
                <a:spcPts val="100"/>
              </a:spcAft>
              <a:buSzPct val="100000"/>
              <a:buChar char="•"/>
            </a:pPr>
            <a:r>
              <a:rPr lang="en-US" sz="900" dirty="0">
                <a:solidFill>
                  <a:schemeClr val="tx1"/>
                </a:solidFill>
                <a:latin typeface="Calibri" pitchFamily="34" charset="0"/>
                <a:ea typeface="Calibri" pitchFamily="34" charset="-122"/>
                <a:cs typeface="Calibri" pitchFamily="34" charset="-120"/>
              </a:rPr>
              <a:t>Comparison Summary and reports</a:t>
            </a:r>
            <a:endParaRPr lang="en-US" sz="900" dirty="0"/>
          </a:p>
          <a:p>
            <a:pPr marL="114300" indent="-114300">
              <a:spcAft>
                <a:spcPts val="100"/>
              </a:spcAft>
              <a:buSzPct val="100000"/>
              <a:buChar char="•"/>
            </a:pPr>
            <a:r>
              <a:rPr lang="en-US" sz="900" dirty="0">
                <a:solidFill>
                  <a:schemeClr val="tx1"/>
                </a:solidFill>
                <a:latin typeface="Calibri" pitchFamily="34" charset="0"/>
                <a:ea typeface="Calibri" pitchFamily="34" charset="-122"/>
                <a:cs typeface="Calibri" pitchFamily="34" charset="-120"/>
              </a:rPr>
              <a:t>Frozen session, audit certificate</a:t>
            </a:r>
            <a:endParaRPr lang="en-US" sz="900" dirty="0"/>
          </a:p>
        </p:txBody>
      </p:sp>
      <p:sp>
        <p:nvSpPr>
          <p:cNvPr id="25" name="Slide Number Placeholder 0"/>
          <p:cNvSpPr>
            <a:spLocks noGrp="1"/>
          </p:cNvSpPr>
          <p:nvPr>
            <p:ph type="sldNum" sz="quarter" idx="4294967295"/>
          </p:nvPr>
        </p:nvSpPr>
        <p:spPr>
          <a:xfrm>
            <a:off x="8321040" y="4837176"/>
            <a:ext cx="320040" cy="228600"/>
          </a:xfrm>
          <a:prstGeom prst="rect">
            <a:avLst/>
          </a:prstGeom>
          <a:extLst>
            <a:ext uri="{C572A759-6A51-4108-AA02-DFA0A04FC94B}">
              <ma14:wrappingTextBoxFlag xmlns:ma14="http://schemas.microsoft.com/office/mac/drawingml/2011/main" val="0"/>
            </a:ext>
          </a:extLst>
        </p:spPr>
        <p:txBody>
          <a:bodyPr/>
          <a:lstStyle>
            <a:lvl1pPr>
              <a:defRPr sz="850">
                <a:solidFill>
                  <a:schemeClr val="accent4"/>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02920" y="256032"/>
            <a:ext cx="5486400" cy="256032"/>
          </a:xfrm>
          <a:prstGeom prst="rect">
            <a:avLst/>
          </a:prstGeom>
          <a:noFill/>
          <a:ln/>
        </p:spPr>
        <p:txBody>
          <a:bodyPr wrap="square" lIns="0" tIns="0" rIns="0" bIns="0" rtlCol="0" anchor="ctr"/>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THE RECONCILIATION</a:t>
            </a:r>
            <a:endParaRPr lang="en-US" sz="1100" dirty="0"/>
          </a:p>
        </p:txBody>
      </p:sp>
      <p:sp>
        <p:nvSpPr>
          <p:cNvPr id="3" name="Text 0"/>
          <p:cNvSpPr/>
          <p:nvPr>
            <p:ph idx="101" type="title" hasCustomPrompt="1"/>
          </p:nvPr>
        </p:nvSpPr>
        <p:spPr>
          <a:xfrm>
            <a:off x="502920" y="475488"/>
            <a:ext cx="8138160" cy="50292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Three Checks Behind “Planned” and “Built”</a:t>
            </a:r>
            <a:endParaRPr lang="en-US" sz="2600" dirty="0"/>
          </a:p>
        </p:txBody>
      </p:sp>
      <p:sp>
        <p:nvSpPr>
          <p:cNvPr id="4" name="Intro"/>
          <p:cNvSpPr txBox="1"/>
          <p:nvPr/>
        </p:nvSpPr>
        <p:spPr>
          <a:xfrm>
            <a:off x="502920" y="1051560"/>
            <a:ext cx="8138160" cy="320040"/>
          </a:xfrm>
          <a:prstGeom prst="rect">
            <a:avLst/>
          </a:prstGeom>
          <a:noFill/>
          <a:ln/>
        </p:spPr>
        <p:txBody>
          <a:bodyPr wrap="square" lIns="0" tIns="0" rIns="0" bIns="0" rtlCol="0" anchor="ctr"/>
          <a:lstStyle/>
          <a:p>
            <a:pPr indent="0" marL="0">
              <a:buNone/>
            </a:pPr>
            <a:r>
              <a:rPr lang="en-US" sz="1200" dirty="0">
                <a:solidFill>
                  <a:schemeClr val="accent4"/>
                </a:solidFill>
                <a:latin typeface="Calibri" pitchFamily="34" charset="0"/>
                <a:ea typeface="Calibri" pitchFamily="34" charset="-122"/>
                <a:cs typeface="Calibri" pitchFamily="34" charset="-120"/>
              </a:rPr>
              <a:t>MBOM and ABOM are each tested against every EBOM line three ways. A line can pass more than one.</a:t>
            </a:r>
            <a:endParaRPr lang="en-US" sz="1200" dirty="0"/>
          </a:p>
        </p:txBody>
      </p:sp>
      <p:sp>
        <p:nvSpPr>
          <p:cNvPr id="5" name="Pass 1 card"/>
          <p:cNvSpPr/>
          <p:nvPr/>
        </p:nvSpPr>
        <p:spPr>
          <a:xfrm>
            <a:off x="502920" y="1508760"/>
            <a:ext cx="2560320" cy="2377440"/>
          </a:xfrm>
          <a:prstGeom prst="roundRect">
            <a:avLst>
              <a:gd name="adj" fmla="val 2308"/>
            </a:avLst>
          </a:prstGeom>
          <a:solidFill>
            <a:schemeClr val="bg1"/>
          </a:solidFill>
          <a:ln w="12700">
            <a:solidFill>
              <a:schemeClr val="accent5"/>
            </a:solidFill>
            <a:prstDash val="solid"/>
          </a:ln>
          <a:effectLst>
            <a:outerShdw sx="100000" sy="100000" kx="0" ky="0" algn="bl" rotWithShape="0" blurRad="76200" dist="25400" dir="5400000">
              <a:srgbClr val="13294B">
                <a:alpha val="8000"/>
              </a:srgbClr>
            </a:outerShdw>
          </a:effectLst>
        </p:spPr>
      </p:sp>
      <p:sp>
        <p:nvSpPr>
          <p:cNvPr id="6" name="Pass 1 parent"/>
          <p:cNvSpPr/>
          <p:nvPr/>
        </p:nvSpPr>
        <p:spPr>
          <a:xfrm>
            <a:off x="1348740" y="1691640"/>
            <a:ext cx="868680" cy="237744"/>
          </a:xfrm>
          <a:prstGeom prst="roundRect">
            <a:avLst>
              <a:gd name="adj" fmla="val 11538"/>
            </a:avLst>
          </a:prstGeom>
          <a:solidFill>
            <a:schemeClr val="bg1"/>
          </a:solidFill>
          <a:ln w="12700">
            <a:solidFill>
              <a:schemeClr val="accent4"/>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Next Higher</a:t>
            </a:r>
            <a:endParaRPr lang="en-US" sz="850" dirty="0"/>
          </a:p>
        </p:txBody>
      </p:sp>
      <p:sp>
        <p:nvSpPr>
          <p:cNvPr id="7" name="Pass 1 link"/>
          <p:cNvSpPr/>
          <p:nvPr/>
        </p:nvSpPr>
        <p:spPr>
          <a:xfrm>
            <a:off x="1783080" y="1929384"/>
            <a:ext cx="0" cy="164592"/>
          </a:xfrm>
          <a:prstGeom prst="line">
            <a:avLst/>
          </a:prstGeom>
          <a:noFill/>
          <a:ln w="15875">
            <a:solidFill>
              <a:schemeClr val="accent4"/>
            </a:solidFill>
            <a:prstDash val="solid"/>
          </a:ln>
        </p:spPr>
      </p:sp>
      <p:sp>
        <p:nvSpPr>
          <p:cNvPr id="8" name="Pass 1 part"/>
          <p:cNvSpPr/>
          <p:nvPr/>
        </p:nvSpPr>
        <p:spPr>
          <a:xfrm>
            <a:off x="1348740" y="2093976"/>
            <a:ext cx="868680" cy="237744"/>
          </a:xfrm>
          <a:prstGeom prst="roundRect">
            <a:avLst>
              <a:gd name="adj" fmla="val 11538"/>
            </a:avLst>
          </a:prstGeom>
          <a:solidFill>
            <a:schemeClr val="bg2"/>
          </a:solidFill>
          <a:ln w="12700">
            <a:solidFill>
              <a:schemeClr val="tx2"/>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Part</a:t>
            </a:r>
            <a:endParaRPr lang="en-US" sz="850" dirty="0"/>
          </a:p>
        </p:txBody>
      </p:sp>
      <p:sp>
        <p:nvSpPr>
          <p:cNvPr id="9" name="Pass 1 number"/>
          <p:cNvSpPr/>
          <p:nvPr/>
        </p:nvSpPr>
        <p:spPr>
          <a:xfrm>
            <a:off x="685800" y="2404872"/>
            <a:ext cx="310896" cy="310896"/>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latin typeface="Cambria" pitchFamily="34" charset="0"/>
                <a:ea typeface="Cambria" pitchFamily="34" charset="-122"/>
                <a:cs typeface="Cambria" pitchFamily="34" charset="-120"/>
              </a:rPr>
              <a:t>1</a:t>
            </a:r>
            <a:endParaRPr lang="en-US" sz="1200" dirty="0"/>
          </a:p>
        </p:txBody>
      </p:sp>
      <p:sp>
        <p:nvSpPr>
          <p:cNvPr id="10" name="Pass 1 tag"/>
          <p:cNvSpPr txBox="1"/>
          <p:nvPr/>
        </p:nvSpPr>
        <p:spPr>
          <a:xfrm>
            <a:off x="1088136" y="2404872"/>
            <a:ext cx="1828800" cy="310896"/>
          </a:xfrm>
          <a:prstGeom prst="rect">
            <a:avLst/>
          </a:prstGeom>
          <a:noFill/>
          <a:ln/>
        </p:spPr>
        <p:txBody>
          <a:bodyPr wrap="square" lIns="0" tIns="0" rIns="0" bIns="0" rtlCol="0" anchor="ctr"/>
          <a:lstStyle/>
          <a:p>
            <a:pPr indent="0" marL="0">
              <a:buNone/>
            </a:pPr>
            <a:r>
              <a:rPr lang="en-US" sz="950" b="1" spc="100" kern="0" dirty="0">
                <a:solidFill>
                  <a:schemeClr val="accent1"/>
                </a:solidFill>
                <a:latin typeface="Calibri" pitchFamily="34" charset="0"/>
                <a:ea typeface="Calibri" pitchFamily="34" charset="-122"/>
                <a:cs typeface="Calibri" pitchFamily="34" charset="-120"/>
              </a:rPr>
              <a:t>PASS 1 · DIRECT</a:t>
            </a:r>
            <a:endParaRPr lang="en-US" sz="950" dirty="0"/>
          </a:p>
        </p:txBody>
      </p:sp>
      <p:sp>
        <p:nvSpPr>
          <p:cNvPr id="11" name="Pass 1 heading"/>
          <p:cNvSpPr txBox="1"/>
          <p:nvPr/>
        </p:nvSpPr>
        <p:spPr>
          <a:xfrm>
            <a:off x="685800" y="2788920"/>
            <a:ext cx="2194560" cy="292608"/>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Same part, same parent</a:t>
            </a:r>
            <a:endParaRPr lang="en-US" sz="1300" dirty="0"/>
          </a:p>
        </p:txBody>
      </p:sp>
      <p:sp>
        <p:nvSpPr>
          <p:cNvPr id="12" name="Pass 1 text"/>
          <p:cNvSpPr txBox="1"/>
          <p:nvPr/>
        </p:nvSpPr>
        <p:spPr>
          <a:xfrm>
            <a:off x="685800" y="3108960"/>
            <a:ext cx="2194560" cy="685800"/>
          </a:xfrm>
          <a:prstGeom prst="rect">
            <a:avLst/>
          </a:prstGeom>
          <a:noFill/>
          <a:ln/>
        </p:spPr>
        <p:txBody>
          <a:bodyPr wrap="square" lIns="0" tIns="0" rIns="0" bIns="0" rtlCol="0" anchor="t"/>
          <a:lstStyle/>
          <a:p>
            <a:pPr indent="0" marL="0">
              <a:buNone/>
            </a:pPr>
            <a:r>
              <a:rPr lang="en-US" sz="1050" dirty="0">
                <a:solidFill>
                  <a:schemeClr val="accent4"/>
                </a:solidFill>
                <a:latin typeface="Calibri" pitchFamily="34" charset="0"/>
                <a:ea typeface="Calibri" pitchFamily="34" charset="-122"/>
                <a:cs typeface="Calibri" pitchFamily="34" charset="-120"/>
              </a:rPr>
              <a:t>The part number sits under the same next higher the design names. Quantity is checked here and only here.</a:t>
            </a:r>
            <a:endParaRPr lang="en-US" sz="1050" dirty="0"/>
          </a:p>
        </p:txBody>
      </p:sp>
      <p:sp>
        <p:nvSpPr>
          <p:cNvPr id="13" name="Pass 2 card"/>
          <p:cNvSpPr/>
          <p:nvPr/>
        </p:nvSpPr>
        <p:spPr>
          <a:xfrm>
            <a:off x="3246120" y="1508760"/>
            <a:ext cx="2560320" cy="2377440"/>
          </a:xfrm>
          <a:prstGeom prst="roundRect">
            <a:avLst>
              <a:gd name="adj" fmla="val 2308"/>
            </a:avLst>
          </a:prstGeom>
          <a:solidFill>
            <a:schemeClr val="bg1"/>
          </a:solidFill>
          <a:ln w="12700">
            <a:solidFill>
              <a:schemeClr val="accent5"/>
            </a:solidFill>
            <a:prstDash val="solid"/>
          </a:ln>
          <a:effectLst>
            <a:outerShdw sx="100000" sy="100000" kx="0" ky="0" algn="bl" rotWithShape="0" blurRad="76200" dist="25400" dir="5400000">
              <a:srgbClr val="13294B">
                <a:alpha val="8000"/>
              </a:srgbClr>
            </a:outerShdw>
          </a:effectLst>
        </p:spPr>
      </p:sp>
      <p:sp>
        <p:nvSpPr>
          <p:cNvPr id="14" name="Pass 2 part"/>
          <p:cNvSpPr/>
          <p:nvPr/>
        </p:nvSpPr>
        <p:spPr>
          <a:xfrm>
            <a:off x="4091940" y="1691640"/>
            <a:ext cx="868680" cy="237744"/>
          </a:xfrm>
          <a:prstGeom prst="roundRect">
            <a:avLst>
              <a:gd name="adj" fmla="val 11538"/>
            </a:avLst>
          </a:prstGeom>
          <a:solidFill>
            <a:schemeClr val="bg2"/>
          </a:solidFill>
          <a:ln w="12700">
            <a:solidFill>
              <a:schemeClr val="tx2"/>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Part</a:t>
            </a:r>
            <a:endParaRPr lang="en-US" sz="850" dirty="0"/>
          </a:p>
        </p:txBody>
      </p:sp>
      <p:sp>
        <p:nvSpPr>
          <p:cNvPr id="15" name="Pass 2 link L"/>
          <p:cNvSpPr/>
          <p:nvPr/>
        </p:nvSpPr>
        <p:spPr>
          <a:xfrm flipH="1">
            <a:off x="3977640" y="1929384"/>
            <a:ext cx="320040" cy="164592"/>
          </a:xfrm>
          <a:prstGeom prst="line">
            <a:avLst/>
          </a:prstGeom>
          <a:noFill/>
          <a:ln w="15875">
            <a:solidFill>
              <a:schemeClr val="accent4"/>
            </a:solidFill>
            <a:prstDash val="solid"/>
          </a:ln>
        </p:spPr>
      </p:sp>
      <p:sp>
        <p:nvSpPr>
          <p:cNvPr id="16" name="Pass 2 link R"/>
          <p:cNvSpPr/>
          <p:nvPr/>
        </p:nvSpPr>
        <p:spPr>
          <a:xfrm>
            <a:off x="4754880" y="1929384"/>
            <a:ext cx="320040" cy="164592"/>
          </a:xfrm>
          <a:prstGeom prst="line">
            <a:avLst/>
          </a:prstGeom>
          <a:noFill/>
          <a:ln w="15875">
            <a:solidFill>
              <a:schemeClr val="accent4"/>
            </a:solidFill>
            <a:prstDash val="solid"/>
          </a:ln>
        </p:spPr>
      </p:sp>
      <p:sp>
        <p:nvSpPr>
          <p:cNvPr id="17" name="Pass 2 child L"/>
          <p:cNvSpPr/>
          <p:nvPr/>
        </p:nvSpPr>
        <p:spPr>
          <a:xfrm>
            <a:off x="3589020" y="2093976"/>
            <a:ext cx="868680" cy="237744"/>
          </a:xfrm>
          <a:prstGeom prst="roundRect">
            <a:avLst>
              <a:gd name="adj" fmla="val 11538"/>
            </a:avLst>
          </a:prstGeom>
          <a:solidFill>
            <a:schemeClr val="bg1"/>
          </a:solidFill>
          <a:ln w="12700">
            <a:solidFill>
              <a:schemeClr val="accent4"/>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child</a:t>
            </a:r>
            <a:endParaRPr lang="en-US" sz="850" dirty="0"/>
          </a:p>
        </p:txBody>
      </p:sp>
      <p:sp>
        <p:nvSpPr>
          <p:cNvPr id="18" name="Pass 2 child R"/>
          <p:cNvSpPr/>
          <p:nvPr/>
        </p:nvSpPr>
        <p:spPr>
          <a:xfrm>
            <a:off x="4594860" y="2093976"/>
            <a:ext cx="868680" cy="237744"/>
          </a:xfrm>
          <a:prstGeom prst="roundRect">
            <a:avLst>
              <a:gd name="adj" fmla="val 11538"/>
            </a:avLst>
          </a:prstGeom>
          <a:solidFill>
            <a:schemeClr val="bg1"/>
          </a:solidFill>
          <a:ln w="12700">
            <a:solidFill>
              <a:schemeClr val="accent4"/>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child</a:t>
            </a:r>
            <a:endParaRPr lang="en-US" sz="850" dirty="0"/>
          </a:p>
        </p:txBody>
      </p:sp>
      <p:sp>
        <p:nvSpPr>
          <p:cNvPr id="19" name="Pass 2 number"/>
          <p:cNvSpPr/>
          <p:nvPr/>
        </p:nvSpPr>
        <p:spPr>
          <a:xfrm>
            <a:off x="3429000" y="2404872"/>
            <a:ext cx="310896" cy="310896"/>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latin typeface="Cambria" pitchFamily="34" charset="0"/>
                <a:ea typeface="Cambria" pitchFamily="34" charset="-122"/>
                <a:cs typeface="Cambria" pitchFamily="34" charset="-120"/>
              </a:rPr>
              <a:t>2</a:t>
            </a:r>
            <a:endParaRPr lang="en-US" sz="1200" dirty="0"/>
          </a:p>
        </p:txBody>
      </p:sp>
      <p:sp>
        <p:nvSpPr>
          <p:cNvPr id="20" name="Pass 2 tag"/>
          <p:cNvSpPr txBox="1"/>
          <p:nvPr/>
        </p:nvSpPr>
        <p:spPr>
          <a:xfrm>
            <a:off x="3831336" y="2404872"/>
            <a:ext cx="1828800" cy="310896"/>
          </a:xfrm>
          <a:prstGeom prst="rect">
            <a:avLst/>
          </a:prstGeom>
          <a:noFill/>
          <a:ln/>
        </p:spPr>
        <p:txBody>
          <a:bodyPr wrap="square" lIns="0" tIns="0" rIns="0" bIns="0" rtlCol="0" anchor="ctr"/>
          <a:lstStyle/>
          <a:p>
            <a:pPr indent="0" marL="0">
              <a:buNone/>
            </a:pPr>
            <a:r>
              <a:rPr lang="en-US" sz="950" b="1" spc="100" kern="0" dirty="0">
                <a:solidFill>
                  <a:schemeClr val="accent1"/>
                </a:solidFill>
                <a:latin typeface="Calibri" pitchFamily="34" charset="0"/>
                <a:ea typeface="Calibri" pitchFamily="34" charset="-122"/>
                <a:cs typeface="Calibri" pitchFamily="34" charset="-120"/>
              </a:rPr>
              <a:t>PASS 2 · USED-ON</a:t>
            </a:r>
            <a:endParaRPr lang="en-US" sz="950" dirty="0"/>
          </a:p>
        </p:txBody>
      </p:sp>
      <p:sp>
        <p:nvSpPr>
          <p:cNvPr id="21" name="Pass 2 heading"/>
          <p:cNvSpPr txBox="1"/>
          <p:nvPr/>
        </p:nvSpPr>
        <p:spPr>
          <a:xfrm>
            <a:off x="3429000" y="2788920"/>
            <a:ext cx="2194560" cy="292608"/>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The part is a parent</a:t>
            </a:r>
            <a:endParaRPr lang="en-US" sz="1300" dirty="0"/>
          </a:p>
        </p:txBody>
      </p:sp>
      <p:sp>
        <p:nvSpPr>
          <p:cNvPr id="22" name="Pass 2 text"/>
          <p:cNvSpPr txBox="1"/>
          <p:nvPr/>
        </p:nvSpPr>
        <p:spPr>
          <a:xfrm>
            <a:off x="3429000" y="3108960"/>
            <a:ext cx="2194560" cy="685800"/>
          </a:xfrm>
          <a:prstGeom prst="rect">
            <a:avLst/>
          </a:prstGeom>
          <a:noFill/>
          <a:ln/>
        </p:spPr>
        <p:txBody>
          <a:bodyPr wrap="square" lIns="0" tIns="0" rIns="0" bIns="0" rtlCol="0" anchor="t"/>
          <a:lstStyle/>
          <a:p>
            <a:pPr indent="0" marL="0">
              <a:buNone/>
            </a:pPr>
            <a:r>
              <a:rPr lang="en-US" sz="1050" dirty="0">
                <a:solidFill>
                  <a:schemeClr val="accent4"/>
                </a:solidFill>
                <a:latin typeface="Calibri" pitchFamily="34" charset="0"/>
                <a:ea typeface="Calibri" pitchFamily="34" charset="-122"/>
                <a:cs typeface="Calibri" pitchFamily="34" charset="-120"/>
              </a:rPr>
              <a:t>Other parts were built into it, so it is present as an assembly. This proves presence, not quantity.</a:t>
            </a:r>
            <a:endParaRPr lang="en-US" sz="1050" dirty="0"/>
          </a:p>
        </p:txBody>
      </p:sp>
      <p:sp>
        <p:nvSpPr>
          <p:cNvPr id="23" name="Pass 3 card"/>
          <p:cNvSpPr/>
          <p:nvPr/>
        </p:nvSpPr>
        <p:spPr>
          <a:xfrm>
            <a:off x="5989320" y="1508760"/>
            <a:ext cx="2560320" cy="2377440"/>
          </a:xfrm>
          <a:prstGeom prst="roundRect">
            <a:avLst>
              <a:gd name="adj" fmla="val 2308"/>
            </a:avLst>
          </a:prstGeom>
          <a:solidFill>
            <a:schemeClr val="bg1"/>
          </a:solidFill>
          <a:ln w="12700">
            <a:solidFill>
              <a:schemeClr val="accent5"/>
            </a:solidFill>
            <a:prstDash val="solid"/>
          </a:ln>
          <a:effectLst>
            <a:outerShdw sx="100000" sy="100000" kx="0" ky="0" algn="bl" rotWithShape="0" blurRad="76200" dist="25400" dir="5400000">
              <a:srgbClr val="13294B">
                <a:alpha val="8000"/>
              </a:srgbClr>
            </a:outerShdw>
          </a:effectLst>
        </p:spPr>
      </p:sp>
      <p:sp>
        <p:nvSpPr>
          <p:cNvPr id="24" name="Pass 3 assembly"/>
          <p:cNvSpPr/>
          <p:nvPr/>
        </p:nvSpPr>
        <p:spPr>
          <a:xfrm>
            <a:off x="6835140" y="1691640"/>
            <a:ext cx="868680" cy="237744"/>
          </a:xfrm>
          <a:prstGeom prst="roundRect">
            <a:avLst>
              <a:gd name="adj" fmla="val 11538"/>
            </a:avLst>
          </a:prstGeom>
          <a:solidFill>
            <a:schemeClr val="bg2"/>
          </a:solidFill>
          <a:ln w="12700">
            <a:solidFill>
              <a:schemeClr val="tx2"/>
            </a:solidFill>
            <a:prstDash val="solid"/>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Assembly</a:t>
            </a:r>
            <a:endParaRPr lang="en-US" sz="850" dirty="0"/>
          </a:p>
        </p:txBody>
      </p:sp>
      <p:sp>
        <p:nvSpPr>
          <p:cNvPr id="25" name="Pass 3 link"/>
          <p:cNvSpPr/>
          <p:nvPr/>
        </p:nvSpPr>
        <p:spPr>
          <a:xfrm>
            <a:off x="7269480" y="1929384"/>
            <a:ext cx="0" cy="164592"/>
          </a:xfrm>
          <a:prstGeom prst="line">
            <a:avLst/>
          </a:prstGeom>
          <a:noFill/>
          <a:ln w="15875">
            <a:solidFill>
              <a:schemeClr val="accent4"/>
            </a:solidFill>
            <a:prstDash val="dash"/>
          </a:ln>
        </p:spPr>
      </p:sp>
      <p:sp>
        <p:nvSpPr>
          <p:cNvPr id="26" name="Pass 3 part"/>
          <p:cNvSpPr/>
          <p:nvPr/>
        </p:nvSpPr>
        <p:spPr>
          <a:xfrm>
            <a:off x="6835140" y="2093976"/>
            <a:ext cx="868680" cy="237744"/>
          </a:xfrm>
          <a:prstGeom prst="roundRect">
            <a:avLst>
              <a:gd name="adj" fmla="val 11538"/>
            </a:avLst>
          </a:prstGeom>
          <a:solidFill>
            <a:schemeClr val="bg1"/>
          </a:solidFill>
          <a:ln w="12700">
            <a:solidFill>
              <a:schemeClr val="accent4"/>
            </a:solidFill>
            <a:prstDash val="dash"/>
          </a:ln>
        </p:spPr>
        <p:txBody>
          <a:bodyPr wrap="square" lIns="0" tIns="0" rIns="0" bIns="0" rtlCol="0" anchor="ctr"/>
          <a:lstStyle/>
          <a:p>
            <a:pPr algn="ctr" indent="0" marL="0">
              <a:buNone/>
            </a:pPr>
            <a:r>
              <a:rPr lang="en-US" sz="850" dirty="0">
                <a:solidFill>
                  <a:schemeClr val="tx1"/>
                </a:solidFill>
                <a:latin typeface="Calibri" pitchFamily="34" charset="0"/>
                <a:ea typeface="Calibri" pitchFamily="34" charset="-122"/>
                <a:cs typeface="Calibri" pitchFamily="34" charset="-120"/>
              </a:rPr>
              <a:t>Part</a:t>
            </a:r>
            <a:endParaRPr lang="en-US" sz="850" dirty="0"/>
          </a:p>
        </p:txBody>
      </p:sp>
      <p:sp>
        <p:nvSpPr>
          <p:cNvPr id="27" name="Pass 3 number"/>
          <p:cNvSpPr/>
          <p:nvPr/>
        </p:nvSpPr>
        <p:spPr>
          <a:xfrm>
            <a:off x="6172200" y="2404872"/>
            <a:ext cx="310896" cy="310896"/>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latin typeface="Cambria" pitchFamily="34" charset="0"/>
                <a:ea typeface="Cambria" pitchFamily="34" charset="-122"/>
                <a:cs typeface="Cambria" pitchFamily="34" charset="-120"/>
              </a:rPr>
              <a:t>3</a:t>
            </a:r>
            <a:endParaRPr lang="en-US" sz="1200" dirty="0"/>
          </a:p>
        </p:txBody>
      </p:sp>
      <p:sp>
        <p:nvSpPr>
          <p:cNvPr id="28" name="Pass 3 tag"/>
          <p:cNvSpPr txBox="1"/>
          <p:nvPr/>
        </p:nvSpPr>
        <p:spPr>
          <a:xfrm>
            <a:off x="6574536" y="2404872"/>
            <a:ext cx="1828800" cy="310896"/>
          </a:xfrm>
          <a:prstGeom prst="rect">
            <a:avLst/>
          </a:prstGeom>
          <a:noFill/>
          <a:ln/>
        </p:spPr>
        <p:txBody>
          <a:bodyPr wrap="square" lIns="0" tIns="0" rIns="0" bIns="0" rtlCol="0" anchor="ctr"/>
          <a:lstStyle/>
          <a:p>
            <a:pPr indent="0" marL="0">
              <a:buNone/>
            </a:pPr>
            <a:r>
              <a:rPr lang="en-US" sz="950" b="1" spc="100" kern="0" dirty="0">
                <a:solidFill>
                  <a:schemeClr val="accent1"/>
                </a:solidFill>
                <a:latin typeface="Calibri" pitchFamily="34" charset="0"/>
                <a:ea typeface="Calibri" pitchFamily="34" charset="-122"/>
                <a:cs typeface="Calibri" pitchFamily="34" charset="-120"/>
              </a:rPr>
              <a:t>PASS 3 · ANCESTOR</a:t>
            </a:r>
            <a:endParaRPr lang="en-US" sz="950" dirty="0"/>
          </a:p>
        </p:txBody>
      </p:sp>
      <p:sp>
        <p:nvSpPr>
          <p:cNvPr id="29" name="Pass 3 heading"/>
          <p:cNvSpPr txBox="1"/>
          <p:nvPr/>
        </p:nvSpPr>
        <p:spPr>
          <a:xfrm>
            <a:off x="6172200" y="2788920"/>
            <a:ext cx="2194560" cy="292608"/>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An assembly above it counts</a:t>
            </a:r>
            <a:endParaRPr lang="en-US" sz="1300" dirty="0"/>
          </a:p>
        </p:txBody>
      </p:sp>
      <p:sp>
        <p:nvSpPr>
          <p:cNvPr id="30" name="Pass 3 text"/>
          <p:cNvSpPr txBox="1"/>
          <p:nvPr/>
        </p:nvSpPr>
        <p:spPr>
          <a:xfrm>
            <a:off x="6172200" y="3108960"/>
            <a:ext cx="2194560" cy="685800"/>
          </a:xfrm>
          <a:prstGeom prst="rect">
            <a:avLst/>
          </a:prstGeom>
          <a:noFill/>
          <a:ln/>
        </p:spPr>
        <p:txBody>
          <a:bodyPr wrap="square" lIns="0" tIns="0" rIns="0" bIns="0" rtlCol="0" anchor="t"/>
          <a:lstStyle/>
          <a:p>
            <a:pPr indent="0" marL="0">
              <a:buNone/>
            </a:pPr>
            <a:r>
              <a:rPr lang="en-US" sz="1050" dirty="0">
                <a:solidFill>
                  <a:schemeClr val="accent4"/>
                </a:solidFill>
                <a:latin typeface="Calibri" pitchFamily="34" charset="0"/>
                <a:ea typeface="Calibri" pitchFamily="34" charset="-122"/>
                <a:cs typeface="Calibri" pitchFamily="34" charset="-120"/>
              </a:rPr>
              <a:t>The part is not listed itself. A higher assembly that contains it is accounted for, up to ten levels up.</a:t>
            </a:r>
            <a:endParaRPr lang="en-US" sz="1050" dirty="0"/>
          </a:p>
        </p:txBody>
      </p:sp>
      <p:sp>
        <p:nvSpPr>
          <p:cNvPr id="31" name="Closed WO callout"/>
          <p:cNvSpPr/>
          <p:nvPr/>
        </p:nvSpPr>
        <p:spPr>
          <a:xfrm>
            <a:off x="502920" y="4069080"/>
            <a:ext cx="8046720" cy="566928"/>
          </a:xfrm>
          <a:prstGeom prst="roundRect">
            <a:avLst>
              <a:gd name="adj" fmla="val 8065"/>
            </a:avLst>
          </a:prstGeom>
          <a:solidFill>
            <a:schemeClr val="bg2"/>
          </a:solidFill>
          <a:ln>
            <a:solidFill>
              <a:schemeClr val="bg2"/>
            </a:solidFill>
          </a:ln>
        </p:spPr>
        <p:txBody>
          <a:bodyPr wrap="square" lIns="127000" tIns="127000" rIns="127000" bIns="127000" rtlCol="0" anchor="ctr"/>
          <a:lstStyle/>
          <a:p>
            <a:pPr indent="0" marL="0">
              <a:buNone/>
            </a:pPr>
            <a:r>
              <a:rPr lang="en-US" sz="1100" b="1" dirty="0">
                <a:solidFill>
                  <a:schemeClr val="tx2"/>
                </a:solidFill>
                <a:latin typeface="Calibri" pitchFamily="34" charset="0"/>
                <a:ea typeface="Calibri" pitchFamily="34" charset="-122"/>
                <a:cs typeface="Calibri" pitchFamily="34" charset="-120"/>
              </a:rPr>
              <a:t>ABOM credit needs a closed work order. </a:t>
            </a:r>
            <a:pPr indent="0" marL="0">
              <a:buNone/>
            </a:pPr>
            <a:r>
              <a:rPr lang="en-US" sz="1100" dirty="0">
                <a:solidFill>
                  <a:schemeClr val="tx1"/>
                </a:solidFill>
                <a:latin typeface="Calibri" pitchFamily="34" charset="0"/>
                <a:ea typeface="Calibri" pitchFamily="34" charset="-122"/>
                <a:cs typeface="Calibri" pitchFamily="34" charset="-120"/>
              </a:rPr>
              <a:t>A part found only under open work orders is flagged WO Not Closed. A part that fails every check, open or closed, is Missing.</a:t>
            </a:r>
            <a:endParaRPr lang="en-US" sz="1100" dirty="0"/>
          </a:p>
        </p:txBody>
      </p:sp>
      <p:sp>
        <p:nvSpPr>
          <p:cNvPr id="25" name="Slide Number Placeholder 0"/>
          <p:cNvSpPr>
            <a:spLocks noGrp="1"/>
          </p:cNvSpPr>
          <p:nvPr>
            <p:ph type="sldNum" sz="quarter" idx="4294967295"/>
          </p:nvPr>
        </p:nvSpPr>
        <p:spPr>
          <a:xfrm>
            <a:off x="8321040" y="4837176"/>
            <a:ext cx="320040" cy="228600"/>
          </a:xfrm>
          <a:prstGeom prst="rect">
            <a:avLst/>
          </a:prstGeom>
          <a:extLst>
            <a:ext uri="{C572A759-6A51-4108-AA02-DFA0A04FC94B}">
              <ma14:wrappingTextBoxFlag xmlns:ma14="http://schemas.microsoft.com/office/mac/drawingml/2011/main" val="0"/>
            </a:ext>
          </a:extLst>
        </p:spPr>
        <p:txBody>
          <a:bodyPr/>
          <a:lstStyle>
            <a:lvl1pPr>
              <a:defRPr sz="85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02920" y="256032"/>
            <a:ext cx="5486400" cy="256032"/>
          </a:xfrm>
          <a:prstGeom prst="rect">
            <a:avLst/>
          </a:prstGeom>
          <a:noFill/>
          <a:ln/>
        </p:spPr>
        <p:txBody>
          <a:bodyPr wrap="square" lIns="0" tIns="0" rIns="0" bIns="0" rtlCol="0" anchor="ctr"/>
          <a:lstStyle/>
          <a:p>
            <a:pPr algn="l" indent="0" marL="0">
              <a:buNone/>
            </a:pPr>
            <a:r>
              <a:rPr lang="en-US" sz="1100" b="1" spc="150" kern="0" dirty="0">
                <a:solidFill>
                  <a:schemeClr val="accent1"/>
                </a:solidFill>
                <a:latin typeface="Calibri" pitchFamily="34" charset="0"/>
                <a:ea typeface="Calibri" pitchFamily="34" charset="-122"/>
                <a:cs typeface="Calibri" pitchFamily="34" charset="-120"/>
              </a:rPr>
              <a:t>ALIGNMENT KEYS</a:t>
            </a:r>
            <a:endParaRPr lang="en-US" sz="1100" dirty="0"/>
          </a:p>
        </p:txBody>
      </p:sp>
      <p:sp>
        <p:nvSpPr>
          <p:cNvPr id="3" name="Text 0"/>
          <p:cNvSpPr/>
          <p:nvPr>
            <p:ph idx="101" type="title" hasCustomPrompt="1"/>
          </p:nvPr>
        </p:nvSpPr>
        <p:spPr>
          <a:xfrm>
            <a:off x="502920" y="475488"/>
            <a:ext cx="8138160" cy="50292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Each Source, What It Brings, How It Lines Up</a:t>
            </a:r>
            <a:endParaRPr lang="en-US" sz="2600" dirty="0"/>
          </a:p>
        </p:txBody>
      </p:sp>
      <p:graphicFrame>
        <p:nvGraphicFramePr>
          <p:cNvPr id="4" name="Alignment key table"/>
          <p:cNvGraphicFramePr>
            <a:graphicFrameLocks noGrp="1"/>
          </p:cNvGraphicFramePr>
          <p:nvPr>
            <p:extLst>
              <p:ext uri="{D42A27DB-BD31-4B8C-83A1-F6EECF244321}">
                <p14:modId xmlns:p14="http://schemas.microsoft.com/office/powerpoint/2010/main" val="1579011935"/>
              </p:ext>
            </p:extLst>
          </p:nvPr>
        </p:nvGraphicFramePr>
        <p:xfrm>
          <a:off x="502920" y="1024128"/>
          <a:ext cx="8138160" cy="914400"/>
        </p:xfrm>
        <a:graphic>
          <a:graphicData uri="http://schemas.openxmlformats.org/drawingml/2006/table">
            <a:tbl>
              <a:tblPr/>
              <a:tblGrid>
                <a:gridCol w="1188720"/>
                <a:gridCol w="2240280"/>
                <a:gridCol w="4709160"/>
              </a:tblGrid>
              <a:tr h="233172">
                <a:tc>
                  <a:txBody>
                    <a:bodyPr/>
                    <a:lstStyle/>
                    <a:p>
                      <a:pPr indent="0" marL="0">
                        <a:buNone/>
                      </a:pPr>
                      <a:r>
                        <a:rPr lang="en-US" sz="900" b="1" spc="100" kern="0" dirty="0">
                          <a:solidFill>
                            <a:schemeClr val="bg1"/>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2"/>
                    </a:solidFill>
                  </a:tcPr>
                </a:tc>
                <a:tc>
                  <a:txBody>
                    <a:bodyPr/>
                    <a:lstStyle/>
                    <a:p>
                      <a:pPr indent="0" marL="0">
                        <a:buNone/>
                      </a:pPr>
                      <a:r>
                        <a:rPr lang="en-US" sz="900" b="1" spc="100" kern="0" dirty="0">
                          <a:solidFill>
                            <a:schemeClr val="bg1"/>
                          </a:solidFill>
                          <a:latin typeface="Calibri" pitchFamily="34" charset="0"/>
                          <a:ea typeface="Calibri" pitchFamily="34" charset="-122"/>
                          <a:cs typeface="Calibri" pitchFamily="34" charset="-120"/>
                        </a:rPr>
                        <a:t>WHAT IT BRINGS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2"/>
                    </a:solidFill>
                  </a:tcPr>
                </a:tc>
                <a:tc>
                  <a:txBody>
                    <a:bodyPr/>
                    <a:lstStyle/>
                    <a:p>
                      <a:pPr indent="0" marL="0">
                        <a:buNone/>
                      </a:pPr>
                      <a:r>
                        <a:rPr lang="en-US" sz="900" b="1" spc="100" kern="0" dirty="0">
                          <a:solidFill>
                            <a:schemeClr val="bg1"/>
                          </a:solidFill>
                          <a:latin typeface="Calibri" pitchFamily="34" charset="0"/>
                          <a:ea typeface="Calibri" pitchFamily="34" charset="-122"/>
                          <a:cs typeface="Calibri" pitchFamily="34" charset="-120"/>
                        </a:rPr>
                        <a:t>HOW IT LINES UP</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tx2"/>
                    </a:solidFill>
                  </a:tcPr>
                </a:tc>
              </a:tr>
              <a:tr h="233172">
                <a:tc gridSpan="3">
                  <a:txBody>
                    <a:bodyPr/>
                    <a:lstStyle/>
                    <a:p>
                      <a:pPr indent="0" marL="0">
                        <a:buNone/>
                      </a:pPr>
                      <a:r>
                        <a:rPr lang="en-US" sz="850" b="1" spc="100" kern="0" dirty="0">
                          <a:solidFill>
                            <a:schemeClr val="accent1"/>
                          </a:solidFill>
                          <a:latin typeface="Calibri" pitchFamily="34" charset="0"/>
                          <a:ea typeface="Calibri" pitchFamily="34" charset="-122"/>
                          <a:cs typeface="Calibri" pitchFamily="34" charset="-120"/>
                        </a:rPr>
                        <a:t>CORE BOMS</a:t>
                      </a:r>
                      <a:endParaRPr lang="en-US" sz="85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hMerge="1">
                  <a:tcPr/>
                </a:tc>
                <a:tc hMerge="1">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EBOM</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The design baseline</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Defines the line: Part # + Next Higher. Duplicate lines merge into one.</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MBOM</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The build plan</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 Used On, in three passes. Used On is the MBOM’s name for next higher.</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ABOM</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As-built record, WO status, quantities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 Used On, in three passes. Closed work orders earn credit; open ones are flagged.</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gridSpan="3">
                  <a:txBody>
                    <a:bodyPr/>
                    <a:lstStyle/>
                    <a:p>
                      <a:pPr indent="0" marL="0">
                        <a:buNone/>
                      </a:pPr>
                      <a:r>
                        <a:rPr lang="en-US" sz="850" b="1" spc="100" kern="0" dirty="0">
                          <a:solidFill>
                            <a:schemeClr val="accent1"/>
                          </a:solidFill>
                          <a:latin typeface="Calibri" pitchFamily="34" charset="0"/>
                          <a:ea typeface="Calibri" pitchFamily="34" charset="-122"/>
                          <a:cs typeface="Calibri" pitchFamily="34" charset="-120"/>
                        </a:rPr>
                        <a:t>MATCHED TO THE LINE BY PART NUMBER</a:t>
                      </a:r>
                      <a:endParaRPr lang="en-US" sz="85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hMerge="1">
                  <a:tcPr/>
                </a:tc>
                <a:tc hMerge="1">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Change Pedigree</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DCN, ECN, ECR history; Drawing column</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 Next Higher, then part # alone. Drawing + ECR programs use Drawing #, with revision if chosen.</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CI list</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Which lines are Configuration Items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 Next Higher. Part # alone when the CI has no next higher.</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ACN</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Clearance level, record number, revision</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only. A part used in several places shows the same ACN at each.</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ME ADJ</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Engineer decisions from another tool</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Part #, then the position that is failing. If several fail, an engineer picks one.</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gridSpan="3">
                  <a:txBody>
                    <a:bodyPr/>
                    <a:lstStyle/>
                    <a:p>
                      <a:pPr indent="0" marL="0">
                        <a:buNone/>
                      </a:pPr>
                      <a:r>
                        <a:rPr lang="en-US" sz="850" b="1" spc="100" kern="0" dirty="0">
                          <a:solidFill>
                            <a:schemeClr val="accent1"/>
                          </a:solidFill>
                          <a:latin typeface="Calibri" pitchFamily="34" charset="0"/>
                          <a:ea typeface="Calibri" pitchFamily="34" charset="-122"/>
                          <a:cs typeface="Calibri" pitchFamily="34" charset="-120"/>
                        </a:rPr>
                        <a:t>MATCHED THROUGH A WORK ORDER OR NCR</a:t>
                      </a:r>
                      <a:endParaRPr lang="en-US" sz="85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solidFill>
                      <a:schemeClr val="bg2"/>
                    </a:solidFill>
                  </a:tcPr>
                </a:tc>
                <a:tc hMerge="1">
                  <a:tcPr/>
                </a:tc>
                <a:tc hMerge="1">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WO5</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Install and remove actions, serials, dates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WO # + Part #, using the work orders the ABOM credited to the line.</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NCR</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Discrepant parts, dispositions, cause codes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Originating WO #. The ABOM rows on that work order must name the line’s part or its next higher.</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r h="233172">
                <a:tc>
                  <a:txBody>
                    <a:bodyPr/>
                    <a:lstStyle/>
                    <a:p>
                      <a:pPr indent="0" marL="0">
                        <a:buNone/>
                      </a:pPr>
                      <a:r>
                        <a:rPr lang="en-US" sz="900" b="1" dirty="0">
                          <a:solidFill>
                            <a:schemeClr val="tx2"/>
                          </a:solidFill>
                          <a:latin typeface="Cambria" pitchFamily="34" charset="0"/>
                          <a:ea typeface="Cambria" pitchFamily="34" charset="-122"/>
                          <a:cs typeface="Cambria" pitchFamily="34" charset="-120"/>
                        </a:rPr>
                        <a:t>RFV</a:t>
                      </a:r>
                      <a:endParaRPr lang="en-US" sz="900" dirty="0">
                        <a:latin typeface="Cambria" charset="0"/>
                        <a:ea typeface="Cambria" charset="0"/>
                        <a:cs typeface="Cambria"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Approved variances</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c>
                  <a:txBody>
                    <a:bodyPr/>
                    <a:lstStyle/>
                    <a:p>
                      <a:pPr indent="0" marL="0">
                        <a:buNone/>
                      </a:pPr>
                      <a:r>
                        <a:rPr lang="en-US" sz="900" dirty="0">
                          <a:solidFill>
                            <a:schemeClr val="tx1"/>
                          </a:solidFill>
                          <a:latin typeface="Calibri" pitchFamily="34" charset="0"/>
                          <a:ea typeface="Calibri" pitchFamily="34" charset="-122"/>
                          <a:cs typeface="Calibri" pitchFamily="34" charset="-120"/>
                        </a:rPr>
                        <a:t>Three routes: Part # + Next Higher; NCR Disp #; or WO # on the MBOM or ABOM.</a:t>
                      </a:r>
                      <a:endParaRPr lang="en-US" sz="900" dirty="0">
                        <a:latin typeface="Calibri" charset="0"/>
                        <a:ea typeface="Calibri" charset="0"/>
                        <a:cs typeface="Calibri" charset="0"/>
                      </a:endParaRPr>
                    </a:p>
                  </a:txBody>
                  <a:tcPr marL="38100" marR="38100" marT="38100" marB="38100" anchor="ctr">
                    <a:lnL w="9525" cap="flat" cmpd="sng" algn="ctr">
                      <a:solidFill>
                        <a:srgbClr val="C9D8EE"/>
                      </a:solidFill>
                      <a:prstDash val="solid"/>
                      <a:round/>
                      <a:headEnd type="none" w="med" len="med"/>
                      <a:tailEnd type="none" w="med" len="med"/>
                    </a:lnL>
                    <a:lnR w="9525" cap="flat" cmpd="sng" algn="ctr">
                      <a:solidFill>
                        <a:srgbClr val="C9D8EE"/>
                      </a:solidFill>
                      <a:prstDash val="solid"/>
                      <a:round/>
                      <a:headEnd type="none" w="med" len="med"/>
                      <a:tailEnd type="none" w="med" len="med"/>
                    </a:lnR>
                    <a:lnT w="9525" cap="flat" cmpd="sng" algn="ctr">
                      <a:solidFill>
                        <a:srgbClr val="C9D8EE"/>
                      </a:solidFill>
                      <a:prstDash val="solid"/>
                      <a:round/>
                      <a:headEnd type="none" w="med" len="med"/>
                      <a:tailEnd type="none" w="med" len="med"/>
                    </a:lnT>
                    <a:lnB w="9525" cap="flat" cmpd="sng" algn="ctr">
                      <a:solidFill>
                        <a:srgbClr val="C9D8EE"/>
                      </a:solidFill>
                      <a:prstDash val="solid"/>
                      <a:round/>
                      <a:headEnd type="none" w="med" len="med"/>
                      <a:tailEnd type="none" w="med" len="med"/>
                    </a:lnB>
                  </a:tcPr>
                </a:tc>
              </a:tr>
            </a:tbl>
          </a:graphicData>
        </a:graphic>
      </p:graphicFrame>
      <p:sp>
        <p:nvSpPr>
          <p:cNvPr id="5" name="Matching note"/>
          <p:cNvSpPr txBox="1"/>
          <p:nvPr/>
        </p:nvSpPr>
        <p:spPr>
          <a:xfrm>
            <a:off x="502920" y="4626864"/>
            <a:ext cx="8138160" cy="182880"/>
          </a:xfrm>
          <a:prstGeom prst="rect">
            <a:avLst/>
          </a:prstGeom>
          <a:noFill/>
          <a:ln/>
        </p:spPr>
        <p:txBody>
          <a:bodyPr wrap="square" lIns="0" tIns="0" rIns="0" bIns="0" rtlCol="0" anchor="ctr"/>
          <a:lstStyle/>
          <a:p>
            <a:pPr indent="0" marL="0">
              <a:buNone/>
            </a:pPr>
            <a:r>
              <a:rPr lang="en-US" sz="900" i="1" dirty="0">
                <a:solidFill>
                  <a:schemeClr val="accent4"/>
                </a:solidFill>
                <a:latin typeface="Calibri" pitchFamily="34" charset="0"/>
                <a:ea typeface="Calibri" pitchFamily="34" charset="-122"/>
                <a:cs typeface="Calibri" pitchFamily="34" charset="-120"/>
              </a:rPr>
              <a:t>Matches are exact. Part numbers are compared after trimming spaces and ignoring case. There is no fuzzy matching.</a:t>
            </a:r>
            <a:endParaRPr lang="en-US" sz="900" dirty="0"/>
          </a:p>
        </p:txBody>
      </p:sp>
      <p:sp>
        <p:nvSpPr>
          <p:cNvPr id="25" name="Slide Number Placeholder 0"/>
          <p:cNvSpPr>
            <a:spLocks noGrp="1"/>
          </p:cNvSpPr>
          <p:nvPr>
            <p:ph type="sldNum" sz="quarter" idx="4294967295"/>
          </p:nvPr>
        </p:nvSpPr>
        <p:spPr>
          <a:xfrm>
            <a:off x="8321040" y="4837176"/>
            <a:ext cx="320040" cy="228600"/>
          </a:xfrm>
          <a:prstGeom prst="rect">
            <a:avLst/>
          </a:prstGeom>
          <a:extLst>
            <a:ext uri="{C572A759-6A51-4108-AA02-DFA0A04FC94B}">
              <ma14:wrappingTextBoxFlag xmlns:ma14="http://schemas.microsoft.com/office/mac/drawingml/2011/main" val="0"/>
            </a:ext>
          </a:extLst>
        </p:spPr>
        <p:txBody>
          <a:bodyPr/>
          <a:lstStyle>
            <a:lvl1pPr>
              <a:defRPr sz="85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Comparator">
  <a:themeElements>
    <a:clrScheme name="Comparator">
      <a:dk1>
        <a:srgbClr val="1B2430"/>
      </a:dk1>
      <a:lt1>
        <a:srgbClr val="FFFFFF"/>
      </a:lt1>
      <a:dk2>
        <a:srgbClr val="13294B"/>
      </a:dk2>
      <a:lt2>
        <a:srgbClr val="EEF3FA"/>
      </a:lt2>
      <a:accent1>
        <a:srgbClr val="1C7C74"/>
      </a:accent1>
      <a:accent2>
        <a:srgbClr val="E8A33D"/>
      </a:accent2>
      <a:accent3>
        <a:srgbClr val="6B4E9B"/>
      </a:accent3>
      <a:accent4>
        <a:srgbClr val="5B6B80"/>
      </a:accent4>
      <a:accent5>
        <a:srgbClr val="C9D8EE"/>
      </a:accent5>
      <a:accent6>
        <a:srgbClr val="F7F9FC"/>
      </a:accent6>
      <a:hlink>
        <a:srgbClr val="1C7C74"/>
      </a:hlink>
      <a:folHlink>
        <a:srgbClr val="6B4E9B"/>
      </a:folHlink>
    </a:clrScheme>
    <a:fontScheme name="Compar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Comparator Data Alignment</dc:title>
  <dc:subject>PptxGenJS Presentation</dc:subject>
  <dc:creator>PptxGenJS</dc:creator>
  <cp:lastModifiedBy>PptxGenJS</cp:lastModifiedBy>
  <cp:revision>1</cp:revision>
  <dcterms:created xsi:type="dcterms:W3CDTF">2026-10-02T02:57:02Z</dcterms:created>
  <dcterms:modified xsi:type="dcterms:W3CDTF">2026-10-02T02:57:02Z</dcterms:modified>
</cp:coreProperties>
</file>