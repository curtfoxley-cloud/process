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A4E"/>
        </a:solidFill>
      </p:bgPr>
    </p:bg>
    <p:spTree>
      <p:nvGrpSpPr>
        <p:cNvPr id="1" name=""/>
        <p:cNvGrpSpPr/>
        <p:nvPr/>
      </p:nvGrpSpPr>
      <p:grpSpPr>
        <a:xfrm>
          <a:off x="0" y="0"/>
          <a:ext cx="0" cy="0"/>
          <a:chOff x="0" y="0"/>
          <a:chExt cx="0" cy="0"/>
        </a:xfrm>
      </p:grpSpPr>
      <p:sp>
        <p:nvSpPr>
          <p:cNvPr id="2" name="Shape 0"/>
          <p:cNvSpPr/>
          <p:nvPr/>
        </p:nvSpPr>
        <p:spPr>
          <a:xfrm>
            <a:off x="8138160" y="-914400"/>
            <a:ext cx="6035040" cy="5029200"/>
          </a:xfrm>
          <a:prstGeom prst="roundRect">
            <a:avLst>
              <a:gd name="adj" fmla="val 364"/>
            </a:avLst>
          </a:prstGeom>
          <a:solidFill>
            <a:srgbClr val="1B3866"/>
          </a:solidFill>
          <a:ln w="12700">
            <a:solidFill>
              <a:srgbClr val="1B3866"/>
            </a:solidFill>
            <a:prstDash val="solid"/>
          </a:ln>
        </p:spPr>
      </p:sp>
      <p:sp>
        <p:nvSpPr>
          <p:cNvPr id="3" name="Shape 1"/>
          <p:cNvSpPr/>
          <p:nvPr/>
        </p:nvSpPr>
        <p:spPr>
          <a:xfrm>
            <a:off x="9601200" y="4279392"/>
            <a:ext cx="4572000" cy="3566160"/>
          </a:xfrm>
          <a:prstGeom prst="roundRect">
            <a:avLst>
              <a:gd name="adj" fmla="val 513"/>
            </a:avLst>
          </a:prstGeom>
          <a:solidFill>
            <a:srgbClr val="0E2545"/>
          </a:solidFill>
          <a:ln w="12700">
            <a:solidFill>
              <a:srgbClr val="0E2545"/>
            </a:solidFill>
            <a:prstDash val="solid"/>
          </a:ln>
        </p:spPr>
      </p:sp>
      <p:sp>
        <p:nvSpPr>
          <p:cNvPr id="4" name="Shape 2"/>
          <p:cNvSpPr/>
          <p:nvPr/>
        </p:nvSpPr>
        <p:spPr>
          <a:xfrm>
            <a:off x="8138160" y="4279392"/>
            <a:ext cx="1280160" cy="1280160"/>
          </a:xfrm>
          <a:prstGeom prst="roundRect">
            <a:avLst>
              <a:gd name="adj" fmla="val 1429"/>
            </a:avLst>
          </a:prstGeom>
          <a:solidFill>
            <a:srgbClr val="B4530C"/>
          </a:solidFill>
          <a:ln w="12700">
            <a:solidFill>
              <a:srgbClr val="B4530C"/>
            </a:solidFill>
            <a:prstDash val="solid"/>
          </a:ln>
        </p:spPr>
      </p:sp>
      <p:sp>
        <p:nvSpPr>
          <p:cNvPr id="5" name="Text 3"/>
          <p:cNvSpPr/>
          <p:nvPr/>
        </p:nvSpPr>
        <p:spPr>
          <a:xfrm>
            <a:off x="548640" y="1463040"/>
            <a:ext cx="7040880" cy="274320"/>
          </a:xfrm>
          <a:prstGeom prst="rect">
            <a:avLst/>
          </a:prstGeom>
          <a:noFill/>
          <a:ln/>
        </p:spPr>
        <p:txBody>
          <a:bodyPr wrap="square" lIns="0" tIns="0" rIns="0" bIns="0" rtlCol="0" anchor="ctr"/>
          <a:lstStyle/>
          <a:p>
            <a:pPr indent="0" marL="0">
              <a:buNone/>
            </a:pPr>
            <a:r>
              <a:rPr lang="en-US" sz="1100" b="1" spc="160" kern="0" dirty="0">
                <a:solidFill>
                  <a:srgbClr val="F0B37E"/>
                </a:solidFill>
                <a:latin typeface="Calibri" pitchFamily="34" charset="0"/>
                <a:ea typeface="Calibri" pitchFamily="34" charset="-122"/>
                <a:cs typeface="Calibri" pitchFamily="34" charset="-120"/>
              </a:rPr>
              <a:t>SAFETY MANAGEMENT  ·  CONFIGURATION MANAGEMENT</a:t>
            </a:r>
            <a:endParaRPr lang="en-US" sz="1100" dirty="0"/>
          </a:p>
        </p:txBody>
      </p:sp>
      <p:sp>
        <p:nvSpPr>
          <p:cNvPr id="6" name="Text 4"/>
          <p:cNvSpPr/>
          <p:nvPr/>
        </p:nvSpPr>
        <p:spPr>
          <a:xfrm>
            <a:off x="548640" y="1874520"/>
            <a:ext cx="7040880" cy="1737360"/>
          </a:xfrm>
          <a:prstGeom prst="rect">
            <a:avLst/>
          </a:prstGeom>
          <a:noFill/>
          <a:ln/>
        </p:spPr>
        <p:txBody>
          <a:bodyPr wrap="square" lIns="0" tIns="0" rIns="0" bIns="0" rtlCol="0" anchor="ctr"/>
          <a:lstStyle/>
          <a:p>
            <a:pPr indent="0" marL="0">
              <a:lnSpc>
                <a:spcPts val="4000"/>
              </a:lnSpc>
              <a:buNone/>
            </a:pPr>
            <a:r>
              <a:rPr lang="en-US" sz="3300" b="1" dirty="0">
                <a:solidFill>
                  <a:srgbClr val="FFFFFF"/>
                </a:solidFill>
                <a:latin typeface="Cambria" pitchFamily="34" charset="0"/>
                <a:ea typeface="Cambria" pitchFamily="34" charset="-122"/>
                <a:cs typeface="Cambria" pitchFamily="34" charset="-120"/>
              </a:rPr>
              <a:t>Inherited Assumptions: A Gap Between Our Safety and Configuration Systems</a:t>
            </a:r>
            <a:endParaRPr lang="en-US" sz="3300" dirty="0"/>
          </a:p>
        </p:txBody>
      </p:sp>
      <p:sp>
        <p:nvSpPr>
          <p:cNvPr id="7" name="Text 5"/>
          <p:cNvSpPr/>
          <p:nvPr/>
        </p:nvSpPr>
        <p:spPr>
          <a:xfrm>
            <a:off x="548640" y="3840480"/>
            <a:ext cx="6858000" cy="1097280"/>
          </a:xfrm>
          <a:prstGeom prst="rect">
            <a:avLst/>
          </a:prstGeom>
          <a:noFill/>
          <a:ln/>
        </p:spPr>
        <p:txBody>
          <a:bodyPr wrap="square" lIns="0" tIns="0" rIns="0" bIns="0" rtlCol="0" anchor="ctr"/>
          <a:lstStyle/>
          <a:p>
            <a:pPr indent="0" marL="0">
              <a:lnSpc>
                <a:spcPts val="2200"/>
              </a:lnSpc>
              <a:buNone/>
            </a:pPr>
            <a:r>
              <a:rPr lang="en-US" sz="1400" dirty="0">
                <a:solidFill>
                  <a:srgbClr val="C9D6EC"/>
                </a:solidFill>
                <a:latin typeface="Calibri" pitchFamily="34" charset="0"/>
                <a:ea typeface="Calibri" pitchFamily="34" charset="-122"/>
                <a:cs typeface="Calibri" pitchFamily="34" charset="-120"/>
              </a:rPr>
              <a:t>Programs reuse ground rules and assumptions from earlier programs when the hardware looks similar. The conditions those assumptions depended on do not come with them, and nothing in our current process notices when they change.</a:t>
            </a:r>
            <a:endParaRPr lang="en-US" sz="1400" dirty="0"/>
          </a:p>
        </p:txBody>
      </p:sp>
      <p:sp>
        <p:nvSpPr>
          <p:cNvPr id="8" name="Text 6"/>
          <p:cNvSpPr/>
          <p:nvPr/>
        </p:nvSpPr>
        <p:spPr>
          <a:xfrm>
            <a:off x="548640" y="5212080"/>
            <a:ext cx="6858000" cy="457200"/>
          </a:xfrm>
          <a:prstGeom prst="rect">
            <a:avLst/>
          </a:prstGeom>
          <a:noFill/>
          <a:ln/>
        </p:spPr>
        <p:txBody>
          <a:bodyPr wrap="square" lIns="0" tIns="0" rIns="0" bIns="0" rtlCol="0" anchor="ctr"/>
          <a:lstStyle/>
          <a:p>
            <a:pPr indent="0" marL="0">
              <a:lnSpc>
                <a:spcPts val="1700"/>
              </a:lnSpc>
              <a:buNone/>
            </a:pPr>
            <a:r>
              <a:rPr lang="en-US" sz="1200" i="1" dirty="0">
                <a:solidFill>
                  <a:srgbClr val="9DB2D4"/>
                </a:solidFill>
                <a:latin typeface="Calibri" pitchFamily="34" charset="0"/>
                <a:ea typeface="Calibri" pitchFamily="34" charset="-122"/>
                <a:cs typeface="Calibri" pitchFamily="34" charset="-120"/>
              </a:rPr>
              <a:t>Five decisions requested. Configuration management terms are explained on slide 8, glossary at the back.</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292608"/>
            <a:ext cx="11064240" cy="237744"/>
          </a:xfrm>
          <a:prstGeom prst="rect">
            <a:avLst/>
          </a:prstGeom>
          <a:noFill/>
          <a:ln/>
        </p:spPr>
        <p:txBody>
          <a:bodyPr wrap="square" lIns="0" tIns="0" rIns="0" bIns="0" rtlCol="0" anchor="ctr"/>
          <a:lstStyle/>
          <a:p>
            <a:pPr indent="0" marL="0">
              <a:buNone/>
            </a:pPr>
            <a:r>
              <a:rPr lang="en-US" sz="1050" b="1" spc="160" kern="0" dirty="0">
                <a:solidFill>
                  <a:srgbClr val="B4530C"/>
                </a:solidFill>
                <a:latin typeface="Calibri" pitchFamily="34" charset="0"/>
                <a:ea typeface="Calibri" pitchFamily="34" charset="-122"/>
                <a:cs typeface="Calibri" pitchFamily="34" charset="-120"/>
              </a:rPr>
              <a:t>EXECUTIVE SUMMARY</a:t>
            </a:r>
            <a:endParaRPr lang="en-US" sz="1050" dirty="0"/>
          </a:p>
        </p:txBody>
      </p:sp>
      <p:sp>
        <p:nvSpPr>
          <p:cNvPr id="3" name="Text 1"/>
          <p:cNvSpPr/>
          <p:nvPr/>
        </p:nvSpPr>
        <p:spPr>
          <a:xfrm>
            <a:off x="548640" y="548640"/>
            <a:ext cx="11064240" cy="658368"/>
          </a:xfrm>
          <a:prstGeom prst="rect">
            <a:avLst/>
          </a:prstGeom>
          <a:noFill/>
          <a:ln/>
        </p:spPr>
        <p:txBody>
          <a:bodyPr wrap="square" lIns="0" tIns="0" rIns="0" bIns="0" rtlCol="0" anchor="t"/>
          <a:lstStyle/>
          <a:p>
            <a:pPr indent="0" marL="0">
              <a:buNone/>
            </a:pPr>
            <a:r>
              <a:rPr lang="en-US" sz="2900" b="1" dirty="0">
                <a:solidFill>
                  <a:srgbClr val="132A4E"/>
                </a:solidFill>
                <a:latin typeface="Cambria" pitchFamily="34" charset="0"/>
                <a:ea typeface="Cambria" pitchFamily="34" charset="-122"/>
                <a:cs typeface="Cambria" pitchFamily="34" charset="-120"/>
              </a:rPr>
              <a:t>The argument on one page</a:t>
            </a:r>
            <a:endParaRPr lang="en-US" sz="2900" dirty="0"/>
          </a:p>
        </p:txBody>
      </p:sp>
      <p:sp>
        <p:nvSpPr>
          <p:cNvPr id="4" name="Shape 2"/>
          <p:cNvSpPr/>
          <p:nvPr/>
        </p:nvSpPr>
        <p:spPr>
          <a:xfrm>
            <a:off x="548640" y="1243584"/>
            <a:ext cx="5394960" cy="1371600"/>
          </a:xfrm>
          <a:prstGeom prst="roundRect">
            <a:avLst>
              <a:gd name="adj" fmla="val 3333"/>
            </a:avLst>
          </a:prstGeom>
          <a:solidFill>
            <a:srgbClr val="E9EEF7"/>
          </a:solidFill>
          <a:ln w="12700">
            <a:solidFill>
              <a:srgbClr val="D3DEEF"/>
            </a:solidFill>
            <a:prstDash val="solid"/>
          </a:ln>
        </p:spPr>
      </p:sp>
      <p:sp>
        <p:nvSpPr>
          <p:cNvPr id="5" name="Text 3"/>
          <p:cNvSpPr/>
          <p:nvPr/>
        </p:nvSpPr>
        <p:spPr>
          <a:xfrm>
            <a:off x="786384" y="1389888"/>
            <a:ext cx="4937760" cy="329184"/>
          </a:xfrm>
          <a:prstGeom prst="rect">
            <a:avLst/>
          </a:prstGeom>
          <a:noFill/>
          <a:ln/>
        </p:spPr>
        <p:txBody>
          <a:bodyPr wrap="square" lIns="0" tIns="0" rIns="0" bIns="0" rtlCol="0" anchor="ctr"/>
          <a:lstStyle/>
          <a:p>
            <a:pPr indent="0" marL="0">
              <a:buNone/>
            </a:pPr>
            <a:r>
              <a:rPr lang="en-US" sz="1300" b="1" dirty="0">
                <a:solidFill>
                  <a:srgbClr val="132A4E"/>
                </a:solidFill>
                <a:latin typeface="Calibri" pitchFamily="34" charset="0"/>
                <a:ea typeface="Calibri" pitchFamily="34" charset="-122"/>
                <a:cs typeface="Calibri" pitchFamily="34" charset="-120"/>
              </a:rPr>
              <a:t>1.  What we do today</a:t>
            </a:r>
            <a:endParaRPr lang="en-US" sz="1300" dirty="0"/>
          </a:p>
        </p:txBody>
      </p:sp>
      <p:sp>
        <p:nvSpPr>
          <p:cNvPr id="6" name="Text 4"/>
          <p:cNvSpPr/>
          <p:nvPr/>
        </p:nvSpPr>
        <p:spPr>
          <a:xfrm>
            <a:off x="786384" y="1755648"/>
            <a:ext cx="4956048" cy="731520"/>
          </a:xfrm>
          <a:prstGeom prst="rect">
            <a:avLst/>
          </a:prstGeom>
          <a:noFill/>
          <a:ln/>
        </p:spPr>
        <p:txBody>
          <a:bodyPr wrap="square" lIns="0" tIns="0" rIns="0" bIns="0" rtlCol="0" anchor="t"/>
          <a:lstStyle/>
          <a:p>
            <a:pPr indent="0" marL="0">
              <a:lnSpc>
                <a:spcPts val="1700"/>
              </a:lnSpc>
              <a:buNone/>
            </a:pPr>
            <a:r>
              <a:rPr lang="en-US" sz="1200" dirty="0">
                <a:solidFill>
                  <a:srgbClr val="1A2333"/>
                </a:solidFill>
                <a:latin typeface="Calibri" pitchFamily="34" charset="0"/>
                <a:ea typeface="Calibri" pitchFamily="34" charset="-122"/>
                <a:cs typeface="Calibri" pitchFamily="34" charset="-120"/>
              </a:rPr>
              <a:t>A new program reusing hardware from an earlier program also reuses that program's assumptions. The sentence is copied. The conditions that made it true are not.</a:t>
            </a:r>
            <a:endParaRPr lang="en-US" sz="1200" dirty="0"/>
          </a:p>
        </p:txBody>
      </p:sp>
      <p:sp>
        <p:nvSpPr>
          <p:cNvPr id="7" name="Shape 5"/>
          <p:cNvSpPr/>
          <p:nvPr/>
        </p:nvSpPr>
        <p:spPr>
          <a:xfrm>
            <a:off x="6245352" y="1243584"/>
            <a:ext cx="5394960" cy="1371600"/>
          </a:xfrm>
          <a:prstGeom prst="roundRect">
            <a:avLst>
              <a:gd name="adj" fmla="val 3333"/>
            </a:avLst>
          </a:prstGeom>
          <a:solidFill>
            <a:srgbClr val="FFFFFF"/>
          </a:solidFill>
          <a:ln w="12700">
            <a:solidFill>
              <a:srgbClr val="D3DEEF"/>
            </a:solidFill>
            <a:prstDash val="solid"/>
          </a:ln>
        </p:spPr>
      </p:sp>
      <p:sp>
        <p:nvSpPr>
          <p:cNvPr id="8" name="Text 6"/>
          <p:cNvSpPr/>
          <p:nvPr/>
        </p:nvSpPr>
        <p:spPr>
          <a:xfrm>
            <a:off x="6483096" y="1389888"/>
            <a:ext cx="4937760" cy="329184"/>
          </a:xfrm>
          <a:prstGeom prst="rect">
            <a:avLst/>
          </a:prstGeom>
          <a:noFill/>
          <a:ln/>
        </p:spPr>
        <p:txBody>
          <a:bodyPr wrap="square" lIns="0" tIns="0" rIns="0" bIns="0" rtlCol="0" anchor="ctr"/>
          <a:lstStyle/>
          <a:p>
            <a:pPr indent="0" marL="0">
              <a:buNone/>
            </a:pPr>
            <a:r>
              <a:rPr lang="en-US" sz="1300" b="1" dirty="0">
                <a:solidFill>
                  <a:srgbClr val="132A4E"/>
                </a:solidFill>
                <a:latin typeface="Calibri" pitchFamily="34" charset="0"/>
                <a:ea typeface="Calibri" pitchFamily="34" charset="-122"/>
                <a:cs typeface="Calibri" pitchFamily="34" charset="-120"/>
              </a:rPr>
              <a:t>2.  Why that is a safety problem</a:t>
            </a:r>
            <a:endParaRPr lang="en-US" sz="1300" dirty="0"/>
          </a:p>
        </p:txBody>
      </p:sp>
      <p:sp>
        <p:nvSpPr>
          <p:cNvPr id="9" name="Text 7"/>
          <p:cNvSpPr/>
          <p:nvPr/>
        </p:nvSpPr>
        <p:spPr>
          <a:xfrm>
            <a:off x="6483096" y="1755648"/>
            <a:ext cx="4956048" cy="731520"/>
          </a:xfrm>
          <a:prstGeom prst="rect">
            <a:avLst/>
          </a:prstGeom>
          <a:noFill/>
          <a:ln/>
        </p:spPr>
        <p:txBody>
          <a:bodyPr wrap="square" lIns="0" tIns="0" rIns="0" bIns="0" rtlCol="0" anchor="t"/>
          <a:lstStyle/>
          <a:p>
            <a:pPr indent="0" marL="0">
              <a:lnSpc>
                <a:spcPts val="1700"/>
              </a:lnSpc>
              <a:buNone/>
            </a:pPr>
            <a:r>
              <a:rPr lang="en-US" sz="1200" dirty="0">
                <a:solidFill>
                  <a:srgbClr val="1A2333"/>
                </a:solidFill>
                <a:latin typeface="Calibri" pitchFamily="34" charset="0"/>
                <a:ea typeface="Calibri" pitchFamily="34" charset="-122"/>
                <a:cs typeface="Calibri" pitchFamily="34" charset="-120"/>
              </a:rPr>
              <a:t>An assumption is a promise that a risk is acceptable so long as certain things stay true. Without the conditions written down, nobody can tell when it has stopped being true.</a:t>
            </a:r>
            <a:endParaRPr lang="en-US" sz="1200" dirty="0"/>
          </a:p>
        </p:txBody>
      </p:sp>
      <p:sp>
        <p:nvSpPr>
          <p:cNvPr id="10" name="Shape 8"/>
          <p:cNvSpPr/>
          <p:nvPr/>
        </p:nvSpPr>
        <p:spPr>
          <a:xfrm>
            <a:off x="548640" y="2798064"/>
            <a:ext cx="5394960" cy="1371600"/>
          </a:xfrm>
          <a:prstGeom prst="roundRect">
            <a:avLst>
              <a:gd name="adj" fmla="val 3333"/>
            </a:avLst>
          </a:prstGeom>
          <a:solidFill>
            <a:srgbClr val="E9EEF7"/>
          </a:solidFill>
          <a:ln w="12700">
            <a:solidFill>
              <a:srgbClr val="D3DEEF"/>
            </a:solidFill>
            <a:prstDash val="solid"/>
          </a:ln>
        </p:spPr>
      </p:sp>
      <p:sp>
        <p:nvSpPr>
          <p:cNvPr id="11" name="Text 9"/>
          <p:cNvSpPr/>
          <p:nvPr/>
        </p:nvSpPr>
        <p:spPr>
          <a:xfrm>
            <a:off x="786384" y="2944368"/>
            <a:ext cx="4937760" cy="329184"/>
          </a:xfrm>
          <a:prstGeom prst="rect">
            <a:avLst/>
          </a:prstGeom>
          <a:noFill/>
          <a:ln/>
        </p:spPr>
        <p:txBody>
          <a:bodyPr wrap="square" lIns="0" tIns="0" rIns="0" bIns="0" rtlCol="0" anchor="ctr"/>
          <a:lstStyle/>
          <a:p>
            <a:pPr indent="0" marL="0">
              <a:buNone/>
            </a:pPr>
            <a:r>
              <a:rPr lang="en-US" sz="1300" b="1" dirty="0">
                <a:solidFill>
                  <a:srgbClr val="132A4E"/>
                </a:solidFill>
                <a:latin typeface="Calibri" pitchFamily="34" charset="0"/>
                <a:ea typeface="Calibri" pitchFamily="34" charset="-122"/>
                <a:cs typeface="Calibri" pitchFamily="34" charset="-120"/>
              </a:rPr>
              <a:t>3.  Why programs do it anyway</a:t>
            </a:r>
            <a:endParaRPr lang="en-US" sz="1300" dirty="0"/>
          </a:p>
        </p:txBody>
      </p:sp>
      <p:sp>
        <p:nvSpPr>
          <p:cNvPr id="12" name="Text 10"/>
          <p:cNvSpPr/>
          <p:nvPr/>
        </p:nvSpPr>
        <p:spPr>
          <a:xfrm>
            <a:off x="786384" y="3310128"/>
            <a:ext cx="4956048" cy="731520"/>
          </a:xfrm>
          <a:prstGeom prst="rect">
            <a:avLst/>
          </a:prstGeom>
          <a:noFill/>
          <a:ln/>
        </p:spPr>
        <p:txBody>
          <a:bodyPr wrap="square" lIns="0" tIns="0" rIns="0" bIns="0" rtlCol="0" anchor="t"/>
          <a:lstStyle/>
          <a:p>
            <a:pPr indent="0" marL="0">
              <a:lnSpc>
                <a:spcPts val="1700"/>
              </a:lnSpc>
              <a:buNone/>
            </a:pPr>
            <a:r>
              <a:rPr lang="en-US" sz="1200" dirty="0">
                <a:solidFill>
                  <a:srgbClr val="1A2333"/>
                </a:solidFill>
                <a:latin typeface="Calibri" pitchFamily="34" charset="0"/>
                <a:ea typeface="Calibri" pitchFamily="34" charset="-122"/>
                <a:cs typeface="Calibri" pitchFamily="34" charset="-120"/>
              </a:rPr>
              <a:t>Rebuilding assumptions costs senior engineering time in the most schedule-compressed phase. The cost is immediate and visible; the risk is deferred and invisible.</a:t>
            </a:r>
            <a:endParaRPr lang="en-US" sz="1200" dirty="0"/>
          </a:p>
        </p:txBody>
      </p:sp>
      <p:sp>
        <p:nvSpPr>
          <p:cNvPr id="13" name="Shape 11"/>
          <p:cNvSpPr/>
          <p:nvPr/>
        </p:nvSpPr>
        <p:spPr>
          <a:xfrm>
            <a:off x="6245352" y="2798064"/>
            <a:ext cx="5394960" cy="1371600"/>
          </a:xfrm>
          <a:prstGeom prst="roundRect">
            <a:avLst>
              <a:gd name="adj" fmla="val 3333"/>
            </a:avLst>
          </a:prstGeom>
          <a:solidFill>
            <a:srgbClr val="FFFFFF"/>
          </a:solidFill>
          <a:ln w="12700">
            <a:solidFill>
              <a:srgbClr val="D3DEEF"/>
            </a:solidFill>
            <a:prstDash val="solid"/>
          </a:ln>
        </p:spPr>
      </p:sp>
      <p:sp>
        <p:nvSpPr>
          <p:cNvPr id="14" name="Text 12"/>
          <p:cNvSpPr/>
          <p:nvPr/>
        </p:nvSpPr>
        <p:spPr>
          <a:xfrm>
            <a:off x="6483096" y="2944368"/>
            <a:ext cx="4937760" cy="329184"/>
          </a:xfrm>
          <a:prstGeom prst="rect">
            <a:avLst/>
          </a:prstGeom>
          <a:noFill/>
          <a:ln/>
        </p:spPr>
        <p:txBody>
          <a:bodyPr wrap="square" lIns="0" tIns="0" rIns="0" bIns="0" rtlCol="0" anchor="ctr"/>
          <a:lstStyle/>
          <a:p>
            <a:pPr indent="0" marL="0">
              <a:buNone/>
            </a:pPr>
            <a:r>
              <a:rPr lang="en-US" sz="1300" b="1" dirty="0">
                <a:solidFill>
                  <a:srgbClr val="132A4E"/>
                </a:solidFill>
                <a:latin typeface="Calibri" pitchFamily="34" charset="0"/>
                <a:ea typeface="Calibri" pitchFamily="34" charset="-122"/>
                <a:cs typeface="Calibri" pitchFamily="34" charset="-120"/>
              </a:rPr>
              <a:t>4.  Where it shows up as exposure</a:t>
            </a:r>
            <a:endParaRPr lang="en-US" sz="1300" dirty="0"/>
          </a:p>
        </p:txBody>
      </p:sp>
      <p:sp>
        <p:nvSpPr>
          <p:cNvPr id="15" name="Text 13"/>
          <p:cNvSpPr/>
          <p:nvPr/>
        </p:nvSpPr>
        <p:spPr>
          <a:xfrm>
            <a:off x="6483096" y="3310128"/>
            <a:ext cx="4956048" cy="731520"/>
          </a:xfrm>
          <a:prstGeom prst="rect">
            <a:avLst/>
          </a:prstGeom>
          <a:noFill/>
          <a:ln/>
        </p:spPr>
        <p:txBody>
          <a:bodyPr wrap="square" lIns="0" tIns="0" rIns="0" bIns="0" rtlCol="0" anchor="t"/>
          <a:lstStyle/>
          <a:p>
            <a:pPr indent="0" marL="0">
              <a:lnSpc>
                <a:spcPts val="1700"/>
              </a:lnSpc>
              <a:buNone/>
            </a:pPr>
            <a:r>
              <a:rPr lang="en-US" sz="1200" dirty="0">
                <a:solidFill>
                  <a:srgbClr val="1A2333"/>
                </a:solidFill>
                <a:latin typeface="Calibri" pitchFamily="34" charset="0"/>
                <a:ea typeface="Calibri" pitchFamily="34" charset="-122"/>
                <a:cs typeface="Calibri" pitchFamily="34" charset="-120"/>
              </a:rPr>
              <a:t>SM-0001 requires a named person to accept residual risk. Inherited assumptions arrive with nobody named. That is a compliance gap, not just untidy engineering.</a:t>
            </a:r>
            <a:endParaRPr lang="en-US" sz="1200" dirty="0"/>
          </a:p>
        </p:txBody>
      </p:sp>
      <p:sp>
        <p:nvSpPr>
          <p:cNvPr id="16" name="Shape 14"/>
          <p:cNvSpPr/>
          <p:nvPr/>
        </p:nvSpPr>
        <p:spPr>
          <a:xfrm>
            <a:off x="548640" y="4224528"/>
            <a:ext cx="11091672" cy="1234440"/>
          </a:xfrm>
          <a:prstGeom prst="roundRect">
            <a:avLst>
              <a:gd name="adj" fmla="val 3704"/>
            </a:avLst>
          </a:prstGeom>
          <a:solidFill>
            <a:srgbClr val="132A4E"/>
          </a:solidFill>
          <a:ln w="12700">
            <a:solidFill>
              <a:srgbClr val="132A4E"/>
            </a:solidFill>
            <a:prstDash val="solid"/>
          </a:ln>
        </p:spPr>
      </p:sp>
      <p:sp>
        <p:nvSpPr>
          <p:cNvPr id="17" name="Text 15"/>
          <p:cNvSpPr/>
          <p:nvPr/>
        </p:nvSpPr>
        <p:spPr>
          <a:xfrm>
            <a:off x="841248" y="4361688"/>
            <a:ext cx="10515600" cy="274320"/>
          </a:xfrm>
          <a:prstGeom prst="rect">
            <a:avLst/>
          </a:prstGeom>
          <a:noFill/>
          <a:ln/>
        </p:spPr>
        <p:txBody>
          <a:bodyPr wrap="square" lIns="0" tIns="0" rIns="0" bIns="0" rtlCol="0" anchor="ctr"/>
          <a:lstStyle/>
          <a:p>
            <a:pPr indent="0" marL="0">
              <a:buNone/>
            </a:pPr>
            <a:r>
              <a:rPr lang="en-US" sz="1200" b="1" dirty="0">
                <a:solidFill>
                  <a:srgbClr val="F0B37E"/>
                </a:solidFill>
                <a:latin typeface="Calibri" pitchFamily="34" charset="0"/>
                <a:ea typeface="Calibri" pitchFamily="34" charset="-122"/>
                <a:cs typeface="Calibri" pitchFamily="34" charset="-120"/>
              </a:rPr>
              <a:t>The proposal</a:t>
            </a:r>
            <a:endParaRPr lang="en-US" sz="1200" dirty="0"/>
          </a:p>
        </p:txBody>
      </p:sp>
      <p:sp>
        <p:nvSpPr>
          <p:cNvPr id="18" name="Text 16"/>
          <p:cNvSpPr/>
          <p:nvPr/>
        </p:nvSpPr>
        <p:spPr>
          <a:xfrm>
            <a:off x="841248" y="4663440"/>
            <a:ext cx="10515600" cy="667512"/>
          </a:xfrm>
          <a:prstGeom prst="rect">
            <a:avLst/>
          </a:prstGeom>
          <a:noFill/>
          <a:ln/>
        </p:spPr>
        <p:txBody>
          <a:bodyPr wrap="square" lIns="0" tIns="0" rIns="0" bIns="0" rtlCol="0" anchor="t"/>
          <a:lstStyle/>
          <a:p>
            <a:pPr indent="0" marL="0">
              <a:lnSpc>
                <a:spcPts val="1900"/>
              </a:lnSpc>
              <a:buNone/>
            </a:pPr>
            <a:r>
              <a:rPr lang="en-US" sz="1300" dirty="0">
                <a:solidFill>
                  <a:srgbClr val="FFFFFF"/>
                </a:solidFill>
                <a:latin typeface="Calibri" pitchFamily="34" charset="0"/>
                <a:ea typeface="Calibri" pitchFamily="34" charset="-122"/>
                <a:cs typeface="Calibri" pitchFamily="34" charset="-120"/>
              </a:rPr>
              <a:t>Configuration management already tracks which engineering documents change and what depends on them. If assumptions point at those documents, a hardware change automatically raises the question of whether the assumption still holds. Today nothing raises that question. We are proposing to connect two systems we already run, not to build a third.</a:t>
            </a:r>
            <a:endParaRPr lang="en-US" sz="1300" dirty="0"/>
          </a:p>
        </p:txBody>
      </p:sp>
      <p:sp>
        <p:nvSpPr>
          <p:cNvPr id="19" name="Shape 17"/>
          <p:cNvSpPr/>
          <p:nvPr/>
        </p:nvSpPr>
        <p:spPr>
          <a:xfrm>
            <a:off x="548640" y="5669280"/>
            <a:ext cx="11091672" cy="749808"/>
          </a:xfrm>
          <a:prstGeom prst="roundRect">
            <a:avLst>
              <a:gd name="adj" fmla="val 6098"/>
            </a:avLst>
          </a:prstGeom>
          <a:solidFill>
            <a:srgbClr val="FBEBDC"/>
          </a:solidFill>
          <a:ln w="12700">
            <a:solidFill>
              <a:srgbClr val="ECC8AE"/>
            </a:solidFill>
            <a:prstDash val="solid"/>
          </a:ln>
        </p:spPr>
      </p:sp>
      <p:sp>
        <p:nvSpPr>
          <p:cNvPr id="20" name="Text 18"/>
          <p:cNvSpPr/>
          <p:nvPr/>
        </p:nvSpPr>
        <p:spPr>
          <a:xfrm>
            <a:off x="822960" y="5669280"/>
            <a:ext cx="10515600" cy="749808"/>
          </a:xfrm>
          <a:prstGeom prst="rect">
            <a:avLst/>
          </a:prstGeom>
          <a:noFill/>
          <a:ln/>
        </p:spPr>
        <p:txBody>
          <a:bodyPr wrap="square" lIns="0" tIns="0" rIns="0" bIns="0" rtlCol="0" anchor="ctr"/>
          <a:lstStyle/>
          <a:p>
            <a:pPr indent="0" marL="0">
              <a:buNone/>
            </a:pPr>
            <a:r>
              <a:rPr lang="en-US" sz="1350" b="1" dirty="0">
                <a:solidFill>
                  <a:srgbClr val="B4530C"/>
                </a:solidFill>
                <a:latin typeface="Calibri" pitchFamily="34" charset="0"/>
                <a:ea typeface="Calibri" pitchFamily="34" charset="-122"/>
                <a:cs typeface="Calibri" pitchFamily="34" charset="-120"/>
              </a:rPr>
              <a:t>We are not asking programs to slow down or stop reusing. We are asking that reuse leave a trace that can be checked later.</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292608"/>
            <a:ext cx="11064240" cy="237744"/>
          </a:xfrm>
          <a:prstGeom prst="rect">
            <a:avLst/>
          </a:prstGeom>
          <a:noFill/>
          <a:ln/>
        </p:spPr>
        <p:txBody>
          <a:bodyPr wrap="square" lIns="0" tIns="0" rIns="0" bIns="0" rtlCol="0" anchor="ctr"/>
          <a:lstStyle/>
          <a:p>
            <a:pPr indent="0" marL="0">
              <a:buNone/>
            </a:pPr>
            <a:r>
              <a:rPr lang="en-US" sz="1050" b="1" spc="160" kern="0" dirty="0">
                <a:solidFill>
                  <a:srgbClr val="B4530C"/>
                </a:solidFill>
                <a:latin typeface="Calibri" pitchFamily="34" charset="0"/>
                <a:ea typeface="Calibri" pitchFamily="34" charset="-122"/>
                <a:cs typeface="Calibri" pitchFamily="34" charset="-120"/>
              </a:rPr>
              <a:t>WHAT WE ARE TALKING ABOUT</a:t>
            </a:r>
            <a:endParaRPr lang="en-US" sz="1050" dirty="0"/>
          </a:p>
        </p:txBody>
      </p:sp>
      <p:sp>
        <p:nvSpPr>
          <p:cNvPr id="3" name="Text 1"/>
          <p:cNvSpPr/>
          <p:nvPr/>
        </p:nvSpPr>
        <p:spPr>
          <a:xfrm>
            <a:off x="548640" y="548640"/>
            <a:ext cx="11064240" cy="658368"/>
          </a:xfrm>
          <a:prstGeom prst="rect">
            <a:avLst/>
          </a:prstGeom>
          <a:noFill/>
          <a:ln/>
        </p:spPr>
        <p:txBody>
          <a:bodyPr wrap="square" lIns="0" tIns="0" rIns="0" bIns="0" rtlCol="0" anchor="t"/>
          <a:lstStyle/>
          <a:p>
            <a:pPr indent="0" marL="0">
              <a:buNone/>
            </a:pPr>
            <a:r>
              <a:rPr lang="en-US" sz="2900" b="1" dirty="0">
                <a:solidFill>
                  <a:srgbClr val="132A4E"/>
                </a:solidFill>
                <a:latin typeface="Cambria" pitchFamily="34" charset="0"/>
                <a:ea typeface="Cambria" pitchFamily="34" charset="-122"/>
                <a:cs typeface="Cambria" pitchFamily="34" charset="-120"/>
              </a:rPr>
              <a:t>An assumption is a conditional promise, not a fact</a:t>
            </a:r>
            <a:endParaRPr lang="en-US" sz="2900" dirty="0"/>
          </a:p>
        </p:txBody>
      </p:sp>
      <p:sp>
        <p:nvSpPr>
          <p:cNvPr id="4" name="Text 2"/>
          <p:cNvSpPr/>
          <p:nvPr/>
        </p:nvSpPr>
        <p:spPr>
          <a:xfrm>
            <a:off x="548640" y="1261872"/>
            <a:ext cx="11064240" cy="457200"/>
          </a:xfrm>
          <a:prstGeom prst="rect">
            <a:avLst/>
          </a:prstGeom>
          <a:noFill/>
          <a:ln/>
        </p:spPr>
        <p:txBody>
          <a:bodyPr wrap="square" lIns="0" tIns="0" rIns="0" bIns="0" rtlCol="0" anchor="t"/>
          <a:lstStyle/>
          <a:p>
            <a:pPr indent="0" marL="0">
              <a:lnSpc>
                <a:spcPts val="2000"/>
              </a:lnSpc>
              <a:buNone/>
            </a:pPr>
            <a:r>
              <a:rPr lang="en-US" sz="1400" dirty="0">
                <a:solidFill>
                  <a:srgbClr val="1A2333"/>
                </a:solidFill>
                <a:latin typeface="Calibri" pitchFamily="34" charset="0"/>
                <a:ea typeface="Calibri" pitchFamily="34" charset="-122"/>
                <a:cs typeface="Calibri" pitchFamily="34" charset="-120"/>
              </a:rPr>
              <a:t>In safety work an assumption is what lets an analysis stop somewhere. It says a hazard needs no further treatment because something else is taking care of it.</a:t>
            </a:r>
            <a:endParaRPr lang="en-US" sz="1400" dirty="0"/>
          </a:p>
        </p:txBody>
      </p:sp>
      <p:sp>
        <p:nvSpPr>
          <p:cNvPr id="5" name="Shape 3"/>
          <p:cNvSpPr/>
          <p:nvPr/>
        </p:nvSpPr>
        <p:spPr>
          <a:xfrm>
            <a:off x="548640" y="1828800"/>
            <a:ext cx="11091672" cy="1298448"/>
          </a:xfrm>
          <a:prstGeom prst="roundRect">
            <a:avLst>
              <a:gd name="adj" fmla="val 3521"/>
            </a:avLst>
          </a:prstGeom>
          <a:solidFill>
            <a:srgbClr val="FBEBDC"/>
          </a:solidFill>
          <a:ln w="12700">
            <a:solidFill>
              <a:srgbClr val="ECC8AE"/>
            </a:solidFill>
            <a:prstDash val="solid"/>
          </a:ln>
        </p:spPr>
      </p:sp>
      <p:sp>
        <p:nvSpPr>
          <p:cNvPr id="6" name="Text 4"/>
          <p:cNvSpPr/>
          <p:nvPr/>
        </p:nvSpPr>
        <p:spPr>
          <a:xfrm>
            <a:off x="859536" y="1828800"/>
            <a:ext cx="10469880" cy="1298448"/>
          </a:xfrm>
          <a:prstGeom prst="rect">
            <a:avLst/>
          </a:prstGeom>
          <a:noFill/>
          <a:ln/>
        </p:spPr>
        <p:txBody>
          <a:bodyPr wrap="square" lIns="0" tIns="0" rIns="0" bIns="0" rtlCol="0" anchor="ctr"/>
          <a:lstStyle/>
          <a:p>
            <a:pPr indent="0" marL="0">
              <a:lnSpc>
                <a:spcPts val="2400"/>
              </a:lnSpc>
              <a:buNone/>
            </a:pPr>
            <a:r>
              <a:rPr lang="en-US" sz="1550" i="1" dirty="0">
                <a:solidFill>
                  <a:srgbClr val="1A2333"/>
                </a:solidFill>
                <a:latin typeface="Cambria" pitchFamily="34" charset="0"/>
                <a:ea typeface="Cambria" pitchFamily="34" charset="-122"/>
                <a:cs typeface="Cambria" pitchFamily="34" charset="-120"/>
              </a:rPr>
              <a:t>"This hazard is acceptable without additional design mitigation, PROVIDED that the crew is alerted within one flight, the line is inspected every 400 flight hours, and the unit sits outside the icing-exposed bay."</a:t>
            </a:r>
            <a:endParaRPr lang="en-US" sz="1550" dirty="0"/>
          </a:p>
        </p:txBody>
      </p:sp>
      <p:sp>
        <p:nvSpPr>
          <p:cNvPr id="7" name="Shape 5"/>
          <p:cNvSpPr/>
          <p:nvPr/>
        </p:nvSpPr>
        <p:spPr>
          <a:xfrm>
            <a:off x="548640" y="3364992"/>
            <a:ext cx="3520440" cy="1463040"/>
          </a:xfrm>
          <a:prstGeom prst="roundRect">
            <a:avLst>
              <a:gd name="adj" fmla="val 3125"/>
            </a:avLst>
          </a:prstGeom>
          <a:solidFill>
            <a:srgbClr val="E9EEF7"/>
          </a:solidFill>
          <a:ln w="12700">
            <a:solidFill>
              <a:srgbClr val="D3DEEF"/>
            </a:solidFill>
            <a:prstDash val="solid"/>
          </a:ln>
        </p:spPr>
      </p:sp>
      <p:sp>
        <p:nvSpPr>
          <p:cNvPr id="8" name="Text 6"/>
          <p:cNvSpPr/>
          <p:nvPr/>
        </p:nvSpPr>
        <p:spPr>
          <a:xfrm>
            <a:off x="786384" y="3511296"/>
            <a:ext cx="3063240" cy="329184"/>
          </a:xfrm>
          <a:prstGeom prst="rect">
            <a:avLst/>
          </a:prstGeom>
          <a:noFill/>
          <a:ln/>
        </p:spPr>
        <p:txBody>
          <a:bodyPr wrap="square" lIns="0" tIns="0" rIns="0" bIns="0" rtlCol="0" anchor="ctr"/>
          <a:lstStyle/>
          <a:p>
            <a:pPr indent="0" marL="0">
              <a:buNone/>
            </a:pPr>
            <a:r>
              <a:rPr lang="en-US" sz="1300" b="1" dirty="0">
                <a:solidFill>
                  <a:srgbClr val="132A4E"/>
                </a:solidFill>
                <a:latin typeface="Calibri" pitchFamily="34" charset="0"/>
                <a:ea typeface="Calibri" pitchFamily="34" charset="-122"/>
                <a:cs typeface="Calibri" pitchFamily="34" charset="-120"/>
              </a:rPr>
              <a:t>The claim</a:t>
            </a:r>
            <a:endParaRPr lang="en-US" sz="1300" dirty="0"/>
          </a:p>
        </p:txBody>
      </p:sp>
      <p:sp>
        <p:nvSpPr>
          <p:cNvPr id="9" name="Text 7"/>
          <p:cNvSpPr/>
          <p:nvPr/>
        </p:nvSpPr>
        <p:spPr>
          <a:xfrm>
            <a:off x="786384" y="3877056"/>
            <a:ext cx="3081528" cy="822960"/>
          </a:xfrm>
          <a:prstGeom prst="rect">
            <a:avLst/>
          </a:prstGeom>
          <a:noFill/>
          <a:ln/>
        </p:spPr>
        <p:txBody>
          <a:bodyPr wrap="square" lIns="0" tIns="0" rIns="0" bIns="0" rtlCol="0" anchor="t"/>
          <a:lstStyle/>
          <a:p>
            <a:pPr indent="0" marL="0">
              <a:lnSpc>
                <a:spcPts val="1700"/>
              </a:lnSpc>
              <a:buNone/>
            </a:pPr>
            <a:r>
              <a:rPr lang="en-US" sz="1200" dirty="0">
                <a:solidFill>
                  <a:srgbClr val="1A2333"/>
                </a:solidFill>
                <a:latin typeface="Calibri" pitchFamily="34" charset="0"/>
                <a:ea typeface="Calibri" pitchFamily="34" charset="-122"/>
                <a:cs typeface="Calibri" pitchFamily="34" charset="-120"/>
              </a:rPr>
              <a:t>Short, quotable, and easy to carry to another program. This is the part everyone reads and repeats.</a:t>
            </a:r>
            <a:endParaRPr lang="en-US" sz="1200" dirty="0"/>
          </a:p>
        </p:txBody>
      </p:sp>
      <p:sp>
        <p:nvSpPr>
          <p:cNvPr id="10" name="Shape 8"/>
          <p:cNvSpPr/>
          <p:nvPr/>
        </p:nvSpPr>
        <p:spPr>
          <a:xfrm>
            <a:off x="4334256" y="3364992"/>
            <a:ext cx="3520440" cy="1463040"/>
          </a:xfrm>
          <a:prstGeom prst="roundRect">
            <a:avLst>
              <a:gd name="adj" fmla="val 3125"/>
            </a:avLst>
          </a:prstGeom>
          <a:solidFill>
            <a:srgbClr val="FFFFFF"/>
          </a:solidFill>
          <a:ln w="12700">
            <a:solidFill>
              <a:srgbClr val="D3DEEF"/>
            </a:solidFill>
            <a:prstDash val="solid"/>
          </a:ln>
        </p:spPr>
      </p:sp>
      <p:sp>
        <p:nvSpPr>
          <p:cNvPr id="11" name="Text 9"/>
          <p:cNvSpPr/>
          <p:nvPr/>
        </p:nvSpPr>
        <p:spPr>
          <a:xfrm>
            <a:off x="4572000" y="3511296"/>
            <a:ext cx="3063240" cy="329184"/>
          </a:xfrm>
          <a:prstGeom prst="rect">
            <a:avLst/>
          </a:prstGeom>
          <a:noFill/>
          <a:ln/>
        </p:spPr>
        <p:txBody>
          <a:bodyPr wrap="square" lIns="0" tIns="0" rIns="0" bIns="0" rtlCol="0" anchor="ctr"/>
          <a:lstStyle/>
          <a:p>
            <a:pPr indent="0" marL="0">
              <a:buNone/>
            </a:pPr>
            <a:r>
              <a:rPr lang="en-US" sz="1300" b="1" dirty="0">
                <a:solidFill>
                  <a:srgbClr val="132A4E"/>
                </a:solidFill>
                <a:latin typeface="Calibri" pitchFamily="34" charset="0"/>
                <a:ea typeface="Calibri" pitchFamily="34" charset="-122"/>
                <a:cs typeface="Calibri" pitchFamily="34" charset="-120"/>
              </a:rPr>
              <a:t>The conditions</a:t>
            </a:r>
            <a:endParaRPr lang="en-US" sz="1300" dirty="0"/>
          </a:p>
        </p:txBody>
      </p:sp>
      <p:sp>
        <p:nvSpPr>
          <p:cNvPr id="12" name="Text 10"/>
          <p:cNvSpPr/>
          <p:nvPr/>
        </p:nvSpPr>
        <p:spPr>
          <a:xfrm>
            <a:off x="4572000" y="3877056"/>
            <a:ext cx="3081528" cy="822960"/>
          </a:xfrm>
          <a:prstGeom prst="rect">
            <a:avLst/>
          </a:prstGeom>
          <a:noFill/>
          <a:ln/>
        </p:spPr>
        <p:txBody>
          <a:bodyPr wrap="square" lIns="0" tIns="0" rIns="0" bIns="0" rtlCol="0" anchor="t"/>
          <a:lstStyle/>
          <a:p>
            <a:pPr indent="0" marL="0">
              <a:lnSpc>
                <a:spcPts val="1700"/>
              </a:lnSpc>
              <a:buNone/>
            </a:pPr>
            <a:r>
              <a:rPr lang="en-US" sz="1200" dirty="0">
                <a:solidFill>
                  <a:srgbClr val="1A2333"/>
                </a:solidFill>
                <a:latin typeface="Calibri" pitchFamily="34" charset="0"/>
                <a:ea typeface="Calibri" pitchFamily="34" charset="-122"/>
                <a:cs typeface="Calibri" pitchFamily="34" charset="-120"/>
              </a:rPr>
              <a:t>Longer, less memorable, and the first thing lost in a copy across. They are what make the claim true.</a:t>
            </a:r>
            <a:endParaRPr lang="en-US" sz="1200" dirty="0"/>
          </a:p>
        </p:txBody>
      </p:sp>
      <p:sp>
        <p:nvSpPr>
          <p:cNvPr id="13" name="Shape 11"/>
          <p:cNvSpPr/>
          <p:nvPr/>
        </p:nvSpPr>
        <p:spPr>
          <a:xfrm>
            <a:off x="8119872" y="3364992"/>
            <a:ext cx="3520440" cy="1463040"/>
          </a:xfrm>
          <a:prstGeom prst="roundRect">
            <a:avLst>
              <a:gd name="adj" fmla="val 3125"/>
            </a:avLst>
          </a:prstGeom>
          <a:solidFill>
            <a:srgbClr val="E9EEF7"/>
          </a:solidFill>
          <a:ln w="12700">
            <a:solidFill>
              <a:srgbClr val="D3DEEF"/>
            </a:solidFill>
            <a:prstDash val="solid"/>
          </a:ln>
        </p:spPr>
      </p:sp>
      <p:sp>
        <p:nvSpPr>
          <p:cNvPr id="14" name="Text 12"/>
          <p:cNvSpPr/>
          <p:nvPr/>
        </p:nvSpPr>
        <p:spPr>
          <a:xfrm>
            <a:off x="8357616" y="3511296"/>
            <a:ext cx="3063240" cy="329184"/>
          </a:xfrm>
          <a:prstGeom prst="rect">
            <a:avLst/>
          </a:prstGeom>
          <a:noFill/>
          <a:ln/>
        </p:spPr>
        <p:txBody>
          <a:bodyPr wrap="square" lIns="0" tIns="0" rIns="0" bIns="0" rtlCol="0" anchor="ctr"/>
          <a:lstStyle/>
          <a:p>
            <a:pPr indent="0" marL="0">
              <a:buNone/>
            </a:pPr>
            <a:r>
              <a:rPr lang="en-US" sz="1300" b="1" dirty="0">
                <a:solidFill>
                  <a:srgbClr val="132A4E"/>
                </a:solidFill>
                <a:latin typeface="Calibri" pitchFamily="34" charset="0"/>
                <a:ea typeface="Calibri" pitchFamily="34" charset="-122"/>
                <a:cs typeface="Calibri" pitchFamily="34" charset="-120"/>
              </a:rPr>
              <a:t>The risk credit</a:t>
            </a:r>
            <a:endParaRPr lang="en-US" sz="1300" dirty="0"/>
          </a:p>
        </p:txBody>
      </p:sp>
      <p:sp>
        <p:nvSpPr>
          <p:cNvPr id="15" name="Text 13"/>
          <p:cNvSpPr/>
          <p:nvPr/>
        </p:nvSpPr>
        <p:spPr>
          <a:xfrm>
            <a:off x="8357616" y="3877056"/>
            <a:ext cx="3081528" cy="822960"/>
          </a:xfrm>
          <a:prstGeom prst="rect">
            <a:avLst/>
          </a:prstGeom>
          <a:noFill/>
          <a:ln/>
        </p:spPr>
        <p:txBody>
          <a:bodyPr wrap="square" lIns="0" tIns="0" rIns="0" bIns="0" rtlCol="0" anchor="t"/>
          <a:lstStyle/>
          <a:p>
            <a:pPr indent="0" marL="0">
              <a:lnSpc>
                <a:spcPts val="1700"/>
              </a:lnSpc>
              <a:buNone/>
            </a:pPr>
            <a:r>
              <a:rPr lang="en-US" sz="1200" dirty="0">
                <a:solidFill>
                  <a:srgbClr val="1A2333"/>
                </a:solidFill>
                <a:latin typeface="Calibri" pitchFamily="34" charset="0"/>
                <a:ea typeface="Calibri" pitchFamily="34" charset="-122"/>
                <a:cs typeface="Calibri" pitchFamily="34" charset="-120"/>
              </a:rPr>
              <a:t>A hazard was closed without a design change because of this. That is a real safety decision, and someone accepted it.</a:t>
            </a:r>
            <a:endParaRPr lang="en-US" sz="1200" dirty="0"/>
          </a:p>
        </p:txBody>
      </p:sp>
      <p:sp>
        <p:nvSpPr>
          <p:cNvPr id="16" name="Shape 14"/>
          <p:cNvSpPr/>
          <p:nvPr/>
        </p:nvSpPr>
        <p:spPr>
          <a:xfrm>
            <a:off x="548640" y="5029200"/>
            <a:ext cx="11091672" cy="1371600"/>
          </a:xfrm>
          <a:prstGeom prst="roundRect">
            <a:avLst>
              <a:gd name="adj" fmla="val 3333"/>
            </a:avLst>
          </a:prstGeom>
          <a:solidFill>
            <a:srgbClr val="132A4E"/>
          </a:solidFill>
          <a:ln w="12700">
            <a:solidFill>
              <a:srgbClr val="132A4E"/>
            </a:solidFill>
            <a:prstDash val="solid"/>
          </a:ln>
        </p:spPr>
      </p:sp>
      <p:sp>
        <p:nvSpPr>
          <p:cNvPr id="17" name="Text 15"/>
          <p:cNvSpPr/>
          <p:nvPr/>
        </p:nvSpPr>
        <p:spPr>
          <a:xfrm>
            <a:off x="841248" y="5166360"/>
            <a:ext cx="10515600" cy="274320"/>
          </a:xfrm>
          <a:prstGeom prst="rect">
            <a:avLst/>
          </a:prstGeom>
          <a:noFill/>
          <a:ln/>
        </p:spPr>
        <p:txBody>
          <a:bodyPr wrap="square" lIns="0" tIns="0" rIns="0" bIns="0" rtlCol="0" anchor="ctr"/>
          <a:lstStyle/>
          <a:p>
            <a:pPr indent="0" marL="0">
              <a:buNone/>
            </a:pPr>
            <a:r>
              <a:rPr lang="en-US" sz="1200" b="1" dirty="0">
                <a:solidFill>
                  <a:srgbClr val="F0B37E"/>
                </a:solidFill>
                <a:latin typeface="Calibri" pitchFamily="34" charset="0"/>
                <a:ea typeface="Calibri" pitchFamily="34" charset="-122"/>
                <a:cs typeface="Calibri" pitchFamily="34" charset="-120"/>
              </a:rPr>
              <a:t>This is not a new idea</a:t>
            </a:r>
            <a:endParaRPr lang="en-US" sz="1200" dirty="0"/>
          </a:p>
        </p:txBody>
      </p:sp>
      <p:sp>
        <p:nvSpPr>
          <p:cNvPr id="18" name="Text 16"/>
          <p:cNvSpPr/>
          <p:nvPr/>
        </p:nvSpPr>
        <p:spPr>
          <a:xfrm>
            <a:off x="841248" y="5468112"/>
            <a:ext cx="10515600" cy="804672"/>
          </a:xfrm>
          <a:prstGeom prst="rect">
            <a:avLst/>
          </a:prstGeom>
          <a:noFill/>
          <a:ln/>
        </p:spPr>
        <p:txBody>
          <a:bodyPr wrap="square" lIns="0" tIns="0" rIns="0" bIns="0" rtlCol="0" anchor="t"/>
          <a:lstStyle/>
          <a:p>
            <a:pPr indent="0" marL="0">
              <a:lnSpc>
                <a:spcPts val="1900"/>
              </a:lnSpc>
              <a:buNone/>
            </a:pPr>
            <a:r>
              <a:rPr lang="en-US" sz="1300" dirty="0">
                <a:solidFill>
                  <a:srgbClr val="FFFFFF"/>
                </a:solidFill>
                <a:latin typeface="Calibri" pitchFamily="34" charset="0"/>
                <a:ea typeface="Calibri" pitchFamily="34" charset="-122"/>
                <a:cs typeface="Calibri" pitchFamily="34" charset="-120"/>
              </a:rPr>
              <a:t>SM-0001 already treats assumptions this way. Appendix 2 lists them among the contents of a hazard record, and the reason given is so they can be re-examined when they change, to check whether the risk assessment still stands. The standard therefore assumes we know when an assumption has changed. For inherited assumptions, we do not.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292608"/>
            <a:ext cx="11064240" cy="237744"/>
          </a:xfrm>
          <a:prstGeom prst="rect">
            <a:avLst/>
          </a:prstGeom>
          <a:noFill/>
          <a:ln/>
        </p:spPr>
        <p:txBody>
          <a:bodyPr wrap="square" lIns="0" tIns="0" rIns="0" bIns="0" rtlCol="0" anchor="ctr"/>
          <a:lstStyle/>
          <a:p>
            <a:pPr indent="0" marL="0">
              <a:buNone/>
            </a:pPr>
            <a:r>
              <a:rPr lang="en-US" sz="1050" b="1" spc="160" kern="0" dirty="0">
                <a:solidFill>
                  <a:srgbClr val="B4530C"/>
                </a:solidFill>
                <a:latin typeface="Calibri" pitchFamily="34" charset="0"/>
                <a:ea typeface="Calibri" pitchFamily="34" charset="-122"/>
                <a:cs typeface="Calibri" pitchFamily="34" charset="-120"/>
              </a:rPr>
              <a:t>WORKED EXAMPLE</a:t>
            </a:r>
            <a:endParaRPr lang="en-US" sz="1050" dirty="0"/>
          </a:p>
        </p:txBody>
      </p:sp>
      <p:sp>
        <p:nvSpPr>
          <p:cNvPr id="3" name="Text 1"/>
          <p:cNvSpPr/>
          <p:nvPr/>
        </p:nvSpPr>
        <p:spPr>
          <a:xfrm>
            <a:off x="548640" y="548640"/>
            <a:ext cx="11064240" cy="658368"/>
          </a:xfrm>
          <a:prstGeom prst="rect">
            <a:avLst/>
          </a:prstGeom>
          <a:noFill/>
          <a:ln/>
        </p:spPr>
        <p:txBody>
          <a:bodyPr wrap="square" lIns="0" tIns="0" rIns="0" bIns="0" rtlCol="0" anchor="t"/>
          <a:lstStyle/>
          <a:p>
            <a:pPr indent="0" marL="0">
              <a:buNone/>
            </a:pPr>
            <a:r>
              <a:rPr lang="en-US" sz="2900" b="1" dirty="0">
                <a:solidFill>
                  <a:srgbClr val="132A4E"/>
                </a:solidFill>
                <a:latin typeface="Cambria" pitchFamily="34" charset="0"/>
                <a:ea typeface="Cambria" pitchFamily="34" charset="-122"/>
                <a:cs typeface="Cambria" pitchFamily="34" charset="-120"/>
              </a:rPr>
              <a:t>A real shape this takes</a:t>
            </a:r>
            <a:endParaRPr lang="en-US" sz="2900" dirty="0"/>
          </a:p>
        </p:txBody>
      </p:sp>
      <p:sp>
        <p:nvSpPr>
          <p:cNvPr id="4" name="Text 2"/>
          <p:cNvSpPr/>
          <p:nvPr/>
        </p:nvSpPr>
        <p:spPr>
          <a:xfrm>
            <a:off x="548640" y="1261872"/>
            <a:ext cx="11064240" cy="457200"/>
          </a:xfrm>
          <a:prstGeom prst="rect">
            <a:avLst/>
          </a:prstGeom>
          <a:noFill/>
          <a:ln/>
        </p:spPr>
        <p:txBody>
          <a:bodyPr wrap="square" lIns="0" tIns="0" rIns="0" bIns="0" rtlCol="0" anchor="t"/>
          <a:lstStyle/>
          <a:p>
            <a:pPr indent="0" marL="0">
              <a:lnSpc>
                <a:spcPts val="2000"/>
              </a:lnSpc>
              <a:buNone/>
            </a:pPr>
            <a:r>
              <a:rPr lang="en-US" sz="1400" dirty="0">
                <a:solidFill>
                  <a:srgbClr val="1A2333"/>
                </a:solidFill>
                <a:latin typeface="Calibri" pitchFamily="34" charset="0"/>
                <a:ea typeface="Calibri" pitchFamily="34" charset="-122"/>
                <a:cs typeface="Calibri" pitchFamily="34" charset="-120"/>
              </a:rPr>
              <a:t>A pressure sensor is qualified and in service on Program A. Program B is a derivative and reuses the same unit, same part number, same supplier. The assumption set is carried across on that basis.</a:t>
            </a:r>
            <a:endParaRPr lang="en-US" sz="1400" dirty="0"/>
          </a:p>
        </p:txBody>
      </p:sp>
      <p:sp>
        <p:nvSpPr>
          <p:cNvPr id="5" name="Shape 3"/>
          <p:cNvSpPr/>
          <p:nvPr/>
        </p:nvSpPr>
        <p:spPr>
          <a:xfrm>
            <a:off x="548640" y="1883664"/>
            <a:ext cx="5394960" cy="3566160"/>
          </a:xfrm>
          <a:prstGeom prst="roundRect">
            <a:avLst>
              <a:gd name="adj" fmla="val 1282"/>
            </a:avLst>
          </a:prstGeom>
          <a:solidFill>
            <a:srgbClr val="E9EEF7"/>
          </a:solidFill>
          <a:ln w="12700">
            <a:solidFill>
              <a:srgbClr val="D3DEEF"/>
            </a:solidFill>
            <a:prstDash val="solid"/>
          </a:ln>
        </p:spPr>
      </p:sp>
      <p:sp>
        <p:nvSpPr>
          <p:cNvPr id="6" name="Text 4"/>
          <p:cNvSpPr/>
          <p:nvPr/>
        </p:nvSpPr>
        <p:spPr>
          <a:xfrm>
            <a:off x="822960" y="2011680"/>
            <a:ext cx="4846320" cy="292608"/>
          </a:xfrm>
          <a:prstGeom prst="rect">
            <a:avLst/>
          </a:prstGeom>
          <a:noFill/>
          <a:ln/>
        </p:spPr>
        <p:txBody>
          <a:bodyPr wrap="square" lIns="0" tIns="0" rIns="0" bIns="0" rtlCol="0" anchor="ctr"/>
          <a:lstStyle/>
          <a:p>
            <a:pPr indent="0" marL="0">
              <a:buNone/>
            </a:pPr>
            <a:r>
              <a:rPr lang="en-US" sz="1250" b="1" dirty="0">
                <a:solidFill>
                  <a:srgbClr val="132A4E"/>
                </a:solidFill>
                <a:latin typeface="Calibri" pitchFamily="34" charset="0"/>
                <a:ea typeface="Calibri" pitchFamily="34" charset="-122"/>
                <a:cs typeface="Calibri" pitchFamily="34" charset="-120"/>
              </a:rPr>
              <a:t>Program A  ·  what the assumption relied on</a:t>
            </a:r>
            <a:endParaRPr lang="en-US" sz="1250" dirty="0"/>
          </a:p>
        </p:txBody>
      </p:sp>
      <p:sp>
        <p:nvSpPr>
          <p:cNvPr id="7" name="Text 5"/>
          <p:cNvSpPr/>
          <p:nvPr/>
        </p:nvSpPr>
        <p:spPr>
          <a:xfrm>
            <a:off x="822960" y="2395728"/>
            <a:ext cx="1097280" cy="530352"/>
          </a:xfrm>
          <a:prstGeom prst="rect">
            <a:avLst/>
          </a:prstGeom>
          <a:noFill/>
          <a:ln/>
        </p:spPr>
        <p:txBody>
          <a:bodyPr wrap="square" lIns="0" tIns="0" rIns="0" bIns="0" rtlCol="0" anchor="t"/>
          <a:lstStyle/>
          <a:p>
            <a:pPr indent="0" marL="0">
              <a:buNone/>
            </a:pPr>
            <a:r>
              <a:rPr lang="en-US" sz="1150" b="1" dirty="0">
                <a:solidFill>
                  <a:srgbClr val="1F4380"/>
                </a:solidFill>
                <a:latin typeface="Calibri" pitchFamily="34" charset="0"/>
                <a:ea typeface="Calibri" pitchFamily="34" charset="-122"/>
                <a:cs typeface="Calibri" pitchFamily="34" charset="-120"/>
              </a:rPr>
              <a:t>Alerting</a:t>
            </a:r>
            <a:endParaRPr lang="en-US" sz="1150" dirty="0"/>
          </a:p>
        </p:txBody>
      </p:sp>
      <p:sp>
        <p:nvSpPr>
          <p:cNvPr id="8" name="Text 6"/>
          <p:cNvSpPr/>
          <p:nvPr/>
        </p:nvSpPr>
        <p:spPr>
          <a:xfrm>
            <a:off x="1965960" y="2395728"/>
            <a:ext cx="3749040" cy="530352"/>
          </a:xfrm>
          <a:prstGeom prst="rect">
            <a:avLst/>
          </a:prstGeom>
          <a:noFill/>
          <a:ln/>
        </p:spPr>
        <p:txBody>
          <a:bodyPr wrap="square" lIns="0" tIns="0" rIns="0" bIns="0" rtlCol="0" anchor="t"/>
          <a:lstStyle/>
          <a:p>
            <a:pPr indent="0" marL="0">
              <a:lnSpc>
                <a:spcPts val="1600"/>
              </a:lnSpc>
              <a:buNone/>
            </a:pPr>
            <a:r>
              <a:rPr lang="en-US" sz="1150" dirty="0">
                <a:solidFill>
                  <a:srgbClr val="1A2333"/>
                </a:solidFill>
                <a:latin typeface="Calibri" pitchFamily="34" charset="0"/>
                <a:ea typeface="Calibri" pitchFamily="34" charset="-122"/>
                <a:cs typeface="Calibri" pitchFamily="34" charset="-120"/>
              </a:rPr>
              <a:t>Crew is alerted to a blocked line within one flight.</a:t>
            </a:r>
            <a:endParaRPr lang="en-US" sz="1150" dirty="0"/>
          </a:p>
        </p:txBody>
      </p:sp>
      <p:sp>
        <p:nvSpPr>
          <p:cNvPr id="9" name="Text 7"/>
          <p:cNvSpPr/>
          <p:nvPr/>
        </p:nvSpPr>
        <p:spPr>
          <a:xfrm>
            <a:off x="822960" y="2999232"/>
            <a:ext cx="1097280" cy="530352"/>
          </a:xfrm>
          <a:prstGeom prst="rect">
            <a:avLst/>
          </a:prstGeom>
          <a:noFill/>
          <a:ln/>
        </p:spPr>
        <p:txBody>
          <a:bodyPr wrap="square" lIns="0" tIns="0" rIns="0" bIns="0" rtlCol="0" anchor="t"/>
          <a:lstStyle/>
          <a:p>
            <a:pPr indent="0" marL="0">
              <a:buNone/>
            </a:pPr>
            <a:r>
              <a:rPr lang="en-US" sz="1150" b="1" dirty="0">
                <a:solidFill>
                  <a:srgbClr val="1F4380"/>
                </a:solidFill>
                <a:latin typeface="Calibri" pitchFamily="34" charset="0"/>
                <a:ea typeface="Calibri" pitchFamily="34" charset="-122"/>
                <a:cs typeface="Calibri" pitchFamily="34" charset="-120"/>
              </a:rPr>
              <a:t>Procedure</a:t>
            </a:r>
            <a:endParaRPr lang="en-US" sz="1150" dirty="0"/>
          </a:p>
        </p:txBody>
      </p:sp>
      <p:sp>
        <p:nvSpPr>
          <p:cNvPr id="10" name="Text 8"/>
          <p:cNvSpPr/>
          <p:nvPr/>
        </p:nvSpPr>
        <p:spPr>
          <a:xfrm>
            <a:off x="1965960" y="2999232"/>
            <a:ext cx="3749040" cy="530352"/>
          </a:xfrm>
          <a:prstGeom prst="rect">
            <a:avLst/>
          </a:prstGeom>
          <a:noFill/>
          <a:ln/>
        </p:spPr>
        <p:txBody>
          <a:bodyPr wrap="square" lIns="0" tIns="0" rIns="0" bIns="0" rtlCol="0" anchor="t"/>
          <a:lstStyle/>
          <a:p>
            <a:pPr indent="0" marL="0">
              <a:lnSpc>
                <a:spcPts val="1600"/>
              </a:lnSpc>
              <a:buNone/>
            </a:pPr>
            <a:r>
              <a:rPr lang="en-US" sz="1150" dirty="0">
                <a:solidFill>
                  <a:srgbClr val="1A2333"/>
                </a:solidFill>
                <a:latin typeface="Calibri" pitchFamily="34" charset="0"/>
                <a:ea typeface="Calibri" pitchFamily="34" charset="-122"/>
                <a:cs typeface="Calibri" pitchFamily="34" charset="-120"/>
              </a:rPr>
              <a:t>Dispatch governed by a specific MEL condition.</a:t>
            </a:r>
            <a:endParaRPr lang="en-US" sz="1150" dirty="0"/>
          </a:p>
        </p:txBody>
      </p:sp>
      <p:sp>
        <p:nvSpPr>
          <p:cNvPr id="11" name="Text 9"/>
          <p:cNvSpPr/>
          <p:nvPr/>
        </p:nvSpPr>
        <p:spPr>
          <a:xfrm>
            <a:off x="822960" y="3602736"/>
            <a:ext cx="1097280" cy="530352"/>
          </a:xfrm>
          <a:prstGeom prst="rect">
            <a:avLst/>
          </a:prstGeom>
          <a:noFill/>
          <a:ln/>
        </p:spPr>
        <p:txBody>
          <a:bodyPr wrap="square" lIns="0" tIns="0" rIns="0" bIns="0" rtlCol="0" anchor="t"/>
          <a:lstStyle/>
          <a:p>
            <a:pPr indent="0" marL="0">
              <a:buNone/>
            </a:pPr>
            <a:r>
              <a:rPr lang="en-US" sz="1150" b="1" dirty="0">
                <a:solidFill>
                  <a:srgbClr val="1F4380"/>
                </a:solidFill>
                <a:latin typeface="Calibri" pitchFamily="34" charset="0"/>
                <a:ea typeface="Calibri" pitchFamily="34" charset="-122"/>
                <a:cs typeface="Calibri" pitchFamily="34" charset="-120"/>
              </a:rPr>
              <a:t>Inspection</a:t>
            </a:r>
            <a:endParaRPr lang="en-US" sz="1150" dirty="0"/>
          </a:p>
        </p:txBody>
      </p:sp>
      <p:sp>
        <p:nvSpPr>
          <p:cNvPr id="12" name="Text 10"/>
          <p:cNvSpPr/>
          <p:nvPr/>
        </p:nvSpPr>
        <p:spPr>
          <a:xfrm>
            <a:off x="1965960" y="3602736"/>
            <a:ext cx="3749040" cy="530352"/>
          </a:xfrm>
          <a:prstGeom prst="rect">
            <a:avLst/>
          </a:prstGeom>
          <a:noFill/>
          <a:ln/>
        </p:spPr>
        <p:txBody>
          <a:bodyPr wrap="square" lIns="0" tIns="0" rIns="0" bIns="0" rtlCol="0" anchor="t"/>
          <a:lstStyle/>
          <a:p>
            <a:pPr indent="0" marL="0">
              <a:lnSpc>
                <a:spcPts val="1600"/>
              </a:lnSpc>
              <a:buNone/>
            </a:pPr>
            <a:r>
              <a:rPr lang="en-US" sz="1150" dirty="0">
                <a:solidFill>
                  <a:srgbClr val="1A2333"/>
                </a:solidFill>
                <a:latin typeface="Calibri" pitchFamily="34" charset="0"/>
                <a:ea typeface="Calibri" pitchFamily="34" charset="-122"/>
                <a:cs typeface="Calibri" pitchFamily="34" charset="-120"/>
              </a:rPr>
              <a:t>Line inspected every 400 flight hours.</a:t>
            </a:r>
            <a:endParaRPr lang="en-US" sz="1150" dirty="0"/>
          </a:p>
        </p:txBody>
      </p:sp>
      <p:sp>
        <p:nvSpPr>
          <p:cNvPr id="13" name="Text 11"/>
          <p:cNvSpPr/>
          <p:nvPr/>
        </p:nvSpPr>
        <p:spPr>
          <a:xfrm>
            <a:off x="822960" y="4206240"/>
            <a:ext cx="1097280" cy="530352"/>
          </a:xfrm>
          <a:prstGeom prst="rect">
            <a:avLst/>
          </a:prstGeom>
          <a:noFill/>
          <a:ln/>
        </p:spPr>
        <p:txBody>
          <a:bodyPr wrap="square" lIns="0" tIns="0" rIns="0" bIns="0" rtlCol="0" anchor="t"/>
          <a:lstStyle/>
          <a:p>
            <a:pPr indent="0" marL="0">
              <a:buNone/>
            </a:pPr>
            <a:r>
              <a:rPr lang="en-US" sz="1150" b="1" dirty="0">
                <a:solidFill>
                  <a:srgbClr val="1F4380"/>
                </a:solidFill>
                <a:latin typeface="Calibri" pitchFamily="34" charset="0"/>
                <a:ea typeface="Calibri" pitchFamily="34" charset="-122"/>
                <a:cs typeface="Calibri" pitchFamily="34" charset="-120"/>
              </a:rPr>
              <a:t>Installation</a:t>
            </a:r>
            <a:endParaRPr lang="en-US" sz="1150" dirty="0"/>
          </a:p>
        </p:txBody>
      </p:sp>
      <p:sp>
        <p:nvSpPr>
          <p:cNvPr id="14" name="Text 12"/>
          <p:cNvSpPr/>
          <p:nvPr/>
        </p:nvSpPr>
        <p:spPr>
          <a:xfrm>
            <a:off x="1965960" y="4206240"/>
            <a:ext cx="3749040" cy="530352"/>
          </a:xfrm>
          <a:prstGeom prst="rect">
            <a:avLst/>
          </a:prstGeom>
          <a:noFill/>
          <a:ln/>
        </p:spPr>
        <p:txBody>
          <a:bodyPr wrap="square" lIns="0" tIns="0" rIns="0" bIns="0" rtlCol="0" anchor="t"/>
          <a:lstStyle/>
          <a:p>
            <a:pPr indent="0" marL="0">
              <a:lnSpc>
                <a:spcPts val="1600"/>
              </a:lnSpc>
              <a:buNone/>
            </a:pPr>
            <a:r>
              <a:rPr lang="en-US" sz="1150" dirty="0">
                <a:solidFill>
                  <a:srgbClr val="1A2333"/>
                </a:solidFill>
                <a:latin typeface="Calibri" pitchFamily="34" charset="0"/>
                <a:ea typeface="Calibri" pitchFamily="34" charset="-122"/>
                <a:cs typeface="Calibri" pitchFamily="34" charset="-120"/>
              </a:rPr>
              <a:t>Unit sits in a heated bay, outside the icing zone.</a:t>
            </a:r>
            <a:endParaRPr lang="en-US" sz="1150" dirty="0"/>
          </a:p>
        </p:txBody>
      </p:sp>
      <p:sp>
        <p:nvSpPr>
          <p:cNvPr id="15" name="Text 13"/>
          <p:cNvSpPr/>
          <p:nvPr/>
        </p:nvSpPr>
        <p:spPr>
          <a:xfrm>
            <a:off x="822960" y="4809744"/>
            <a:ext cx="1097280" cy="530352"/>
          </a:xfrm>
          <a:prstGeom prst="rect">
            <a:avLst/>
          </a:prstGeom>
          <a:noFill/>
          <a:ln/>
        </p:spPr>
        <p:txBody>
          <a:bodyPr wrap="square" lIns="0" tIns="0" rIns="0" bIns="0" rtlCol="0" anchor="t"/>
          <a:lstStyle/>
          <a:p>
            <a:pPr indent="0" marL="0">
              <a:buNone/>
            </a:pPr>
            <a:r>
              <a:rPr lang="en-US" sz="1150" b="1" dirty="0">
                <a:solidFill>
                  <a:srgbClr val="B4530C"/>
                </a:solidFill>
                <a:latin typeface="Calibri" pitchFamily="34" charset="0"/>
                <a:ea typeface="Calibri" pitchFamily="34" charset="-122"/>
                <a:cs typeface="Calibri" pitchFamily="34" charset="-120"/>
              </a:rPr>
              <a:t>So</a:t>
            </a:r>
            <a:endParaRPr lang="en-US" sz="1150" dirty="0"/>
          </a:p>
        </p:txBody>
      </p:sp>
      <p:sp>
        <p:nvSpPr>
          <p:cNvPr id="16" name="Text 14"/>
          <p:cNvSpPr/>
          <p:nvPr/>
        </p:nvSpPr>
        <p:spPr>
          <a:xfrm>
            <a:off x="1965960" y="4809744"/>
            <a:ext cx="3749040" cy="530352"/>
          </a:xfrm>
          <a:prstGeom prst="rect">
            <a:avLst/>
          </a:prstGeom>
          <a:noFill/>
          <a:ln/>
        </p:spPr>
        <p:txBody>
          <a:bodyPr wrap="square" lIns="0" tIns="0" rIns="0" bIns="0" rtlCol="0" anchor="t"/>
          <a:lstStyle/>
          <a:p>
            <a:pPr indent="0" marL="0">
              <a:lnSpc>
                <a:spcPts val="1600"/>
              </a:lnSpc>
              <a:buNone/>
            </a:pPr>
            <a:r>
              <a:rPr lang="en-US" sz="1150" dirty="0">
                <a:solidFill>
                  <a:srgbClr val="1A2333"/>
                </a:solidFill>
                <a:latin typeface="Calibri" pitchFamily="34" charset="0"/>
                <a:ea typeface="Calibri" pitchFamily="34" charset="-122"/>
                <a:cs typeface="Calibri" pitchFamily="34" charset="-120"/>
              </a:rPr>
              <a:t>Undetected blockage needs no design mitigation. Hazard closed.</a:t>
            </a:r>
            <a:endParaRPr lang="en-US" sz="1150" dirty="0"/>
          </a:p>
        </p:txBody>
      </p:sp>
      <p:sp>
        <p:nvSpPr>
          <p:cNvPr id="17" name="Shape 15"/>
          <p:cNvSpPr/>
          <p:nvPr/>
        </p:nvSpPr>
        <p:spPr>
          <a:xfrm>
            <a:off x="6245352" y="1883664"/>
            <a:ext cx="5394960" cy="3566160"/>
          </a:xfrm>
          <a:prstGeom prst="roundRect">
            <a:avLst>
              <a:gd name="adj" fmla="val 1282"/>
            </a:avLst>
          </a:prstGeom>
          <a:solidFill>
            <a:srgbClr val="FBEBDC"/>
          </a:solidFill>
          <a:ln w="12700">
            <a:solidFill>
              <a:srgbClr val="ECC8AE"/>
            </a:solidFill>
            <a:prstDash val="solid"/>
          </a:ln>
        </p:spPr>
      </p:sp>
      <p:sp>
        <p:nvSpPr>
          <p:cNvPr id="18" name="Text 16"/>
          <p:cNvSpPr/>
          <p:nvPr/>
        </p:nvSpPr>
        <p:spPr>
          <a:xfrm>
            <a:off x="6519672" y="2011680"/>
            <a:ext cx="4846320" cy="292608"/>
          </a:xfrm>
          <a:prstGeom prst="rect">
            <a:avLst/>
          </a:prstGeom>
          <a:noFill/>
          <a:ln/>
        </p:spPr>
        <p:txBody>
          <a:bodyPr wrap="square" lIns="0" tIns="0" rIns="0" bIns="0" rtlCol="0" anchor="ctr"/>
          <a:lstStyle/>
          <a:p>
            <a:pPr indent="0" marL="0">
              <a:buNone/>
            </a:pPr>
            <a:r>
              <a:rPr lang="en-US" sz="1250" b="1" dirty="0">
                <a:solidFill>
                  <a:srgbClr val="B4530C"/>
                </a:solidFill>
                <a:latin typeface="Calibri" pitchFamily="34" charset="0"/>
                <a:ea typeface="Calibri" pitchFamily="34" charset="-122"/>
                <a:cs typeface="Calibri" pitchFamily="34" charset="-120"/>
              </a:rPr>
              <a:t>Program B  ·  what is actually different</a:t>
            </a:r>
            <a:endParaRPr lang="en-US" sz="1250" dirty="0"/>
          </a:p>
        </p:txBody>
      </p:sp>
      <p:sp>
        <p:nvSpPr>
          <p:cNvPr id="19" name="Text 17"/>
          <p:cNvSpPr/>
          <p:nvPr/>
        </p:nvSpPr>
        <p:spPr>
          <a:xfrm>
            <a:off x="6519672" y="2395728"/>
            <a:ext cx="1097280" cy="530352"/>
          </a:xfrm>
          <a:prstGeom prst="rect">
            <a:avLst/>
          </a:prstGeom>
          <a:noFill/>
          <a:ln/>
        </p:spPr>
        <p:txBody>
          <a:bodyPr wrap="square" lIns="0" tIns="0" rIns="0" bIns="0" rtlCol="0" anchor="t"/>
          <a:lstStyle/>
          <a:p>
            <a:pPr indent="0" marL="0">
              <a:buNone/>
            </a:pPr>
            <a:r>
              <a:rPr lang="en-US" sz="1150" b="1" dirty="0">
                <a:solidFill>
                  <a:srgbClr val="1F4380"/>
                </a:solidFill>
                <a:latin typeface="Calibri" pitchFamily="34" charset="0"/>
                <a:ea typeface="Calibri" pitchFamily="34" charset="-122"/>
                <a:cs typeface="Calibri" pitchFamily="34" charset="-120"/>
              </a:rPr>
              <a:t>Alerting</a:t>
            </a:r>
            <a:endParaRPr lang="en-US" sz="1150" dirty="0"/>
          </a:p>
        </p:txBody>
      </p:sp>
      <p:sp>
        <p:nvSpPr>
          <p:cNvPr id="20" name="Text 18"/>
          <p:cNvSpPr/>
          <p:nvPr/>
        </p:nvSpPr>
        <p:spPr>
          <a:xfrm>
            <a:off x="7662672" y="2395728"/>
            <a:ext cx="3749040" cy="530352"/>
          </a:xfrm>
          <a:prstGeom prst="rect">
            <a:avLst/>
          </a:prstGeom>
          <a:noFill/>
          <a:ln/>
        </p:spPr>
        <p:txBody>
          <a:bodyPr wrap="square" lIns="0" tIns="0" rIns="0" bIns="0" rtlCol="0" anchor="t"/>
          <a:lstStyle/>
          <a:p>
            <a:pPr indent="0" marL="0">
              <a:lnSpc>
                <a:spcPts val="1600"/>
              </a:lnSpc>
              <a:buNone/>
            </a:pPr>
            <a:r>
              <a:rPr lang="en-US" sz="1150" dirty="0">
                <a:solidFill>
                  <a:srgbClr val="1A2333"/>
                </a:solidFill>
                <a:latin typeface="Calibri" pitchFamily="34" charset="0"/>
                <a:ea typeface="Calibri" pitchFamily="34" charset="-122"/>
                <a:cs typeface="Calibri" pitchFamily="34" charset="-120"/>
              </a:rPr>
              <a:t>Different avionics supplier, different detection threshold.</a:t>
            </a:r>
            <a:endParaRPr lang="en-US" sz="1150" dirty="0"/>
          </a:p>
        </p:txBody>
      </p:sp>
      <p:sp>
        <p:nvSpPr>
          <p:cNvPr id="21" name="Text 19"/>
          <p:cNvSpPr/>
          <p:nvPr/>
        </p:nvSpPr>
        <p:spPr>
          <a:xfrm>
            <a:off x="6519672" y="2999232"/>
            <a:ext cx="1097280" cy="530352"/>
          </a:xfrm>
          <a:prstGeom prst="rect">
            <a:avLst/>
          </a:prstGeom>
          <a:noFill/>
          <a:ln/>
        </p:spPr>
        <p:txBody>
          <a:bodyPr wrap="square" lIns="0" tIns="0" rIns="0" bIns="0" rtlCol="0" anchor="t"/>
          <a:lstStyle/>
          <a:p>
            <a:pPr indent="0" marL="0">
              <a:buNone/>
            </a:pPr>
            <a:r>
              <a:rPr lang="en-US" sz="1150" b="1" dirty="0">
                <a:solidFill>
                  <a:srgbClr val="1F4380"/>
                </a:solidFill>
                <a:latin typeface="Calibri" pitchFamily="34" charset="0"/>
                <a:ea typeface="Calibri" pitchFamily="34" charset="-122"/>
                <a:cs typeface="Calibri" pitchFamily="34" charset="-120"/>
              </a:rPr>
              <a:t>Procedure</a:t>
            </a:r>
            <a:endParaRPr lang="en-US" sz="1150" dirty="0"/>
          </a:p>
        </p:txBody>
      </p:sp>
      <p:sp>
        <p:nvSpPr>
          <p:cNvPr id="22" name="Text 20"/>
          <p:cNvSpPr/>
          <p:nvPr/>
        </p:nvSpPr>
        <p:spPr>
          <a:xfrm>
            <a:off x="7662672" y="2999232"/>
            <a:ext cx="3749040" cy="530352"/>
          </a:xfrm>
          <a:prstGeom prst="rect">
            <a:avLst/>
          </a:prstGeom>
          <a:noFill/>
          <a:ln/>
        </p:spPr>
        <p:txBody>
          <a:bodyPr wrap="square" lIns="0" tIns="0" rIns="0" bIns="0" rtlCol="0" anchor="t"/>
          <a:lstStyle/>
          <a:p>
            <a:pPr indent="0" marL="0">
              <a:lnSpc>
                <a:spcPts val="1600"/>
              </a:lnSpc>
              <a:buNone/>
            </a:pPr>
            <a:r>
              <a:rPr lang="en-US" sz="1150" dirty="0">
                <a:solidFill>
                  <a:srgbClr val="1A2333"/>
                </a:solidFill>
                <a:latin typeface="Calibri" pitchFamily="34" charset="0"/>
                <a:ea typeface="Calibri" pitchFamily="34" charset="-122"/>
                <a:cs typeface="Calibri" pitchFamily="34" charset="-120"/>
              </a:rPr>
              <a:t>Different operator, different MEL, rewritten procedure.</a:t>
            </a:r>
            <a:endParaRPr lang="en-US" sz="1150" dirty="0"/>
          </a:p>
        </p:txBody>
      </p:sp>
      <p:sp>
        <p:nvSpPr>
          <p:cNvPr id="23" name="Text 21"/>
          <p:cNvSpPr/>
          <p:nvPr/>
        </p:nvSpPr>
        <p:spPr>
          <a:xfrm>
            <a:off x="6519672" y="3602736"/>
            <a:ext cx="1097280" cy="530352"/>
          </a:xfrm>
          <a:prstGeom prst="rect">
            <a:avLst/>
          </a:prstGeom>
          <a:noFill/>
          <a:ln/>
        </p:spPr>
        <p:txBody>
          <a:bodyPr wrap="square" lIns="0" tIns="0" rIns="0" bIns="0" rtlCol="0" anchor="t"/>
          <a:lstStyle/>
          <a:p>
            <a:pPr indent="0" marL="0">
              <a:buNone/>
            </a:pPr>
            <a:r>
              <a:rPr lang="en-US" sz="1150" b="1" dirty="0">
                <a:solidFill>
                  <a:srgbClr val="1F4380"/>
                </a:solidFill>
                <a:latin typeface="Calibri" pitchFamily="34" charset="0"/>
                <a:ea typeface="Calibri" pitchFamily="34" charset="-122"/>
                <a:cs typeface="Calibri" pitchFamily="34" charset="-120"/>
              </a:rPr>
              <a:t>Inspection</a:t>
            </a:r>
            <a:endParaRPr lang="en-US" sz="1150" dirty="0"/>
          </a:p>
        </p:txBody>
      </p:sp>
      <p:sp>
        <p:nvSpPr>
          <p:cNvPr id="24" name="Text 22"/>
          <p:cNvSpPr/>
          <p:nvPr/>
        </p:nvSpPr>
        <p:spPr>
          <a:xfrm>
            <a:off x="7662672" y="3602736"/>
            <a:ext cx="3749040" cy="530352"/>
          </a:xfrm>
          <a:prstGeom prst="rect">
            <a:avLst/>
          </a:prstGeom>
          <a:noFill/>
          <a:ln/>
        </p:spPr>
        <p:txBody>
          <a:bodyPr wrap="square" lIns="0" tIns="0" rIns="0" bIns="0" rtlCol="0" anchor="t"/>
          <a:lstStyle/>
          <a:p>
            <a:pPr indent="0" marL="0">
              <a:lnSpc>
                <a:spcPts val="1600"/>
              </a:lnSpc>
              <a:buNone/>
            </a:pPr>
            <a:r>
              <a:rPr lang="en-US" sz="1150" dirty="0">
                <a:solidFill>
                  <a:srgbClr val="1A2333"/>
                </a:solidFill>
                <a:latin typeface="Calibri" pitchFamily="34" charset="0"/>
                <a:ea typeface="Calibri" pitchFamily="34" charset="-122"/>
                <a:cs typeface="Calibri" pitchFamily="34" charset="-120"/>
              </a:rPr>
              <a:t>Customer maintenance program uses 600 flight hours.</a:t>
            </a:r>
            <a:endParaRPr lang="en-US" sz="1150" dirty="0"/>
          </a:p>
        </p:txBody>
      </p:sp>
      <p:sp>
        <p:nvSpPr>
          <p:cNvPr id="25" name="Text 23"/>
          <p:cNvSpPr/>
          <p:nvPr/>
        </p:nvSpPr>
        <p:spPr>
          <a:xfrm>
            <a:off x="6519672" y="4206240"/>
            <a:ext cx="1097280" cy="530352"/>
          </a:xfrm>
          <a:prstGeom prst="rect">
            <a:avLst/>
          </a:prstGeom>
          <a:noFill/>
          <a:ln/>
        </p:spPr>
        <p:txBody>
          <a:bodyPr wrap="square" lIns="0" tIns="0" rIns="0" bIns="0" rtlCol="0" anchor="t"/>
          <a:lstStyle/>
          <a:p>
            <a:pPr indent="0" marL="0">
              <a:buNone/>
            </a:pPr>
            <a:r>
              <a:rPr lang="en-US" sz="1150" b="1" dirty="0">
                <a:solidFill>
                  <a:srgbClr val="1F4380"/>
                </a:solidFill>
                <a:latin typeface="Calibri" pitchFamily="34" charset="0"/>
                <a:ea typeface="Calibri" pitchFamily="34" charset="-122"/>
                <a:cs typeface="Calibri" pitchFamily="34" charset="-120"/>
              </a:rPr>
              <a:t>Installation</a:t>
            </a:r>
            <a:endParaRPr lang="en-US" sz="1150" dirty="0"/>
          </a:p>
        </p:txBody>
      </p:sp>
      <p:sp>
        <p:nvSpPr>
          <p:cNvPr id="26" name="Text 24"/>
          <p:cNvSpPr/>
          <p:nvPr/>
        </p:nvSpPr>
        <p:spPr>
          <a:xfrm>
            <a:off x="7662672" y="4206240"/>
            <a:ext cx="3749040" cy="530352"/>
          </a:xfrm>
          <a:prstGeom prst="rect">
            <a:avLst/>
          </a:prstGeom>
          <a:noFill/>
          <a:ln/>
        </p:spPr>
        <p:txBody>
          <a:bodyPr wrap="square" lIns="0" tIns="0" rIns="0" bIns="0" rtlCol="0" anchor="t"/>
          <a:lstStyle/>
          <a:p>
            <a:pPr indent="0" marL="0">
              <a:lnSpc>
                <a:spcPts val="1600"/>
              </a:lnSpc>
              <a:buNone/>
            </a:pPr>
            <a:r>
              <a:rPr lang="en-US" sz="1150" dirty="0">
                <a:solidFill>
                  <a:srgbClr val="1A2333"/>
                </a:solidFill>
                <a:latin typeface="Calibri" pitchFamily="34" charset="0"/>
                <a:ea typeface="Calibri" pitchFamily="34" charset="-122"/>
                <a:cs typeface="Calibri" pitchFamily="34" charset="-120"/>
              </a:rPr>
              <a:t>Bay layout changed. Unit now near the icing zone.</a:t>
            </a:r>
            <a:endParaRPr lang="en-US" sz="1150" dirty="0"/>
          </a:p>
        </p:txBody>
      </p:sp>
      <p:sp>
        <p:nvSpPr>
          <p:cNvPr id="27" name="Text 25"/>
          <p:cNvSpPr/>
          <p:nvPr/>
        </p:nvSpPr>
        <p:spPr>
          <a:xfrm>
            <a:off x="6519672" y="4809744"/>
            <a:ext cx="1097280" cy="530352"/>
          </a:xfrm>
          <a:prstGeom prst="rect">
            <a:avLst/>
          </a:prstGeom>
          <a:noFill/>
          <a:ln/>
        </p:spPr>
        <p:txBody>
          <a:bodyPr wrap="square" lIns="0" tIns="0" rIns="0" bIns="0" rtlCol="0" anchor="t"/>
          <a:lstStyle/>
          <a:p>
            <a:pPr indent="0" marL="0">
              <a:buNone/>
            </a:pPr>
            <a:r>
              <a:rPr lang="en-US" sz="1150" b="1" dirty="0">
                <a:solidFill>
                  <a:srgbClr val="B4530C"/>
                </a:solidFill>
                <a:latin typeface="Calibri" pitchFamily="34" charset="0"/>
                <a:ea typeface="Calibri" pitchFamily="34" charset="-122"/>
                <a:cs typeface="Calibri" pitchFamily="34" charset="-120"/>
              </a:rPr>
              <a:t>So</a:t>
            </a:r>
            <a:endParaRPr lang="en-US" sz="1150" dirty="0"/>
          </a:p>
        </p:txBody>
      </p:sp>
      <p:sp>
        <p:nvSpPr>
          <p:cNvPr id="28" name="Text 26"/>
          <p:cNvSpPr/>
          <p:nvPr/>
        </p:nvSpPr>
        <p:spPr>
          <a:xfrm>
            <a:off x="7662672" y="4809744"/>
            <a:ext cx="3749040" cy="530352"/>
          </a:xfrm>
          <a:prstGeom prst="rect">
            <a:avLst/>
          </a:prstGeom>
          <a:noFill/>
          <a:ln/>
        </p:spPr>
        <p:txBody>
          <a:bodyPr wrap="square" lIns="0" tIns="0" rIns="0" bIns="0" rtlCol="0" anchor="t"/>
          <a:lstStyle/>
          <a:p>
            <a:pPr indent="0" marL="0">
              <a:lnSpc>
                <a:spcPts val="1600"/>
              </a:lnSpc>
              <a:buNone/>
            </a:pPr>
            <a:r>
              <a:rPr lang="en-US" sz="1150" dirty="0">
                <a:solidFill>
                  <a:srgbClr val="1A2333"/>
                </a:solidFill>
                <a:latin typeface="Calibri" pitchFamily="34" charset="0"/>
                <a:ea typeface="Calibri" pitchFamily="34" charset="-122"/>
                <a:cs typeface="Calibri" pitchFamily="34" charset="-120"/>
              </a:rPr>
              <a:t>The part number is identical. Every condition has moved.</a:t>
            </a:r>
            <a:endParaRPr lang="en-US" sz="1150" dirty="0"/>
          </a:p>
        </p:txBody>
      </p:sp>
      <p:sp>
        <p:nvSpPr>
          <p:cNvPr id="29" name="Text 27"/>
          <p:cNvSpPr/>
          <p:nvPr/>
        </p:nvSpPr>
        <p:spPr>
          <a:xfrm>
            <a:off x="548640" y="5623560"/>
            <a:ext cx="11064240" cy="548640"/>
          </a:xfrm>
          <a:prstGeom prst="rect">
            <a:avLst/>
          </a:prstGeom>
          <a:noFill/>
          <a:ln/>
        </p:spPr>
        <p:txBody>
          <a:bodyPr wrap="square" lIns="0" tIns="0" rIns="0" bIns="0" rtlCol="0" anchor="ctr"/>
          <a:lstStyle/>
          <a:p>
            <a:pPr indent="0" marL="0">
              <a:lnSpc>
                <a:spcPts val="1900"/>
              </a:lnSpc>
              <a:buNone/>
            </a:pPr>
            <a:r>
              <a:rPr lang="en-US" sz="1300" i="1" dirty="0">
                <a:solidFill>
                  <a:srgbClr val="4A5568"/>
                </a:solidFill>
                <a:latin typeface="Calibri" pitchFamily="34" charset="0"/>
                <a:ea typeface="Calibri" pitchFamily="34" charset="-122"/>
                <a:cs typeface="Calibri" pitchFamily="34" charset="-120"/>
              </a:rPr>
              <a:t>Nobody made a mistake. Four teams made four reasonable changes at four different times. No single person ever saw them together next to the assumption they invalidate.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292608"/>
            <a:ext cx="11064240" cy="237744"/>
          </a:xfrm>
          <a:prstGeom prst="rect">
            <a:avLst/>
          </a:prstGeom>
          <a:noFill/>
          <a:ln/>
        </p:spPr>
        <p:txBody>
          <a:bodyPr wrap="square" lIns="0" tIns="0" rIns="0" bIns="0" rtlCol="0" anchor="ctr"/>
          <a:lstStyle/>
          <a:p>
            <a:pPr indent="0" marL="0">
              <a:buNone/>
            </a:pPr>
            <a:r>
              <a:rPr lang="en-US" sz="1050" b="1" spc="160" kern="0" dirty="0">
                <a:solidFill>
                  <a:srgbClr val="B4530C"/>
                </a:solidFill>
                <a:latin typeface="Calibri" pitchFamily="34" charset="0"/>
                <a:ea typeface="Calibri" pitchFamily="34" charset="-122"/>
                <a:cs typeface="Calibri" pitchFamily="34" charset="-120"/>
              </a:rPr>
              <a:t>WHY PROGRAMS REUSE</a:t>
            </a:r>
            <a:endParaRPr lang="en-US" sz="1050" dirty="0"/>
          </a:p>
        </p:txBody>
      </p:sp>
      <p:sp>
        <p:nvSpPr>
          <p:cNvPr id="3" name="Text 1"/>
          <p:cNvSpPr/>
          <p:nvPr/>
        </p:nvSpPr>
        <p:spPr>
          <a:xfrm>
            <a:off x="548640" y="548640"/>
            <a:ext cx="11064240" cy="658368"/>
          </a:xfrm>
          <a:prstGeom prst="rect">
            <a:avLst/>
          </a:prstGeom>
          <a:noFill/>
          <a:ln/>
        </p:spPr>
        <p:txBody>
          <a:bodyPr wrap="square" lIns="0" tIns="0" rIns="0" bIns="0" rtlCol="0" anchor="t"/>
          <a:lstStyle/>
          <a:p>
            <a:pPr indent="0" marL="0">
              <a:buNone/>
            </a:pPr>
            <a:r>
              <a:rPr lang="en-US" sz="2900" b="1" dirty="0">
                <a:solidFill>
                  <a:srgbClr val="132A4E"/>
                </a:solidFill>
                <a:latin typeface="Cambria" pitchFamily="34" charset="0"/>
                <a:ea typeface="Cambria" pitchFamily="34" charset="-122"/>
                <a:cs typeface="Cambria" pitchFamily="34" charset="-120"/>
              </a:rPr>
              <a:t>This is an incentive problem, not a discipline problem</a:t>
            </a:r>
            <a:endParaRPr lang="en-US" sz="2900" dirty="0"/>
          </a:p>
        </p:txBody>
      </p:sp>
      <p:sp>
        <p:nvSpPr>
          <p:cNvPr id="4" name="Text 2"/>
          <p:cNvSpPr/>
          <p:nvPr/>
        </p:nvSpPr>
        <p:spPr>
          <a:xfrm>
            <a:off x="548640" y="1261872"/>
            <a:ext cx="11064240" cy="457200"/>
          </a:xfrm>
          <a:prstGeom prst="rect">
            <a:avLst/>
          </a:prstGeom>
          <a:noFill/>
          <a:ln/>
        </p:spPr>
        <p:txBody>
          <a:bodyPr wrap="square" lIns="0" tIns="0" rIns="0" bIns="0" rtlCol="0" anchor="t"/>
          <a:lstStyle/>
          <a:p>
            <a:pPr indent="0" marL="0">
              <a:lnSpc>
                <a:spcPts val="2000"/>
              </a:lnSpc>
              <a:buNone/>
            </a:pPr>
            <a:r>
              <a:rPr lang="en-US" sz="1400" dirty="0">
                <a:solidFill>
                  <a:srgbClr val="1A2333"/>
                </a:solidFill>
                <a:latin typeface="Calibri" pitchFamily="34" charset="0"/>
                <a:ea typeface="Calibri" pitchFamily="34" charset="-122"/>
                <a:cs typeface="Calibri" pitchFamily="34" charset="-120"/>
              </a:rPr>
              <a:t>Reuse of assumptions is a rational response to real schedule and cost pressure, and in most cases it produces the right answer. Any proposal that ignores that will be rejected, and should be.</a:t>
            </a:r>
            <a:endParaRPr lang="en-US" sz="1400" dirty="0"/>
          </a:p>
        </p:txBody>
      </p:sp>
      <p:sp>
        <p:nvSpPr>
          <p:cNvPr id="5" name="Shape 3"/>
          <p:cNvSpPr/>
          <p:nvPr/>
        </p:nvSpPr>
        <p:spPr>
          <a:xfrm>
            <a:off x="548640" y="1975104"/>
            <a:ext cx="5394960" cy="1444752"/>
          </a:xfrm>
          <a:prstGeom prst="roundRect">
            <a:avLst>
              <a:gd name="adj" fmla="val 3165"/>
            </a:avLst>
          </a:prstGeom>
          <a:solidFill>
            <a:srgbClr val="E9EEF7"/>
          </a:solidFill>
          <a:ln w="12700">
            <a:solidFill>
              <a:srgbClr val="D3DEEF"/>
            </a:solidFill>
            <a:prstDash val="solid"/>
          </a:ln>
        </p:spPr>
      </p:sp>
      <p:sp>
        <p:nvSpPr>
          <p:cNvPr id="6" name="Text 4"/>
          <p:cNvSpPr/>
          <p:nvPr/>
        </p:nvSpPr>
        <p:spPr>
          <a:xfrm>
            <a:off x="786384" y="2121408"/>
            <a:ext cx="4937760" cy="329184"/>
          </a:xfrm>
          <a:prstGeom prst="rect">
            <a:avLst/>
          </a:prstGeom>
          <a:noFill/>
          <a:ln/>
        </p:spPr>
        <p:txBody>
          <a:bodyPr wrap="square" lIns="0" tIns="0" rIns="0" bIns="0" rtlCol="0" anchor="ctr"/>
          <a:lstStyle/>
          <a:p>
            <a:pPr indent="0" marL="0">
              <a:buNone/>
            </a:pPr>
            <a:r>
              <a:rPr lang="en-US" sz="1300" b="1" dirty="0">
                <a:solidFill>
                  <a:srgbClr val="132A4E"/>
                </a:solidFill>
                <a:latin typeface="Calibri" pitchFamily="34" charset="0"/>
                <a:ea typeface="Calibri" pitchFamily="34" charset="-122"/>
                <a:cs typeface="Calibri" pitchFamily="34" charset="-120"/>
              </a:rPr>
              <a:t>The pressure is real</a:t>
            </a:r>
            <a:endParaRPr lang="en-US" sz="1300" dirty="0"/>
          </a:p>
        </p:txBody>
      </p:sp>
      <p:sp>
        <p:nvSpPr>
          <p:cNvPr id="7" name="Text 5"/>
          <p:cNvSpPr/>
          <p:nvPr/>
        </p:nvSpPr>
        <p:spPr>
          <a:xfrm>
            <a:off x="786384" y="2487168"/>
            <a:ext cx="4956048" cy="804672"/>
          </a:xfrm>
          <a:prstGeom prst="rect">
            <a:avLst/>
          </a:prstGeom>
          <a:noFill/>
          <a:ln/>
        </p:spPr>
        <p:txBody>
          <a:bodyPr wrap="square" lIns="0" tIns="0" rIns="0" bIns="0" rtlCol="0" anchor="t"/>
          <a:lstStyle/>
          <a:p>
            <a:pPr indent="0" marL="0">
              <a:lnSpc>
                <a:spcPts val="1700"/>
              </a:lnSpc>
              <a:buNone/>
            </a:pPr>
            <a:r>
              <a:rPr lang="en-US" sz="1200" dirty="0">
                <a:solidFill>
                  <a:srgbClr val="1A2333"/>
                </a:solidFill>
                <a:latin typeface="Calibri" pitchFamily="34" charset="0"/>
                <a:ea typeface="Calibri" pitchFamily="34" charset="-122"/>
                <a:cs typeface="Calibri" pitchFamily="34" charset="-120"/>
              </a:rPr>
              <a:t>Assumption sets are written during proposal and early design, the most compressed phase of any program. Rebuilding one costs weeks of senior engineering time the bid does not have.</a:t>
            </a:r>
            <a:endParaRPr lang="en-US" sz="1200" dirty="0"/>
          </a:p>
        </p:txBody>
      </p:sp>
      <p:sp>
        <p:nvSpPr>
          <p:cNvPr id="8" name="Shape 6"/>
          <p:cNvSpPr/>
          <p:nvPr/>
        </p:nvSpPr>
        <p:spPr>
          <a:xfrm>
            <a:off x="6245352" y="1975104"/>
            <a:ext cx="5394960" cy="1444752"/>
          </a:xfrm>
          <a:prstGeom prst="roundRect">
            <a:avLst>
              <a:gd name="adj" fmla="val 3165"/>
            </a:avLst>
          </a:prstGeom>
          <a:solidFill>
            <a:srgbClr val="FFFFFF"/>
          </a:solidFill>
          <a:ln w="12700">
            <a:solidFill>
              <a:srgbClr val="D3DEEF"/>
            </a:solidFill>
            <a:prstDash val="solid"/>
          </a:ln>
        </p:spPr>
      </p:sp>
      <p:sp>
        <p:nvSpPr>
          <p:cNvPr id="9" name="Text 7"/>
          <p:cNvSpPr/>
          <p:nvPr/>
        </p:nvSpPr>
        <p:spPr>
          <a:xfrm>
            <a:off x="6483096" y="2121408"/>
            <a:ext cx="4937760" cy="329184"/>
          </a:xfrm>
          <a:prstGeom prst="rect">
            <a:avLst/>
          </a:prstGeom>
          <a:noFill/>
          <a:ln/>
        </p:spPr>
        <p:txBody>
          <a:bodyPr wrap="square" lIns="0" tIns="0" rIns="0" bIns="0" rtlCol="0" anchor="ctr"/>
          <a:lstStyle/>
          <a:p>
            <a:pPr indent="0" marL="0">
              <a:buNone/>
            </a:pPr>
            <a:r>
              <a:rPr lang="en-US" sz="1300" b="1" dirty="0">
                <a:solidFill>
                  <a:srgbClr val="132A4E"/>
                </a:solidFill>
                <a:latin typeface="Calibri" pitchFamily="34" charset="0"/>
                <a:ea typeface="Calibri" pitchFamily="34" charset="-122"/>
                <a:cs typeface="Calibri" pitchFamily="34" charset="-120"/>
              </a:rPr>
              <a:t>The incentives point one way</a:t>
            </a:r>
            <a:endParaRPr lang="en-US" sz="1300" dirty="0"/>
          </a:p>
        </p:txBody>
      </p:sp>
      <p:sp>
        <p:nvSpPr>
          <p:cNvPr id="10" name="Text 8"/>
          <p:cNvSpPr/>
          <p:nvPr/>
        </p:nvSpPr>
        <p:spPr>
          <a:xfrm>
            <a:off x="6483096" y="2487168"/>
            <a:ext cx="4956048" cy="804672"/>
          </a:xfrm>
          <a:prstGeom prst="rect">
            <a:avLst/>
          </a:prstGeom>
          <a:noFill/>
          <a:ln/>
        </p:spPr>
        <p:txBody>
          <a:bodyPr wrap="square" lIns="0" tIns="0" rIns="0" bIns="0" rtlCol="0" anchor="t"/>
          <a:lstStyle/>
          <a:p>
            <a:pPr indent="0" marL="0">
              <a:lnSpc>
                <a:spcPts val="1700"/>
              </a:lnSpc>
              <a:buNone/>
            </a:pPr>
            <a:r>
              <a:rPr lang="en-US" sz="1200" dirty="0">
                <a:solidFill>
                  <a:srgbClr val="1A2333"/>
                </a:solidFill>
                <a:latin typeface="Calibri" pitchFamily="34" charset="0"/>
                <a:ea typeface="Calibri" pitchFamily="34" charset="-122"/>
                <a:cs typeface="Calibri" pitchFamily="34" charset="-120"/>
              </a:rPr>
              <a:t>Rebuilding costs the bid, now, visibly. Not rebuilding costs execution or the fleet, years later, invisibly. Every individual decision to reuse is locally sensible.</a:t>
            </a:r>
            <a:endParaRPr lang="en-US" sz="1200" dirty="0"/>
          </a:p>
        </p:txBody>
      </p:sp>
      <p:sp>
        <p:nvSpPr>
          <p:cNvPr id="11" name="Shape 9"/>
          <p:cNvSpPr/>
          <p:nvPr/>
        </p:nvSpPr>
        <p:spPr>
          <a:xfrm>
            <a:off x="548640" y="3602736"/>
            <a:ext cx="5394960" cy="1444752"/>
          </a:xfrm>
          <a:prstGeom prst="roundRect">
            <a:avLst>
              <a:gd name="adj" fmla="val 3165"/>
            </a:avLst>
          </a:prstGeom>
          <a:solidFill>
            <a:srgbClr val="E9EEF7"/>
          </a:solidFill>
          <a:ln w="12700">
            <a:solidFill>
              <a:srgbClr val="D3DEEF"/>
            </a:solidFill>
            <a:prstDash val="solid"/>
          </a:ln>
        </p:spPr>
      </p:sp>
      <p:sp>
        <p:nvSpPr>
          <p:cNvPr id="12" name="Text 10"/>
          <p:cNvSpPr/>
          <p:nvPr/>
        </p:nvSpPr>
        <p:spPr>
          <a:xfrm>
            <a:off x="786384" y="3749040"/>
            <a:ext cx="4937760" cy="329184"/>
          </a:xfrm>
          <a:prstGeom prst="rect">
            <a:avLst/>
          </a:prstGeom>
          <a:noFill/>
          <a:ln/>
        </p:spPr>
        <p:txBody>
          <a:bodyPr wrap="square" lIns="0" tIns="0" rIns="0" bIns="0" rtlCol="0" anchor="ctr"/>
          <a:lstStyle/>
          <a:p>
            <a:pPr indent="0" marL="0">
              <a:buNone/>
            </a:pPr>
            <a:r>
              <a:rPr lang="en-US" sz="1300" b="1" dirty="0">
                <a:solidFill>
                  <a:srgbClr val="132A4E"/>
                </a:solidFill>
                <a:latin typeface="Calibri" pitchFamily="34" charset="0"/>
                <a:ea typeface="Calibri" pitchFamily="34" charset="-122"/>
                <a:cs typeface="Calibri" pitchFamily="34" charset="-120"/>
              </a:rPr>
              <a:t>Reuse is usually correct</a:t>
            </a:r>
            <a:endParaRPr lang="en-US" sz="1300" dirty="0"/>
          </a:p>
        </p:txBody>
      </p:sp>
      <p:sp>
        <p:nvSpPr>
          <p:cNvPr id="13" name="Text 11"/>
          <p:cNvSpPr/>
          <p:nvPr/>
        </p:nvSpPr>
        <p:spPr>
          <a:xfrm>
            <a:off x="786384" y="4114800"/>
            <a:ext cx="4956048" cy="804672"/>
          </a:xfrm>
          <a:prstGeom prst="rect">
            <a:avLst/>
          </a:prstGeom>
          <a:noFill/>
          <a:ln/>
        </p:spPr>
        <p:txBody>
          <a:bodyPr wrap="square" lIns="0" tIns="0" rIns="0" bIns="0" rtlCol="0" anchor="t"/>
          <a:lstStyle/>
          <a:p>
            <a:pPr indent="0" marL="0">
              <a:lnSpc>
                <a:spcPts val="1700"/>
              </a:lnSpc>
              <a:buNone/>
            </a:pPr>
            <a:r>
              <a:rPr lang="en-US" sz="1200" dirty="0">
                <a:solidFill>
                  <a:srgbClr val="1A2333"/>
                </a:solidFill>
                <a:latin typeface="Calibri" pitchFamily="34" charset="0"/>
                <a:ea typeface="Calibri" pitchFamily="34" charset="-122"/>
                <a:cs typeface="Calibri" pitchFamily="34" charset="-120"/>
              </a:rPr>
              <a:t>When the part, the installation, the environment, the customer and the maintenance program are genuinely the same, the earlier assumption holds and rebuilding it wastes money.</a:t>
            </a:r>
            <a:endParaRPr lang="en-US" sz="1200" dirty="0"/>
          </a:p>
        </p:txBody>
      </p:sp>
      <p:sp>
        <p:nvSpPr>
          <p:cNvPr id="14" name="Shape 12"/>
          <p:cNvSpPr/>
          <p:nvPr/>
        </p:nvSpPr>
        <p:spPr>
          <a:xfrm>
            <a:off x="6245352" y="3602736"/>
            <a:ext cx="5394960" cy="1444752"/>
          </a:xfrm>
          <a:prstGeom prst="roundRect">
            <a:avLst>
              <a:gd name="adj" fmla="val 3165"/>
            </a:avLst>
          </a:prstGeom>
          <a:solidFill>
            <a:srgbClr val="FFFFFF"/>
          </a:solidFill>
          <a:ln w="12700">
            <a:solidFill>
              <a:srgbClr val="D3DEEF"/>
            </a:solidFill>
            <a:prstDash val="solid"/>
          </a:ln>
        </p:spPr>
      </p:sp>
      <p:sp>
        <p:nvSpPr>
          <p:cNvPr id="15" name="Text 13"/>
          <p:cNvSpPr/>
          <p:nvPr/>
        </p:nvSpPr>
        <p:spPr>
          <a:xfrm>
            <a:off x="6483096" y="3749040"/>
            <a:ext cx="4937760" cy="329184"/>
          </a:xfrm>
          <a:prstGeom prst="rect">
            <a:avLst/>
          </a:prstGeom>
          <a:noFill/>
          <a:ln/>
        </p:spPr>
        <p:txBody>
          <a:bodyPr wrap="square" lIns="0" tIns="0" rIns="0" bIns="0" rtlCol="0" anchor="ctr"/>
          <a:lstStyle/>
          <a:p>
            <a:pPr indent="0" marL="0">
              <a:buNone/>
            </a:pPr>
            <a:r>
              <a:rPr lang="en-US" sz="1300" b="1" dirty="0">
                <a:solidFill>
                  <a:srgbClr val="132A4E"/>
                </a:solidFill>
                <a:latin typeface="Calibri" pitchFamily="34" charset="0"/>
                <a:ea typeface="Calibri" pitchFamily="34" charset="-122"/>
                <a:cs typeface="Calibri" pitchFamily="34" charset="-120"/>
              </a:rPr>
              <a:t>So the problem is not reuse</a:t>
            </a:r>
            <a:endParaRPr lang="en-US" sz="1300" dirty="0"/>
          </a:p>
        </p:txBody>
      </p:sp>
      <p:sp>
        <p:nvSpPr>
          <p:cNvPr id="16" name="Text 14"/>
          <p:cNvSpPr/>
          <p:nvPr/>
        </p:nvSpPr>
        <p:spPr>
          <a:xfrm>
            <a:off x="6483096" y="4114800"/>
            <a:ext cx="4956048" cy="804672"/>
          </a:xfrm>
          <a:prstGeom prst="rect">
            <a:avLst/>
          </a:prstGeom>
          <a:noFill/>
          <a:ln/>
        </p:spPr>
        <p:txBody>
          <a:bodyPr wrap="square" lIns="0" tIns="0" rIns="0" bIns="0" rtlCol="0" anchor="t"/>
          <a:lstStyle/>
          <a:p>
            <a:pPr indent="0" marL="0">
              <a:lnSpc>
                <a:spcPts val="1700"/>
              </a:lnSpc>
              <a:buNone/>
            </a:pPr>
            <a:r>
              <a:rPr lang="en-US" sz="1200" dirty="0">
                <a:solidFill>
                  <a:srgbClr val="1A2333"/>
                </a:solidFill>
                <a:latin typeface="Calibri" pitchFamily="34" charset="0"/>
                <a:ea typeface="Calibri" pitchFamily="34" charset="-122"/>
                <a:cs typeface="Calibri" pitchFamily="34" charset="-120"/>
              </a:rPr>
              <a:t>The problem is reuse in a form nobody can check. If the conditions are not written down and not tied to anything, then when one changes there is no way to find out.</a:t>
            </a:r>
            <a:endParaRPr lang="en-US" sz="1200" dirty="0"/>
          </a:p>
        </p:txBody>
      </p:sp>
      <p:sp>
        <p:nvSpPr>
          <p:cNvPr id="17" name="Shape 15"/>
          <p:cNvSpPr/>
          <p:nvPr/>
        </p:nvSpPr>
        <p:spPr>
          <a:xfrm>
            <a:off x="548640" y="5230368"/>
            <a:ext cx="11091672" cy="1225296"/>
          </a:xfrm>
          <a:prstGeom prst="roundRect">
            <a:avLst>
              <a:gd name="adj" fmla="val 3731"/>
            </a:avLst>
          </a:prstGeom>
          <a:solidFill>
            <a:srgbClr val="132A4E"/>
          </a:solidFill>
          <a:ln w="12700">
            <a:solidFill>
              <a:srgbClr val="132A4E"/>
            </a:solidFill>
            <a:prstDash val="solid"/>
          </a:ln>
        </p:spPr>
      </p:sp>
      <p:sp>
        <p:nvSpPr>
          <p:cNvPr id="18" name="Text 16"/>
          <p:cNvSpPr/>
          <p:nvPr/>
        </p:nvSpPr>
        <p:spPr>
          <a:xfrm>
            <a:off x="841248" y="5367528"/>
            <a:ext cx="10515600" cy="274320"/>
          </a:xfrm>
          <a:prstGeom prst="rect">
            <a:avLst/>
          </a:prstGeom>
          <a:noFill/>
          <a:ln/>
        </p:spPr>
        <p:txBody>
          <a:bodyPr wrap="square" lIns="0" tIns="0" rIns="0" bIns="0" rtlCol="0" anchor="ctr"/>
          <a:lstStyle/>
          <a:p>
            <a:pPr indent="0" marL="0">
              <a:buNone/>
            </a:pPr>
            <a:r>
              <a:rPr lang="en-US" sz="1200" b="1" dirty="0">
                <a:solidFill>
                  <a:srgbClr val="F0B37E"/>
                </a:solidFill>
                <a:latin typeface="Calibri" pitchFamily="34" charset="0"/>
                <a:ea typeface="Calibri" pitchFamily="34" charset="-122"/>
                <a:cs typeface="Calibri" pitchFamily="34" charset="-120"/>
              </a:rPr>
              <a:t>What we are actually asking for</a:t>
            </a:r>
            <a:endParaRPr lang="en-US" sz="1200" dirty="0"/>
          </a:p>
        </p:txBody>
      </p:sp>
      <p:sp>
        <p:nvSpPr>
          <p:cNvPr id="19" name="Text 17"/>
          <p:cNvSpPr/>
          <p:nvPr/>
        </p:nvSpPr>
        <p:spPr>
          <a:xfrm>
            <a:off x="841248" y="5669280"/>
            <a:ext cx="10515600" cy="658368"/>
          </a:xfrm>
          <a:prstGeom prst="rect">
            <a:avLst/>
          </a:prstGeom>
          <a:noFill/>
          <a:ln/>
        </p:spPr>
        <p:txBody>
          <a:bodyPr wrap="square" lIns="0" tIns="0" rIns="0" bIns="0" rtlCol="0" anchor="t"/>
          <a:lstStyle/>
          <a:p>
            <a:pPr indent="0" marL="0">
              <a:lnSpc>
                <a:spcPts val="1900"/>
              </a:lnSpc>
              <a:buNone/>
            </a:pPr>
            <a:r>
              <a:rPr lang="en-US" sz="1300" dirty="0">
                <a:solidFill>
                  <a:srgbClr val="FFFFFF"/>
                </a:solidFill>
                <a:latin typeface="Calibri" pitchFamily="34" charset="0"/>
                <a:ea typeface="Calibri" pitchFamily="34" charset="-122"/>
                <a:cs typeface="Calibri" pitchFamily="34" charset="-120"/>
              </a:rPr>
              <a:t>Writing the conditions down at the moment the assumption is made costs minutes, because the engineer making it already knows them. Reconstructing the same conditions three years later costs weeks, and often cannot be done at all. The expensive version of this work is the one we do today.</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292608"/>
            <a:ext cx="11064240" cy="237744"/>
          </a:xfrm>
          <a:prstGeom prst="rect">
            <a:avLst/>
          </a:prstGeom>
          <a:noFill/>
          <a:ln/>
        </p:spPr>
        <p:txBody>
          <a:bodyPr wrap="square" lIns="0" tIns="0" rIns="0" bIns="0" rtlCol="0" anchor="ctr"/>
          <a:lstStyle/>
          <a:p>
            <a:pPr indent="0" marL="0">
              <a:buNone/>
            </a:pPr>
            <a:r>
              <a:rPr lang="en-US" sz="1050" b="1" spc="160" kern="0" dirty="0">
                <a:solidFill>
                  <a:srgbClr val="B4530C"/>
                </a:solidFill>
                <a:latin typeface="Calibri" pitchFamily="34" charset="0"/>
                <a:ea typeface="Calibri" pitchFamily="34" charset="-122"/>
                <a:cs typeface="Calibri" pitchFamily="34" charset="-120"/>
              </a:rPr>
              <a:t>WHAT GOES WRONG</a:t>
            </a:r>
            <a:endParaRPr lang="en-US" sz="1050" dirty="0"/>
          </a:p>
        </p:txBody>
      </p:sp>
      <p:sp>
        <p:nvSpPr>
          <p:cNvPr id="3" name="Text 1"/>
          <p:cNvSpPr/>
          <p:nvPr/>
        </p:nvSpPr>
        <p:spPr>
          <a:xfrm>
            <a:off x="548640" y="548640"/>
            <a:ext cx="11064240" cy="658368"/>
          </a:xfrm>
          <a:prstGeom prst="rect">
            <a:avLst/>
          </a:prstGeom>
          <a:noFill/>
          <a:ln/>
        </p:spPr>
        <p:txBody>
          <a:bodyPr wrap="square" lIns="0" tIns="0" rIns="0" bIns="0" rtlCol="0" anchor="t"/>
          <a:lstStyle/>
          <a:p>
            <a:pPr indent="0" marL="0">
              <a:buNone/>
            </a:pPr>
            <a:r>
              <a:rPr lang="en-US" sz="2900" b="1" dirty="0">
                <a:solidFill>
                  <a:srgbClr val="132A4E"/>
                </a:solidFill>
                <a:latin typeface="Cambria" pitchFamily="34" charset="0"/>
                <a:ea typeface="Cambria" pitchFamily="34" charset="-122"/>
                <a:cs typeface="Cambria" pitchFamily="34" charset="-120"/>
              </a:rPr>
              <a:t>The conclusion travels. The conditions stay behind.</a:t>
            </a:r>
            <a:endParaRPr lang="en-US" sz="2900" dirty="0"/>
          </a:p>
        </p:txBody>
      </p:sp>
      <p:sp>
        <p:nvSpPr>
          <p:cNvPr id="4" name="Text 2"/>
          <p:cNvSpPr/>
          <p:nvPr/>
        </p:nvSpPr>
        <p:spPr>
          <a:xfrm>
            <a:off x="548640" y="1261872"/>
            <a:ext cx="11064240" cy="457200"/>
          </a:xfrm>
          <a:prstGeom prst="rect">
            <a:avLst/>
          </a:prstGeom>
          <a:noFill/>
          <a:ln/>
        </p:spPr>
        <p:txBody>
          <a:bodyPr wrap="square" lIns="0" tIns="0" rIns="0" bIns="0" rtlCol="0" anchor="t"/>
          <a:lstStyle/>
          <a:p>
            <a:pPr indent="0" marL="0">
              <a:lnSpc>
                <a:spcPts val="2000"/>
              </a:lnSpc>
              <a:buNone/>
            </a:pPr>
            <a:r>
              <a:rPr lang="en-US" sz="1400" dirty="0">
                <a:solidFill>
                  <a:srgbClr val="1A2333"/>
                </a:solidFill>
                <a:latin typeface="Calibri" pitchFamily="34" charset="0"/>
                <a:ea typeface="Calibri" pitchFamily="34" charset="-122"/>
                <a:cs typeface="Calibri" pitchFamily="34" charset="-120"/>
              </a:rPr>
              <a:t>What physically moves between programs is the sentence. The reasoning lives in the head of an engineer, in a review held years ago, and in another program's documents.</a:t>
            </a:r>
            <a:endParaRPr lang="en-US" sz="1400" dirty="0"/>
          </a:p>
        </p:txBody>
      </p:sp>
      <p:sp>
        <p:nvSpPr>
          <p:cNvPr id="5" name="Shape 3"/>
          <p:cNvSpPr/>
          <p:nvPr/>
        </p:nvSpPr>
        <p:spPr>
          <a:xfrm>
            <a:off x="548640" y="1883664"/>
            <a:ext cx="5394960" cy="1783080"/>
          </a:xfrm>
          <a:prstGeom prst="roundRect">
            <a:avLst>
              <a:gd name="adj" fmla="val 2564"/>
            </a:avLst>
          </a:prstGeom>
          <a:solidFill>
            <a:srgbClr val="DFF0ED"/>
          </a:solidFill>
          <a:ln w="12700">
            <a:solidFill>
              <a:srgbClr val="B9DBD5"/>
            </a:solidFill>
            <a:prstDash val="solid"/>
          </a:ln>
        </p:spPr>
      </p:sp>
      <p:sp>
        <p:nvSpPr>
          <p:cNvPr id="6" name="Text 4"/>
          <p:cNvSpPr/>
          <p:nvPr/>
        </p:nvSpPr>
        <p:spPr>
          <a:xfrm>
            <a:off x="822960" y="2011680"/>
            <a:ext cx="4846320" cy="274320"/>
          </a:xfrm>
          <a:prstGeom prst="rect">
            <a:avLst/>
          </a:prstGeom>
          <a:noFill/>
          <a:ln/>
        </p:spPr>
        <p:txBody>
          <a:bodyPr wrap="square" lIns="0" tIns="0" rIns="0" bIns="0" rtlCol="0" anchor="ctr"/>
          <a:lstStyle/>
          <a:p>
            <a:pPr indent="0" marL="0">
              <a:buNone/>
            </a:pPr>
            <a:r>
              <a:rPr lang="en-US" sz="1250" b="1" dirty="0">
                <a:solidFill>
                  <a:srgbClr val="0F6B62"/>
                </a:solidFill>
                <a:latin typeface="Calibri" pitchFamily="34" charset="0"/>
                <a:ea typeface="Calibri" pitchFamily="34" charset="-122"/>
                <a:cs typeface="Calibri" pitchFamily="34" charset="-120"/>
              </a:rPr>
              <a:t>What arrives</a:t>
            </a:r>
            <a:endParaRPr lang="en-US" sz="1250" dirty="0"/>
          </a:p>
        </p:txBody>
      </p:sp>
      <p:sp>
        <p:nvSpPr>
          <p:cNvPr id="7" name="Text 5"/>
          <p:cNvSpPr/>
          <p:nvPr/>
        </p:nvSpPr>
        <p:spPr>
          <a:xfrm>
            <a:off x="822960" y="2340864"/>
            <a:ext cx="4864608" cy="1207008"/>
          </a:xfrm>
          <a:prstGeom prst="rect">
            <a:avLst/>
          </a:prstGeom>
          <a:noFill/>
          <a:ln/>
        </p:spPr>
        <p:txBody>
          <a:bodyPr wrap="square" lIns="0" tIns="0" rIns="0" bIns="0" rtlCol="0" anchor="t"/>
          <a:lstStyle/>
          <a:p>
            <a:pPr indent="0" marL="0">
              <a:lnSpc>
                <a:spcPts val="1900"/>
              </a:lnSpc>
              <a:buNone/>
            </a:pPr>
            <a:r>
              <a:rPr lang="en-US" sz="1250" dirty="0">
                <a:solidFill>
                  <a:srgbClr val="1A2333"/>
                </a:solidFill>
                <a:latin typeface="Calibri" pitchFamily="34" charset="0"/>
                <a:ea typeface="Calibri" pitchFamily="34" charset="-122"/>
                <a:cs typeface="Calibri" pitchFamily="34" charset="-120"/>
              </a:rPr>
              <a:t>"Undetected blockage needs no design mitigation." One sentence, reviewed and approved, now part of how the new program understands the product.</a:t>
            </a:r>
            <a:endParaRPr lang="en-US" sz="1250" dirty="0"/>
          </a:p>
        </p:txBody>
      </p:sp>
      <p:sp>
        <p:nvSpPr>
          <p:cNvPr id="8" name="Shape 6"/>
          <p:cNvSpPr/>
          <p:nvPr/>
        </p:nvSpPr>
        <p:spPr>
          <a:xfrm>
            <a:off x="6245352" y="1883664"/>
            <a:ext cx="5394960" cy="1783080"/>
          </a:xfrm>
          <a:prstGeom prst="roundRect">
            <a:avLst>
              <a:gd name="adj" fmla="val 2564"/>
            </a:avLst>
          </a:prstGeom>
          <a:solidFill>
            <a:srgbClr val="FBEBDC"/>
          </a:solidFill>
          <a:ln w="12700">
            <a:solidFill>
              <a:srgbClr val="ECC8AE"/>
            </a:solidFill>
            <a:prstDash val="solid"/>
          </a:ln>
        </p:spPr>
      </p:sp>
      <p:sp>
        <p:nvSpPr>
          <p:cNvPr id="9" name="Text 7"/>
          <p:cNvSpPr/>
          <p:nvPr/>
        </p:nvSpPr>
        <p:spPr>
          <a:xfrm>
            <a:off x="6519672" y="2011680"/>
            <a:ext cx="4846320" cy="274320"/>
          </a:xfrm>
          <a:prstGeom prst="rect">
            <a:avLst/>
          </a:prstGeom>
          <a:noFill/>
          <a:ln/>
        </p:spPr>
        <p:txBody>
          <a:bodyPr wrap="square" lIns="0" tIns="0" rIns="0" bIns="0" rtlCol="0" anchor="ctr"/>
          <a:lstStyle/>
          <a:p>
            <a:pPr indent="0" marL="0">
              <a:buNone/>
            </a:pPr>
            <a:r>
              <a:rPr lang="en-US" sz="1250" b="1" dirty="0">
                <a:solidFill>
                  <a:srgbClr val="B4530C"/>
                </a:solidFill>
                <a:latin typeface="Calibri" pitchFamily="34" charset="0"/>
                <a:ea typeface="Calibri" pitchFamily="34" charset="-122"/>
                <a:cs typeface="Calibri" pitchFamily="34" charset="-120"/>
              </a:rPr>
              <a:t>What stays behind</a:t>
            </a:r>
            <a:endParaRPr lang="en-US" sz="1250" dirty="0"/>
          </a:p>
        </p:txBody>
      </p:sp>
      <p:sp>
        <p:nvSpPr>
          <p:cNvPr id="10" name="Text 8"/>
          <p:cNvSpPr/>
          <p:nvPr/>
        </p:nvSpPr>
        <p:spPr>
          <a:xfrm>
            <a:off x="6519672" y="2340864"/>
            <a:ext cx="4864608" cy="1207008"/>
          </a:xfrm>
          <a:prstGeom prst="rect">
            <a:avLst/>
          </a:prstGeom>
          <a:noFill/>
          <a:ln/>
        </p:spPr>
        <p:txBody>
          <a:bodyPr wrap="square" lIns="0" tIns="0" rIns="0" bIns="0" rtlCol="0" anchor="t"/>
          <a:lstStyle/>
          <a:p>
            <a:pPr indent="0" marL="0">
              <a:lnSpc>
                <a:spcPts val="1900"/>
              </a:lnSpc>
              <a:buNone/>
            </a:pPr>
            <a:r>
              <a:rPr lang="en-US" sz="1250" dirty="0">
                <a:solidFill>
                  <a:srgbClr val="1A2333"/>
                </a:solidFill>
                <a:latin typeface="Calibri" pitchFamily="34" charset="0"/>
                <a:ea typeface="Calibri" pitchFamily="34" charset="-122"/>
                <a:cs typeface="Calibri" pitchFamily="34" charset="-120"/>
              </a:rPr>
              <a:t>The alerting threshold, the MEL condition, the inspection interval, the bay location, and the name of whoever accepted the residual risk.</a:t>
            </a:r>
            <a:endParaRPr lang="en-US" sz="1250" dirty="0"/>
          </a:p>
        </p:txBody>
      </p:sp>
      <p:sp>
        <p:nvSpPr>
          <p:cNvPr id="11" name="Text 9"/>
          <p:cNvSpPr/>
          <p:nvPr/>
        </p:nvSpPr>
        <p:spPr>
          <a:xfrm>
            <a:off x="548640" y="3840480"/>
            <a:ext cx="11064240" cy="274320"/>
          </a:xfrm>
          <a:prstGeom prst="rect">
            <a:avLst/>
          </a:prstGeom>
          <a:noFill/>
          <a:ln/>
        </p:spPr>
        <p:txBody>
          <a:bodyPr wrap="square" lIns="0" tIns="0" rIns="0" bIns="0" rtlCol="0" anchor="ctr"/>
          <a:lstStyle/>
          <a:p>
            <a:pPr indent="0" marL="0">
              <a:buNone/>
            </a:pPr>
            <a:r>
              <a:rPr lang="en-US" sz="1350" b="1" dirty="0">
                <a:solidFill>
                  <a:srgbClr val="132A4E"/>
                </a:solidFill>
                <a:latin typeface="Calibri" pitchFamily="34" charset="0"/>
                <a:ea typeface="Calibri" pitchFamily="34" charset="-122"/>
                <a:cs typeface="Calibri" pitchFamily="34" charset="-120"/>
              </a:rPr>
              <a:t>A part number answers only one of these questions</a:t>
            </a:r>
            <a:endParaRPr lang="en-US" sz="1350" dirty="0"/>
          </a:p>
        </p:txBody>
      </p:sp>
      <p:sp>
        <p:nvSpPr>
          <p:cNvPr id="12" name="Shape 10"/>
          <p:cNvSpPr/>
          <p:nvPr/>
        </p:nvSpPr>
        <p:spPr>
          <a:xfrm>
            <a:off x="548640" y="4224528"/>
            <a:ext cx="2606040" cy="585216"/>
          </a:xfrm>
          <a:prstGeom prst="roundRect">
            <a:avLst>
              <a:gd name="adj" fmla="val 7813"/>
            </a:avLst>
          </a:prstGeom>
          <a:solidFill>
            <a:srgbClr val="FFFFFF"/>
          </a:solidFill>
          <a:ln w="12700">
            <a:solidFill>
              <a:srgbClr val="D3DEEF"/>
            </a:solidFill>
            <a:prstDash val="solid"/>
          </a:ln>
        </p:spPr>
      </p:sp>
      <p:sp>
        <p:nvSpPr>
          <p:cNvPr id="13" name="Text 11"/>
          <p:cNvSpPr/>
          <p:nvPr/>
        </p:nvSpPr>
        <p:spPr>
          <a:xfrm>
            <a:off x="694944" y="4224528"/>
            <a:ext cx="2340864" cy="585216"/>
          </a:xfrm>
          <a:prstGeom prst="rect">
            <a:avLst/>
          </a:prstGeom>
          <a:noFill/>
          <a:ln/>
        </p:spPr>
        <p:txBody>
          <a:bodyPr wrap="square" lIns="0" tIns="0" rIns="0" bIns="0" rtlCol="0" anchor="ctr"/>
          <a:lstStyle/>
          <a:p>
            <a:pPr indent="0" marL="0">
              <a:lnSpc>
                <a:spcPts val="1500"/>
              </a:lnSpc>
              <a:buNone/>
            </a:pPr>
            <a:r>
              <a:rPr lang="en-US" sz="1150" dirty="0">
                <a:solidFill>
                  <a:srgbClr val="1A2333"/>
                </a:solidFill>
                <a:latin typeface="Calibri" pitchFamily="34" charset="0"/>
                <a:ea typeface="Calibri" pitchFamily="34" charset="-122"/>
                <a:cs typeface="Calibri" pitchFamily="34" charset="-120"/>
              </a:rPr>
              <a:t>How and where it is installed</a:t>
            </a:r>
            <a:endParaRPr lang="en-US" sz="1150" dirty="0"/>
          </a:p>
        </p:txBody>
      </p:sp>
      <p:sp>
        <p:nvSpPr>
          <p:cNvPr id="14" name="Shape 12"/>
          <p:cNvSpPr/>
          <p:nvPr/>
        </p:nvSpPr>
        <p:spPr>
          <a:xfrm>
            <a:off x="3346704" y="4224528"/>
            <a:ext cx="2606040" cy="585216"/>
          </a:xfrm>
          <a:prstGeom prst="roundRect">
            <a:avLst>
              <a:gd name="adj" fmla="val 7813"/>
            </a:avLst>
          </a:prstGeom>
          <a:solidFill>
            <a:srgbClr val="FFFFFF"/>
          </a:solidFill>
          <a:ln w="12700">
            <a:solidFill>
              <a:srgbClr val="D3DEEF"/>
            </a:solidFill>
            <a:prstDash val="solid"/>
          </a:ln>
        </p:spPr>
      </p:sp>
      <p:sp>
        <p:nvSpPr>
          <p:cNvPr id="15" name="Text 13"/>
          <p:cNvSpPr/>
          <p:nvPr/>
        </p:nvSpPr>
        <p:spPr>
          <a:xfrm>
            <a:off x="3493008" y="4224528"/>
            <a:ext cx="2340864" cy="585216"/>
          </a:xfrm>
          <a:prstGeom prst="rect">
            <a:avLst/>
          </a:prstGeom>
          <a:noFill/>
          <a:ln/>
        </p:spPr>
        <p:txBody>
          <a:bodyPr wrap="square" lIns="0" tIns="0" rIns="0" bIns="0" rtlCol="0" anchor="ctr"/>
          <a:lstStyle/>
          <a:p>
            <a:pPr indent="0" marL="0">
              <a:lnSpc>
                <a:spcPts val="1500"/>
              </a:lnSpc>
              <a:buNone/>
            </a:pPr>
            <a:r>
              <a:rPr lang="en-US" sz="1150" dirty="0">
                <a:solidFill>
                  <a:srgbClr val="1A2333"/>
                </a:solidFill>
                <a:latin typeface="Calibri" pitchFamily="34" charset="0"/>
                <a:ea typeface="Calibri" pitchFamily="34" charset="-122"/>
                <a:cs typeface="Calibri" pitchFamily="34" charset="-120"/>
              </a:rPr>
              <a:t>How hard it is worked</a:t>
            </a:r>
            <a:endParaRPr lang="en-US" sz="1150" dirty="0"/>
          </a:p>
        </p:txBody>
      </p:sp>
      <p:sp>
        <p:nvSpPr>
          <p:cNvPr id="16" name="Shape 14"/>
          <p:cNvSpPr/>
          <p:nvPr/>
        </p:nvSpPr>
        <p:spPr>
          <a:xfrm>
            <a:off x="6144768" y="4224528"/>
            <a:ext cx="2606040" cy="585216"/>
          </a:xfrm>
          <a:prstGeom prst="roundRect">
            <a:avLst>
              <a:gd name="adj" fmla="val 7813"/>
            </a:avLst>
          </a:prstGeom>
          <a:solidFill>
            <a:srgbClr val="FFFFFF"/>
          </a:solidFill>
          <a:ln w="12700">
            <a:solidFill>
              <a:srgbClr val="D3DEEF"/>
            </a:solidFill>
            <a:prstDash val="solid"/>
          </a:ln>
        </p:spPr>
      </p:sp>
      <p:sp>
        <p:nvSpPr>
          <p:cNvPr id="17" name="Text 15"/>
          <p:cNvSpPr/>
          <p:nvPr/>
        </p:nvSpPr>
        <p:spPr>
          <a:xfrm>
            <a:off x="6291072" y="4224528"/>
            <a:ext cx="2340864" cy="585216"/>
          </a:xfrm>
          <a:prstGeom prst="rect">
            <a:avLst/>
          </a:prstGeom>
          <a:noFill/>
          <a:ln/>
        </p:spPr>
        <p:txBody>
          <a:bodyPr wrap="square" lIns="0" tIns="0" rIns="0" bIns="0" rtlCol="0" anchor="ctr"/>
          <a:lstStyle/>
          <a:p>
            <a:pPr indent="0" marL="0">
              <a:lnSpc>
                <a:spcPts val="1500"/>
              </a:lnSpc>
              <a:buNone/>
            </a:pPr>
            <a:r>
              <a:rPr lang="en-US" sz="1150" dirty="0">
                <a:solidFill>
                  <a:srgbClr val="1A2333"/>
                </a:solidFill>
                <a:latin typeface="Calibri" pitchFamily="34" charset="0"/>
                <a:ea typeface="Calibri" pitchFamily="34" charset="-122"/>
                <a:cs typeface="Calibri" pitchFamily="34" charset="-120"/>
              </a:rPr>
              <a:t>Temperature, vibration, icing</a:t>
            </a:r>
            <a:endParaRPr lang="en-US" sz="1150" dirty="0"/>
          </a:p>
        </p:txBody>
      </p:sp>
      <p:sp>
        <p:nvSpPr>
          <p:cNvPr id="18" name="Shape 16"/>
          <p:cNvSpPr/>
          <p:nvPr/>
        </p:nvSpPr>
        <p:spPr>
          <a:xfrm>
            <a:off x="8942832" y="4224528"/>
            <a:ext cx="2606040" cy="585216"/>
          </a:xfrm>
          <a:prstGeom prst="roundRect">
            <a:avLst>
              <a:gd name="adj" fmla="val 7813"/>
            </a:avLst>
          </a:prstGeom>
          <a:solidFill>
            <a:srgbClr val="FFFFFF"/>
          </a:solidFill>
          <a:ln w="12700">
            <a:solidFill>
              <a:srgbClr val="D3DEEF"/>
            </a:solidFill>
            <a:prstDash val="solid"/>
          </a:ln>
        </p:spPr>
      </p:sp>
      <p:sp>
        <p:nvSpPr>
          <p:cNvPr id="19" name="Text 17"/>
          <p:cNvSpPr/>
          <p:nvPr/>
        </p:nvSpPr>
        <p:spPr>
          <a:xfrm>
            <a:off x="9089136" y="4224528"/>
            <a:ext cx="2340864" cy="585216"/>
          </a:xfrm>
          <a:prstGeom prst="rect">
            <a:avLst/>
          </a:prstGeom>
          <a:noFill/>
          <a:ln/>
        </p:spPr>
        <p:txBody>
          <a:bodyPr wrap="square" lIns="0" tIns="0" rIns="0" bIns="0" rtlCol="0" anchor="ctr"/>
          <a:lstStyle/>
          <a:p>
            <a:pPr indent="0" marL="0">
              <a:lnSpc>
                <a:spcPts val="1500"/>
              </a:lnSpc>
              <a:buNone/>
            </a:pPr>
            <a:r>
              <a:rPr lang="en-US" sz="1150" dirty="0">
                <a:solidFill>
                  <a:srgbClr val="1A2333"/>
                </a:solidFill>
                <a:latin typeface="Calibri" pitchFamily="34" charset="0"/>
                <a:ea typeface="Calibri" pitchFamily="34" charset="-122"/>
                <a:cs typeface="Calibri" pitchFamily="34" charset="-120"/>
              </a:rPr>
              <a:t>How often it is inspected</a:t>
            </a:r>
            <a:endParaRPr lang="en-US" sz="1150" dirty="0"/>
          </a:p>
        </p:txBody>
      </p:sp>
      <p:sp>
        <p:nvSpPr>
          <p:cNvPr id="20" name="Shape 18"/>
          <p:cNvSpPr/>
          <p:nvPr/>
        </p:nvSpPr>
        <p:spPr>
          <a:xfrm>
            <a:off x="548640" y="4919472"/>
            <a:ext cx="2606040" cy="585216"/>
          </a:xfrm>
          <a:prstGeom prst="roundRect">
            <a:avLst>
              <a:gd name="adj" fmla="val 7813"/>
            </a:avLst>
          </a:prstGeom>
          <a:solidFill>
            <a:srgbClr val="FFFFFF"/>
          </a:solidFill>
          <a:ln w="12700">
            <a:solidFill>
              <a:srgbClr val="D3DEEF"/>
            </a:solidFill>
            <a:prstDash val="solid"/>
          </a:ln>
        </p:spPr>
      </p:sp>
      <p:sp>
        <p:nvSpPr>
          <p:cNvPr id="21" name="Text 19"/>
          <p:cNvSpPr/>
          <p:nvPr/>
        </p:nvSpPr>
        <p:spPr>
          <a:xfrm>
            <a:off x="694944" y="4919472"/>
            <a:ext cx="2340864" cy="585216"/>
          </a:xfrm>
          <a:prstGeom prst="rect">
            <a:avLst/>
          </a:prstGeom>
          <a:noFill/>
          <a:ln/>
        </p:spPr>
        <p:txBody>
          <a:bodyPr wrap="square" lIns="0" tIns="0" rIns="0" bIns="0" rtlCol="0" anchor="ctr"/>
          <a:lstStyle/>
          <a:p>
            <a:pPr indent="0" marL="0">
              <a:lnSpc>
                <a:spcPts val="1500"/>
              </a:lnSpc>
              <a:buNone/>
            </a:pPr>
            <a:r>
              <a:rPr lang="en-US" sz="1150" dirty="0">
                <a:solidFill>
                  <a:srgbClr val="1A2333"/>
                </a:solidFill>
                <a:latin typeface="Calibri" pitchFamily="34" charset="0"/>
                <a:ea typeface="Calibri" pitchFamily="34" charset="-122"/>
                <a:cs typeface="Calibri" pitchFamily="34" charset="-120"/>
              </a:rPr>
              <a:t>What the crew is alerted to</a:t>
            </a:r>
            <a:endParaRPr lang="en-US" sz="1150" dirty="0"/>
          </a:p>
        </p:txBody>
      </p:sp>
      <p:sp>
        <p:nvSpPr>
          <p:cNvPr id="22" name="Shape 20"/>
          <p:cNvSpPr/>
          <p:nvPr/>
        </p:nvSpPr>
        <p:spPr>
          <a:xfrm>
            <a:off x="3346704" y="4919472"/>
            <a:ext cx="2606040" cy="585216"/>
          </a:xfrm>
          <a:prstGeom prst="roundRect">
            <a:avLst>
              <a:gd name="adj" fmla="val 7813"/>
            </a:avLst>
          </a:prstGeom>
          <a:solidFill>
            <a:srgbClr val="FFFFFF"/>
          </a:solidFill>
          <a:ln w="12700">
            <a:solidFill>
              <a:srgbClr val="D3DEEF"/>
            </a:solidFill>
            <a:prstDash val="solid"/>
          </a:ln>
        </p:spPr>
      </p:sp>
      <p:sp>
        <p:nvSpPr>
          <p:cNvPr id="23" name="Text 21"/>
          <p:cNvSpPr/>
          <p:nvPr/>
        </p:nvSpPr>
        <p:spPr>
          <a:xfrm>
            <a:off x="3493008" y="4919472"/>
            <a:ext cx="2340864" cy="585216"/>
          </a:xfrm>
          <a:prstGeom prst="rect">
            <a:avLst/>
          </a:prstGeom>
          <a:noFill/>
          <a:ln/>
        </p:spPr>
        <p:txBody>
          <a:bodyPr wrap="square" lIns="0" tIns="0" rIns="0" bIns="0" rtlCol="0" anchor="ctr"/>
          <a:lstStyle/>
          <a:p>
            <a:pPr indent="0" marL="0">
              <a:lnSpc>
                <a:spcPts val="1500"/>
              </a:lnSpc>
              <a:buNone/>
            </a:pPr>
            <a:r>
              <a:rPr lang="en-US" sz="1150" dirty="0">
                <a:solidFill>
                  <a:srgbClr val="1A2333"/>
                </a:solidFill>
                <a:latin typeface="Calibri" pitchFamily="34" charset="0"/>
                <a:ea typeface="Calibri" pitchFamily="34" charset="-122"/>
                <a:cs typeface="Calibri" pitchFamily="34" charset="-120"/>
              </a:rPr>
              <a:t>What it is connected to</a:t>
            </a:r>
            <a:endParaRPr lang="en-US" sz="1150" dirty="0"/>
          </a:p>
        </p:txBody>
      </p:sp>
      <p:sp>
        <p:nvSpPr>
          <p:cNvPr id="24" name="Shape 22"/>
          <p:cNvSpPr/>
          <p:nvPr/>
        </p:nvSpPr>
        <p:spPr>
          <a:xfrm>
            <a:off x="6144768" y="4919472"/>
            <a:ext cx="2606040" cy="585216"/>
          </a:xfrm>
          <a:prstGeom prst="roundRect">
            <a:avLst>
              <a:gd name="adj" fmla="val 7813"/>
            </a:avLst>
          </a:prstGeom>
          <a:solidFill>
            <a:srgbClr val="FFFFFF"/>
          </a:solidFill>
          <a:ln w="12700">
            <a:solidFill>
              <a:srgbClr val="D3DEEF"/>
            </a:solidFill>
            <a:prstDash val="solid"/>
          </a:ln>
        </p:spPr>
      </p:sp>
      <p:sp>
        <p:nvSpPr>
          <p:cNvPr id="25" name="Text 23"/>
          <p:cNvSpPr/>
          <p:nvPr/>
        </p:nvSpPr>
        <p:spPr>
          <a:xfrm>
            <a:off x="6291072" y="4919472"/>
            <a:ext cx="2340864" cy="585216"/>
          </a:xfrm>
          <a:prstGeom prst="rect">
            <a:avLst/>
          </a:prstGeom>
          <a:noFill/>
          <a:ln/>
        </p:spPr>
        <p:txBody>
          <a:bodyPr wrap="square" lIns="0" tIns="0" rIns="0" bIns="0" rtlCol="0" anchor="ctr"/>
          <a:lstStyle/>
          <a:p>
            <a:pPr indent="0" marL="0">
              <a:lnSpc>
                <a:spcPts val="1500"/>
              </a:lnSpc>
              <a:buNone/>
            </a:pPr>
            <a:r>
              <a:rPr lang="en-US" sz="1150" dirty="0">
                <a:solidFill>
                  <a:srgbClr val="1A2333"/>
                </a:solidFill>
                <a:latin typeface="Calibri" pitchFamily="34" charset="0"/>
                <a:ea typeface="Calibri" pitchFamily="34" charset="-122"/>
                <a:cs typeface="Calibri" pitchFamily="34" charset="-120"/>
              </a:rPr>
              <a:t>How the operator actually flies it</a:t>
            </a:r>
            <a:endParaRPr lang="en-US" sz="1150" dirty="0"/>
          </a:p>
        </p:txBody>
      </p:sp>
      <p:sp>
        <p:nvSpPr>
          <p:cNvPr id="26" name="Shape 24"/>
          <p:cNvSpPr/>
          <p:nvPr/>
        </p:nvSpPr>
        <p:spPr>
          <a:xfrm>
            <a:off x="8942832" y="4919472"/>
            <a:ext cx="2606040" cy="585216"/>
          </a:xfrm>
          <a:prstGeom prst="roundRect">
            <a:avLst>
              <a:gd name="adj" fmla="val 7813"/>
            </a:avLst>
          </a:prstGeom>
          <a:solidFill>
            <a:srgbClr val="FFFFFF"/>
          </a:solidFill>
          <a:ln w="12700">
            <a:solidFill>
              <a:srgbClr val="D3DEEF"/>
            </a:solidFill>
            <a:prstDash val="solid"/>
          </a:ln>
        </p:spPr>
      </p:sp>
      <p:sp>
        <p:nvSpPr>
          <p:cNvPr id="27" name="Text 25"/>
          <p:cNvSpPr/>
          <p:nvPr/>
        </p:nvSpPr>
        <p:spPr>
          <a:xfrm>
            <a:off x="9089136" y="4919472"/>
            <a:ext cx="2340864" cy="585216"/>
          </a:xfrm>
          <a:prstGeom prst="rect">
            <a:avLst/>
          </a:prstGeom>
          <a:noFill/>
          <a:ln/>
        </p:spPr>
        <p:txBody>
          <a:bodyPr wrap="square" lIns="0" tIns="0" rIns="0" bIns="0" rtlCol="0" anchor="ctr"/>
          <a:lstStyle/>
          <a:p>
            <a:pPr indent="0" marL="0">
              <a:lnSpc>
                <a:spcPts val="1500"/>
              </a:lnSpc>
              <a:buNone/>
            </a:pPr>
            <a:r>
              <a:rPr lang="en-US" sz="1150" dirty="0">
                <a:solidFill>
                  <a:srgbClr val="1A2333"/>
                </a:solidFill>
                <a:latin typeface="Calibri" pitchFamily="34" charset="0"/>
                <a:ea typeface="Calibri" pitchFamily="34" charset="-122"/>
                <a:cs typeface="Calibri" pitchFamily="34" charset="-120"/>
              </a:rPr>
              <a:t>What maintenance requires</a:t>
            </a:r>
            <a:endParaRPr lang="en-US" sz="1150" dirty="0"/>
          </a:p>
        </p:txBody>
      </p:sp>
      <p:sp>
        <p:nvSpPr>
          <p:cNvPr id="28" name="Text 26"/>
          <p:cNvSpPr/>
          <p:nvPr/>
        </p:nvSpPr>
        <p:spPr>
          <a:xfrm>
            <a:off x="548640" y="5742432"/>
            <a:ext cx="11064240" cy="457200"/>
          </a:xfrm>
          <a:prstGeom prst="rect">
            <a:avLst/>
          </a:prstGeom>
          <a:noFill/>
          <a:ln/>
        </p:spPr>
        <p:txBody>
          <a:bodyPr wrap="square" lIns="0" tIns="0" rIns="0" bIns="0" rtlCol="0" anchor="ctr"/>
          <a:lstStyle/>
          <a:p>
            <a:pPr indent="0" marL="0">
              <a:buNone/>
            </a:pPr>
            <a:r>
              <a:rPr lang="en-US" sz="1300" i="1" dirty="0">
                <a:solidFill>
                  <a:srgbClr val="4A5568"/>
                </a:solidFill>
                <a:latin typeface="Calibri" pitchFamily="34" charset="0"/>
                <a:ea typeface="Calibri" pitchFamily="34" charset="-122"/>
                <a:cs typeface="Calibri" pitchFamily="34" charset="-120"/>
              </a:rPr>
              <a:t>A part number is a claim about one box. An assumption is a claim about that box inside a whole aircraft, a whole operation and a whole organization.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292608"/>
            <a:ext cx="11064240" cy="237744"/>
          </a:xfrm>
          <a:prstGeom prst="rect">
            <a:avLst/>
          </a:prstGeom>
          <a:noFill/>
          <a:ln/>
        </p:spPr>
        <p:txBody>
          <a:bodyPr wrap="square" lIns="0" tIns="0" rIns="0" bIns="0" rtlCol="0" anchor="ctr"/>
          <a:lstStyle/>
          <a:p>
            <a:pPr indent="0" marL="0">
              <a:buNone/>
            </a:pPr>
            <a:r>
              <a:rPr lang="en-US" sz="1050" b="1" spc="160" kern="0" dirty="0">
                <a:solidFill>
                  <a:srgbClr val="B4530C"/>
                </a:solidFill>
                <a:latin typeface="Calibri" pitchFamily="34" charset="0"/>
                <a:ea typeface="Calibri" pitchFamily="34" charset="-122"/>
                <a:cs typeface="Calibri" pitchFamily="34" charset="-120"/>
              </a:rPr>
              <a:t>EXPOSURE</a:t>
            </a:r>
            <a:endParaRPr lang="en-US" sz="1050" dirty="0"/>
          </a:p>
        </p:txBody>
      </p:sp>
      <p:sp>
        <p:nvSpPr>
          <p:cNvPr id="3" name="Text 1"/>
          <p:cNvSpPr/>
          <p:nvPr/>
        </p:nvSpPr>
        <p:spPr>
          <a:xfrm>
            <a:off x="548640" y="548640"/>
            <a:ext cx="11064240" cy="658368"/>
          </a:xfrm>
          <a:prstGeom prst="rect">
            <a:avLst/>
          </a:prstGeom>
          <a:noFill/>
          <a:ln/>
        </p:spPr>
        <p:txBody>
          <a:bodyPr wrap="square" lIns="0" tIns="0" rIns="0" bIns="0" rtlCol="0" anchor="t"/>
          <a:lstStyle/>
          <a:p>
            <a:pPr indent="0" marL="0">
              <a:buNone/>
            </a:pPr>
            <a:r>
              <a:rPr lang="en-US" sz="2900" b="1" dirty="0">
                <a:solidFill>
                  <a:srgbClr val="132A4E"/>
                </a:solidFill>
                <a:latin typeface="Cambria" pitchFamily="34" charset="0"/>
                <a:ea typeface="Cambria" pitchFamily="34" charset="-122"/>
                <a:cs typeface="Cambria" pitchFamily="34" charset="-120"/>
              </a:rPr>
              <a:t>Two consequences leadership should care about</a:t>
            </a:r>
            <a:endParaRPr lang="en-US" sz="2900" dirty="0"/>
          </a:p>
        </p:txBody>
      </p:sp>
      <p:sp>
        <p:nvSpPr>
          <p:cNvPr id="4" name="Shape 2"/>
          <p:cNvSpPr/>
          <p:nvPr/>
        </p:nvSpPr>
        <p:spPr>
          <a:xfrm>
            <a:off x="548640" y="1207008"/>
            <a:ext cx="5394960" cy="2395728"/>
          </a:xfrm>
          <a:prstGeom prst="roundRect">
            <a:avLst>
              <a:gd name="adj" fmla="val 1908"/>
            </a:avLst>
          </a:prstGeom>
          <a:solidFill>
            <a:srgbClr val="FBEBDC"/>
          </a:solidFill>
          <a:ln w="12700">
            <a:solidFill>
              <a:srgbClr val="ECC8AE"/>
            </a:solidFill>
            <a:prstDash val="solid"/>
          </a:ln>
        </p:spPr>
      </p:sp>
      <p:sp>
        <p:nvSpPr>
          <p:cNvPr id="5" name="Text 3"/>
          <p:cNvSpPr/>
          <p:nvPr/>
        </p:nvSpPr>
        <p:spPr>
          <a:xfrm>
            <a:off x="822960" y="1353312"/>
            <a:ext cx="4846320" cy="310896"/>
          </a:xfrm>
          <a:prstGeom prst="rect">
            <a:avLst/>
          </a:prstGeom>
          <a:noFill/>
          <a:ln/>
        </p:spPr>
        <p:txBody>
          <a:bodyPr wrap="square" lIns="0" tIns="0" rIns="0" bIns="0" rtlCol="0" anchor="ctr"/>
          <a:lstStyle/>
          <a:p>
            <a:pPr indent="0" marL="0">
              <a:buNone/>
            </a:pPr>
            <a:r>
              <a:rPr lang="en-US" sz="1700" b="1" dirty="0">
                <a:solidFill>
                  <a:srgbClr val="B4530C"/>
                </a:solidFill>
                <a:latin typeface="Cambria" pitchFamily="34" charset="0"/>
                <a:ea typeface="Cambria" pitchFamily="34" charset="-122"/>
                <a:cs typeface="Cambria" pitchFamily="34" charset="-120"/>
              </a:rPr>
              <a:t>1.  Risk accepted by nobody</a:t>
            </a:r>
            <a:endParaRPr lang="en-US" sz="1700" dirty="0"/>
          </a:p>
        </p:txBody>
      </p:sp>
      <p:sp>
        <p:nvSpPr>
          <p:cNvPr id="6" name="Text 4"/>
          <p:cNvSpPr/>
          <p:nvPr/>
        </p:nvSpPr>
        <p:spPr>
          <a:xfrm>
            <a:off x="822960" y="1719072"/>
            <a:ext cx="4864608" cy="1828800"/>
          </a:xfrm>
          <a:prstGeom prst="rect">
            <a:avLst/>
          </a:prstGeom>
          <a:noFill/>
          <a:ln/>
        </p:spPr>
        <p:txBody>
          <a:bodyPr wrap="square" lIns="0" tIns="0" rIns="0" bIns="0" rtlCol="0" anchor="t"/>
          <a:lstStyle/>
          <a:p>
            <a:pPr indent="0" marL="0">
              <a:lnSpc>
                <a:spcPts val="1700"/>
              </a:lnSpc>
              <a:buNone/>
            </a:pPr>
            <a:r>
              <a:rPr lang="en-US" sz="1100" dirty="0">
                <a:solidFill>
                  <a:srgbClr val="1A2333"/>
                </a:solidFill>
                <a:latin typeface="Calibri" pitchFamily="34" charset="0"/>
                <a:ea typeface="Calibri" pitchFamily="34" charset="-122"/>
                <a:cs typeface="Calibri" pitchFamily="34" charset="-120"/>
              </a:rPr>
              <a:t>Behind every assumption that closes a hazard there is a person who accepted the residual risk. When the assumption is inherited, that acceptance does not come with it and no equivalent decision is made here.</a:t>
            </a:r>
            <a:endParaRPr lang="en-US" sz="1100" dirty="0"/>
          </a:p>
          <a:p>
            <a:pPr indent="0" marL="0">
              <a:lnSpc>
                <a:spcPts val="1700"/>
              </a:lnSpc>
              <a:buNone/>
            </a:pPr>
            <a:endParaRPr lang="en-US" sz="1100" dirty="0"/>
          </a:p>
          <a:p>
            <a:pPr indent="0" marL="0">
              <a:lnSpc>
                <a:spcPts val="1700"/>
              </a:lnSpc>
              <a:buNone/>
            </a:pPr>
            <a:r>
              <a:rPr lang="en-US" sz="1100" dirty="0">
                <a:solidFill>
                  <a:srgbClr val="1A2333"/>
                </a:solidFill>
                <a:latin typeface="Calibri" pitchFamily="34" charset="0"/>
                <a:ea typeface="Calibri" pitchFamily="34" charset="-122"/>
                <a:cs typeface="Calibri" pitchFamily="34" charset="-120"/>
              </a:rPr>
              <a:t>SM-0001 requires acceptability criteria to be defined and responsibility for accepting risk to be clearly assigned. An inherited assumption still carrying risk credit at critical design review, with nobody named, does not meet that.</a:t>
            </a:r>
            <a:endParaRPr lang="en-US" sz="1100" dirty="0"/>
          </a:p>
        </p:txBody>
      </p:sp>
      <p:sp>
        <p:nvSpPr>
          <p:cNvPr id="7" name="Shape 5"/>
          <p:cNvSpPr/>
          <p:nvPr/>
        </p:nvSpPr>
        <p:spPr>
          <a:xfrm>
            <a:off x="6245352" y="1207008"/>
            <a:ext cx="5394960" cy="2395728"/>
          </a:xfrm>
          <a:prstGeom prst="roundRect">
            <a:avLst>
              <a:gd name="adj" fmla="val 1908"/>
            </a:avLst>
          </a:prstGeom>
          <a:solidFill>
            <a:srgbClr val="E9EEF7"/>
          </a:solidFill>
          <a:ln w="12700">
            <a:solidFill>
              <a:srgbClr val="D3DEEF"/>
            </a:solidFill>
            <a:prstDash val="solid"/>
          </a:ln>
        </p:spPr>
      </p:sp>
      <p:sp>
        <p:nvSpPr>
          <p:cNvPr id="8" name="Text 6"/>
          <p:cNvSpPr/>
          <p:nvPr/>
        </p:nvSpPr>
        <p:spPr>
          <a:xfrm>
            <a:off x="6519672" y="1353312"/>
            <a:ext cx="4846320" cy="310896"/>
          </a:xfrm>
          <a:prstGeom prst="rect">
            <a:avLst/>
          </a:prstGeom>
          <a:noFill/>
          <a:ln/>
        </p:spPr>
        <p:txBody>
          <a:bodyPr wrap="square" lIns="0" tIns="0" rIns="0" bIns="0" rtlCol="0" anchor="ctr"/>
          <a:lstStyle/>
          <a:p>
            <a:pPr indent="0" marL="0">
              <a:buNone/>
            </a:pPr>
            <a:r>
              <a:rPr lang="en-US" sz="1700" b="1" dirty="0">
                <a:solidFill>
                  <a:srgbClr val="132A4E"/>
                </a:solidFill>
                <a:latin typeface="Cambria" pitchFamily="34" charset="0"/>
                <a:ea typeface="Cambria" pitchFamily="34" charset="-122"/>
                <a:cs typeface="Cambria" pitchFamily="34" charset="-120"/>
              </a:rPr>
              <a:t>2.  Cost that compounds by stage</a:t>
            </a:r>
            <a:endParaRPr lang="en-US" sz="1700" dirty="0"/>
          </a:p>
        </p:txBody>
      </p:sp>
      <p:sp>
        <p:nvSpPr>
          <p:cNvPr id="9" name="Text 7"/>
          <p:cNvSpPr/>
          <p:nvPr/>
        </p:nvSpPr>
        <p:spPr>
          <a:xfrm>
            <a:off x="6519672" y="1719072"/>
            <a:ext cx="4864608" cy="1828800"/>
          </a:xfrm>
          <a:prstGeom prst="rect">
            <a:avLst/>
          </a:prstGeom>
          <a:noFill/>
          <a:ln/>
        </p:spPr>
        <p:txBody>
          <a:bodyPr wrap="square" lIns="0" tIns="0" rIns="0" bIns="0" rtlCol="0" anchor="t"/>
          <a:lstStyle/>
          <a:p>
            <a:pPr indent="0" marL="0">
              <a:lnSpc>
                <a:spcPts val="1700"/>
              </a:lnSpc>
              <a:buNone/>
            </a:pPr>
            <a:r>
              <a:rPr lang="en-US" sz="1100" dirty="0">
                <a:solidFill>
                  <a:srgbClr val="1A2333"/>
                </a:solidFill>
                <a:latin typeface="Calibri" pitchFamily="34" charset="0"/>
                <a:ea typeface="Calibri" pitchFamily="34" charset="-122"/>
                <a:cs typeface="Calibri" pitchFamily="34" charset="-120"/>
              </a:rPr>
              <a:t>The objection to this work is that it costs time we do not have. That only holds if you compare it against zero rather than against the cost of finding out later.</a:t>
            </a:r>
            <a:endParaRPr lang="en-US" sz="1100" dirty="0"/>
          </a:p>
          <a:p>
            <a:pPr indent="0" marL="0">
              <a:lnSpc>
                <a:spcPts val="1700"/>
              </a:lnSpc>
              <a:buNone/>
            </a:pPr>
            <a:endParaRPr lang="en-US" sz="1100" dirty="0"/>
          </a:p>
          <a:p>
            <a:pPr indent="0" marL="0">
              <a:lnSpc>
                <a:spcPts val="1700"/>
              </a:lnSpc>
              <a:buNone/>
            </a:pPr>
            <a:r>
              <a:rPr lang="en-US" sz="1100" dirty="0">
                <a:solidFill>
                  <a:srgbClr val="1A2333"/>
                </a:solidFill>
                <a:latin typeface="Calibri" pitchFamily="34" charset="0"/>
                <a:ea typeface="Calibri" pitchFamily="34" charset="-122"/>
                <a:cs typeface="Calibri" pitchFamily="34" charset="-120"/>
              </a:rPr>
              <a:t>The cheapest point in the whole lifecycle to capture an assumption is the one point where we currently capture nothing.</a:t>
            </a:r>
            <a:endParaRPr lang="en-US" sz="1100" dirty="0"/>
          </a:p>
        </p:txBody>
      </p:sp>
      <p:sp>
        <p:nvSpPr>
          <p:cNvPr id="10" name="Shape 8"/>
          <p:cNvSpPr/>
          <p:nvPr/>
        </p:nvSpPr>
        <p:spPr>
          <a:xfrm>
            <a:off x="548640" y="3785616"/>
            <a:ext cx="11091672" cy="438912"/>
          </a:xfrm>
          <a:prstGeom prst="roundRect">
            <a:avLst>
              <a:gd name="adj" fmla="val 10417"/>
            </a:avLst>
          </a:prstGeom>
          <a:solidFill>
            <a:srgbClr val="E9EEF7"/>
          </a:solidFill>
          <a:ln w="12700">
            <a:solidFill>
              <a:srgbClr val="D3DEEF"/>
            </a:solidFill>
            <a:prstDash val="solid"/>
          </a:ln>
        </p:spPr>
      </p:sp>
      <p:sp>
        <p:nvSpPr>
          <p:cNvPr id="11" name="Shape 9"/>
          <p:cNvSpPr/>
          <p:nvPr/>
        </p:nvSpPr>
        <p:spPr>
          <a:xfrm>
            <a:off x="694944" y="3831336"/>
            <a:ext cx="2011680" cy="347472"/>
          </a:xfrm>
          <a:prstGeom prst="roundRect">
            <a:avLst>
              <a:gd name="adj" fmla="val 13158"/>
            </a:avLst>
          </a:prstGeom>
          <a:solidFill>
            <a:srgbClr val="B4530C"/>
          </a:solidFill>
          <a:ln w="12700">
            <a:solidFill>
              <a:srgbClr val="B4530C"/>
            </a:solidFill>
            <a:prstDash val="solid"/>
          </a:ln>
        </p:spPr>
      </p:sp>
      <p:sp>
        <p:nvSpPr>
          <p:cNvPr id="12" name="Text 10"/>
          <p:cNvSpPr/>
          <p:nvPr/>
        </p:nvSpPr>
        <p:spPr>
          <a:xfrm>
            <a:off x="694944" y="3831336"/>
            <a:ext cx="2011680"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Proposal</a:t>
            </a:r>
            <a:endParaRPr lang="en-US" sz="1050" dirty="0"/>
          </a:p>
        </p:txBody>
      </p:sp>
      <p:sp>
        <p:nvSpPr>
          <p:cNvPr id="13" name="Text 11"/>
          <p:cNvSpPr/>
          <p:nvPr/>
        </p:nvSpPr>
        <p:spPr>
          <a:xfrm>
            <a:off x="2880360" y="3785616"/>
            <a:ext cx="4206240" cy="438912"/>
          </a:xfrm>
          <a:prstGeom prst="rect">
            <a:avLst/>
          </a:prstGeom>
          <a:noFill/>
          <a:ln/>
        </p:spPr>
        <p:txBody>
          <a:bodyPr wrap="square" lIns="0" tIns="0" rIns="0" bIns="0" rtlCol="0" anchor="ctr"/>
          <a:lstStyle/>
          <a:p>
            <a:pPr indent="0" marL="0">
              <a:buNone/>
            </a:pPr>
            <a:r>
              <a:rPr lang="en-US" sz="1150" b="1" dirty="0">
                <a:solidFill>
                  <a:srgbClr val="132A4E"/>
                </a:solidFill>
                <a:latin typeface="Calibri" pitchFamily="34" charset="0"/>
                <a:ea typeface="Calibri" pitchFamily="34" charset="-122"/>
                <a:cs typeface="Calibri" pitchFamily="34" charset="-120"/>
              </a:rPr>
              <a:t>Write the conditions down while you still know them</a:t>
            </a:r>
            <a:endParaRPr lang="en-US" sz="1150" dirty="0"/>
          </a:p>
        </p:txBody>
      </p:sp>
      <p:sp>
        <p:nvSpPr>
          <p:cNvPr id="14" name="Text 12"/>
          <p:cNvSpPr/>
          <p:nvPr/>
        </p:nvSpPr>
        <p:spPr>
          <a:xfrm>
            <a:off x="7223760" y="3785616"/>
            <a:ext cx="4206240" cy="438912"/>
          </a:xfrm>
          <a:prstGeom prst="rect">
            <a:avLst/>
          </a:prstGeom>
          <a:noFill/>
          <a:ln/>
        </p:spPr>
        <p:txBody>
          <a:bodyPr wrap="square" lIns="0" tIns="0" rIns="0" bIns="0" rtlCol="0" anchor="ctr"/>
          <a:lstStyle/>
          <a:p>
            <a:pPr indent="0" marL="0">
              <a:buNone/>
            </a:pPr>
            <a:r>
              <a:rPr lang="en-US" sz="1100" dirty="0">
                <a:solidFill>
                  <a:srgbClr val="1A2333"/>
                </a:solidFill>
                <a:latin typeface="Calibri" pitchFamily="34" charset="0"/>
                <a:ea typeface="Calibri" pitchFamily="34" charset="-122"/>
                <a:cs typeface="Calibri" pitchFamily="34" charset="-120"/>
              </a:rPr>
              <a:t>Minutes per assumption</a:t>
            </a:r>
            <a:endParaRPr lang="en-US" sz="1100" dirty="0"/>
          </a:p>
        </p:txBody>
      </p:sp>
      <p:sp>
        <p:nvSpPr>
          <p:cNvPr id="15" name="Shape 13"/>
          <p:cNvSpPr/>
          <p:nvPr/>
        </p:nvSpPr>
        <p:spPr>
          <a:xfrm>
            <a:off x="548640" y="4297680"/>
            <a:ext cx="11091672" cy="438912"/>
          </a:xfrm>
          <a:prstGeom prst="roundRect">
            <a:avLst>
              <a:gd name="adj" fmla="val 10417"/>
            </a:avLst>
          </a:prstGeom>
          <a:solidFill>
            <a:srgbClr val="FFFFFF"/>
          </a:solidFill>
          <a:ln w="12700">
            <a:solidFill>
              <a:srgbClr val="D3DEEF"/>
            </a:solidFill>
            <a:prstDash val="solid"/>
          </a:ln>
        </p:spPr>
      </p:sp>
      <p:sp>
        <p:nvSpPr>
          <p:cNvPr id="16" name="Shape 14"/>
          <p:cNvSpPr/>
          <p:nvPr/>
        </p:nvSpPr>
        <p:spPr>
          <a:xfrm>
            <a:off x="694944" y="4343400"/>
            <a:ext cx="2011680" cy="347472"/>
          </a:xfrm>
          <a:prstGeom prst="roundRect">
            <a:avLst>
              <a:gd name="adj" fmla="val 13158"/>
            </a:avLst>
          </a:prstGeom>
          <a:solidFill>
            <a:srgbClr val="1F4380"/>
          </a:solidFill>
          <a:ln w="12700">
            <a:solidFill>
              <a:srgbClr val="1F4380"/>
            </a:solidFill>
            <a:prstDash val="solid"/>
          </a:ln>
        </p:spPr>
      </p:sp>
      <p:sp>
        <p:nvSpPr>
          <p:cNvPr id="17" name="Text 15"/>
          <p:cNvSpPr/>
          <p:nvPr/>
        </p:nvSpPr>
        <p:spPr>
          <a:xfrm>
            <a:off x="694944" y="4343400"/>
            <a:ext cx="2011680"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Preliminary design</a:t>
            </a:r>
            <a:endParaRPr lang="en-US" sz="1050" dirty="0"/>
          </a:p>
        </p:txBody>
      </p:sp>
      <p:sp>
        <p:nvSpPr>
          <p:cNvPr id="18" name="Text 16"/>
          <p:cNvSpPr/>
          <p:nvPr/>
        </p:nvSpPr>
        <p:spPr>
          <a:xfrm>
            <a:off x="2880360" y="4297680"/>
            <a:ext cx="4206240" cy="438912"/>
          </a:xfrm>
          <a:prstGeom prst="rect">
            <a:avLst/>
          </a:prstGeom>
          <a:noFill/>
          <a:ln/>
        </p:spPr>
        <p:txBody>
          <a:bodyPr wrap="square" lIns="0" tIns="0" rIns="0" bIns="0" rtlCol="0" anchor="ctr"/>
          <a:lstStyle/>
          <a:p>
            <a:pPr indent="0" marL="0">
              <a:buNone/>
            </a:pPr>
            <a:r>
              <a:rPr lang="en-US" sz="1150" b="1" dirty="0">
                <a:solidFill>
                  <a:srgbClr val="132A4E"/>
                </a:solidFill>
                <a:latin typeface="Calibri" pitchFamily="34" charset="0"/>
                <a:ea typeface="Calibri" pitchFamily="34" charset="-122"/>
                <a:cs typeface="Calibri" pitchFamily="34" charset="-120"/>
              </a:rPr>
              <a:t>Check against the emerging design</a:t>
            </a:r>
            <a:endParaRPr lang="en-US" sz="1150" dirty="0"/>
          </a:p>
        </p:txBody>
      </p:sp>
      <p:sp>
        <p:nvSpPr>
          <p:cNvPr id="19" name="Text 17"/>
          <p:cNvSpPr/>
          <p:nvPr/>
        </p:nvSpPr>
        <p:spPr>
          <a:xfrm>
            <a:off x="7223760" y="4297680"/>
            <a:ext cx="4206240" cy="438912"/>
          </a:xfrm>
          <a:prstGeom prst="rect">
            <a:avLst/>
          </a:prstGeom>
          <a:noFill/>
          <a:ln/>
        </p:spPr>
        <p:txBody>
          <a:bodyPr wrap="square" lIns="0" tIns="0" rIns="0" bIns="0" rtlCol="0" anchor="ctr"/>
          <a:lstStyle/>
          <a:p>
            <a:pPr indent="0" marL="0">
              <a:buNone/>
            </a:pPr>
            <a:r>
              <a:rPr lang="en-US" sz="1100" dirty="0">
                <a:solidFill>
                  <a:srgbClr val="1A2333"/>
                </a:solidFill>
                <a:latin typeface="Calibri" pitchFamily="34" charset="0"/>
                <a:ea typeface="Calibri" pitchFamily="34" charset="-122"/>
                <a:cs typeface="Calibri" pitchFamily="34" charset="-120"/>
              </a:rPr>
              <a:t>Hours to days, nothing committed yet</a:t>
            </a:r>
            <a:endParaRPr lang="en-US" sz="1100" dirty="0"/>
          </a:p>
        </p:txBody>
      </p:sp>
      <p:sp>
        <p:nvSpPr>
          <p:cNvPr id="20" name="Shape 18"/>
          <p:cNvSpPr/>
          <p:nvPr/>
        </p:nvSpPr>
        <p:spPr>
          <a:xfrm>
            <a:off x="548640" y="4809744"/>
            <a:ext cx="11091672" cy="438912"/>
          </a:xfrm>
          <a:prstGeom prst="roundRect">
            <a:avLst>
              <a:gd name="adj" fmla="val 10417"/>
            </a:avLst>
          </a:prstGeom>
          <a:solidFill>
            <a:srgbClr val="E9EEF7"/>
          </a:solidFill>
          <a:ln w="12700">
            <a:solidFill>
              <a:srgbClr val="D3DEEF"/>
            </a:solidFill>
            <a:prstDash val="solid"/>
          </a:ln>
        </p:spPr>
      </p:sp>
      <p:sp>
        <p:nvSpPr>
          <p:cNvPr id="21" name="Shape 19"/>
          <p:cNvSpPr/>
          <p:nvPr/>
        </p:nvSpPr>
        <p:spPr>
          <a:xfrm>
            <a:off x="694944" y="4855464"/>
            <a:ext cx="2011680" cy="347472"/>
          </a:xfrm>
          <a:prstGeom prst="roundRect">
            <a:avLst>
              <a:gd name="adj" fmla="val 13158"/>
            </a:avLst>
          </a:prstGeom>
          <a:solidFill>
            <a:srgbClr val="1F4380"/>
          </a:solidFill>
          <a:ln w="12700">
            <a:solidFill>
              <a:srgbClr val="1F4380"/>
            </a:solidFill>
            <a:prstDash val="solid"/>
          </a:ln>
        </p:spPr>
      </p:sp>
      <p:sp>
        <p:nvSpPr>
          <p:cNvPr id="22" name="Text 20"/>
          <p:cNvSpPr/>
          <p:nvPr/>
        </p:nvSpPr>
        <p:spPr>
          <a:xfrm>
            <a:off x="694944" y="4855464"/>
            <a:ext cx="2011680"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Critical design review</a:t>
            </a:r>
            <a:endParaRPr lang="en-US" sz="1050" dirty="0"/>
          </a:p>
        </p:txBody>
      </p:sp>
      <p:sp>
        <p:nvSpPr>
          <p:cNvPr id="23" name="Text 21"/>
          <p:cNvSpPr/>
          <p:nvPr/>
        </p:nvSpPr>
        <p:spPr>
          <a:xfrm>
            <a:off x="2880360" y="4809744"/>
            <a:ext cx="4206240" cy="438912"/>
          </a:xfrm>
          <a:prstGeom prst="rect">
            <a:avLst/>
          </a:prstGeom>
          <a:noFill/>
          <a:ln/>
        </p:spPr>
        <p:txBody>
          <a:bodyPr wrap="square" lIns="0" tIns="0" rIns="0" bIns="0" rtlCol="0" anchor="ctr"/>
          <a:lstStyle/>
          <a:p>
            <a:pPr indent="0" marL="0">
              <a:buNone/>
            </a:pPr>
            <a:r>
              <a:rPr lang="en-US" sz="1150" b="1" dirty="0">
                <a:solidFill>
                  <a:srgbClr val="132A4E"/>
                </a:solidFill>
                <a:latin typeface="Calibri" pitchFamily="34" charset="0"/>
                <a:ea typeface="Calibri" pitchFamily="34" charset="-122"/>
                <a:cs typeface="Calibri" pitchFamily="34" charset="-120"/>
              </a:rPr>
              <a:t>Find out it does not hold</a:t>
            </a:r>
            <a:endParaRPr lang="en-US" sz="1150" dirty="0"/>
          </a:p>
        </p:txBody>
      </p:sp>
      <p:sp>
        <p:nvSpPr>
          <p:cNvPr id="24" name="Text 22"/>
          <p:cNvSpPr/>
          <p:nvPr/>
        </p:nvSpPr>
        <p:spPr>
          <a:xfrm>
            <a:off x="7223760" y="4809744"/>
            <a:ext cx="4206240" cy="438912"/>
          </a:xfrm>
          <a:prstGeom prst="rect">
            <a:avLst/>
          </a:prstGeom>
          <a:noFill/>
          <a:ln/>
        </p:spPr>
        <p:txBody>
          <a:bodyPr wrap="square" lIns="0" tIns="0" rIns="0" bIns="0" rtlCol="0" anchor="ctr"/>
          <a:lstStyle/>
          <a:p>
            <a:pPr indent="0" marL="0">
              <a:buNone/>
            </a:pPr>
            <a:r>
              <a:rPr lang="en-US" sz="1100" dirty="0">
                <a:solidFill>
                  <a:srgbClr val="1A2333"/>
                </a:solidFill>
                <a:latin typeface="Calibri" pitchFamily="34" charset="0"/>
                <a:ea typeface="Calibri" pitchFamily="34" charset="-122"/>
                <a:cs typeface="Calibri" pitchFamily="34" charset="-120"/>
              </a:rPr>
              <a:t>Weeks to months, design change and rework</a:t>
            </a:r>
            <a:endParaRPr lang="en-US" sz="1100" dirty="0"/>
          </a:p>
        </p:txBody>
      </p:sp>
      <p:sp>
        <p:nvSpPr>
          <p:cNvPr id="25" name="Shape 23"/>
          <p:cNvSpPr/>
          <p:nvPr/>
        </p:nvSpPr>
        <p:spPr>
          <a:xfrm>
            <a:off x="548640" y="5321808"/>
            <a:ext cx="11091672" cy="438912"/>
          </a:xfrm>
          <a:prstGeom prst="roundRect">
            <a:avLst>
              <a:gd name="adj" fmla="val 10417"/>
            </a:avLst>
          </a:prstGeom>
          <a:solidFill>
            <a:srgbClr val="FFFFFF"/>
          </a:solidFill>
          <a:ln w="12700">
            <a:solidFill>
              <a:srgbClr val="D3DEEF"/>
            </a:solidFill>
            <a:prstDash val="solid"/>
          </a:ln>
        </p:spPr>
      </p:sp>
      <p:sp>
        <p:nvSpPr>
          <p:cNvPr id="26" name="Shape 24"/>
          <p:cNvSpPr/>
          <p:nvPr/>
        </p:nvSpPr>
        <p:spPr>
          <a:xfrm>
            <a:off x="694944" y="5367528"/>
            <a:ext cx="2011680" cy="347472"/>
          </a:xfrm>
          <a:prstGeom prst="roundRect">
            <a:avLst>
              <a:gd name="adj" fmla="val 13158"/>
            </a:avLst>
          </a:prstGeom>
          <a:solidFill>
            <a:srgbClr val="0F6B62"/>
          </a:solidFill>
          <a:ln w="12700">
            <a:solidFill>
              <a:srgbClr val="0F6B62"/>
            </a:solidFill>
            <a:prstDash val="solid"/>
          </a:ln>
        </p:spPr>
      </p:sp>
      <p:sp>
        <p:nvSpPr>
          <p:cNvPr id="27" name="Text 25"/>
          <p:cNvSpPr/>
          <p:nvPr/>
        </p:nvSpPr>
        <p:spPr>
          <a:xfrm>
            <a:off x="694944" y="5367528"/>
            <a:ext cx="2011680"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Certification</a:t>
            </a:r>
            <a:endParaRPr lang="en-US" sz="1050" dirty="0"/>
          </a:p>
        </p:txBody>
      </p:sp>
      <p:sp>
        <p:nvSpPr>
          <p:cNvPr id="28" name="Text 26"/>
          <p:cNvSpPr/>
          <p:nvPr/>
        </p:nvSpPr>
        <p:spPr>
          <a:xfrm>
            <a:off x="2880360" y="5321808"/>
            <a:ext cx="4206240" cy="438912"/>
          </a:xfrm>
          <a:prstGeom prst="rect">
            <a:avLst/>
          </a:prstGeom>
          <a:noFill/>
          <a:ln/>
        </p:spPr>
        <p:txBody>
          <a:bodyPr wrap="square" lIns="0" tIns="0" rIns="0" bIns="0" rtlCol="0" anchor="ctr"/>
          <a:lstStyle/>
          <a:p>
            <a:pPr indent="0" marL="0">
              <a:buNone/>
            </a:pPr>
            <a:r>
              <a:rPr lang="en-US" sz="1150" b="1" dirty="0">
                <a:solidFill>
                  <a:srgbClr val="132A4E"/>
                </a:solidFill>
                <a:latin typeface="Calibri" pitchFamily="34" charset="0"/>
                <a:ea typeface="Calibri" pitchFamily="34" charset="-122"/>
                <a:cs typeface="Calibri" pitchFamily="34" charset="-120"/>
              </a:rPr>
              <a:t>Find out during compliance demonstration</a:t>
            </a:r>
            <a:endParaRPr lang="en-US" sz="1150" dirty="0"/>
          </a:p>
        </p:txBody>
      </p:sp>
      <p:sp>
        <p:nvSpPr>
          <p:cNvPr id="29" name="Text 27"/>
          <p:cNvSpPr/>
          <p:nvPr/>
        </p:nvSpPr>
        <p:spPr>
          <a:xfrm>
            <a:off x="7223760" y="5321808"/>
            <a:ext cx="4206240" cy="438912"/>
          </a:xfrm>
          <a:prstGeom prst="rect">
            <a:avLst/>
          </a:prstGeom>
          <a:noFill/>
          <a:ln/>
        </p:spPr>
        <p:txBody>
          <a:bodyPr wrap="square" lIns="0" tIns="0" rIns="0" bIns="0" rtlCol="0" anchor="ctr"/>
          <a:lstStyle/>
          <a:p>
            <a:pPr indent="0" marL="0">
              <a:buNone/>
            </a:pPr>
            <a:r>
              <a:rPr lang="en-US" sz="1100" dirty="0">
                <a:solidFill>
                  <a:srgbClr val="1A2333"/>
                </a:solidFill>
                <a:latin typeface="Calibri" pitchFamily="34" charset="0"/>
                <a:ea typeface="Calibri" pitchFamily="34" charset="-122"/>
                <a:cs typeface="Calibri" pitchFamily="34" charset="-120"/>
              </a:rPr>
              <a:t>Months, re-analysis and possible schedule slip</a:t>
            </a:r>
            <a:endParaRPr lang="en-US" sz="1100" dirty="0"/>
          </a:p>
        </p:txBody>
      </p:sp>
      <p:sp>
        <p:nvSpPr>
          <p:cNvPr id="30" name="Shape 28"/>
          <p:cNvSpPr/>
          <p:nvPr/>
        </p:nvSpPr>
        <p:spPr>
          <a:xfrm>
            <a:off x="548640" y="5833872"/>
            <a:ext cx="11091672" cy="438912"/>
          </a:xfrm>
          <a:prstGeom prst="roundRect">
            <a:avLst>
              <a:gd name="adj" fmla="val 10417"/>
            </a:avLst>
          </a:prstGeom>
          <a:solidFill>
            <a:srgbClr val="E9EEF7"/>
          </a:solidFill>
          <a:ln w="12700">
            <a:solidFill>
              <a:srgbClr val="D3DEEF"/>
            </a:solidFill>
            <a:prstDash val="solid"/>
          </a:ln>
        </p:spPr>
      </p:sp>
      <p:sp>
        <p:nvSpPr>
          <p:cNvPr id="31" name="Shape 29"/>
          <p:cNvSpPr/>
          <p:nvPr/>
        </p:nvSpPr>
        <p:spPr>
          <a:xfrm>
            <a:off x="694944" y="5879592"/>
            <a:ext cx="2011680" cy="347472"/>
          </a:xfrm>
          <a:prstGeom prst="roundRect">
            <a:avLst>
              <a:gd name="adj" fmla="val 13158"/>
            </a:avLst>
          </a:prstGeom>
          <a:solidFill>
            <a:srgbClr val="0F6B62"/>
          </a:solidFill>
          <a:ln w="12700">
            <a:solidFill>
              <a:srgbClr val="0F6B62"/>
            </a:solidFill>
            <a:prstDash val="solid"/>
          </a:ln>
        </p:spPr>
      </p:sp>
      <p:sp>
        <p:nvSpPr>
          <p:cNvPr id="32" name="Text 30"/>
          <p:cNvSpPr/>
          <p:nvPr/>
        </p:nvSpPr>
        <p:spPr>
          <a:xfrm>
            <a:off x="694944" y="5879592"/>
            <a:ext cx="2011680"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In service</a:t>
            </a:r>
            <a:endParaRPr lang="en-US" sz="1050" dirty="0"/>
          </a:p>
        </p:txBody>
      </p:sp>
      <p:sp>
        <p:nvSpPr>
          <p:cNvPr id="33" name="Text 31"/>
          <p:cNvSpPr/>
          <p:nvPr/>
        </p:nvSpPr>
        <p:spPr>
          <a:xfrm>
            <a:off x="2880360" y="5833872"/>
            <a:ext cx="4206240" cy="438912"/>
          </a:xfrm>
          <a:prstGeom prst="rect">
            <a:avLst/>
          </a:prstGeom>
          <a:noFill/>
          <a:ln/>
        </p:spPr>
        <p:txBody>
          <a:bodyPr wrap="square" lIns="0" tIns="0" rIns="0" bIns="0" rtlCol="0" anchor="ctr"/>
          <a:lstStyle/>
          <a:p>
            <a:pPr indent="0" marL="0">
              <a:buNone/>
            </a:pPr>
            <a:r>
              <a:rPr lang="en-US" sz="1150" b="1" dirty="0">
                <a:solidFill>
                  <a:srgbClr val="132A4E"/>
                </a:solidFill>
                <a:latin typeface="Calibri" pitchFamily="34" charset="0"/>
                <a:ea typeface="Calibri" pitchFamily="34" charset="-122"/>
                <a:cs typeface="Calibri" pitchFamily="34" charset="-120"/>
              </a:rPr>
              <a:t>Find out from field evidence</a:t>
            </a:r>
            <a:endParaRPr lang="en-US" sz="1150" dirty="0"/>
          </a:p>
        </p:txBody>
      </p:sp>
      <p:sp>
        <p:nvSpPr>
          <p:cNvPr id="34" name="Text 32"/>
          <p:cNvSpPr/>
          <p:nvPr/>
        </p:nvSpPr>
        <p:spPr>
          <a:xfrm>
            <a:off x="7223760" y="5833872"/>
            <a:ext cx="4206240" cy="438912"/>
          </a:xfrm>
          <a:prstGeom prst="rect">
            <a:avLst/>
          </a:prstGeom>
          <a:noFill/>
          <a:ln/>
        </p:spPr>
        <p:txBody>
          <a:bodyPr wrap="square" lIns="0" tIns="0" rIns="0" bIns="0" rtlCol="0" anchor="ctr"/>
          <a:lstStyle/>
          <a:p>
            <a:pPr indent="0" marL="0">
              <a:buNone/>
            </a:pPr>
            <a:r>
              <a:rPr lang="en-US" sz="1100" dirty="0">
                <a:solidFill>
                  <a:srgbClr val="1A2333"/>
                </a:solidFill>
                <a:latin typeface="Calibri" pitchFamily="34" charset="0"/>
                <a:ea typeface="Calibri" pitchFamily="34" charset="-122"/>
                <a:cs typeface="Calibri" pitchFamily="34" charset="-120"/>
              </a:rPr>
              <a:t>Fleet action, service bulletin, possible AD</a:t>
            </a:r>
            <a:endParaRPr lang="en-US" sz="1100" dirty="0"/>
          </a:p>
        </p:txBody>
      </p:sp>
      <p:sp>
        <p:nvSpPr>
          <p:cNvPr id="35" name="Text 33"/>
          <p:cNvSpPr/>
          <p:nvPr/>
        </p:nvSpPr>
        <p:spPr>
          <a:xfrm>
            <a:off x="548640" y="6382512"/>
            <a:ext cx="11064240" cy="292608"/>
          </a:xfrm>
          <a:prstGeom prst="rect">
            <a:avLst/>
          </a:prstGeom>
          <a:noFill/>
          <a:ln/>
        </p:spPr>
        <p:txBody>
          <a:bodyPr wrap="square" lIns="0" tIns="0" rIns="0" bIns="0" rtlCol="0" anchor="ctr"/>
          <a:lstStyle/>
          <a:p>
            <a:pPr indent="0" marL="0">
              <a:buNone/>
            </a:pPr>
            <a:r>
              <a:rPr lang="en-US" sz="1050" i="1" dirty="0">
                <a:solidFill>
                  <a:srgbClr val="4A5568"/>
                </a:solidFill>
                <a:latin typeface="Calibri" pitchFamily="34" charset="0"/>
                <a:ea typeface="Calibri" pitchFamily="34" charset="-122"/>
                <a:cs typeface="Calibri" pitchFamily="34" charset="-120"/>
              </a:rPr>
              <a:t>Cost shape is illustrative rather than measured across our programs.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292608"/>
            <a:ext cx="11064240" cy="237744"/>
          </a:xfrm>
          <a:prstGeom prst="rect">
            <a:avLst/>
          </a:prstGeom>
          <a:noFill/>
          <a:ln/>
        </p:spPr>
        <p:txBody>
          <a:bodyPr wrap="square" lIns="0" tIns="0" rIns="0" bIns="0" rtlCol="0" anchor="ctr"/>
          <a:lstStyle/>
          <a:p>
            <a:pPr indent="0" marL="0">
              <a:buNone/>
            </a:pPr>
            <a:r>
              <a:rPr lang="en-US" sz="1050" b="1" spc="160" kern="0" dirty="0">
                <a:solidFill>
                  <a:srgbClr val="B4530C"/>
                </a:solidFill>
                <a:latin typeface="Calibri" pitchFamily="34" charset="0"/>
                <a:ea typeface="Calibri" pitchFamily="34" charset="-122"/>
                <a:cs typeface="Calibri" pitchFamily="34" charset="-120"/>
              </a:rPr>
              <a:t>CONFIGURATION MANAGEMENT, IN PLAIN LANGUAGE</a:t>
            </a:r>
            <a:endParaRPr lang="en-US" sz="1050" dirty="0"/>
          </a:p>
        </p:txBody>
      </p:sp>
      <p:sp>
        <p:nvSpPr>
          <p:cNvPr id="3" name="Text 1"/>
          <p:cNvSpPr/>
          <p:nvPr/>
        </p:nvSpPr>
        <p:spPr>
          <a:xfrm>
            <a:off x="548640" y="548640"/>
            <a:ext cx="11064240" cy="658368"/>
          </a:xfrm>
          <a:prstGeom prst="rect">
            <a:avLst/>
          </a:prstGeom>
          <a:noFill/>
          <a:ln/>
        </p:spPr>
        <p:txBody>
          <a:bodyPr wrap="square" lIns="0" tIns="0" rIns="0" bIns="0" rtlCol="0" anchor="t"/>
          <a:lstStyle/>
          <a:p>
            <a:pPr indent="0" marL="0">
              <a:buNone/>
            </a:pPr>
            <a:r>
              <a:rPr lang="en-US" sz="2900" b="1" dirty="0">
                <a:solidFill>
                  <a:srgbClr val="132A4E"/>
                </a:solidFill>
                <a:latin typeface="Cambria" pitchFamily="34" charset="0"/>
                <a:ea typeface="Cambria" pitchFamily="34" charset="-122"/>
                <a:cs typeface="Cambria" pitchFamily="34" charset="-120"/>
              </a:rPr>
              <a:t>The machinery we already have</a:t>
            </a:r>
            <a:endParaRPr lang="en-US" sz="2900" dirty="0"/>
          </a:p>
        </p:txBody>
      </p:sp>
      <p:sp>
        <p:nvSpPr>
          <p:cNvPr id="4" name="Text 2"/>
          <p:cNvSpPr/>
          <p:nvPr/>
        </p:nvSpPr>
        <p:spPr>
          <a:xfrm>
            <a:off x="548640" y="1261872"/>
            <a:ext cx="11064240" cy="457200"/>
          </a:xfrm>
          <a:prstGeom prst="rect">
            <a:avLst/>
          </a:prstGeom>
          <a:noFill/>
          <a:ln/>
        </p:spPr>
        <p:txBody>
          <a:bodyPr wrap="square" lIns="0" tIns="0" rIns="0" bIns="0" rtlCol="0" anchor="t"/>
          <a:lstStyle/>
          <a:p>
            <a:pPr indent="0" marL="0">
              <a:lnSpc>
                <a:spcPts val="2000"/>
              </a:lnSpc>
              <a:buNone/>
            </a:pPr>
            <a:r>
              <a:rPr lang="en-US" sz="1400" dirty="0">
                <a:solidFill>
                  <a:srgbClr val="1A2333"/>
                </a:solidFill>
                <a:latin typeface="Calibri" pitchFamily="34" charset="0"/>
                <a:ea typeface="Calibri" pitchFamily="34" charset="-122"/>
                <a:cs typeface="Calibri" pitchFamily="34" charset="-120"/>
              </a:rPr>
              <a:t>Configuration management keeps track of what the product is supposed to be, what it actually is, and what changed. It runs on every program today. These are the four terms the rest of this deck uses.</a:t>
            </a:r>
            <a:endParaRPr lang="en-US" sz="1400" dirty="0"/>
          </a:p>
        </p:txBody>
      </p:sp>
      <p:sp>
        <p:nvSpPr>
          <p:cNvPr id="5" name="Shape 3"/>
          <p:cNvSpPr/>
          <p:nvPr/>
        </p:nvSpPr>
        <p:spPr>
          <a:xfrm>
            <a:off x="548640" y="1975104"/>
            <a:ext cx="5394960" cy="1463040"/>
          </a:xfrm>
          <a:prstGeom prst="roundRect">
            <a:avLst>
              <a:gd name="adj" fmla="val 3125"/>
            </a:avLst>
          </a:prstGeom>
          <a:solidFill>
            <a:srgbClr val="E9EEF7"/>
          </a:solidFill>
          <a:ln w="12700">
            <a:solidFill>
              <a:srgbClr val="D3DEEF"/>
            </a:solidFill>
            <a:prstDash val="solid"/>
          </a:ln>
        </p:spPr>
      </p:sp>
      <p:sp>
        <p:nvSpPr>
          <p:cNvPr id="6" name="Text 4"/>
          <p:cNvSpPr/>
          <p:nvPr/>
        </p:nvSpPr>
        <p:spPr>
          <a:xfrm>
            <a:off x="786384" y="2121408"/>
            <a:ext cx="4937760" cy="329184"/>
          </a:xfrm>
          <a:prstGeom prst="rect">
            <a:avLst/>
          </a:prstGeom>
          <a:noFill/>
          <a:ln/>
        </p:spPr>
        <p:txBody>
          <a:bodyPr wrap="square" lIns="0" tIns="0" rIns="0" bIns="0" rtlCol="0" anchor="ctr"/>
          <a:lstStyle/>
          <a:p>
            <a:pPr indent="0" marL="0">
              <a:buNone/>
            </a:pPr>
            <a:r>
              <a:rPr lang="en-US" sz="1300" b="1" dirty="0">
                <a:solidFill>
                  <a:srgbClr val="132A4E"/>
                </a:solidFill>
                <a:latin typeface="Calibri" pitchFamily="34" charset="0"/>
                <a:ea typeface="Calibri" pitchFamily="34" charset="-122"/>
                <a:cs typeface="Calibri" pitchFamily="34" charset="-120"/>
              </a:rPr>
              <a:t>Configuration item</a:t>
            </a:r>
            <a:endParaRPr lang="en-US" sz="1300" dirty="0"/>
          </a:p>
        </p:txBody>
      </p:sp>
      <p:sp>
        <p:nvSpPr>
          <p:cNvPr id="7" name="Text 5"/>
          <p:cNvSpPr/>
          <p:nvPr/>
        </p:nvSpPr>
        <p:spPr>
          <a:xfrm>
            <a:off x="786384" y="2487168"/>
            <a:ext cx="4956048" cy="822960"/>
          </a:xfrm>
          <a:prstGeom prst="rect">
            <a:avLst/>
          </a:prstGeom>
          <a:noFill/>
          <a:ln/>
        </p:spPr>
        <p:txBody>
          <a:bodyPr wrap="square" lIns="0" tIns="0" rIns="0" bIns="0" rtlCol="0" anchor="t"/>
          <a:lstStyle/>
          <a:p>
            <a:pPr indent="0" marL="0">
              <a:lnSpc>
                <a:spcPts val="1700"/>
              </a:lnSpc>
              <a:buNone/>
            </a:pPr>
            <a:r>
              <a:rPr lang="en-US" sz="1200" dirty="0">
                <a:solidFill>
                  <a:srgbClr val="1A2333"/>
                </a:solidFill>
                <a:latin typeface="Calibri" pitchFamily="34" charset="0"/>
                <a:ea typeface="Calibri" pitchFamily="34" charset="-122"/>
                <a:cs typeface="Calibri" pitchFamily="34" charset="-120"/>
              </a:rPr>
              <a:t>A part of the product important enough to be tracked in its own right, with its own identifier, documents and change control. Not every bracket. The engine controller, yes.</a:t>
            </a:r>
            <a:endParaRPr lang="en-US" sz="1200" dirty="0"/>
          </a:p>
        </p:txBody>
      </p:sp>
      <p:sp>
        <p:nvSpPr>
          <p:cNvPr id="8" name="Shape 6"/>
          <p:cNvSpPr/>
          <p:nvPr/>
        </p:nvSpPr>
        <p:spPr>
          <a:xfrm>
            <a:off x="6245352" y="1975104"/>
            <a:ext cx="5394960" cy="1463040"/>
          </a:xfrm>
          <a:prstGeom prst="roundRect">
            <a:avLst>
              <a:gd name="adj" fmla="val 3125"/>
            </a:avLst>
          </a:prstGeom>
          <a:solidFill>
            <a:srgbClr val="FFFFFF"/>
          </a:solidFill>
          <a:ln w="12700">
            <a:solidFill>
              <a:srgbClr val="D3DEEF"/>
            </a:solidFill>
            <a:prstDash val="solid"/>
          </a:ln>
        </p:spPr>
      </p:sp>
      <p:sp>
        <p:nvSpPr>
          <p:cNvPr id="9" name="Text 7"/>
          <p:cNvSpPr/>
          <p:nvPr/>
        </p:nvSpPr>
        <p:spPr>
          <a:xfrm>
            <a:off x="6483096" y="2121408"/>
            <a:ext cx="4937760" cy="329184"/>
          </a:xfrm>
          <a:prstGeom prst="rect">
            <a:avLst/>
          </a:prstGeom>
          <a:noFill/>
          <a:ln/>
        </p:spPr>
        <p:txBody>
          <a:bodyPr wrap="square" lIns="0" tIns="0" rIns="0" bIns="0" rtlCol="0" anchor="ctr"/>
          <a:lstStyle/>
          <a:p>
            <a:pPr indent="0" marL="0">
              <a:buNone/>
            </a:pPr>
            <a:r>
              <a:rPr lang="en-US" sz="1300" b="1" dirty="0">
                <a:solidFill>
                  <a:srgbClr val="132A4E"/>
                </a:solidFill>
                <a:latin typeface="Calibri" pitchFamily="34" charset="0"/>
                <a:ea typeface="Calibri" pitchFamily="34" charset="-122"/>
                <a:cs typeface="Calibri" pitchFamily="34" charset="-120"/>
              </a:rPr>
              <a:t>Baseline</a:t>
            </a:r>
            <a:endParaRPr lang="en-US" sz="1300" dirty="0"/>
          </a:p>
        </p:txBody>
      </p:sp>
      <p:sp>
        <p:nvSpPr>
          <p:cNvPr id="10" name="Text 8"/>
          <p:cNvSpPr/>
          <p:nvPr/>
        </p:nvSpPr>
        <p:spPr>
          <a:xfrm>
            <a:off x="6483096" y="2487168"/>
            <a:ext cx="4956048" cy="822960"/>
          </a:xfrm>
          <a:prstGeom prst="rect">
            <a:avLst/>
          </a:prstGeom>
          <a:noFill/>
          <a:ln/>
        </p:spPr>
        <p:txBody>
          <a:bodyPr wrap="square" lIns="0" tIns="0" rIns="0" bIns="0" rtlCol="0" anchor="t"/>
          <a:lstStyle/>
          <a:p>
            <a:pPr indent="0" marL="0">
              <a:lnSpc>
                <a:spcPts val="1700"/>
              </a:lnSpc>
              <a:buNone/>
            </a:pPr>
            <a:r>
              <a:rPr lang="en-US" sz="1200" dirty="0">
                <a:solidFill>
                  <a:srgbClr val="1A2333"/>
                </a:solidFill>
                <a:latin typeface="Calibri" pitchFamily="34" charset="0"/>
                <a:ea typeface="Calibri" pitchFamily="34" charset="-122"/>
                <a:cs typeface="Calibri" pitchFamily="34" charset="-120"/>
              </a:rPr>
              <a:t>An approved snapshot of the drawings, specifications and requirements that define an item at a point in time. After that, changes go through formal review.</a:t>
            </a:r>
            <a:endParaRPr lang="en-US" sz="1200" dirty="0"/>
          </a:p>
        </p:txBody>
      </p:sp>
      <p:sp>
        <p:nvSpPr>
          <p:cNvPr id="11" name="Shape 9"/>
          <p:cNvSpPr/>
          <p:nvPr/>
        </p:nvSpPr>
        <p:spPr>
          <a:xfrm>
            <a:off x="548640" y="3621024"/>
            <a:ext cx="5394960" cy="1463040"/>
          </a:xfrm>
          <a:prstGeom prst="roundRect">
            <a:avLst>
              <a:gd name="adj" fmla="val 3125"/>
            </a:avLst>
          </a:prstGeom>
          <a:solidFill>
            <a:srgbClr val="E9EEF7"/>
          </a:solidFill>
          <a:ln w="12700">
            <a:solidFill>
              <a:srgbClr val="D3DEEF"/>
            </a:solidFill>
            <a:prstDash val="solid"/>
          </a:ln>
        </p:spPr>
      </p:sp>
      <p:sp>
        <p:nvSpPr>
          <p:cNvPr id="12" name="Text 10"/>
          <p:cNvSpPr/>
          <p:nvPr/>
        </p:nvSpPr>
        <p:spPr>
          <a:xfrm>
            <a:off x="786384" y="3767328"/>
            <a:ext cx="4937760" cy="329184"/>
          </a:xfrm>
          <a:prstGeom prst="rect">
            <a:avLst/>
          </a:prstGeom>
          <a:noFill/>
          <a:ln/>
        </p:spPr>
        <p:txBody>
          <a:bodyPr wrap="square" lIns="0" tIns="0" rIns="0" bIns="0" rtlCol="0" anchor="ctr"/>
          <a:lstStyle/>
          <a:p>
            <a:pPr indent="0" marL="0">
              <a:buNone/>
            </a:pPr>
            <a:r>
              <a:rPr lang="en-US" sz="1300" b="1" dirty="0">
                <a:solidFill>
                  <a:srgbClr val="132A4E"/>
                </a:solidFill>
                <a:latin typeface="Calibri" pitchFamily="34" charset="0"/>
                <a:ea typeface="Calibri" pitchFamily="34" charset="-122"/>
                <a:cs typeface="Calibri" pitchFamily="34" charset="-120"/>
              </a:rPr>
              <a:t>Engineering change proposal</a:t>
            </a:r>
            <a:endParaRPr lang="en-US" sz="1300" dirty="0"/>
          </a:p>
        </p:txBody>
      </p:sp>
      <p:sp>
        <p:nvSpPr>
          <p:cNvPr id="13" name="Text 11"/>
          <p:cNvSpPr/>
          <p:nvPr/>
        </p:nvSpPr>
        <p:spPr>
          <a:xfrm>
            <a:off x="786384" y="4133088"/>
            <a:ext cx="4956048" cy="822960"/>
          </a:xfrm>
          <a:prstGeom prst="rect">
            <a:avLst/>
          </a:prstGeom>
          <a:noFill/>
          <a:ln/>
        </p:spPr>
        <p:txBody>
          <a:bodyPr wrap="square" lIns="0" tIns="0" rIns="0" bIns="0" rtlCol="0" anchor="t"/>
          <a:lstStyle/>
          <a:p>
            <a:pPr indent="0" marL="0">
              <a:lnSpc>
                <a:spcPts val="1700"/>
              </a:lnSpc>
              <a:buNone/>
            </a:pPr>
            <a:r>
              <a:rPr lang="en-US" sz="1200" dirty="0">
                <a:solidFill>
                  <a:srgbClr val="1A2333"/>
                </a:solidFill>
                <a:latin typeface="Calibri" pitchFamily="34" charset="0"/>
                <a:ea typeface="Calibri" pitchFamily="34" charset="-122"/>
                <a:cs typeface="Calibri" pitchFamily="34" charset="-120"/>
              </a:rPr>
              <a:t>The formal package proposing a change to something baselined. It has to describe the full extent of the change's effects before anyone approves it.</a:t>
            </a:r>
            <a:endParaRPr lang="en-US" sz="1200" dirty="0"/>
          </a:p>
        </p:txBody>
      </p:sp>
      <p:sp>
        <p:nvSpPr>
          <p:cNvPr id="14" name="Shape 12"/>
          <p:cNvSpPr/>
          <p:nvPr/>
        </p:nvSpPr>
        <p:spPr>
          <a:xfrm>
            <a:off x="6245352" y="3621024"/>
            <a:ext cx="5394960" cy="1463040"/>
          </a:xfrm>
          <a:prstGeom prst="roundRect">
            <a:avLst>
              <a:gd name="adj" fmla="val 3125"/>
            </a:avLst>
          </a:prstGeom>
          <a:solidFill>
            <a:srgbClr val="FFFFFF"/>
          </a:solidFill>
          <a:ln w="12700">
            <a:solidFill>
              <a:srgbClr val="D3DEEF"/>
            </a:solidFill>
            <a:prstDash val="solid"/>
          </a:ln>
        </p:spPr>
      </p:sp>
      <p:sp>
        <p:nvSpPr>
          <p:cNvPr id="15" name="Text 13"/>
          <p:cNvSpPr/>
          <p:nvPr/>
        </p:nvSpPr>
        <p:spPr>
          <a:xfrm>
            <a:off x="6483096" y="3767328"/>
            <a:ext cx="4937760" cy="329184"/>
          </a:xfrm>
          <a:prstGeom prst="rect">
            <a:avLst/>
          </a:prstGeom>
          <a:noFill/>
          <a:ln/>
        </p:spPr>
        <p:txBody>
          <a:bodyPr wrap="square" lIns="0" tIns="0" rIns="0" bIns="0" rtlCol="0" anchor="ctr"/>
          <a:lstStyle/>
          <a:p>
            <a:pPr indent="0" marL="0">
              <a:buNone/>
            </a:pPr>
            <a:r>
              <a:rPr lang="en-US" sz="1300" b="1" dirty="0">
                <a:solidFill>
                  <a:srgbClr val="132A4E"/>
                </a:solidFill>
                <a:latin typeface="Calibri" pitchFamily="34" charset="0"/>
                <a:ea typeface="Calibri" pitchFamily="34" charset="-122"/>
                <a:cs typeface="Calibri" pitchFamily="34" charset="-120"/>
              </a:rPr>
              <a:t>Configuration status accounting</a:t>
            </a:r>
            <a:endParaRPr lang="en-US" sz="1300" dirty="0"/>
          </a:p>
        </p:txBody>
      </p:sp>
      <p:sp>
        <p:nvSpPr>
          <p:cNvPr id="16" name="Text 14"/>
          <p:cNvSpPr/>
          <p:nvPr/>
        </p:nvSpPr>
        <p:spPr>
          <a:xfrm>
            <a:off x="6483096" y="4133088"/>
            <a:ext cx="4956048" cy="822960"/>
          </a:xfrm>
          <a:prstGeom prst="rect">
            <a:avLst/>
          </a:prstGeom>
          <a:noFill/>
          <a:ln/>
        </p:spPr>
        <p:txBody>
          <a:bodyPr wrap="square" lIns="0" tIns="0" rIns="0" bIns="0" rtlCol="0" anchor="t"/>
          <a:lstStyle/>
          <a:p>
            <a:pPr indent="0" marL="0">
              <a:lnSpc>
                <a:spcPts val="1700"/>
              </a:lnSpc>
              <a:buNone/>
            </a:pPr>
            <a:r>
              <a:rPr lang="en-US" sz="1200" dirty="0">
                <a:solidFill>
                  <a:srgbClr val="1A2333"/>
                </a:solidFill>
                <a:latin typeface="Calibri" pitchFamily="34" charset="0"/>
                <a:ea typeface="Calibri" pitchFamily="34" charset="-122"/>
                <a:cs typeface="Calibri" pitchFamily="34" charset="-120"/>
              </a:rPr>
              <a:t>The record-keeping that can answer what the current approved definition of an item is, and what changes are outstanding against it. In effect, a searchable index of the product.</a:t>
            </a:r>
            <a:endParaRPr lang="en-US" sz="1200" dirty="0"/>
          </a:p>
        </p:txBody>
      </p:sp>
      <p:sp>
        <p:nvSpPr>
          <p:cNvPr id="17" name="Shape 15"/>
          <p:cNvSpPr/>
          <p:nvPr/>
        </p:nvSpPr>
        <p:spPr>
          <a:xfrm>
            <a:off x="548640" y="5138928"/>
            <a:ext cx="11091672" cy="1280160"/>
          </a:xfrm>
          <a:prstGeom prst="roundRect">
            <a:avLst>
              <a:gd name="adj" fmla="val 3571"/>
            </a:avLst>
          </a:prstGeom>
          <a:solidFill>
            <a:srgbClr val="DFF0ED"/>
          </a:solidFill>
          <a:ln w="12700">
            <a:solidFill>
              <a:srgbClr val="B9DBD5"/>
            </a:solidFill>
            <a:prstDash val="solid"/>
          </a:ln>
        </p:spPr>
      </p:sp>
      <p:sp>
        <p:nvSpPr>
          <p:cNvPr id="18" name="Text 16"/>
          <p:cNvSpPr/>
          <p:nvPr/>
        </p:nvSpPr>
        <p:spPr>
          <a:xfrm>
            <a:off x="841248" y="5266944"/>
            <a:ext cx="10515600" cy="274320"/>
          </a:xfrm>
          <a:prstGeom prst="rect">
            <a:avLst/>
          </a:prstGeom>
          <a:noFill/>
          <a:ln/>
        </p:spPr>
        <p:txBody>
          <a:bodyPr wrap="square" lIns="0" tIns="0" rIns="0" bIns="0" rtlCol="0" anchor="ctr"/>
          <a:lstStyle/>
          <a:p>
            <a:pPr indent="0" marL="0">
              <a:buNone/>
            </a:pPr>
            <a:r>
              <a:rPr lang="en-US" sz="1200" b="1" dirty="0">
                <a:solidFill>
                  <a:srgbClr val="0F6B62"/>
                </a:solidFill>
                <a:latin typeface="Calibri" pitchFamily="34" charset="0"/>
                <a:ea typeface="Calibri" pitchFamily="34" charset="-122"/>
                <a:cs typeface="Calibri" pitchFamily="34" charset="-120"/>
              </a:rPr>
              <a:t>Why this matters here</a:t>
            </a:r>
            <a:endParaRPr lang="en-US" sz="1200" dirty="0"/>
          </a:p>
        </p:txBody>
      </p:sp>
      <p:sp>
        <p:nvSpPr>
          <p:cNvPr id="19" name="Text 17"/>
          <p:cNvSpPr/>
          <p:nvPr/>
        </p:nvSpPr>
        <p:spPr>
          <a:xfrm>
            <a:off x="841248" y="5559552"/>
            <a:ext cx="10515600" cy="786384"/>
          </a:xfrm>
          <a:prstGeom prst="rect">
            <a:avLst/>
          </a:prstGeom>
          <a:noFill/>
          <a:ln/>
        </p:spPr>
        <p:txBody>
          <a:bodyPr wrap="square" lIns="0" tIns="0" rIns="0" bIns="0" rtlCol="0" anchor="t"/>
          <a:lstStyle/>
          <a:p>
            <a:pPr indent="0" marL="0">
              <a:lnSpc>
                <a:spcPts val="1700"/>
              </a:lnSpc>
              <a:buNone/>
            </a:pPr>
            <a:r>
              <a:rPr lang="en-US" sz="1150" dirty="0">
                <a:solidFill>
                  <a:srgbClr val="1A2333"/>
                </a:solidFill>
                <a:latin typeface="Calibri" pitchFamily="34" charset="0"/>
                <a:ea typeface="Calibri" pitchFamily="34" charset="-122"/>
                <a:cs typeface="Calibri" pitchFamily="34" charset="-120"/>
              </a:rPr>
              <a:t>Two things are already true and neither requires a new process. First, the standards already require that items whose failure could cause serious injury or loss of life be designated for individual tracking, so the safety-significant items are already on a maintained list. Second, status accounting is the only system on the program that already knows what changed and what depends on it. Point assumptions at that list, and that system can tell us which assumptions a change puts at risk.</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292608"/>
            <a:ext cx="11064240" cy="237744"/>
          </a:xfrm>
          <a:prstGeom prst="rect">
            <a:avLst/>
          </a:prstGeom>
          <a:noFill/>
          <a:ln/>
        </p:spPr>
        <p:txBody>
          <a:bodyPr wrap="square" lIns="0" tIns="0" rIns="0" bIns="0" rtlCol="0" anchor="ctr"/>
          <a:lstStyle/>
          <a:p>
            <a:pPr indent="0" marL="0">
              <a:buNone/>
            </a:pPr>
            <a:r>
              <a:rPr lang="en-US" sz="1050" b="1" spc="160" kern="0" dirty="0">
                <a:solidFill>
                  <a:srgbClr val="B4530C"/>
                </a:solidFill>
                <a:latin typeface="Calibri" pitchFamily="34" charset="0"/>
                <a:ea typeface="Calibri" pitchFamily="34" charset="-122"/>
                <a:cs typeface="Calibri" pitchFamily="34" charset="-120"/>
              </a:rPr>
              <a:t>THE OBVIOUS OBJECTION, ANSWERED</a:t>
            </a:r>
            <a:endParaRPr lang="en-US" sz="1050" dirty="0"/>
          </a:p>
        </p:txBody>
      </p:sp>
      <p:sp>
        <p:nvSpPr>
          <p:cNvPr id="3" name="Text 1"/>
          <p:cNvSpPr/>
          <p:nvPr/>
        </p:nvSpPr>
        <p:spPr>
          <a:xfrm>
            <a:off x="548640" y="548640"/>
            <a:ext cx="11064240" cy="658368"/>
          </a:xfrm>
          <a:prstGeom prst="rect">
            <a:avLst/>
          </a:prstGeom>
          <a:noFill/>
          <a:ln/>
        </p:spPr>
        <p:txBody>
          <a:bodyPr wrap="square" lIns="0" tIns="0" rIns="0" bIns="0" rtlCol="0" anchor="t"/>
          <a:lstStyle/>
          <a:p>
            <a:pPr indent="0" marL="0">
              <a:buNone/>
            </a:pPr>
            <a:r>
              <a:rPr lang="en-US" sz="2900" b="1" dirty="0">
                <a:solidFill>
                  <a:srgbClr val="132A4E"/>
                </a:solidFill>
                <a:latin typeface="Cambria" pitchFamily="34" charset="0"/>
                <a:ea typeface="Cambria" pitchFamily="34" charset="-122"/>
                <a:cs typeface="Cambria" pitchFamily="34" charset="-120"/>
              </a:rPr>
              <a:t>We do not have to wait for the design to mature</a:t>
            </a:r>
            <a:endParaRPr lang="en-US" sz="2900" dirty="0"/>
          </a:p>
        </p:txBody>
      </p:sp>
      <p:sp>
        <p:nvSpPr>
          <p:cNvPr id="4" name="Text 2"/>
          <p:cNvSpPr/>
          <p:nvPr/>
        </p:nvSpPr>
        <p:spPr>
          <a:xfrm>
            <a:off x="548640" y="1261872"/>
            <a:ext cx="11064240" cy="457200"/>
          </a:xfrm>
          <a:prstGeom prst="rect">
            <a:avLst/>
          </a:prstGeom>
          <a:noFill/>
          <a:ln/>
        </p:spPr>
        <p:txBody>
          <a:bodyPr wrap="square" lIns="0" tIns="0" rIns="0" bIns="0" rtlCol="0" anchor="t"/>
          <a:lstStyle/>
          <a:p>
            <a:pPr indent="0" marL="0">
              <a:lnSpc>
                <a:spcPts val="2000"/>
              </a:lnSpc>
              <a:buNone/>
            </a:pPr>
            <a:r>
              <a:rPr lang="en-US" sz="1400" dirty="0">
                <a:solidFill>
                  <a:srgbClr val="1A2333"/>
                </a:solidFill>
                <a:latin typeface="Calibri" pitchFamily="34" charset="0"/>
                <a:ea typeface="Calibri" pitchFamily="34" charset="-122"/>
                <a:cs typeface="Calibri" pitchFamily="34" charset="-120"/>
              </a:rPr>
              <a:t>Assumptions are written at proposal. Configuration items do not exist for years. But the definition firms up in stages, and each stage gives an assumption something firmer to point at.</a:t>
            </a:r>
            <a:endParaRPr lang="en-US" sz="1400" dirty="0"/>
          </a:p>
        </p:txBody>
      </p:sp>
      <p:sp>
        <p:nvSpPr>
          <p:cNvPr id="5" name="Shape 3"/>
          <p:cNvSpPr/>
          <p:nvPr/>
        </p:nvSpPr>
        <p:spPr>
          <a:xfrm>
            <a:off x="548640" y="1975104"/>
            <a:ext cx="3520440" cy="2651760"/>
          </a:xfrm>
          <a:prstGeom prst="roundRect">
            <a:avLst>
              <a:gd name="adj" fmla="val 1724"/>
            </a:avLst>
          </a:prstGeom>
          <a:solidFill>
            <a:srgbClr val="E9EEF7"/>
          </a:solidFill>
          <a:ln w="12700">
            <a:solidFill>
              <a:srgbClr val="D3DEEF"/>
            </a:solidFill>
            <a:prstDash val="solid"/>
          </a:ln>
        </p:spPr>
      </p:sp>
      <p:sp>
        <p:nvSpPr>
          <p:cNvPr id="6" name="Shape 4"/>
          <p:cNvSpPr/>
          <p:nvPr/>
        </p:nvSpPr>
        <p:spPr>
          <a:xfrm>
            <a:off x="768096" y="2157984"/>
            <a:ext cx="3081528" cy="420624"/>
          </a:xfrm>
          <a:prstGeom prst="roundRect">
            <a:avLst>
              <a:gd name="adj" fmla="val 13043"/>
            </a:avLst>
          </a:prstGeom>
          <a:solidFill>
            <a:srgbClr val="1F4380"/>
          </a:solidFill>
          <a:ln w="12700">
            <a:solidFill>
              <a:srgbClr val="1F4380"/>
            </a:solidFill>
            <a:prstDash val="solid"/>
          </a:ln>
        </p:spPr>
      </p:sp>
      <p:sp>
        <p:nvSpPr>
          <p:cNvPr id="7" name="Text 5"/>
          <p:cNvSpPr/>
          <p:nvPr/>
        </p:nvSpPr>
        <p:spPr>
          <a:xfrm>
            <a:off x="768096" y="2157984"/>
            <a:ext cx="3081528"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Functional baseline</a:t>
            </a:r>
            <a:endParaRPr lang="en-US" sz="1200" dirty="0"/>
          </a:p>
        </p:txBody>
      </p:sp>
      <p:sp>
        <p:nvSpPr>
          <p:cNvPr id="8" name="Text 6"/>
          <p:cNvSpPr/>
          <p:nvPr/>
        </p:nvSpPr>
        <p:spPr>
          <a:xfrm>
            <a:off x="786384" y="2688336"/>
            <a:ext cx="3108960" cy="292608"/>
          </a:xfrm>
          <a:prstGeom prst="rect">
            <a:avLst/>
          </a:prstGeom>
          <a:noFill/>
          <a:ln/>
        </p:spPr>
        <p:txBody>
          <a:bodyPr wrap="square" lIns="0" tIns="0" rIns="0" bIns="0" rtlCol="0" anchor="ctr"/>
          <a:lstStyle/>
          <a:p>
            <a:pPr indent="0" marL="0">
              <a:buNone/>
            </a:pPr>
            <a:r>
              <a:rPr lang="en-US" sz="1450" b="1" i="1" dirty="0">
                <a:solidFill>
                  <a:srgbClr val="132A4E"/>
                </a:solidFill>
                <a:latin typeface="Cambria" pitchFamily="34" charset="0"/>
                <a:ea typeface="Cambria" pitchFamily="34" charset="-122"/>
                <a:cs typeface="Cambria" pitchFamily="34" charset="-120"/>
              </a:rPr>
              <a:t>What the system has to do</a:t>
            </a:r>
            <a:endParaRPr lang="en-US" sz="1450" dirty="0"/>
          </a:p>
        </p:txBody>
      </p:sp>
      <p:sp>
        <p:nvSpPr>
          <p:cNvPr id="9" name="Text 7"/>
          <p:cNvSpPr/>
          <p:nvPr/>
        </p:nvSpPr>
        <p:spPr>
          <a:xfrm>
            <a:off x="786384" y="3054096"/>
            <a:ext cx="3108960" cy="1426464"/>
          </a:xfrm>
          <a:prstGeom prst="rect">
            <a:avLst/>
          </a:prstGeom>
          <a:noFill/>
          <a:ln/>
        </p:spPr>
        <p:txBody>
          <a:bodyPr wrap="square" lIns="0" tIns="0" rIns="0" bIns="0" rtlCol="0" anchor="t"/>
          <a:lstStyle/>
          <a:p>
            <a:pPr indent="0" marL="0">
              <a:lnSpc>
                <a:spcPts val="1700"/>
              </a:lnSpc>
              <a:buNone/>
            </a:pPr>
            <a:r>
              <a:rPr lang="en-US" sz="1200" dirty="0">
                <a:solidFill>
                  <a:srgbClr val="1A2333"/>
                </a:solidFill>
                <a:latin typeface="Calibri" pitchFamily="34" charset="0"/>
                <a:ea typeface="Calibri" pitchFamily="34" charset="-122"/>
                <a:cs typeface="Calibri" pitchFamily="34" charset="-120"/>
              </a:rPr>
              <a:t>Operating environment and performance assumptions attach here.</a:t>
            </a:r>
            <a:endParaRPr lang="en-US" sz="1200" dirty="0"/>
          </a:p>
        </p:txBody>
      </p:sp>
      <p:sp>
        <p:nvSpPr>
          <p:cNvPr id="10" name="Shape 8"/>
          <p:cNvSpPr/>
          <p:nvPr/>
        </p:nvSpPr>
        <p:spPr>
          <a:xfrm>
            <a:off x="4315968" y="1975104"/>
            <a:ext cx="3520440" cy="2651760"/>
          </a:xfrm>
          <a:prstGeom prst="roundRect">
            <a:avLst>
              <a:gd name="adj" fmla="val 1724"/>
            </a:avLst>
          </a:prstGeom>
          <a:solidFill>
            <a:srgbClr val="E9EEF7"/>
          </a:solidFill>
          <a:ln w="12700">
            <a:solidFill>
              <a:srgbClr val="D3DEEF"/>
            </a:solidFill>
            <a:prstDash val="solid"/>
          </a:ln>
        </p:spPr>
      </p:sp>
      <p:sp>
        <p:nvSpPr>
          <p:cNvPr id="11" name="Shape 9"/>
          <p:cNvSpPr/>
          <p:nvPr/>
        </p:nvSpPr>
        <p:spPr>
          <a:xfrm>
            <a:off x="4535424" y="2157984"/>
            <a:ext cx="3081528" cy="420624"/>
          </a:xfrm>
          <a:prstGeom prst="roundRect">
            <a:avLst>
              <a:gd name="adj" fmla="val 13043"/>
            </a:avLst>
          </a:prstGeom>
          <a:solidFill>
            <a:srgbClr val="1F4380"/>
          </a:solidFill>
          <a:ln w="12700">
            <a:solidFill>
              <a:srgbClr val="1F4380"/>
            </a:solidFill>
            <a:prstDash val="solid"/>
          </a:ln>
        </p:spPr>
      </p:sp>
      <p:sp>
        <p:nvSpPr>
          <p:cNvPr id="12" name="Text 10"/>
          <p:cNvSpPr/>
          <p:nvPr/>
        </p:nvSpPr>
        <p:spPr>
          <a:xfrm>
            <a:off x="4535424" y="2157984"/>
            <a:ext cx="3081528"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Allocated baseline</a:t>
            </a:r>
            <a:endParaRPr lang="en-US" sz="1200" dirty="0"/>
          </a:p>
        </p:txBody>
      </p:sp>
      <p:sp>
        <p:nvSpPr>
          <p:cNvPr id="13" name="Text 11"/>
          <p:cNvSpPr/>
          <p:nvPr/>
        </p:nvSpPr>
        <p:spPr>
          <a:xfrm>
            <a:off x="4553712" y="2688336"/>
            <a:ext cx="3108960" cy="292608"/>
          </a:xfrm>
          <a:prstGeom prst="rect">
            <a:avLst/>
          </a:prstGeom>
          <a:noFill/>
          <a:ln/>
        </p:spPr>
        <p:txBody>
          <a:bodyPr wrap="square" lIns="0" tIns="0" rIns="0" bIns="0" rtlCol="0" anchor="ctr"/>
          <a:lstStyle/>
          <a:p>
            <a:pPr indent="0" marL="0">
              <a:buNone/>
            </a:pPr>
            <a:r>
              <a:rPr lang="en-US" sz="1450" b="1" i="1" dirty="0">
                <a:solidFill>
                  <a:srgbClr val="132A4E"/>
                </a:solidFill>
                <a:latin typeface="Cambria" pitchFamily="34" charset="0"/>
                <a:ea typeface="Cambria" pitchFamily="34" charset="-122"/>
                <a:cs typeface="Cambria" pitchFamily="34" charset="-120"/>
              </a:rPr>
              <a:t>What each part has to do</a:t>
            </a:r>
            <a:endParaRPr lang="en-US" sz="1450" dirty="0"/>
          </a:p>
        </p:txBody>
      </p:sp>
      <p:sp>
        <p:nvSpPr>
          <p:cNvPr id="14" name="Text 12"/>
          <p:cNvSpPr/>
          <p:nvPr/>
        </p:nvSpPr>
        <p:spPr>
          <a:xfrm>
            <a:off x="4553712" y="3054096"/>
            <a:ext cx="3108960" cy="1426464"/>
          </a:xfrm>
          <a:prstGeom prst="rect">
            <a:avLst/>
          </a:prstGeom>
          <a:noFill/>
          <a:ln/>
        </p:spPr>
        <p:txBody>
          <a:bodyPr wrap="square" lIns="0" tIns="0" rIns="0" bIns="0" rtlCol="0" anchor="t"/>
          <a:lstStyle/>
          <a:p>
            <a:pPr indent="0" marL="0">
              <a:lnSpc>
                <a:spcPts val="1700"/>
              </a:lnSpc>
              <a:buNone/>
            </a:pPr>
            <a:r>
              <a:rPr lang="en-US" sz="1200" dirty="0">
                <a:solidFill>
                  <a:srgbClr val="1A2333"/>
                </a:solidFill>
                <a:latin typeface="Calibri" pitchFamily="34" charset="0"/>
                <a:ea typeface="Calibri" pitchFamily="34" charset="-122"/>
                <a:cs typeface="Calibri" pitchFamily="34" charset="-120"/>
              </a:rPr>
              <a:t>Interface, installation, thermal and duty-cycle assumptions attach. So do most assumptions about people, which attach to procedure and training documents.</a:t>
            </a:r>
            <a:endParaRPr lang="en-US" sz="1200" dirty="0"/>
          </a:p>
        </p:txBody>
      </p:sp>
      <p:sp>
        <p:nvSpPr>
          <p:cNvPr id="15" name="Shape 13"/>
          <p:cNvSpPr/>
          <p:nvPr/>
        </p:nvSpPr>
        <p:spPr>
          <a:xfrm>
            <a:off x="8083296" y="1975104"/>
            <a:ext cx="3520440" cy="2651760"/>
          </a:xfrm>
          <a:prstGeom prst="roundRect">
            <a:avLst>
              <a:gd name="adj" fmla="val 1724"/>
            </a:avLst>
          </a:prstGeom>
          <a:solidFill>
            <a:srgbClr val="DFF0ED"/>
          </a:solidFill>
          <a:ln w="12700">
            <a:solidFill>
              <a:srgbClr val="B9DBD5"/>
            </a:solidFill>
            <a:prstDash val="solid"/>
          </a:ln>
        </p:spPr>
      </p:sp>
      <p:sp>
        <p:nvSpPr>
          <p:cNvPr id="16" name="Shape 14"/>
          <p:cNvSpPr/>
          <p:nvPr/>
        </p:nvSpPr>
        <p:spPr>
          <a:xfrm>
            <a:off x="8302752" y="2157984"/>
            <a:ext cx="3081528" cy="420624"/>
          </a:xfrm>
          <a:prstGeom prst="roundRect">
            <a:avLst>
              <a:gd name="adj" fmla="val 13043"/>
            </a:avLst>
          </a:prstGeom>
          <a:solidFill>
            <a:srgbClr val="0F6B62"/>
          </a:solidFill>
          <a:ln w="12700">
            <a:solidFill>
              <a:srgbClr val="0F6B62"/>
            </a:solidFill>
            <a:prstDash val="solid"/>
          </a:ln>
        </p:spPr>
      </p:sp>
      <p:sp>
        <p:nvSpPr>
          <p:cNvPr id="17" name="Text 15"/>
          <p:cNvSpPr/>
          <p:nvPr/>
        </p:nvSpPr>
        <p:spPr>
          <a:xfrm>
            <a:off x="8302752" y="2157984"/>
            <a:ext cx="3081528"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Product baseline</a:t>
            </a:r>
            <a:endParaRPr lang="en-US" sz="1200" dirty="0"/>
          </a:p>
        </p:txBody>
      </p:sp>
      <p:sp>
        <p:nvSpPr>
          <p:cNvPr id="18" name="Text 16"/>
          <p:cNvSpPr/>
          <p:nvPr/>
        </p:nvSpPr>
        <p:spPr>
          <a:xfrm>
            <a:off x="8321040" y="2688336"/>
            <a:ext cx="3108960" cy="292608"/>
          </a:xfrm>
          <a:prstGeom prst="rect">
            <a:avLst/>
          </a:prstGeom>
          <a:noFill/>
          <a:ln/>
        </p:spPr>
        <p:txBody>
          <a:bodyPr wrap="square" lIns="0" tIns="0" rIns="0" bIns="0" rtlCol="0" anchor="ctr"/>
          <a:lstStyle/>
          <a:p>
            <a:pPr indent="0" marL="0">
              <a:buNone/>
            </a:pPr>
            <a:r>
              <a:rPr lang="en-US" sz="1450" b="1" i="1" dirty="0">
                <a:solidFill>
                  <a:srgbClr val="132A4E"/>
                </a:solidFill>
                <a:latin typeface="Cambria" pitchFamily="34" charset="0"/>
                <a:ea typeface="Cambria" pitchFamily="34" charset="-122"/>
                <a:cs typeface="Cambria" pitchFamily="34" charset="-120"/>
              </a:rPr>
              <a:t>What it actually is</a:t>
            </a:r>
            <a:endParaRPr lang="en-US" sz="1450" dirty="0"/>
          </a:p>
        </p:txBody>
      </p:sp>
      <p:sp>
        <p:nvSpPr>
          <p:cNvPr id="19" name="Text 17"/>
          <p:cNvSpPr/>
          <p:nvPr/>
        </p:nvSpPr>
        <p:spPr>
          <a:xfrm>
            <a:off x="8321040" y="3054096"/>
            <a:ext cx="3108960" cy="1426464"/>
          </a:xfrm>
          <a:prstGeom prst="rect">
            <a:avLst/>
          </a:prstGeom>
          <a:noFill/>
          <a:ln/>
        </p:spPr>
        <p:txBody>
          <a:bodyPr wrap="square" lIns="0" tIns="0" rIns="0" bIns="0" rtlCol="0" anchor="t"/>
          <a:lstStyle/>
          <a:p>
            <a:pPr indent="0" marL="0">
              <a:lnSpc>
                <a:spcPts val="1700"/>
              </a:lnSpc>
              <a:buNone/>
            </a:pPr>
            <a:r>
              <a:rPr lang="en-US" sz="1200" dirty="0">
                <a:solidFill>
                  <a:srgbClr val="1A2333"/>
                </a:solidFill>
                <a:latin typeface="Calibri" pitchFamily="34" charset="0"/>
                <a:ea typeface="Calibri" pitchFamily="34" charset="-122"/>
                <a:cs typeface="Calibri" pitchFamily="34" charset="-120"/>
              </a:rPr>
              <a:t>Assumptions attach to specific items at specific revisions, and can be verified by test and audit.</a:t>
            </a:r>
            <a:endParaRPr lang="en-US" sz="1200" dirty="0"/>
          </a:p>
        </p:txBody>
      </p:sp>
      <p:sp>
        <p:nvSpPr>
          <p:cNvPr id="20" name="Shape 18"/>
          <p:cNvSpPr/>
          <p:nvPr/>
        </p:nvSpPr>
        <p:spPr>
          <a:xfrm>
            <a:off x="548640" y="4846320"/>
            <a:ext cx="11091672" cy="822960"/>
          </a:xfrm>
          <a:prstGeom prst="roundRect">
            <a:avLst>
              <a:gd name="adj" fmla="val 5556"/>
            </a:avLst>
          </a:prstGeom>
          <a:solidFill>
            <a:srgbClr val="FBEBDC"/>
          </a:solidFill>
          <a:ln w="12700">
            <a:solidFill>
              <a:srgbClr val="ECC8AE"/>
            </a:solidFill>
            <a:prstDash val="solid"/>
          </a:ln>
        </p:spPr>
      </p:sp>
      <p:sp>
        <p:nvSpPr>
          <p:cNvPr id="21" name="Text 19"/>
          <p:cNvSpPr/>
          <p:nvPr/>
        </p:nvSpPr>
        <p:spPr>
          <a:xfrm>
            <a:off x="822960" y="4846320"/>
            <a:ext cx="10515600" cy="822960"/>
          </a:xfrm>
          <a:prstGeom prst="rect">
            <a:avLst/>
          </a:prstGeom>
          <a:noFill/>
          <a:ln/>
        </p:spPr>
        <p:txBody>
          <a:bodyPr wrap="square" lIns="0" tIns="0" rIns="0" bIns="0" rtlCol="0" anchor="ctr"/>
          <a:lstStyle/>
          <a:p>
            <a:pPr indent="0" marL="0">
              <a:lnSpc>
                <a:spcPts val="1800"/>
              </a:lnSpc>
              <a:buNone/>
            </a:pPr>
            <a:r>
              <a:rPr lang="en-US" sz="1250" b="1" dirty="0">
                <a:solidFill>
                  <a:srgbClr val="B4530C"/>
                </a:solidFill>
                <a:latin typeface="Calibri" pitchFamily="34" charset="0"/>
                <a:ea typeface="Calibri" pitchFamily="34" charset="-122"/>
                <a:cs typeface="Calibri" pitchFamily="34" charset="-120"/>
              </a:rPr>
              <a:t>Assumptions start unattached at proposal and attach as baselines arrive. What matters is not that they are all attached quickly, but that the number still unattached is visible, reported at design reviews, and falling.</a:t>
            </a:r>
            <a:endParaRPr lang="en-US" sz="1250" dirty="0"/>
          </a:p>
        </p:txBody>
      </p:sp>
      <p:sp>
        <p:nvSpPr>
          <p:cNvPr id="22" name="Shape 20"/>
          <p:cNvSpPr/>
          <p:nvPr/>
        </p:nvSpPr>
        <p:spPr>
          <a:xfrm>
            <a:off x="548640" y="5815584"/>
            <a:ext cx="11091672" cy="658368"/>
          </a:xfrm>
          <a:prstGeom prst="roundRect">
            <a:avLst>
              <a:gd name="adj" fmla="val 6944"/>
            </a:avLst>
          </a:prstGeom>
          <a:solidFill>
            <a:srgbClr val="132A4E"/>
          </a:solidFill>
          <a:ln w="12700">
            <a:solidFill>
              <a:srgbClr val="132A4E"/>
            </a:solidFill>
            <a:prstDash val="solid"/>
          </a:ln>
        </p:spPr>
      </p:sp>
      <p:sp>
        <p:nvSpPr>
          <p:cNvPr id="23" name="Text 21"/>
          <p:cNvSpPr/>
          <p:nvPr/>
        </p:nvSpPr>
        <p:spPr>
          <a:xfrm>
            <a:off x="841248" y="5925312"/>
            <a:ext cx="10515600" cy="438912"/>
          </a:xfrm>
          <a:prstGeom prst="rect">
            <a:avLst/>
          </a:prstGeom>
          <a:noFill/>
          <a:ln/>
        </p:spPr>
        <p:txBody>
          <a:bodyPr wrap="square" lIns="0" tIns="0" rIns="0" bIns="0" rtlCol="0" anchor="t"/>
          <a:lstStyle/>
          <a:p>
            <a:pPr indent="0" marL="0">
              <a:lnSpc>
                <a:spcPts val="1900"/>
              </a:lnSpc>
              <a:buNone/>
            </a:pPr>
            <a:r>
              <a:rPr lang="en-US" sz="1300" dirty="0">
                <a:solidFill>
                  <a:srgbClr val="FFFFFF"/>
                </a:solidFill>
                <a:latin typeface="Calibri" pitchFamily="34" charset="0"/>
                <a:ea typeface="Calibri" pitchFamily="34" charset="-122"/>
                <a:cs typeface="Calibri" pitchFamily="34" charset="-120"/>
              </a:rPr>
              <a:t>Expect the first number a program reports to be uncomfortable. That is the point of measuring it.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292608"/>
            <a:ext cx="11064240" cy="237744"/>
          </a:xfrm>
          <a:prstGeom prst="rect">
            <a:avLst/>
          </a:prstGeom>
          <a:noFill/>
          <a:ln/>
        </p:spPr>
        <p:txBody>
          <a:bodyPr wrap="square" lIns="0" tIns="0" rIns="0" bIns="0" rtlCol="0" anchor="ctr"/>
          <a:lstStyle/>
          <a:p>
            <a:pPr indent="0" marL="0">
              <a:buNone/>
            </a:pPr>
            <a:r>
              <a:rPr lang="en-US" sz="1050" b="1" spc="160" kern="0" dirty="0">
                <a:solidFill>
                  <a:srgbClr val="B4530C"/>
                </a:solidFill>
                <a:latin typeface="Calibri" pitchFamily="34" charset="0"/>
                <a:ea typeface="Calibri" pitchFamily="34" charset="-122"/>
                <a:cs typeface="Calibri" pitchFamily="34" charset="-120"/>
              </a:rPr>
              <a:t>WHAT WE ARE PROPOSING</a:t>
            </a:r>
            <a:endParaRPr lang="en-US" sz="1050" dirty="0"/>
          </a:p>
        </p:txBody>
      </p:sp>
      <p:sp>
        <p:nvSpPr>
          <p:cNvPr id="3" name="Text 1"/>
          <p:cNvSpPr/>
          <p:nvPr/>
        </p:nvSpPr>
        <p:spPr>
          <a:xfrm>
            <a:off x="548640" y="548640"/>
            <a:ext cx="11064240" cy="658368"/>
          </a:xfrm>
          <a:prstGeom prst="rect">
            <a:avLst/>
          </a:prstGeom>
          <a:noFill/>
          <a:ln/>
        </p:spPr>
        <p:txBody>
          <a:bodyPr wrap="square" lIns="0" tIns="0" rIns="0" bIns="0" rtlCol="0" anchor="t"/>
          <a:lstStyle/>
          <a:p>
            <a:pPr indent="0" marL="0">
              <a:buNone/>
            </a:pPr>
            <a:r>
              <a:rPr lang="en-US" sz="2900" b="1" dirty="0">
                <a:solidFill>
                  <a:srgbClr val="132A4E"/>
                </a:solidFill>
                <a:latin typeface="Cambria" pitchFamily="34" charset="0"/>
                <a:ea typeface="Cambria" pitchFamily="34" charset="-122"/>
                <a:cs typeface="Cambria" pitchFamily="34" charset="-120"/>
              </a:rPr>
              <a:t>The fix, in one page</a:t>
            </a:r>
            <a:endParaRPr lang="en-US" sz="2900" dirty="0"/>
          </a:p>
        </p:txBody>
      </p:sp>
      <p:sp>
        <p:nvSpPr>
          <p:cNvPr id="4" name="Shape 2"/>
          <p:cNvSpPr/>
          <p:nvPr/>
        </p:nvSpPr>
        <p:spPr>
          <a:xfrm>
            <a:off x="548640" y="1243584"/>
            <a:ext cx="5394960" cy="1481328"/>
          </a:xfrm>
          <a:prstGeom prst="roundRect">
            <a:avLst>
              <a:gd name="adj" fmla="val 3086"/>
            </a:avLst>
          </a:prstGeom>
          <a:solidFill>
            <a:srgbClr val="E9EEF7"/>
          </a:solidFill>
          <a:ln w="12700">
            <a:solidFill>
              <a:srgbClr val="D3DEEF"/>
            </a:solidFill>
            <a:prstDash val="solid"/>
          </a:ln>
        </p:spPr>
      </p:sp>
      <p:sp>
        <p:nvSpPr>
          <p:cNvPr id="5" name="Text 3"/>
          <p:cNvSpPr/>
          <p:nvPr/>
        </p:nvSpPr>
        <p:spPr>
          <a:xfrm>
            <a:off x="786384" y="1389888"/>
            <a:ext cx="4937760" cy="329184"/>
          </a:xfrm>
          <a:prstGeom prst="rect">
            <a:avLst/>
          </a:prstGeom>
          <a:noFill/>
          <a:ln/>
        </p:spPr>
        <p:txBody>
          <a:bodyPr wrap="square" lIns="0" tIns="0" rIns="0" bIns="0" rtlCol="0" anchor="ctr"/>
          <a:lstStyle/>
          <a:p>
            <a:pPr indent="0" marL="0">
              <a:buNone/>
            </a:pPr>
            <a:r>
              <a:rPr lang="en-US" sz="1300" b="1" dirty="0">
                <a:solidFill>
                  <a:srgbClr val="132A4E"/>
                </a:solidFill>
                <a:latin typeface="Calibri" pitchFamily="34" charset="0"/>
                <a:ea typeface="Calibri" pitchFamily="34" charset="-122"/>
                <a:cs typeface="Calibri" pitchFamily="34" charset="-120"/>
              </a:rPr>
              <a:t>Write the conditions down when the assumption is made</a:t>
            </a:r>
            <a:endParaRPr lang="en-US" sz="1300" dirty="0"/>
          </a:p>
        </p:txBody>
      </p:sp>
      <p:sp>
        <p:nvSpPr>
          <p:cNvPr id="6" name="Text 4"/>
          <p:cNvSpPr/>
          <p:nvPr/>
        </p:nvSpPr>
        <p:spPr>
          <a:xfrm>
            <a:off x="786384" y="1755648"/>
            <a:ext cx="4956048" cy="841248"/>
          </a:xfrm>
          <a:prstGeom prst="rect">
            <a:avLst/>
          </a:prstGeom>
          <a:noFill/>
          <a:ln/>
        </p:spPr>
        <p:txBody>
          <a:bodyPr wrap="square" lIns="0" tIns="0" rIns="0" bIns="0" rtlCol="0" anchor="t"/>
          <a:lstStyle/>
          <a:p>
            <a:pPr indent="0" marL="0">
              <a:lnSpc>
                <a:spcPts val="1700"/>
              </a:lnSpc>
              <a:buNone/>
            </a:pPr>
            <a:r>
              <a:rPr lang="en-US" sz="1200" dirty="0">
                <a:solidFill>
                  <a:srgbClr val="1A2333"/>
                </a:solidFill>
                <a:latin typeface="Calibri" pitchFamily="34" charset="0"/>
                <a:ea typeface="Calibri" pitchFamily="34" charset="-122"/>
                <a:cs typeface="Calibri" pitchFamily="34" charset="-120"/>
              </a:rPr>
              <a:t>A short record: what is assumed, why, and specifically what has to be true. Written by the person who knows, when they know it. This is the cheap step that unlocks everything else.</a:t>
            </a:r>
            <a:endParaRPr lang="en-US" sz="1200" dirty="0"/>
          </a:p>
        </p:txBody>
      </p:sp>
      <p:sp>
        <p:nvSpPr>
          <p:cNvPr id="7" name="Shape 5"/>
          <p:cNvSpPr/>
          <p:nvPr/>
        </p:nvSpPr>
        <p:spPr>
          <a:xfrm>
            <a:off x="6245352" y="1243584"/>
            <a:ext cx="5394960" cy="1481328"/>
          </a:xfrm>
          <a:prstGeom prst="roundRect">
            <a:avLst>
              <a:gd name="adj" fmla="val 3086"/>
            </a:avLst>
          </a:prstGeom>
          <a:solidFill>
            <a:srgbClr val="FFFFFF"/>
          </a:solidFill>
          <a:ln w="12700">
            <a:solidFill>
              <a:srgbClr val="D3DEEF"/>
            </a:solidFill>
            <a:prstDash val="solid"/>
          </a:ln>
        </p:spPr>
      </p:sp>
      <p:sp>
        <p:nvSpPr>
          <p:cNvPr id="8" name="Text 6"/>
          <p:cNvSpPr/>
          <p:nvPr/>
        </p:nvSpPr>
        <p:spPr>
          <a:xfrm>
            <a:off x="6483096" y="1389888"/>
            <a:ext cx="4937760" cy="329184"/>
          </a:xfrm>
          <a:prstGeom prst="rect">
            <a:avLst/>
          </a:prstGeom>
          <a:noFill/>
          <a:ln/>
        </p:spPr>
        <p:txBody>
          <a:bodyPr wrap="square" lIns="0" tIns="0" rIns="0" bIns="0" rtlCol="0" anchor="ctr"/>
          <a:lstStyle/>
          <a:p>
            <a:pPr indent="0" marL="0">
              <a:buNone/>
            </a:pPr>
            <a:r>
              <a:rPr lang="en-US" sz="1300" b="1" dirty="0">
                <a:solidFill>
                  <a:srgbClr val="132A4E"/>
                </a:solidFill>
                <a:latin typeface="Calibri" pitchFamily="34" charset="0"/>
                <a:ea typeface="Calibri" pitchFamily="34" charset="-122"/>
                <a:cs typeface="Calibri" pitchFamily="34" charset="-120"/>
              </a:rPr>
              <a:t>Point each condition at a controlled document</a:t>
            </a:r>
            <a:endParaRPr lang="en-US" sz="1300" dirty="0"/>
          </a:p>
        </p:txBody>
      </p:sp>
      <p:sp>
        <p:nvSpPr>
          <p:cNvPr id="9" name="Text 7"/>
          <p:cNvSpPr/>
          <p:nvPr/>
        </p:nvSpPr>
        <p:spPr>
          <a:xfrm>
            <a:off x="6483096" y="1755648"/>
            <a:ext cx="4956048" cy="841248"/>
          </a:xfrm>
          <a:prstGeom prst="rect">
            <a:avLst/>
          </a:prstGeom>
          <a:noFill/>
          <a:ln/>
        </p:spPr>
        <p:txBody>
          <a:bodyPr wrap="square" lIns="0" tIns="0" rIns="0" bIns="0" rtlCol="0" anchor="t"/>
          <a:lstStyle/>
          <a:p>
            <a:pPr indent="0" marL="0">
              <a:lnSpc>
                <a:spcPts val="1700"/>
              </a:lnSpc>
              <a:buNone/>
            </a:pPr>
            <a:r>
              <a:rPr lang="en-US" sz="1200" dirty="0">
                <a:solidFill>
                  <a:srgbClr val="1A2333"/>
                </a:solidFill>
                <a:latin typeface="Calibri" pitchFamily="34" charset="0"/>
                <a:ea typeface="Calibri" pitchFamily="34" charset="-122"/>
                <a:cs typeface="Calibri" pitchFamily="34" charset="-120"/>
              </a:rPr>
              <a:t>If it depends on a 400-hour inspection interval, cite the document that sets the interval rather than repeating the number. Restating is how assumptions go stale silently.</a:t>
            </a:r>
            <a:endParaRPr lang="en-US" sz="1200" dirty="0"/>
          </a:p>
        </p:txBody>
      </p:sp>
      <p:sp>
        <p:nvSpPr>
          <p:cNvPr id="10" name="Shape 8"/>
          <p:cNvSpPr/>
          <p:nvPr/>
        </p:nvSpPr>
        <p:spPr>
          <a:xfrm>
            <a:off x="548640" y="2907792"/>
            <a:ext cx="5394960" cy="1481328"/>
          </a:xfrm>
          <a:prstGeom prst="roundRect">
            <a:avLst>
              <a:gd name="adj" fmla="val 3086"/>
            </a:avLst>
          </a:prstGeom>
          <a:solidFill>
            <a:srgbClr val="E9EEF7"/>
          </a:solidFill>
          <a:ln w="12700">
            <a:solidFill>
              <a:srgbClr val="D3DEEF"/>
            </a:solidFill>
            <a:prstDash val="solid"/>
          </a:ln>
        </p:spPr>
      </p:sp>
      <p:sp>
        <p:nvSpPr>
          <p:cNvPr id="11" name="Text 9"/>
          <p:cNvSpPr/>
          <p:nvPr/>
        </p:nvSpPr>
        <p:spPr>
          <a:xfrm>
            <a:off x="786384" y="3054096"/>
            <a:ext cx="4937760" cy="329184"/>
          </a:xfrm>
          <a:prstGeom prst="rect">
            <a:avLst/>
          </a:prstGeom>
          <a:noFill/>
          <a:ln/>
        </p:spPr>
        <p:txBody>
          <a:bodyPr wrap="square" lIns="0" tIns="0" rIns="0" bIns="0" rtlCol="0" anchor="ctr"/>
          <a:lstStyle/>
          <a:p>
            <a:pPr indent="0" marL="0">
              <a:buNone/>
            </a:pPr>
            <a:r>
              <a:rPr lang="en-US" sz="1300" b="1" dirty="0">
                <a:solidFill>
                  <a:srgbClr val="132A4E"/>
                </a:solidFill>
                <a:latin typeface="Calibri" pitchFamily="34" charset="0"/>
                <a:ea typeface="Calibri" pitchFamily="34" charset="-122"/>
                <a:cs typeface="Calibri" pitchFamily="34" charset="-120"/>
              </a:rPr>
              <a:t>Give every risk-bearing assumption an owner here</a:t>
            </a:r>
            <a:endParaRPr lang="en-US" sz="1300" dirty="0"/>
          </a:p>
        </p:txBody>
      </p:sp>
      <p:sp>
        <p:nvSpPr>
          <p:cNvPr id="12" name="Text 10"/>
          <p:cNvSpPr/>
          <p:nvPr/>
        </p:nvSpPr>
        <p:spPr>
          <a:xfrm>
            <a:off x="786384" y="3419856"/>
            <a:ext cx="4956048" cy="841248"/>
          </a:xfrm>
          <a:prstGeom prst="rect">
            <a:avLst/>
          </a:prstGeom>
          <a:noFill/>
          <a:ln/>
        </p:spPr>
        <p:txBody>
          <a:bodyPr wrap="square" lIns="0" tIns="0" rIns="0" bIns="0" rtlCol="0" anchor="t"/>
          <a:lstStyle/>
          <a:p>
            <a:pPr indent="0" marL="0">
              <a:lnSpc>
                <a:spcPts val="1700"/>
              </a:lnSpc>
              <a:buNone/>
            </a:pPr>
            <a:r>
              <a:rPr lang="en-US" sz="1200" dirty="0">
                <a:solidFill>
                  <a:srgbClr val="1A2333"/>
                </a:solidFill>
                <a:latin typeface="Calibri" pitchFamily="34" charset="0"/>
                <a:ea typeface="Calibri" pitchFamily="34" charset="-122"/>
                <a:cs typeface="Calibri" pitchFamily="34" charset="-120"/>
              </a:rPr>
              <a:t>Someone on this program accepts the residual risk. Inherited acceptance does not carry over. This is the item SM-0001 already requires.</a:t>
            </a:r>
            <a:endParaRPr lang="en-US" sz="1200" dirty="0"/>
          </a:p>
        </p:txBody>
      </p:sp>
      <p:sp>
        <p:nvSpPr>
          <p:cNvPr id="13" name="Shape 11"/>
          <p:cNvSpPr/>
          <p:nvPr/>
        </p:nvSpPr>
        <p:spPr>
          <a:xfrm>
            <a:off x="6245352" y="2907792"/>
            <a:ext cx="5394960" cy="1481328"/>
          </a:xfrm>
          <a:prstGeom prst="roundRect">
            <a:avLst>
              <a:gd name="adj" fmla="val 3086"/>
            </a:avLst>
          </a:prstGeom>
          <a:solidFill>
            <a:srgbClr val="FFFFFF"/>
          </a:solidFill>
          <a:ln w="12700">
            <a:solidFill>
              <a:srgbClr val="D3DEEF"/>
            </a:solidFill>
            <a:prstDash val="solid"/>
          </a:ln>
        </p:spPr>
      </p:sp>
      <p:sp>
        <p:nvSpPr>
          <p:cNvPr id="14" name="Text 12"/>
          <p:cNvSpPr/>
          <p:nvPr/>
        </p:nvSpPr>
        <p:spPr>
          <a:xfrm>
            <a:off x="6483096" y="3054096"/>
            <a:ext cx="4937760" cy="329184"/>
          </a:xfrm>
          <a:prstGeom prst="rect">
            <a:avLst/>
          </a:prstGeom>
          <a:noFill/>
          <a:ln/>
        </p:spPr>
        <p:txBody>
          <a:bodyPr wrap="square" lIns="0" tIns="0" rIns="0" bIns="0" rtlCol="0" anchor="ctr"/>
          <a:lstStyle/>
          <a:p>
            <a:pPr indent="0" marL="0">
              <a:buNone/>
            </a:pPr>
            <a:r>
              <a:rPr lang="en-US" sz="1300" b="1" dirty="0">
                <a:solidFill>
                  <a:srgbClr val="132A4E"/>
                </a:solidFill>
                <a:latin typeface="Calibri" pitchFamily="34" charset="0"/>
                <a:ea typeface="Calibri" pitchFamily="34" charset="-122"/>
                <a:cs typeface="Calibri" pitchFamily="34" charset="-120"/>
              </a:rPr>
              <a:t>Let the change process raise the question automatically</a:t>
            </a:r>
            <a:endParaRPr lang="en-US" sz="1300" dirty="0"/>
          </a:p>
        </p:txBody>
      </p:sp>
      <p:sp>
        <p:nvSpPr>
          <p:cNvPr id="15" name="Text 13"/>
          <p:cNvSpPr/>
          <p:nvPr/>
        </p:nvSpPr>
        <p:spPr>
          <a:xfrm>
            <a:off x="6483096" y="3419856"/>
            <a:ext cx="4956048" cy="841248"/>
          </a:xfrm>
          <a:prstGeom prst="rect">
            <a:avLst/>
          </a:prstGeom>
          <a:noFill/>
          <a:ln/>
        </p:spPr>
        <p:txBody>
          <a:bodyPr wrap="square" lIns="0" tIns="0" rIns="0" bIns="0" rtlCol="0" anchor="t"/>
          <a:lstStyle/>
          <a:p>
            <a:pPr indent="0" marL="0">
              <a:lnSpc>
                <a:spcPts val="1700"/>
              </a:lnSpc>
              <a:buNone/>
            </a:pPr>
            <a:r>
              <a:rPr lang="en-US" sz="1200" dirty="0">
                <a:solidFill>
                  <a:srgbClr val="1A2333"/>
                </a:solidFill>
                <a:latin typeface="Calibri" pitchFamily="34" charset="0"/>
                <a:ea typeface="Calibri" pitchFamily="34" charset="-122"/>
                <a:cs typeface="Calibri" pitchFamily="34" charset="-120"/>
              </a:rPr>
              <a:t>Once assumptions cite controlled documents, a change against one surfaces every assumption depending on it. Nobody has to remember; the mechanism remembers.</a:t>
            </a:r>
            <a:endParaRPr lang="en-US" sz="1200" dirty="0"/>
          </a:p>
        </p:txBody>
      </p:sp>
      <p:sp>
        <p:nvSpPr>
          <p:cNvPr id="16" name="Shape 14"/>
          <p:cNvSpPr/>
          <p:nvPr/>
        </p:nvSpPr>
        <p:spPr>
          <a:xfrm>
            <a:off x="548640" y="4572000"/>
            <a:ext cx="5394960" cy="1481328"/>
          </a:xfrm>
          <a:prstGeom prst="roundRect">
            <a:avLst>
              <a:gd name="adj" fmla="val 3086"/>
            </a:avLst>
          </a:prstGeom>
          <a:solidFill>
            <a:srgbClr val="E9EEF7"/>
          </a:solidFill>
          <a:ln w="12700">
            <a:solidFill>
              <a:srgbClr val="D3DEEF"/>
            </a:solidFill>
            <a:prstDash val="solid"/>
          </a:ln>
        </p:spPr>
      </p:sp>
      <p:sp>
        <p:nvSpPr>
          <p:cNvPr id="17" name="Text 15"/>
          <p:cNvSpPr/>
          <p:nvPr/>
        </p:nvSpPr>
        <p:spPr>
          <a:xfrm>
            <a:off x="786384" y="4718304"/>
            <a:ext cx="4937760" cy="329184"/>
          </a:xfrm>
          <a:prstGeom prst="rect">
            <a:avLst/>
          </a:prstGeom>
          <a:noFill/>
          <a:ln/>
        </p:spPr>
        <p:txBody>
          <a:bodyPr wrap="square" lIns="0" tIns="0" rIns="0" bIns="0" rtlCol="0" anchor="ctr"/>
          <a:lstStyle/>
          <a:p>
            <a:pPr indent="0" marL="0">
              <a:buNone/>
            </a:pPr>
            <a:r>
              <a:rPr lang="en-US" sz="1300" b="1" dirty="0">
                <a:solidFill>
                  <a:srgbClr val="132A4E"/>
                </a:solidFill>
                <a:latin typeface="Calibri" pitchFamily="34" charset="0"/>
                <a:ea typeface="Calibri" pitchFamily="34" charset="-122"/>
                <a:cs typeface="Calibri" pitchFamily="34" charset="-120"/>
              </a:rPr>
              <a:t>Count what is still unattached, and report it</a:t>
            </a:r>
            <a:endParaRPr lang="en-US" sz="1300" dirty="0"/>
          </a:p>
        </p:txBody>
      </p:sp>
      <p:sp>
        <p:nvSpPr>
          <p:cNvPr id="18" name="Text 16"/>
          <p:cNvSpPr/>
          <p:nvPr/>
        </p:nvSpPr>
        <p:spPr>
          <a:xfrm>
            <a:off x="786384" y="5084064"/>
            <a:ext cx="4956048" cy="841248"/>
          </a:xfrm>
          <a:prstGeom prst="rect">
            <a:avLst/>
          </a:prstGeom>
          <a:noFill/>
          <a:ln/>
        </p:spPr>
        <p:txBody>
          <a:bodyPr wrap="square" lIns="0" tIns="0" rIns="0" bIns="0" rtlCol="0" anchor="t"/>
          <a:lstStyle/>
          <a:p>
            <a:pPr indent="0" marL="0">
              <a:lnSpc>
                <a:spcPts val="1700"/>
              </a:lnSpc>
              <a:buNone/>
            </a:pPr>
            <a:r>
              <a:rPr lang="en-US" sz="1200" dirty="0">
                <a:solidFill>
                  <a:srgbClr val="1A2333"/>
                </a:solidFill>
                <a:latin typeface="Calibri" pitchFamily="34" charset="0"/>
                <a:ea typeface="Calibri" pitchFamily="34" charset="-122"/>
                <a:cs typeface="Calibri" pitchFamily="34" charset="-120"/>
              </a:rPr>
              <a:t>Assumptions attach progressively as baselines arrive. The unattached count becomes a design review criterion.</a:t>
            </a:r>
            <a:endParaRPr lang="en-US" sz="1200" dirty="0"/>
          </a:p>
        </p:txBody>
      </p:sp>
      <p:sp>
        <p:nvSpPr>
          <p:cNvPr id="19" name="Shape 17"/>
          <p:cNvSpPr/>
          <p:nvPr/>
        </p:nvSpPr>
        <p:spPr>
          <a:xfrm>
            <a:off x="6245352" y="4572000"/>
            <a:ext cx="5394960" cy="1481328"/>
          </a:xfrm>
          <a:prstGeom prst="roundRect">
            <a:avLst>
              <a:gd name="adj" fmla="val 3086"/>
            </a:avLst>
          </a:prstGeom>
          <a:solidFill>
            <a:srgbClr val="FFFFFF"/>
          </a:solidFill>
          <a:ln w="12700">
            <a:solidFill>
              <a:srgbClr val="D3DEEF"/>
            </a:solidFill>
            <a:prstDash val="solid"/>
          </a:ln>
        </p:spPr>
      </p:sp>
      <p:sp>
        <p:nvSpPr>
          <p:cNvPr id="20" name="Text 18"/>
          <p:cNvSpPr/>
          <p:nvPr/>
        </p:nvSpPr>
        <p:spPr>
          <a:xfrm>
            <a:off x="6483096" y="4718304"/>
            <a:ext cx="4937760" cy="329184"/>
          </a:xfrm>
          <a:prstGeom prst="rect">
            <a:avLst/>
          </a:prstGeom>
          <a:noFill/>
          <a:ln/>
        </p:spPr>
        <p:txBody>
          <a:bodyPr wrap="square" lIns="0" tIns="0" rIns="0" bIns="0" rtlCol="0" anchor="ctr"/>
          <a:lstStyle/>
          <a:p>
            <a:pPr indent="0" marL="0">
              <a:buNone/>
            </a:pPr>
            <a:r>
              <a:rPr lang="en-US" sz="1300" b="1" dirty="0">
                <a:solidFill>
                  <a:srgbClr val="132A4E"/>
                </a:solidFill>
                <a:latin typeface="Calibri" pitchFamily="34" charset="0"/>
                <a:ea typeface="Calibri" pitchFamily="34" charset="-122"/>
                <a:cs typeface="Calibri" pitchFamily="34" charset="-120"/>
              </a:rPr>
              <a:t>Do not inherit. Re-adopt.</a:t>
            </a:r>
            <a:endParaRPr lang="en-US" sz="1300" dirty="0"/>
          </a:p>
        </p:txBody>
      </p:sp>
      <p:sp>
        <p:nvSpPr>
          <p:cNvPr id="21" name="Text 19"/>
          <p:cNvSpPr/>
          <p:nvPr/>
        </p:nvSpPr>
        <p:spPr>
          <a:xfrm>
            <a:off x="6483096" y="5084064"/>
            <a:ext cx="4956048" cy="841248"/>
          </a:xfrm>
          <a:prstGeom prst="rect">
            <a:avLst/>
          </a:prstGeom>
          <a:noFill/>
          <a:ln/>
        </p:spPr>
        <p:txBody>
          <a:bodyPr wrap="square" lIns="0" tIns="0" rIns="0" bIns="0" rtlCol="0" anchor="t"/>
          <a:lstStyle/>
          <a:p>
            <a:pPr indent="0" marL="0">
              <a:lnSpc>
                <a:spcPts val="1700"/>
              </a:lnSpc>
              <a:buNone/>
            </a:pPr>
            <a:r>
              <a:rPr lang="en-US" sz="1200" dirty="0">
                <a:solidFill>
                  <a:srgbClr val="1A2333"/>
                </a:solidFill>
                <a:latin typeface="Calibri" pitchFamily="34" charset="0"/>
                <a:ea typeface="Calibri" pitchFamily="34" charset="-122"/>
                <a:cs typeface="Calibri" pitchFamily="34" charset="-120"/>
              </a:rPr>
              <a:t>An assumption cannot cross as-is. It is re-adopted after a documented comparison of the two programs covering the conditions, not the part number. Anything unverifiable goes back into risk management.</a:t>
            </a:r>
            <a:endParaRPr lang="en-US" sz="1200" dirty="0"/>
          </a:p>
        </p:txBody>
      </p:sp>
      <p:sp>
        <p:nvSpPr>
          <p:cNvPr id="22" name="Shape 20"/>
          <p:cNvSpPr/>
          <p:nvPr/>
        </p:nvSpPr>
        <p:spPr>
          <a:xfrm>
            <a:off x="548640" y="5760720"/>
            <a:ext cx="11091672" cy="786384"/>
          </a:xfrm>
          <a:prstGeom prst="roundRect">
            <a:avLst>
              <a:gd name="adj" fmla="val 5814"/>
            </a:avLst>
          </a:prstGeom>
          <a:solidFill>
            <a:srgbClr val="132A4E"/>
          </a:solidFill>
          <a:ln w="12700">
            <a:solidFill>
              <a:srgbClr val="132A4E"/>
            </a:solidFill>
            <a:prstDash val="solid"/>
          </a:ln>
        </p:spPr>
      </p:sp>
      <p:sp>
        <p:nvSpPr>
          <p:cNvPr id="23" name="Text 21"/>
          <p:cNvSpPr/>
          <p:nvPr/>
        </p:nvSpPr>
        <p:spPr>
          <a:xfrm>
            <a:off x="841248" y="5870448"/>
            <a:ext cx="10515600" cy="566928"/>
          </a:xfrm>
          <a:prstGeom prst="rect">
            <a:avLst/>
          </a:prstGeom>
          <a:noFill/>
          <a:ln/>
        </p:spPr>
        <p:txBody>
          <a:bodyPr wrap="square" lIns="0" tIns="0" rIns="0" bIns="0" rtlCol="0" anchor="t"/>
          <a:lstStyle/>
          <a:p>
            <a:pPr indent="0" marL="0">
              <a:lnSpc>
                <a:spcPts val="1900"/>
              </a:lnSpc>
              <a:buNone/>
            </a:pPr>
            <a:r>
              <a:rPr lang="en-US" sz="1300" dirty="0">
                <a:solidFill>
                  <a:srgbClr val="FFFFFF"/>
                </a:solidFill>
                <a:latin typeface="Calibri" pitchFamily="34" charset="0"/>
                <a:ea typeface="Calibri" pitchFamily="34" charset="-122"/>
                <a:cs typeface="Calibri" pitchFamily="34" charset="-120"/>
              </a:rPr>
              <a:t>Five of these six are record-keeping and routing. Only the last costs real engineering time, and only for the small set of assumptions that actually carry risk credit.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292608"/>
            <a:ext cx="11064240" cy="237744"/>
          </a:xfrm>
          <a:prstGeom prst="rect">
            <a:avLst/>
          </a:prstGeom>
          <a:noFill/>
          <a:ln/>
        </p:spPr>
        <p:txBody>
          <a:bodyPr wrap="square" lIns="0" tIns="0" rIns="0" bIns="0" rtlCol="0" anchor="ctr"/>
          <a:lstStyle/>
          <a:p>
            <a:pPr indent="0" marL="0">
              <a:buNone/>
            </a:pPr>
            <a:r>
              <a:rPr lang="en-US" sz="1050" b="1" spc="160" kern="0" dirty="0">
                <a:solidFill>
                  <a:srgbClr val="B4530C"/>
                </a:solidFill>
                <a:latin typeface="Calibri" pitchFamily="34" charset="0"/>
                <a:ea typeface="Calibri" pitchFamily="34" charset="-122"/>
                <a:cs typeface="Calibri" pitchFamily="34" charset="-120"/>
              </a:rPr>
              <a:t>HOW IT ACTUALLY WORKS</a:t>
            </a:r>
            <a:endParaRPr lang="en-US" sz="1050" dirty="0"/>
          </a:p>
        </p:txBody>
      </p:sp>
      <p:sp>
        <p:nvSpPr>
          <p:cNvPr id="3" name="Text 1"/>
          <p:cNvSpPr/>
          <p:nvPr/>
        </p:nvSpPr>
        <p:spPr>
          <a:xfrm>
            <a:off x="548640" y="548640"/>
            <a:ext cx="11064240" cy="658368"/>
          </a:xfrm>
          <a:prstGeom prst="rect">
            <a:avLst/>
          </a:prstGeom>
          <a:noFill/>
          <a:ln/>
        </p:spPr>
        <p:txBody>
          <a:bodyPr wrap="square" lIns="0" tIns="0" rIns="0" bIns="0" rtlCol="0" anchor="t"/>
          <a:lstStyle/>
          <a:p>
            <a:pPr indent="0" marL="0">
              <a:buNone/>
            </a:pPr>
            <a:r>
              <a:rPr lang="en-US" sz="2900" b="1" dirty="0">
                <a:solidFill>
                  <a:srgbClr val="132A4E"/>
                </a:solidFill>
                <a:latin typeface="Cambria" pitchFamily="34" charset="0"/>
                <a:ea typeface="Cambria" pitchFamily="34" charset="-122"/>
                <a:cs typeface="Cambria" pitchFamily="34" charset="-120"/>
              </a:rPr>
              <a:t>The mechanism, and the cheapest way to switch it on</a:t>
            </a:r>
            <a:endParaRPr lang="en-US" sz="2900" dirty="0"/>
          </a:p>
        </p:txBody>
      </p:sp>
      <p:sp>
        <p:nvSpPr>
          <p:cNvPr id="4" name="Shape 2"/>
          <p:cNvSpPr/>
          <p:nvPr/>
        </p:nvSpPr>
        <p:spPr>
          <a:xfrm>
            <a:off x="548640" y="1243584"/>
            <a:ext cx="5394960" cy="2194560"/>
          </a:xfrm>
          <a:prstGeom prst="roundRect">
            <a:avLst>
              <a:gd name="adj" fmla="val 2083"/>
            </a:avLst>
          </a:prstGeom>
          <a:solidFill>
            <a:srgbClr val="FBEBDC"/>
          </a:solidFill>
          <a:ln w="12700">
            <a:solidFill>
              <a:srgbClr val="ECC8AE"/>
            </a:solidFill>
            <a:prstDash val="solid"/>
          </a:ln>
        </p:spPr>
      </p:sp>
      <p:sp>
        <p:nvSpPr>
          <p:cNvPr id="5" name="Text 3"/>
          <p:cNvSpPr/>
          <p:nvPr/>
        </p:nvSpPr>
        <p:spPr>
          <a:xfrm>
            <a:off x="822960" y="1371600"/>
            <a:ext cx="4846320" cy="274320"/>
          </a:xfrm>
          <a:prstGeom prst="rect">
            <a:avLst/>
          </a:prstGeom>
          <a:noFill/>
          <a:ln/>
        </p:spPr>
        <p:txBody>
          <a:bodyPr wrap="square" lIns="0" tIns="0" rIns="0" bIns="0" rtlCol="0" anchor="ctr"/>
          <a:lstStyle/>
          <a:p>
            <a:pPr indent="0" marL="0">
              <a:buNone/>
            </a:pPr>
            <a:r>
              <a:rPr lang="en-US" sz="1250" b="1" dirty="0">
                <a:solidFill>
                  <a:srgbClr val="B4530C"/>
                </a:solidFill>
                <a:latin typeface="Calibri" pitchFamily="34" charset="0"/>
                <a:ea typeface="Calibri" pitchFamily="34" charset="-122"/>
                <a:cs typeface="Calibri" pitchFamily="34" charset="-120"/>
              </a:rPr>
              <a:t>Restated  ·  goes stale silently</a:t>
            </a:r>
            <a:endParaRPr lang="en-US" sz="1250" dirty="0"/>
          </a:p>
        </p:txBody>
      </p:sp>
      <p:sp>
        <p:nvSpPr>
          <p:cNvPr id="6" name="Text 4"/>
          <p:cNvSpPr/>
          <p:nvPr/>
        </p:nvSpPr>
        <p:spPr>
          <a:xfrm>
            <a:off x="822960" y="1719072"/>
            <a:ext cx="4864608" cy="1627632"/>
          </a:xfrm>
          <a:prstGeom prst="rect">
            <a:avLst/>
          </a:prstGeom>
          <a:noFill/>
          <a:ln/>
        </p:spPr>
        <p:txBody>
          <a:bodyPr wrap="square" lIns="0" tIns="0" rIns="0" bIns="0" rtlCol="0" anchor="t"/>
          <a:lstStyle/>
          <a:p>
            <a:pPr indent="0" marL="0">
              <a:lnSpc>
                <a:spcPts val="1800"/>
              </a:lnSpc>
              <a:buNone/>
            </a:pPr>
            <a:r>
              <a:rPr lang="en-US" sz="1200" dirty="0">
                <a:solidFill>
                  <a:srgbClr val="1A2333"/>
                </a:solidFill>
                <a:latin typeface="Calibri" pitchFamily="34" charset="0"/>
                <a:ea typeface="Calibri" pitchFamily="34" charset="-122"/>
                <a:cs typeface="Calibri" pitchFamily="34" charset="-120"/>
              </a:rPr>
              <a:t>"Assumes the line is inspected every 400 flight hours."</a:t>
            </a:r>
            <a:endParaRPr lang="en-US" sz="1200" dirty="0"/>
          </a:p>
          <a:p>
            <a:pPr indent="0" marL="0">
              <a:lnSpc>
                <a:spcPts val="1800"/>
              </a:lnSpc>
              <a:buNone/>
            </a:pPr>
            <a:endParaRPr lang="en-US" sz="1200" dirty="0"/>
          </a:p>
          <a:p>
            <a:pPr indent="0" marL="0">
              <a:lnSpc>
                <a:spcPts val="1800"/>
              </a:lnSpc>
              <a:buNone/>
            </a:pPr>
            <a:r>
              <a:rPr lang="en-US" sz="1200" dirty="0">
                <a:solidFill>
                  <a:srgbClr val="1A2333"/>
                </a:solidFill>
                <a:latin typeface="Calibri" pitchFamily="34" charset="0"/>
                <a:ea typeface="Calibri" pitchFamily="34" charset="-122"/>
                <a:cs typeface="Calibri" pitchFamily="34" charset="-120"/>
              </a:rPr>
              <a:t>When the maintenance program moves to 600 hours, nothing connects that change to this sentence. It stays in the document, still reading as true, for the life of the program.</a:t>
            </a:r>
            <a:endParaRPr lang="en-US" sz="1200" dirty="0"/>
          </a:p>
        </p:txBody>
      </p:sp>
      <p:sp>
        <p:nvSpPr>
          <p:cNvPr id="7" name="Shape 5"/>
          <p:cNvSpPr/>
          <p:nvPr/>
        </p:nvSpPr>
        <p:spPr>
          <a:xfrm>
            <a:off x="6245352" y="1243584"/>
            <a:ext cx="5394960" cy="2194560"/>
          </a:xfrm>
          <a:prstGeom prst="roundRect">
            <a:avLst>
              <a:gd name="adj" fmla="val 2083"/>
            </a:avLst>
          </a:prstGeom>
          <a:solidFill>
            <a:srgbClr val="DFF0ED"/>
          </a:solidFill>
          <a:ln w="12700">
            <a:solidFill>
              <a:srgbClr val="B9DBD5"/>
            </a:solidFill>
            <a:prstDash val="solid"/>
          </a:ln>
        </p:spPr>
      </p:sp>
      <p:sp>
        <p:nvSpPr>
          <p:cNvPr id="8" name="Text 6"/>
          <p:cNvSpPr/>
          <p:nvPr/>
        </p:nvSpPr>
        <p:spPr>
          <a:xfrm>
            <a:off x="6519672" y="1371600"/>
            <a:ext cx="4846320" cy="274320"/>
          </a:xfrm>
          <a:prstGeom prst="rect">
            <a:avLst/>
          </a:prstGeom>
          <a:noFill/>
          <a:ln/>
        </p:spPr>
        <p:txBody>
          <a:bodyPr wrap="square" lIns="0" tIns="0" rIns="0" bIns="0" rtlCol="0" anchor="ctr"/>
          <a:lstStyle/>
          <a:p>
            <a:pPr indent="0" marL="0">
              <a:buNone/>
            </a:pPr>
            <a:r>
              <a:rPr lang="en-US" sz="1250" b="1" dirty="0">
                <a:solidFill>
                  <a:srgbClr val="0F6B62"/>
                </a:solidFill>
                <a:latin typeface="Calibri" pitchFamily="34" charset="0"/>
                <a:ea typeface="Calibri" pitchFamily="34" charset="-122"/>
                <a:cs typeface="Calibri" pitchFamily="34" charset="-120"/>
              </a:rPr>
              <a:t>Cited  ·  breaks loudly when it should</a:t>
            </a:r>
            <a:endParaRPr lang="en-US" sz="1250" dirty="0"/>
          </a:p>
        </p:txBody>
      </p:sp>
      <p:sp>
        <p:nvSpPr>
          <p:cNvPr id="9" name="Text 7"/>
          <p:cNvSpPr/>
          <p:nvPr/>
        </p:nvSpPr>
        <p:spPr>
          <a:xfrm>
            <a:off x="6519672" y="1719072"/>
            <a:ext cx="4864608" cy="1627632"/>
          </a:xfrm>
          <a:prstGeom prst="rect">
            <a:avLst/>
          </a:prstGeom>
          <a:noFill/>
          <a:ln/>
        </p:spPr>
        <p:txBody>
          <a:bodyPr wrap="square" lIns="0" tIns="0" rIns="0" bIns="0" rtlCol="0" anchor="t"/>
          <a:lstStyle/>
          <a:p>
            <a:pPr indent="0" marL="0">
              <a:lnSpc>
                <a:spcPts val="1800"/>
              </a:lnSpc>
              <a:buNone/>
            </a:pPr>
            <a:r>
              <a:rPr lang="en-US" sz="1200" dirty="0">
                <a:solidFill>
                  <a:srgbClr val="1A2333"/>
                </a:solidFill>
                <a:latin typeface="Calibri" pitchFamily="34" charset="0"/>
                <a:ea typeface="Calibri" pitchFamily="34" charset="-122"/>
                <a:cs typeface="Calibri" pitchFamily="34" charset="-120"/>
              </a:rPr>
              <a:t>"Assumes the inspection interval defined in [document, item, revision]."</a:t>
            </a:r>
            <a:endParaRPr lang="en-US" sz="1200" dirty="0"/>
          </a:p>
          <a:p>
            <a:pPr indent="0" marL="0">
              <a:lnSpc>
                <a:spcPts val="1800"/>
              </a:lnSpc>
              <a:buNone/>
            </a:pPr>
            <a:endParaRPr lang="en-US" sz="1200" dirty="0"/>
          </a:p>
          <a:p>
            <a:pPr indent="0" marL="0">
              <a:lnSpc>
                <a:spcPts val="1800"/>
              </a:lnSpc>
              <a:buNone/>
            </a:pPr>
            <a:r>
              <a:rPr lang="en-US" sz="1200" dirty="0">
                <a:solidFill>
                  <a:srgbClr val="1A2333"/>
                </a:solidFill>
                <a:latin typeface="Calibri" pitchFamily="34" charset="0"/>
                <a:ea typeface="Calibri" pitchFamily="34" charset="-122"/>
                <a:cs typeface="Calibri" pitchFamily="34" charset="-120"/>
              </a:rPr>
              <a:t>When that document is revised, the change record shows this assumption among the things affected, and someone has to say whether it still holds.</a:t>
            </a:r>
            <a:endParaRPr lang="en-US" sz="1200" dirty="0"/>
          </a:p>
        </p:txBody>
      </p:sp>
      <p:sp>
        <p:nvSpPr>
          <p:cNvPr id="10" name="Shape 8"/>
          <p:cNvSpPr/>
          <p:nvPr/>
        </p:nvSpPr>
        <p:spPr>
          <a:xfrm>
            <a:off x="548640" y="3657600"/>
            <a:ext cx="11091672" cy="1188720"/>
          </a:xfrm>
          <a:prstGeom prst="roundRect">
            <a:avLst>
              <a:gd name="adj" fmla="val 3846"/>
            </a:avLst>
          </a:prstGeom>
          <a:solidFill>
            <a:srgbClr val="132A4E"/>
          </a:solidFill>
          <a:ln w="12700">
            <a:solidFill>
              <a:srgbClr val="132A4E"/>
            </a:solidFill>
            <a:prstDash val="solid"/>
          </a:ln>
        </p:spPr>
      </p:sp>
      <p:sp>
        <p:nvSpPr>
          <p:cNvPr id="11" name="Text 9"/>
          <p:cNvSpPr/>
          <p:nvPr/>
        </p:nvSpPr>
        <p:spPr>
          <a:xfrm>
            <a:off x="841248" y="3794760"/>
            <a:ext cx="10515600" cy="274320"/>
          </a:xfrm>
          <a:prstGeom prst="rect">
            <a:avLst/>
          </a:prstGeom>
          <a:noFill/>
          <a:ln/>
        </p:spPr>
        <p:txBody>
          <a:bodyPr wrap="square" lIns="0" tIns="0" rIns="0" bIns="0" rtlCol="0" anchor="ctr"/>
          <a:lstStyle/>
          <a:p>
            <a:pPr indent="0" marL="0">
              <a:buNone/>
            </a:pPr>
            <a:r>
              <a:rPr lang="en-US" sz="1200" b="1" dirty="0">
                <a:solidFill>
                  <a:srgbClr val="F0B37E"/>
                </a:solidFill>
                <a:latin typeface="Calibri" pitchFamily="34" charset="0"/>
                <a:ea typeface="Calibri" pitchFamily="34" charset="-122"/>
                <a:cs typeface="Calibri" pitchFamily="34" charset="-120"/>
              </a:rPr>
              <a:t>Why the citation is what makes it work</a:t>
            </a:r>
            <a:endParaRPr lang="en-US" sz="1200" dirty="0"/>
          </a:p>
        </p:txBody>
      </p:sp>
      <p:sp>
        <p:nvSpPr>
          <p:cNvPr id="12" name="Text 10"/>
          <p:cNvSpPr/>
          <p:nvPr/>
        </p:nvSpPr>
        <p:spPr>
          <a:xfrm>
            <a:off x="841248" y="4096512"/>
            <a:ext cx="10515600" cy="621792"/>
          </a:xfrm>
          <a:prstGeom prst="rect">
            <a:avLst/>
          </a:prstGeom>
          <a:noFill/>
          <a:ln/>
        </p:spPr>
        <p:txBody>
          <a:bodyPr wrap="square" lIns="0" tIns="0" rIns="0" bIns="0" rtlCol="0" anchor="t"/>
          <a:lstStyle/>
          <a:p>
            <a:pPr indent="0" marL="0">
              <a:lnSpc>
                <a:spcPts val="1900"/>
              </a:lnSpc>
              <a:buNone/>
            </a:pPr>
            <a:r>
              <a:rPr lang="en-US" sz="1300" dirty="0">
                <a:solidFill>
                  <a:srgbClr val="FFFFFF"/>
                </a:solidFill>
                <a:latin typeface="Calibri" pitchFamily="34" charset="0"/>
                <a:ea typeface="Calibri" pitchFamily="34" charset="-122"/>
                <a:cs typeface="Calibri" pitchFamily="34" charset="-120"/>
              </a:rPr>
              <a:t>Under EIA-649-1 an engineering change proposal has to describe the full extent of a change's effects before approval, and safety-affecting changes are classified as major. If assumptions cite controlled documents, they appear inside that assessment automatically. If they restate values, they are invisible to it.</a:t>
            </a:r>
            <a:endParaRPr lang="en-US" sz="1300" dirty="0"/>
          </a:p>
        </p:txBody>
      </p:sp>
      <p:sp>
        <p:nvSpPr>
          <p:cNvPr id="13" name="Shape 11"/>
          <p:cNvSpPr/>
          <p:nvPr/>
        </p:nvSpPr>
        <p:spPr>
          <a:xfrm>
            <a:off x="548640" y="5029200"/>
            <a:ext cx="11091672" cy="1371600"/>
          </a:xfrm>
          <a:prstGeom prst="roundRect">
            <a:avLst>
              <a:gd name="adj" fmla="val 3333"/>
            </a:avLst>
          </a:prstGeom>
          <a:solidFill>
            <a:srgbClr val="E9EEF7"/>
          </a:solidFill>
          <a:ln w="12700">
            <a:solidFill>
              <a:srgbClr val="D3DEEF"/>
            </a:solidFill>
            <a:prstDash val="solid"/>
          </a:ln>
        </p:spPr>
      </p:sp>
      <p:sp>
        <p:nvSpPr>
          <p:cNvPr id="14" name="Text 12"/>
          <p:cNvSpPr/>
          <p:nvPr/>
        </p:nvSpPr>
        <p:spPr>
          <a:xfrm>
            <a:off x="841248" y="5175504"/>
            <a:ext cx="10515600" cy="292608"/>
          </a:xfrm>
          <a:prstGeom prst="rect">
            <a:avLst/>
          </a:prstGeom>
          <a:noFill/>
          <a:ln/>
        </p:spPr>
        <p:txBody>
          <a:bodyPr wrap="square" lIns="0" tIns="0" rIns="0" bIns="0" rtlCol="0" anchor="ctr"/>
          <a:lstStyle/>
          <a:p>
            <a:pPr indent="0" marL="0">
              <a:buNone/>
            </a:pPr>
            <a:r>
              <a:rPr lang="en-US" sz="1300" b="1" dirty="0">
                <a:solidFill>
                  <a:srgbClr val="132A4E"/>
                </a:solidFill>
                <a:latin typeface="Calibri" pitchFamily="34" charset="0"/>
                <a:ea typeface="Calibri" pitchFamily="34" charset="-122"/>
                <a:cs typeface="Calibri" pitchFamily="34" charset="-120"/>
              </a:rPr>
              <a:t>The cheapest intervention in this deck</a:t>
            </a:r>
            <a:endParaRPr lang="en-US" sz="1300" dirty="0"/>
          </a:p>
        </p:txBody>
      </p:sp>
      <p:sp>
        <p:nvSpPr>
          <p:cNvPr id="15" name="Text 13"/>
          <p:cNvSpPr/>
          <p:nvPr/>
        </p:nvSpPr>
        <p:spPr>
          <a:xfrm>
            <a:off x="841248" y="5504688"/>
            <a:ext cx="10515600" cy="822960"/>
          </a:xfrm>
          <a:prstGeom prst="rect">
            <a:avLst/>
          </a:prstGeom>
          <a:noFill/>
          <a:ln/>
        </p:spPr>
        <p:txBody>
          <a:bodyPr wrap="square" lIns="0" tIns="0" rIns="0" bIns="0" rtlCol="0" anchor="t"/>
          <a:lstStyle/>
          <a:p>
            <a:pPr indent="0" marL="0">
              <a:lnSpc>
                <a:spcPts val="1800"/>
              </a:lnSpc>
              <a:buNone/>
            </a:pPr>
            <a:r>
              <a:rPr lang="en-US" sz="1250" dirty="0">
                <a:solidFill>
                  <a:srgbClr val="1A2333"/>
                </a:solidFill>
                <a:latin typeface="Calibri" pitchFamily="34" charset="0"/>
                <a:ea typeface="Calibri" pitchFamily="34" charset="-122"/>
                <a:cs typeface="Calibri" pitchFamily="34" charset="-120"/>
              </a:rPr>
              <a:t>Add one field to the engineering change proposal form asking which assumptions the change affects. That is a form change, not a new process. It converts assumption review from something people have to remember into something the workflow asks for, on every change, without anyone being trained to do it.</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292608"/>
            <a:ext cx="11064240" cy="237744"/>
          </a:xfrm>
          <a:prstGeom prst="rect">
            <a:avLst/>
          </a:prstGeom>
          <a:noFill/>
          <a:ln/>
        </p:spPr>
        <p:txBody>
          <a:bodyPr wrap="square" lIns="0" tIns="0" rIns="0" bIns="0" rtlCol="0" anchor="ctr"/>
          <a:lstStyle/>
          <a:p>
            <a:pPr indent="0" marL="0">
              <a:buNone/>
            </a:pPr>
            <a:r>
              <a:rPr lang="en-US" sz="1050" b="1" spc="160" kern="0" dirty="0">
                <a:solidFill>
                  <a:srgbClr val="B4530C"/>
                </a:solidFill>
                <a:latin typeface="Calibri" pitchFamily="34" charset="0"/>
                <a:ea typeface="Calibri" pitchFamily="34" charset="-122"/>
                <a:cs typeface="Calibri" pitchFamily="34" charset="-120"/>
              </a:rPr>
              <a:t>KEEPING IT AFFORDABLE</a:t>
            </a:r>
            <a:endParaRPr lang="en-US" sz="1050" dirty="0"/>
          </a:p>
        </p:txBody>
      </p:sp>
      <p:sp>
        <p:nvSpPr>
          <p:cNvPr id="3" name="Text 1"/>
          <p:cNvSpPr/>
          <p:nvPr/>
        </p:nvSpPr>
        <p:spPr>
          <a:xfrm>
            <a:off x="548640" y="548640"/>
            <a:ext cx="11064240" cy="658368"/>
          </a:xfrm>
          <a:prstGeom prst="rect">
            <a:avLst/>
          </a:prstGeom>
          <a:noFill/>
          <a:ln/>
        </p:spPr>
        <p:txBody>
          <a:bodyPr wrap="square" lIns="0" tIns="0" rIns="0" bIns="0" rtlCol="0" anchor="t"/>
          <a:lstStyle/>
          <a:p>
            <a:pPr indent="0" marL="0">
              <a:buNone/>
            </a:pPr>
            <a:r>
              <a:rPr lang="en-US" sz="2900" b="1" dirty="0">
                <a:solidFill>
                  <a:srgbClr val="132A4E"/>
                </a:solidFill>
                <a:latin typeface="Cambria" pitchFamily="34" charset="0"/>
                <a:ea typeface="Cambria" pitchFamily="34" charset="-122"/>
                <a:cs typeface="Cambria" pitchFamily="34" charset="-120"/>
              </a:rPr>
              <a:t>Not every assumption gets the same treatment</a:t>
            </a:r>
            <a:endParaRPr lang="en-US" sz="2900" dirty="0"/>
          </a:p>
        </p:txBody>
      </p:sp>
      <p:sp>
        <p:nvSpPr>
          <p:cNvPr id="4" name="Text 2"/>
          <p:cNvSpPr/>
          <p:nvPr/>
        </p:nvSpPr>
        <p:spPr>
          <a:xfrm>
            <a:off x="548640" y="1261872"/>
            <a:ext cx="11064240" cy="457200"/>
          </a:xfrm>
          <a:prstGeom prst="rect">
            <a:avLst/>
          </a:prstGeom>
          <a:noFill/>
          <a:ln/>
        </p:spPr>
        <p:txBody>
          <a:bodyPr wrap="square" lIns="0" tIns="0" rIns="0" bIns="0" rtlCol="0" anchor="t"/>
          <a:lstStyle/>
          <a:p>
            <a:pPr indent="0" marL="0">
              <a:lnSpc>
                <a:spcPts val="2000"/>
              </a:lnSpc>
              <a:buNone/>
            </a:pPr>
            <a:r>
              <a:rPr lang="en-US" sz="1400" dirty="0">
                <a:solidFill>
                  <a:srgbClr val="1A2333"/>
                </a:solidFill>
                <a:latin typeface="Calibri" pitchFamily="34" charset="0"/>
                <a:ea typeface="Calibri" pitchFamily="34" charset="-122"/>
                <a:cs typeface="Calibri" pitchFamily="34" charset="-120"/>
              </a:rPr>
              <a:t>If this applies to every assumption on a program it will be rejected, and rightly. The scope decision is made once, early, and it determines whether the practice survives contact with a schedule.</a:t>
            </a:r>
            <a:endParaRPr lang="en-US" sz="1400" dirty="0"/>
          </a:p>
        </p:txBody>
      </p:sp>
      <p:sp>
        <p:nvSpPr>
          <p:cNvPr id="5" name="Shape 3"/>
          <p:cNvSpPr/>
          <p:nvPr/>
        </p:nvSpPr>
        <p:spPr>
          <a:xfrm>
            <a:off x="548640" y="1975104"/>
            <a:ext cx="3520440" cy="3200400"/>
          </a:xfrm>
          <a:prstGeom prst="roundRect">
            <a:avLst>
              <a:gd name="adj" fmla="val 1429"/>
            </a:avLst>
          </a:prstGeom>
          <a:solidFill>
            <a:srgbClr val="FBEBDC"/>
          </a:solidFill>
          <a:ln w="12700">
            <a:solidFill>
              <a:srgbClr val="ECC8AE"/>
            </a:solidFill>
            <a:prstDash val="solid"/>
          </a:ln>
        </p:spPr>
      </p:sp>
      <p:sp>
        <p:nvSpPr>
          <p:cNvPr id="6" name="Shape 4"/>
          <p:cNvSpPr/>
          <p:nvPr/>
        </p:nvSpPr>
        <p:spPr>
          <a:xfrm>
            <a:off x="768096" y="2139696"/>
            <a:ext cx="1143000" cy="384048"/>
          </a:xfrm>
          <a:prstGeom prst="roundRect">
            <a:avLst>
              <a:gd name="adj" fmla="val 14286"/>
            </a:avLst>
          </a:prstGeom>
          <a:solidFill>
            <a:srgbClr val="B4530C"/>
          </a:solidFill>
          <a:ln w="12700">
            <a:solidFill>
              <a:srgbClr val="B4530C"/>
            </a:solidFill>
            <a:prstDash val="solid"/>
          </a:ln>
        </p:spPr>
      </p:sp>
      <p:sp>
        <p:nvSpPr>
          <p:cNvPr id="7" name="Text 5"/>
          <p:cNvSpPr/>
          <p:nvPr/>
        </p:nvSpPr>
        <p:spPr>
          <a:xfrm>
            <a:off x="768096" y="2139696"/>
            <a:ext cx="1143000"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TIER 1</a:t>
            </a:r>
            <a:endParaRPr lang="en-US" sz="1050" dirty="0"/>
          </a:p>
        </p:txBody>
      </p:sp>
      <p:sp>
        <p:nvSpPr>
          <p:cNvPr id="8" name="Text 6"/>
          <p:cNvSpPr/>
          <p:nvPr/>
        </p:nvSpPr>
        <p:spPr>
          <a:xfrm>
            <a:off x="2011680" y="2139696"/>
            <a:ext cx="1920240" cy="384048"/>
          </a:xfrm>
          <a:prstGeom prst="rect">
            <a:avLst/>
          </a:prstGeom>
          <a:noFill/>
          <a:ln/>
        </p:spPr>
        <p:txBody>
          <a:bodyPr wrap="square" lIns="0" tIns="0" rIns="0" bIns="0" rtlCol="0" anchor="ctr"/>
          <a:lstStyle/>
          <a:p>
            <a:pPr indent="0" marL="0">
              <a:buNone/>
            </a:pPr>
            <a:r>
              <a:rPr lang="en-US" sz="1600" b="1" dirty="0">
                <a:solidFill>
                  <a:srgbClr val="132A4E"/>
                </a:solidFill>
                <a:latin typeface="Cambria" pitchFamily="34" charset="0"/>
                <a:ea typeface="Cambria" pitchFamily="34" charset="-122"/>
                <a:cs typeface="Cambria" pitchFamily="34" charset="-120"/>
              </a:rPr>
              <a:t>Controlled</a:t>
            </a:r>
            <a:endParaRPr lang="en-US" sz="1600" dirty="0"/>
          </a:p>
        </p:txBody>
      </p:sp>
      <p:sp>
        <p:nvSpPr>
          <p:cNvPr id="9" name="Text 7"/>
          <p:cNvSpPr/>
          <p:nvPr/>
        </p:nvSpPr>
        <p:spPr>
          <a:xfrm>
            <a:off x="786384" y="2651760"/>
            <a:ext cx="3090672" cy="1371600"/>
          </a:xfrm>
          <a:prstGeom prst="rect">
            <a:avLst/>
          </a:prstGeom>
          <a:noFill/>
          <a:ln/>
        </p:spPr>
        <p:txBody>
          <a:bodyPr wrap="square" lIns="0" tIns="0" rIns="0" bIns="0" rtlCol="0" anchor="t"/>
          <a:lstStyle/>
          <a:p>
            <a:pPr indent="0" marL="0">
              <a:lnSpc>
                <a:spcPts val="1700"/>
              </a:lnSpc>
              <a:buNone/>
            </a:pPr>
            <a:r>
              <a:rPr lang="en-US" sz="1150" dirty="0">
                <a:solidFill>
                  <a:srgbClr val="1A2333"/>
                </a:solidFill>
                <a:latin typeface="Calibri" pitchFamily="34" charset="0"/>
                <a:ea typeface="Calibri" pitchFamily="34" charset="-122"/>
                <a:cs typeface="Calibri" pitchFamily="34" charset="-120"/>
              </a:rPr>
              <a:t>Assumptions a hazard analysis or certification finding depends on. Full record, cited documents, named risk acceptor, reported at design reviews.</a:t>
            </a:r>
            <a:endParaRPr lang="en-US" sz="1150" dirty="0"/>
          </a:p>
        </p:txBody>
      </p:sp>
      <p:sp>
        <p:nvSpPr>
          <p:cNvPr id="10" name="Text 8"/>
          <p:cNvSpPr/>
          <p:nvPr/>
        </p:nvSpPr>
        <p:spPr>
          <a:xfrm>
            <a:off x="786384" y="4059936"/>
            <a:ext cx="3090672" cy="219456"/>
          </a:xfrm>
          <a:prstGeom prst="rect">
            <a:avLst/>
          </a:prstGeom>
          <a:noFill/>
          <a:ln/>
        </p:spPr>
        <p:txBody>
          <a:bodyPr wrap="square" lIns="0" tIns="0" rIns="0" bIns="0" rtlCol="0" anchor="ctr"/>
          <a:lstStyle/>
          <a:p>
            <a:pPr indent="0" marL="0">
              <a:buNone/>
            </a:pPr>
            <a:r>
              <a:rPr lang="en-US" sz="950" b="1" spc="120" kern="0" dirty="0">
                <a:solidFill>
                  <a:srgbClr val="4A5568"/>
                </a:solidFill>
                <a:latin typeface="Calibri" pitchFamily="34" charset="0"/>
                <a:ea typeface="Calibri" pitchFamily="34" charset="-122"/>
                <a:cs typeface="Calibri" pitchFamily="34" charset="-120"/>
              </a:rPr>
              <a:t>IN PRACTICE</a:t>
            </a:r>
            <a:endParaRPr lang="en-US" sz="950" dirty="0"/>
          </a:p>
        </p:txBody>
      </p:sp>
      <p:sp>
        <p:nvSpPr>
          <p:cNvPr id="11" name="Text 9"/>
          <p:cNvSpPr/>
          <p:nvPr/>
        </p:nvSpPr>
        <p:spPr>
          <a:xfrm>
            <a:off x="786384" y="4297680"/>
            <a:ext cx="3090672" cy="786384"/>
          </a:xfrm>
          <a:prstGeom prst="rect">
            <a:avLst/>
          </a:prstGeom>
          <a:noFill/>
          <a:ln/>
        </p:spPr>
        <p:txBody>
          <a:bodyPr wrap="square" lIns="0" tIns="0" rIns="0" bIns="0" rtlCol="0" anchor="t"/>
          <a:lstStyle/>
          <a:p>
            <a:pPr indent="0" marL="0">
              <a:lnSpc>
                <a:spcPts val="1600"/>
              </a:lnSpc>
              <a:buNone/>
            </a:pPr>
            <a:r>
              <a:rPr lang="en-US" sz="1150" dirty="0">
                <a:solidFill>
                  <a:srgbClr val="1A2333"/>
                </a:solidFill>
                <a:latin typeface="Calibri" pitchFamily="34" charset="0"/>
                <a:ea typeface="Calibri" pitchFamily="34" charset="-122"/>
                <a:cs typeface="Calibri" pitchFamily="34" charset="-120"/>
              </a:rPr>
              <a:t>A small minority. On most programs, tens of items rather than hundreds.</a:t>
            </a:r>
            <a:endParaRPr lang="en-US" sz="1150" dirty="0"/>
          </a:p>
        </p:txBody>
      </p:sp>
      <p:sp>
        <p:nvSpPr>
          <p:cNvPr id="12" name="Shape 10"/>
          <p:cNvSpPr/>
          <p:nvPr/>
        </p:nvSpPr>
        <p:spPr>
          <a:xfrm>
            <a:off x="4315968" y="1975104"/>
            <a:ext cx="3520440" cy="3200400"/>
          </a:xfrm>
          <a:prstGeom prst="roundRect">
            <a:avLst>
              <a:gd name="adj" fmla="val 1429"/>
            </a:avLst>
          </a:prstGeom>
          <a:solidFill>
            <a:srgbClr val="E9EEF7"/>
          </a:solidFill>
          <a:ln w="12700">
            <a:solidFill>
              <a:srgbClr val="D3DEEF"/>
            </a:solidFill>
            <a:prstDash val="solid"/>
          </a:ln>
        </p:spPr>
      </p:sp>
      <p:sp>
        <p:nvSpPr>
          <p:cNvPr id="13" name="Shape 11"/>
          <p:cNvSpPr/>
          <p:nvPr/>
        </p:nvSpPr>
        <p:spPr>
          <a:xfrm>
            <a:off x="4535424" y="2139696"/>
            <a:ext cx="1143000" cy="384048"/>
          </a:xfrm>
          <a:prstGeom prst="roundRect">
            <a:avLst>
              <a:gd name="adj" fmla="val 14286"/>
            </a:avLst>
          </a:prstGeom>
          <a:solidFill>
            <a:srgbClr val="1F4380"/>
          </a:solidFill>
          <a:ln w="12700">
            <a:solidFill>
              <a:srgbClr val="1F4380"/>
            </a:solidFill>
            <a:prstDash val="solid"/>
          </a:ln>
        </p:spPr>
      </p:sp>
      <p:sp>
        <p:nvSpPr>
          <p:cNvPr id="14" name="Text 12"/>
          <p:cNvSpPr/>
          <p:nvPr/>
        </p:nvSpPr>
        <p:spPr>
          <a:xfrm>
            <a:off x="4535424" y="2139696"/>
            <a:ext cx="1143000"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TIER 2</a:t>
            </a:r>
            <a:endParaRPr lang="en-US" sz="1050" dirty="0"/>
          </a:p>
        </p:txBody>
      </p:sp>
      <p:sp>
        <p:nvSpPr>
          <p:cNvPr id="15" name="Text 13"/>
          <p:cNvSpPr/>
          <p:nvPr/>
        </p:nvSpPr>
        <p:spPr>
          <a:xfrm>
            <a:off x="5779008" y="2139696"/>
            <a:ext cx="1920240" cy="384048"/>
          </a:xfrm>
          <a:prstGeom prst="rect">
            <a:avLst/>
          </a:prstGeom>
          <a:noFill/>
          <a:ln/>
        </p:spPr>
        <p:txBody>
          <a:bodyPr wrap="square" lIns="0" tIns="0" rIns="0" bIns="0" rtlCol="0" anchor="ctr"/>
          <a:lstStyle/>
          <a:p>
            <a:pPr indent="0" marL="0">
              <a:buNone/>
            </a:pPr>
            <a:r>
              <a:rPr lang="en-US" sz="1600" b="1" dirty="0">
                <a:solidFill>
                  <a:srgbClr val="132A4E"/>
                </a:solidFill>
                <a:latin typeface="Cambria" pitchFamily="34" charset="0"/>
                <a:ea typeface="Cambria" pitchFamily="34" charset="-122"/>
                <a:cs typeface="Cambria" pitchFamily="34" charset="-120"/>
              </a:rPr>
              <a:t>Registered</a:t>
            </a:r>
            <a:endParaRPr lang="en-US" sz="1600" dirty="0"/>
          </a:p>
        </p:txBody>
      </p:sp>
      <p:sp>
        <p:nvSpPr>
          <p:cNvPr id="16" name="Text 14"/>
          <p:cNvSpPr/>
          <p:nvPr/>
        </p:nvSpPr>
        <p:spPr>
          <a:xfrm>
            <a:off x="4553712" y="2651760"/>
            <a:ext cx="3090672" cy="1371600"/>
          </a:xfrm>
          <a:prstGeom prst="rect">
            <a:avLst/>
          </a:prstGeom>
          <a:noFill/>
          <a:ln/>
        </p:spPr>
        <p:txBody>
          <a:bodyPr wrap="square" lIns="0" tIns="0" rIns="0" bIns="0" rtlCol="0" anchor="t"/>
          <a:lstStyle/>
          <a:p>
            <a:pPr indent="0" marL="0">
              <a:lnSpc>
                <a:spcPts val="1700"/>
              </a:lnSpc>
              <a:buNone/>
            </a:pPr>
            <a:r>
              <a:rPr lang="en-US" sz="1150" dirty="0">
                <a:solidFill>
                  <a:srgbClr val="1A2333"/>
                </a:solidFill>
                <a:latin typeface="Calibri" pitchFamily="34" charset="0"/>
                <a:ea typeface="Calibri" pitchFamily="34" charset="-122"/>
                <a:cs typeface="Calibri" pitchFamily="34" charset="-120"/>
              </a:rPr>
              <a:t>Assumptions that shape design decisions but carry no safety risk credit. Identifier, owner, statement and reasoning only.</a:t>
            </a:r>
            <a:endParaRPr lang="en-US" sz="1150" dirty="0"/>
          </a:p>
        </p:txBody>
      </p:sp>
      <p:sp>
        <p:nvSpPr>
          <p:cNvPr id="17" name="Text 15"/>
          <p:cNvSpPr/>
          <p:nvPr/>
        </p:nvSpPr>
        <p:spPr>
          <a:xfrm>
            <a:off x="4553712" y="4059936"/>
            <a:ext cx="3090672" cy="219456"/>
          </a:xfrm>
          <a:prstGeom prst="rect">
            <a:avLst/>
          </a:prstGeom>
          <a:noFill/>
          <a:ln/>
        </p:spPr>
        <p:txBody>
          <a:bodyPr wrap="square" lIns="0" tIns="0" rIns="0" bIns="0" rtlCol="0" anchor="ctr"/>
          <a:lstStyle/>
          <a:p>
            <a:pPr indent="0" marL="0">
              <a:buNone/>
            </a:pPr>
            <a:r>
              <a:rPr lang="en-US" sz="950" b="1" spc="120" kern="0" dirty="0">
                <a:solidFill>
                  <a:srgbClr val="4A5568"/>
                </a:solidFill>
                <a:latin typeface="Calibri" pitchFamily="34" charset="0"/>
                <a:ea typeface="Calibri" pitchFamily="34" charset="-122"/>
                <a:cs typeface="Calibri" pitchFamily="34" charset="-120"/>
              </a:rPr>
              <a:t>IN PRACTICE</a:t>
            </a:r>
            <a:endParaRPr lang="en-US" sz="950" dirty="0"/>
          </a:p>
        </p:txBody>
      </p:sp>
      <p:sp>
        <p:nvSpPr>
          <p:cNvPr id="18" name="Text 16"/>
          <p:cNvSpPr/>
          <p:nvPr/>
        </p:nvSpPr>
        <p:spPr>
          <a:xfrm>
            <a:off x="4553712" y="4297680"/>
            <a:ext cx="3090672" cy="786384"/>
          </a:xfrm>
          <a:prstGeom prst="rect">
            <a:avLst/>
          </a:prstGeom>
          <a:noFill/>
          <a:ln/>
        </p:spPr>
        <p:txBody>
          <a:bodyPr wrap="square" lIns="0" tIns="0" rIns="0" bIns="0" rtlCol="0" anchor="t"/>
          <a:lstStyle/>
          <a:p>
            <a:pPr indent="0" marL="0">
              <a:lnSpc>
                <a:spcPts val="1600"/>
              </a:lnSpc>
              <a:buNone/>
            </a:pPr>
            <a:r>
              <a:rPr lang="en-US" sz="1150" dirty="0">
                <a:solidFill>
                  <a:srgbClr val="1A2333"/>
                </a:solidFill>
                <a:latin typeface="Calibri" pitchFamily="34" charset="0"/>
                <a:ea typeface="Calibri" pitchFamily="34" charset="-122"/>
                <a:cs typeface="Calibri" pitchFamily="34" charset="-120"/>
              </a:rPr>
              <a:t>Cheap. Its value is that an item can be promoted to Tier 1 later if analysis shows it is load-bearing.</a:t>
            </a:r>
            <a:endParaRPr lang="en-US" sz="1150" dirty="0"/>
          </a:p>
        </p:txBody>
      </p:sp>
      <p:sp>
        <p:nvSpPr>
          <p:cNvPr id="19" name="Shape 17"/>
          <p:cNvSpPr/>
          <p:nvPr/>
        </p:nvSpPr>
        <p:spPr>
          <a:xfrm>
            <a:off x="8083296" y="1975104"/>
            <a:ext cx="3520440" cy="3200400"/>
          </a:xfrm>
          <a:prstGeom prst="roundRect">
            <a:avLst>
              <a:gd name="adj" fmla="val 1429"/>
            </a:avLst>
          </a:prstGeom>
          <a:solidFill>
            <a:srgbClr val="E9EEF7"/>
          </a:solidFill>
          <a:ln w="12700">
            <a:solidFill>
              <a:srgbClr val="D3DEEF"/>
            </a:solidFill>
            <a:prstDash val="solid"/>
          </a:ln>
        </p:spPr>
      </p:sp>
      <p:sp>
        <p:nvSpPr>
          <p:cNvPr id="20" name="Shape 18"/>
          <p:cNvSpPr/>
          <p:nvPr/>
        </p:nvSpPr>
        <p:spPr>
          <a:xfrm>
            <a:off x="8302752" y="2139696"/>
            <a:ext cx="1143000" cy="384048"/>
          </a:xfrm>
          <a:prstGeom prst="roundRect">
            <a:avLst>
              <a:gd name="adj" fmla="val 14286"/>
            </a:avLst>
          </a:prstGeom>
          <a:solidFill>
            <a:srgbClr val="4A5568"/>
          </a:solidFill>
          <a:ln w="12700">
            <a:solidFill>
              <a:srgbClr val="4A5568"/>
            </a:solidFill>
            <a:prstDash val="solid"/>
          </a:ln>
        </p:spPr>
      </p:sp>
      <p:sp>
        <p:nvSpPr>
          <p:cNvPr id="21" name="Text 19"/>
          <p:cNvSpPr/>
          <p:nvPr/>
        </p:nvSpPr>
        <p:spPr>
          <a:xfrm>
            <a:off x="8302752" y="2139696"/>
            <a:ext cx="1143000"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TIER 3</a:t>
            </a:r>
            <a:endParaRPr lang="en-US" sz="1050" dirty="0"/>
          </a:p>
        </p:txBody>
      </p:sp>
      <p:sp>
        <p:nvSpPr>
          <p:cNvPr id="22" name="Text 20"/>
          <p:cNvSpPr/>
          <p:nvPr/>
        </p:nvSpPr>
        <p:spPr>
          <a:xfrm>
            <a:off x="9546336" y="2139696"/>
            <a:ext cx="1920240" cy="384048"/>
          </a:xfrm>
          <a:prstGeom prst="rect">
            <a:avLst/>
          </a:prstGeom>
          <a:noFill/>
          <a:ln/>
        </p:spPr>
        <p:txBody>
          <a:bodyPr wrap="square" lIns="0" tIns="0" rIns="0" bIns="0" rtlCol="0" anchor="ctr"/>
          <a:lstStyle/>
          <a:p>
            <a:pPr indent="0" marL="0">
              <a:buNone/>
            </a:pPr>
            <a:r>
              <a:rPr lang="en-US" sz="1600" b="1" dirty="0">
                <a:solidFill>
                  <a:srgbClr val="132A4E"/>
                </a:solidFill>
                <a:latin typeface="Cambria" pitchFamily="34" charset="0"/>
                <a:ea typeface="Cambria" pitchFamily="34" charset="-122"/>
                <a:cs typeface="Cambria" pitchFamily="34" charset="-120"/>
              </a:rPr>
              <a:t>Engineering note</a:t>
            </a:r>
            <a:endParaRPr lang="en-US" sz="1600" dirty="0"/>
          </a:p>
        </p:txBody>
      </p:sp>
      <p:sp>
        <p:nvSpPr>
          <p:cNvPr id="23" name="Text 21"/>
          <p:cNvSpPr/>
          <p:nvPr/>
        </p:nvSpPr>
        <p:spPr>
          <a:xfrm>
            <a:off x="8321040" y="2651760"/>
            <a:ext cx="3090672" cy="1371600"/>
          </a:xfrm>
          <a:prstGeom prst="rect">
            <a:avLst/>
          </a:prstGeom>
          <a:noFill/>
          <a:ln/>
        </p:spPr>
        <p:txBody>
          <a:bodyPr wrap="square" lIns="0" tIns="0" rIns="0" bIns="0" rtlCol="0" anchor="t"/>
          <a:lstStyle/>
          <a:p>
            <a:pPr indent="0" marL="0">
              <a:lnSpc>
                <a:spcPts val="1700"/>
              </a:lnSpc>
              <a:buNone/>
            </a:pPr>
            <a:r>
              <a:rPr lang="en-US" sz="1150" dirty="0">
                <a:solidFill>
                  <a:srgbClr val="1A2333"/>
                </a:solidFill>
                <a:latin typeface="Calibri" pitchFamily="34" charset="0"/>
                <a:ea typeface="Calibri" pitchFamily="34" charset="-122"/>
                <a:cs typeface="Calibri" pitchFamily="34" charset="-120"/>
              </a:rPr>
              <a:t>Everything else: working assumptions, estimating conventions, modeling simplifications with no safety consequence.</a:t>
            </a:r>
            <a:endParaRPr lang="en-US" sz="1150" dirty="0"/>
          </a:p>
        </p:txBody>
      </p:sp>
      <p:sp>
        <p:nvSpPr>
          <p:cNvPr id="24" name="Text 22"/>
          <p:cNvSpPr/>
          <p:nvPr/>
        </p:nvSpPr>
        <p:spPr>
          <a:xfrm>
            <a:off x="8321040" y="4059936"/>
            <a:ext cx="3090672" cy="219456"/>
          </a:xfrm>
          <a:prstGeom prst="rect">
            <a:avLst/>
          </a:prstGeom>
          <a:noFill/>
          <a:ln/>
        </p:spPr>
        <p:txBody>
          <a:bodyPr wrap="square" lIns="0" tIns="0" rIns="0" bIns="0" rtlCol="0" anchor="ctr"/>
          <a:lstStyle/>
          <a:p>
            <a:pPr indent="0" marL="0">
              <a:buNone/>
            </a:pPr>
            <a:r>
              <a:rPr lang="en-US" sz="950" b="1" spc="120" kern="0" dirty="0">
                <a:solidFill>
                  <a:srgbClr val="4A5568"/>
                </a:solidFill>
                <a:latin typeface="Calibri" pitchFamily="34" charset="0"/>
                <a:ea typeface="Calibri" pitchFamily="34" charset="-122"/>
                <a:cs typeface="Calibri" pitchFamily="34" charset="-120"/>
              </a:rPr>
              <a:t>IN PRACTICE</a:t>
            </a:r>
            <a:endParaRPr lang="en-US" sz="950" dirty="0"/>
          </a:p>
        </p:txBody>
      </p:sp>
      <p:sp>
        <p:nvSpPr>
          <p:cNvPr id="25" name="Text 23"/>
          <p:cNvSpPr/>
          <p:nvPr/>
        </p:nvSpPr>
        <p:spPr>
          <a:xfrm>
            <a:off x="8321040" y="4297680"/>
            <a:ext cx="3090672" cy="786384"/>
          </a:xfrm>
          <a:prstGeom prst="rect">
            <a:avLst/>
          </a:prstGeom>
          <a:noFill/>
          <a:ln/>
        </p:spPr>
        <p:txBody>
          <a:bodyPr wrap="square" lIns="0" tIns="0" rIns="0" bIns="0" rtlCol="0" anchor="t"/>
          <a:lstStyle/>
          <a:p>
            <a:pPr indent="0" marL="0">
              <a:lnSpc>
                <a:spcPts val="1600"/>
              </a:lnSpc>
              <a:buNone/>
            </a:pPr>
            <a:r>
              <a:rPr lang="en-US" sz="1150" dirty="0">
                <a:solidFill>
                  <a:srgbClr val="1A2333"/>
                </a:solidFill>
                <a:latin typeface="Calibri" pitchFamily="34" charset="0"/>
                <a:ea typeface="Calibri" pitchFamily="34" charset="-122"/>
                <a:cs typeface="Calibri" pitchFamily="34" charset="-120"/>
              </a:rPr>
              <a:t>No control at all. Saying so explicitly is what keeps Tier 1 credible rather than diluted.</a:t>
            </a:r>
            <a:endParaRPr lang="en-US" sz="1150" dirty="0"/>
          </a:p>
        </p:txBody>
      </p:sp>
      <p:sp>
        <p:nvSpPr>
          <p:cNvPr id="26" name="Shape 24"/>
          <p:cNvSpPr/>
          <p:nvPr/>
        </p:nvSpPr>
        <p:spPr>
          <a:xfrm>
            <a:off x="548640" y="5358384"/>
            <a:ext cx="11091672" cy="1005840"/>
          </a:xfrm>
          <a:prstGeom prst="roundRect">
            <a:avLst>
              <a:gd name="adj" fmla="val 4545"/>
            </a:avLst>
          </a:prstGeom>
          <a:solidFill>
            <a:srgbClr val="132A4E"/>
          </a:solidFill>
          <a:ln w="12700">
            <a:solidFill>
              <a:srgbClr val="132A4E"/>
            </a:solidFill>
            <a:prstDash val="solid"/>
          </a:ln>
        </p:spPr>
      </p:sp>
      <p:sp>
        <p:nvSpPr>
          <p:cNvPr id="27" name="Text 25"/>
          <p:cNvSpPr/>
          <p:nvPr/>
        </p:nvSpPr>
        <p:spPr>
          <a:xfrm>
            <a:off x="841248" y="5468112"/>
            <a:ext cx="10515600" cy="786384"/>
          </a:xfrm>
          <a:prstGeom prst="rect">
            <a:avLst/>
          </a:prstGeom>
          <a:noFill/>
          <a:ln/>
        </p:spPr>
        <p:txBody>
          <a:bodyPr wrap="square" lIns="0" tIns="0" rIns="0" bIns="0" rtlCol="0" anchor="t"/>
          <a:lstStyle/>
          <a:p>
            <a:pPr indent="0" marL="0">
              <a:lnSpc>
                <a:spcPts val="1900"/>
              </a:lnSpc>
              <a:buNone/>
            </a:pPr>
            <a:r>
              <a:rPr lang="en-US" sz="1300" dirty="0">
                <a:solidFill>
                  <a:srgbClr val="FFFFFF"/>
                </a:solidFill>
                <a:latin typeface="Calibri" pitchFamily="34" charset="0"/>
                <a:ea typeface="Calibri" pitchFamily="34" charset="-122"/>
                <a:cs typeface="Calibri" pitchFamily="34" charset="-120"/>
              </a:rPr>
              <a:t>Tier 1 scope is bounded by two artifacts we already produce: the organizational system description SM-0001 requires, and the safety-significant item list the configuration item selection process already maintains. That makes the boundary defensible to an auditor without inventing a new rule.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292608"/>
            <a:ext cx="11064240" cy="237744"/>
          </a:xfrm>
          <a:prstGeom prst="rect">
            <a:avLst/>
          </a:prstGeom>
          <a:noFill/>
          <a:ln/>
        </p:spPr>
        <p:txBody>
          <a:bodyPr wrap="square" lIns="0" tIns="0" rIns="0" bIns="0" rtlCol="0" anchor="ctr"/>
          <a:lstStyle/>
          <a:p>
            <a:pPr indent="0" marL="0">
              <a:buNone/>
            </a:pPr>
            <a:r>
              <a:rPr lang="en-US" sz="1050" b="1" spc="160" kern="0" dirty="0">
                <a:solidFill>
                  <a:srgbClr val="B4530C"/>
                </a:solidFill>
                <a:latin typeface="Calibri" pitchFamily="34" charset="0"/>
                <a:ea typeface="Calibri" pitchFamily="34" charset="-122"/>
                <a:cs typeface="Calibri" pitchFamily="34" charset="-120"/>
              </a:rPr>
              <a:t>ACTIONS, PART 1 OF 2</a:t>
            </a:r>
            <a:endParaRPr lang="en-US" sz="1050" dirty="0"/>
          </a:p>
        </p:txBody>
      </p:sp>
      <p:sp>
        <p:nvSpPr>
          <p:cNvPr id="3" name="Text 1"/>
          <p:cNvSpPr/>
          <p:nvPr/>
        </p:nvSpPr>
        <p:spPr>
          <a:xfrm>
            <a:off x="548640" y="548640"/>
            <a:ext cx="11064240" cy="658368"/>
          </a:xfrm>
          <a:prstGeom prst="rect">
            <a:avLst/>
          </a:prstGeom>
          <a:noFill/>
          <a:ln/>
        </p:spPr>
        <p:txBody>
          <a:bodyPr wrap="square" lIns="0" tIns="0" rIns="0" bIns="0" rtlCol="0" anchor="t"/>
          <a:lstStyle/>
          <a:p>
            <a:pPr indent="0" marL="0">
              <a:buNone/>
            </a:pPr>
            <a:r>
              <a:rPr lang="en-US" sz="2900" b="1" dirty="0">
                <a:solidFill>
                  <a:srgbClr val="132A4E"/>
                </a:solidFill>
                <a:latin typeface="Cambria" pitchFamily="34" charset="0"/>
                <a:ea typeface="Cambria" pitchFamily="34" charset="-122"/>
                <a:cs typeface="Cambria" pitchFamily="34" charset="-120"/>
              </a:rPr>
              <a:t>What happens when, and who owns it  ·  early lifecycle</a:t>
            </a:r>
            <a:endParaRPr lang="en-US" sz="2900" dirty="0"/>
          </a:p>
        </p:txBody>
      </p:sp>
      <p:sp>
        <p:nvSpPr>
          <p:cNvPr id="4" name="Text 2"/>
          <p:cNvSpPr/>
          <p:nvPr/>
        </p:nvSpPr>
        <p:spPr>
          <a:xfrm>
            <a:off x="548640" y="1225296"/>
            <a:ext cx="11064240" cy="457200"/>
          </a:xfrm>
          <a:prstGeom prst="rect">
            <a:avLst/>
          </a:prstGeom>
          <a:noFill/>
          <a:ln/>
        </p:spPr>
        <p:txBody>
          <a:bodyPr wrap="square" lIns="0" tIns="0" rIns="0" bIns="0" rtlCol="0" anchor="t"/>
          <a:lstStyle/>
          <a:p>
            <a:pPr indent="0" marL="0">
              <a:lnSpc>
                <a:spcPts val="2000"/>
              </a:lnSpc>
              <a:buNone/>
            </a:pPr>
            <a:r>
              <a:rPr lang="en-US" sz="1400" dirty="0">
                <a:solidFill>
                  <a:srgbClr val="1A2333"/>
                </a:solidFill>
                <a:latin typeface="Calibri" pitchFamily="34" charset="0"/>
                <a:ea typeface="Calibri" pitchFamily="34" charset="-122"/>
                <a:cs typeface="Calibri" pitchFamily="34" charset="-120"/>
              </a:rPr>
              <a:t>Four states, from bid through critical design review. This is where almost all of the value is, because it is where assumptions are created, scoped and last cheaply checkable.</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1672" cy="914400"/>
        </p:xfrm>
        <a:graphic>
          <a:graphicData uri="http://schemas.openxmlformats.org/drawingml/2006/table">
            <a:tbl>
              <a:tblPr/>
              <a:tblGrid>
                <a:gridCol w="2148840"/>
                <a:gridCol w="6172200"/>
                <a:gridCol w="2770632"/>
              </a:tblGrid>
              <a:tr h="83210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Lifecycle state</a:t>
                      </a:r>
                      <a:endParaRPr lang="en-US" sz="1150" dirty="0">
                        <a:latin typeface="Calibri" charset="0"/>
                        <a:ea typeface="Calibri" charset="0"/>
                        <a:cs typeface="Calibri" charset="0"/>
                      </a:endParaRPr>
                    </a:p>
                  </a:txBody>
                  <a:tcPr marL="109728" marR="109728" marT="64008" marB="64008"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132A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has to happen</a:t>
                      </a:r>
                      <a:endParaRPr lang="en-US" sz="1150" dirty="0">
                        <a:latin typeface="Calibri" charset="0"/>
                        <a:ea typeface="Calibri" charset="0"/>
                        <a:cs typeface="Calibri" charset="0"/>
                      </a:endParaRPr>
                    </a:p>
                  </a:txBody>
                  <a:tcPr marL="109728" marR="109728" marT="64008" marB="64008"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132A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Who owns it</a:t>
                      </a:r>
                      <a:endParaRPr lang="en-US" sz="1150" dirty="0">
                        <a:latin typeface="Calibri" charset="0"/>
                        <a:ea typeface="Calibri" charset="0"/>
                        <a:cs typeface="Calibri" charset="0"/>
                      </a:endParaRPr>
                    </a:p>
                  </a:txBody>
                  <a:tcPr marL="109728" marR="109728" marT="64008" marB="64008"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132A4E"/>
                    </a:solidFill>
                  </a:tcPr>
                </a:tc>
              </a:tr>
              <a:tr h="832104">
                <a:tc>
                  <a:txBody>
                    <a:bodyPr/>
                    <a:lstStyle/>
                    <a:p>
                      <a:pPr indent="0" marL="0">
                        <a:buNone/>
                      </a:pPr>
                      <a:r>
                        <a:rPr lang="en-US" sz="1150" b="1" dirty="0">
                          <a:solidFill>
                            <a:srgbClr val="132A4E"/>
                          </a:solidFill>
                          <a:latin typeface="Calibri" pitchFamily="34" charset="0"/>
                          <a:ea typeface="Calibri" pitchFamily="34" charset="-122"/>
                          <a:cs typeface="Calibri" pitchFamily="34" charset="-120"/>
                        </a:rPr>
                        <a:t>Proposal and pre-award</a:t>
                      </a:r>
                      <a:endParaRPr lang="en-US" sz="1150" dirty="0">
                        <a:latin typeface="Calibri" charset="0"/>
                        <a:ea typeface="Calibri" charset="0"/>
                        <a:cs typeface="Calibri" charset="0"/>
                      </a:endParaRPr>
                    </a:p>
                  </a:txBody>
                  <a:tcPr marL="109728" marR="109728" marT="64008" marB="64008"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100" dirty="0">
                          <a:solidFill>
                            <a:srgbClr val="1A2333"/>
                          </a:solidFill>
                          <a:latin typeface="Calibri" pitchFamily="34" charset="0"/>
                          <a:ea typeface="Calibri" pitchFamily="34" charset="-122"/>
                          <a:cs typeface="Calibri" pitchFamily="34" charset="-120"/>
                        </a:rPr>
                        <a:t>Write down each safety-bearing assumption with its conditions and reasoning as it is made. Record where an inherited one came from and what the similarity claim rested on. Put the cost of discharging them into the bid.</a:t>
                      </a:r>
                      <a:endParaRPr lang="en-US" sz="1100" dirty="0">
                        <a:latin typeface="Calibri" charset="0"/>
                        <a:ea typeface="Calibri" charset="0"/>
                        <a:cs typeface="Calibri" charset="0"/>
                      </a:endParaRPr>
                    </a:p>
                  </a:txBody>
                  <a:tcPr marL="109728" marR="109728" marT="64008" marB="64008"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Systems Engineering</a:t>
                      </a:r>
                      <a:endParaRPr lang="en-US" sz="1050" dirty="0">
                        <a:latin typeface="Calibri" charset="0"/>
                        <a:ea typeface="Calibri" charset="0"/>
                        <a:cs typeface="Calibri" charset="0"/>
                      </a:endParaRPr>
                    </a:p>
                    <a:p>
                      <a:pPr indent="0" marL="0">
                        <a:buNone/>
                      </a:pPr>
                      <a:r>
                        <a:rPr lang="en-US" sz="1050" b="1" dirty="0">
                          <a:solidFill>
                            <a:srgbClr val="1F4380"/>
                          </a:solidFill>
                          <a:latin typeface="Calibri" pitchFamily="34" charset="0"/>
                          <a:ea typeface="Calibri" pitchFamily="34" charset="-122"/>
                          <a:cs typeface="Calibri" pitchFamily="34" charset="-120"/>
                        </a:rPr>
                        <a:t>Program Management</a:t>
                      </a:r>
                      <a:endParaRPr lang="en-US" sz="1050" dirty="0">
                        <a:latin typeface="Calibri" charset="0"/>
                        <a:ea typeface="Calibri" charset="0"/>
                        <a:cs typeface="Calibri" charset="0"/>
                      </a:endParaRPr>
                    </a:p>
                  </a:txBody>
                  <a:tcPr marL="109728" marR="109728" marT="64008" marB="64008"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r h="832104">
                <a:tc>
                  <a:txBody>
                    <a:bodyPr/>
                    <a:lstStyle/>
                    <a:p>
                      <a:pPr indent="0" marL="0">
                        <a:buNone/>
                      </a:pPr>
                      <a:r>
                        <a:rPr lang="en-US" sz="1150" b="1" dirty="0">
                          <a:solidFill>
                            <a:srgbClr val="132A4E"/>
                          </a:solidFill>
                          <a:latin typeface="Calibri" pitchFamily="34" charset="0"/>
                          <a:ea typeface="Calibri" pitchFamily="34" charset="-122"/>
                          <a:cs typeface="Calibri" pitchFamily="34" charset="-120"/>
                        </a:rPr>
                        <a:t>Concept and early design</a:t>
                      </a:r>
                      <a:endParaRPr lang="en-US" sz="1150" dirty="0">
                        <a:latin typeface="Calibri" charset="0"/>
                        <a:ea typeface="Calibri" charset="0"/>
                        <a:cs typeface="Calibri" charset="0"/>
                      </a:endParaRPr>
                    </a:p>
                  </a:txBody>
                  <a:tcPr marL="109728" marR="109728" marT="64008" marB="64008"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100" dirty="0">
                          <a:solidFill>
                            <a:srgbClr val="1A2333"/>
                          </a:solidFill>
                          <a:latin typeface="Calibri" pitchFamily="34" charset="0"/>
                          <a:ea typeface="Calibri" pitchFamily="34" charset="-122"/>
                          <a:cs typeface="Calibri" pitchFamily="34" charset="-120"/>
                        </a:rPr>
                        <a:t>First hazard analysis decides which assumptions actually carry risk credit; the rest are tiered out. Name a risk acceptor on this program for each one that does. Inherited acceptance does not carry over.</a:t>
                      </a:r>
                      <a:endParaRPr lang="en-US" sz="1100" dirty="0">
                        <a:latin typeface="Calibri" charset="0"/>
                        <a:ea typeface="Calibri" charset="0"/>
                        <a:cs typeface="Calibri" charset="0"/>
                      </a:endParaRPr>
                    </a:p>
                  </a:txBody>
                  <a:tcPr marL="109728" marR="109728" marT="64008" marB="64008"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Safety Risk Management</a:t>
                      </a:r>
                      <a:endParaRPr lang="en-US" sz="1050" dirty="0">
                        <a:latin typeface="Calibri" charset="0"/>
                        <a:ea typeface="Calibri" charset="0"/>
                        <a:cs typeface="Calibri" charset="0"/>
                      </a:endParaRPr>
                    </a:p>
                    <a:p>
                      <a:pPr indent="0" marL="0">
                        <a:buNone/>
                      </a:pPr>
                      <a:r>
                        <a:rPr lang="en-US" sz="1050" b="1" dirty="0">
                          <a:solidFill>
                            <a:srgbClr val="1F4380"/>
                          </a:solidFill>
                          <a:latin typeface="Calibri" pitchFamily="34" charset="0"/>
                          <a:ea typeface="Calibri" pitchFamily="34" charset="-122"/>
                          <a:cs typeface="Calibri" pitchFamily="34" charset="-120"/>
                        </a:rPr>
                        <a:t>SMS</a:t>
                      </a:r>
                      <a:endParaRPr lang="en-US" sz="1050" dirty="0">
                        <a:latin typeface="Calibri" charset="0"/>
                        <a:ea typeface="Calibri" charset="0"/>
                        <a:cs typeface="Calibri" charset="0"/>
                      </a:endParaRPr>
                    </a:p>
                  </a:txBody>
                  <a:tcPr marL="109728" marR="109728" marT="64008" marB="64008"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r h="832104">
                <a:tc>
                  <a:txBody>
                    <a:bodyPr/>
                    <a:lstStyle/>
                    <a:p>
                      <a:pPr indent="0" marL="0">
                        <a:buNone/>
                      </a:pPr>
                      <a:r>
                        <a:rPr lang="en-US" sz="1150" b="1" dirty="0">
                          <a:solidFill>
                            <a:srgbClr val="132A4E"/>
                          </a:solidFill>
                          <a:latin typeface="Calibri" pitchFamily="34" charset="0"/>
                          <a:ea typeface="Calibri" pitchFamily="34" charset="-122"/>
                          <a:cs typeface="Calibri" pitchFamily="34" charset="-120"/>
                        </a:rPr>
                        <a:t>Development and subsystem design</a:t>
                      </a:r>
                      <a:endParaRPr lang="en-US" sz="1150" dirty="0">
                        <a:latin typeface="Calibri" charset="0"/>
                        <a:ea typeface="Calibri" charset="0"/>
                        <a:cs typeface="Calibri" charset="0"/>
                      </a:endParaRPr>
                    </a:p>
                  </a:txBody>
                  <a:tcPr marL="109728" marR="109728" marT="64008" marB="64008"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100" dirty="0">
                          <a:solidFill>
                            <a:srgbClr val="1A2333"/>
                          </a:solidFill>
                          <a:latin typeface="Calibri" pitchFamily="34" charset="0"/>
                          <a:ea typeface="Calibri" pitchFamily="34" charset="-122"/>
                          <a:cs typeface="Calibri" pitchFamily="34" charset="-120"/>
                        </a:rPr>
                        <a:t>Attach assumptions to the subsystem and interface documents as those are approved. Attach assumptions about people to procedure and training documents. Begin reporting the count still unattached.</a:t>
                      </a:r>
                      <a:endParaRPr lang="en-US" sz="1100" dirty="0">
                        <a:latin typeface="Calibri" charset="0"/>
                        <a:ea typeface="Calibri" charset="0"/>
                        <a:cs typeface="Calibri" charset="0"/>
                      </a:endParaRPr>
                    </a:p>
                  </a:txBody>
                  <a:tcPr marL="109728" marR="109728" marT="64008" marB="64008"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Systems Engineering</a:t>
                      </a:r>
                      <a:endParaRPr lang="en-US" sz="1050" dirty="0">
                        <a:latin typeface="Calibri" charset="0"/>
                        <a:ea typeface="Calibri" charset="0"/>
                        <a:cs typeface="Calibri" charset="0"/>
                      </a:endParaRPr>
                    </a:p>
                    <a:p>
                      <a:pPr indent="0" marL="0">
                        <a:buNone/>
                      </a:pPr>
                      <a:r>
                        <a:rPr lang="en-US" sz="1050" b="1" dirty="0">
                          <a:solidFill>
                            <a:srgbClr val="1F4380"/>
                          </a:solidFill>
                          <a:latin typeface="Calibri" pitchFamily="34" charset="0"/>
                          <a:ea typeface="Calibri" pitchFamily="34" charset="-122"/>
                          <a:cs typeface="Calibri" pitchFamily="34" charset="-120"/>
                        </a:rPr>
                        <a:t>Human Factors</a:t>
                      </a:r>
                      <a:endParaRPr lang="en-US" sz="1050" dirty="0">
                        <a:latin typeface="Calibri" charset="0"/>
                        <a:ea typeface="Calibri" charset="0"/>
                        <a:cs typeface="Calibri" charset="0"/>
                      </a:endParaRPr>
                    </a:p>
                    <a:p>
                      <a:pPr indent="0" marL="0">
                        <a:buNone/>
                      </a:pPr>
                      <a:r>
                        <a:rPr lang="en-US" sz="1050" b="1" dirty="0">
                          <a:solidFill>
                            <a:srgbClr val="1F4380"/>
                          </a:solidFill>
                          <a:latin typeface="Calibri" pitchFamily="34" charset="0"/>
                          <a:ea typeface="Calibri" pitchFamily="34" charset="-122"/>
                          <a:cs typeface="Calibri" pitchFamily="34" charset="-120"/>
                        </a:rPr>
                        <a:t>Configuration Management</a:t>
                      </a:r>
                      <a:endParaRPr lang="en-US" sz="1050" dirty="0">
                        <a:latin typeface="Calibri" charset="0"/>
                        <a:ea typeface="Calibri" charset="0"/>
                        <a:cs typeface="Calibri" charset="0"/>
                      </a:endParaRPr>
                    </a:p>
                  </a:txBody>
                  <a:tcPr marL="109728" marR="109728" marT="64008" marB="64008"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r h="832104">
                <a:tc>
                  <a:txBody>
                    <a:bodyPr/>
                    <a:lstStyle/>
                    <a:p>
                      <a:pPr indent="0" marL="0">
                        <a:buNone/>
                      </a:pPr>
                      <a:r>
                        <a:rPr lang="en-US" sz="1150" b="1" dirty="0">
                          <a:solidFill>
                            <a:srgbClr val="132A4E"/>
                          </a:solidFill>
                          <a:latin typeface="Calibri" pitchFamily="34" charset="0"/>
                          <a:ea typeface="Calibri" pitchFamily="34" charset="-122"/>
                          <a:cs typeface="Calibri" pitchFamily="34" charset="-120"/>
                        </a:rPr>
                        <a:t>Detail design through CDR</a:t>
                      </a:r>
                      <a:endParaRPr lang="en-US" sz="1150" dirty="0">
                        <a:latin typeface="Calibri" charset="0"/>
                        <a:ea typeface="Calibri" charset="0"/>
                        <a:cs typeface="Calibri" charset="0"/>
                      </a:endParaRPr>
                    </a:p>
                  </a:txBody>
                  <a:tcPr marL="109728" marR="109728" marT="64008" marB="64008"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100" dirty="0">
                          <a:solidFill>
                            <a:srgbClr val="1A2333"/>
                          </a:solidFill>
                          <a:latin typeface="Calibri" pitchFamily="34" charset="0"/>
                          <a:ea typeface="Calibri" pitchFamily="34" charset="-122"/>
                          <a:cs typeface="Calibri" pitchFamily="34" charset="-120"/>
                        </a:rPr>
                        <a:t>Compare source and receiving program condition by condition rather than part number to part number. Anything that cannot be verified goes back into risk management. Add the assumption field to the change form.</a:t>
                      </a:r>
                      <a:endParaRPr lang="en-US" sz="1100" dirty="0">
                        <a:latin typeface="Calibri" charset="0"/>
                        <a:ea typeface="Calibri" charset="0"/>
                        <a:cs typeface="Calibri" charset="0"/>
                      </a:endParaRPr>
                    </a:p>
                  </a:txBody>
                  <a:tcPr marL="109728" marR="109728" marT="64008" marB="64008"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Systems Engineering</a:t>
                      </a:r>
                      <a:endParaRPr lang="en-US" sz="1050" dirty="0">
                        <a:latin typeface="Calibri" charset="0"/>
                        <a:ea typeface="Calibri" charset="0"/>
                        <a:cs typeface="Calibri" charset="0"/>
                      </a:endParaRPr>
                    </a:p>
                    <a:p>
                      <a:pPr indent="0" marL="0">
                        <a:buNone/>
                      </a:pPr>
                      <a:r>
                        <a:rPr lang="en-US" sz="1050" b="1" dirty="0">
                          <a:solidFill>
                            <a:srgbClr val="1F4380"/>
                          </a:solidFill>
                          <a:latin typeface="Calibri" pitchFamily="34" charset="0"/>
                          <a:ea typeface="Calibri" pitchFamily="34" charset="-122"/>
                          <a:cs typeface="Calibri" pitchFamily="34" charset="-120"/>
                        </a:rPr>
                        <a:t>Safety Risk Management</a:t>
                      </a:r>
                      <a:endParaRPr lang="en-US" sz="1050" dirty="0">
                        <a:latin typeface="Calibri" charset="0"/>
                        <a:ea typeface="Calibri" charset="0"/>
                        <a:cs typeface="Calibri" charset="0"/>
                      </a:endParaRPr>
                    </a:p>
                    <a:p>
                      <a:pPr indent="0" marL="0">
                        <a:buNone/>
                      </a:pPr>
                      <a:r>
                        <a:rPr lang="en-US" sz="1050" b="1" dirty="0">
                          <a:solidFill>
                            <a:srgbClr val="1F4380"/>
                          </a:solidFill>
                          <a:latin typeface="Calibri" pitchFamily="34" charset="0"/>
                          <a:ea typeface="Calibri" pitchFamily="34" charset="-122"/>
                          <a:cs typeface="Calibri" pitchFamily="34" charset="-120"/>
                        </a:rPr>
                        <a:t>Configuration Management</a:t>
                      </a:r>
                      <a:endParaRPr lang="en-US" sz="1050" dirty="0">
                        <a:latin typeface="Calibri" charset="0"/>
                        <a:ea typeface="Calibri" charset="0"/>
                        <a:cs typeface="Calibri" charset="0"/>
                      </a:endParaRPr>
                    </a:p>
                  </a:txBody>
                  <a:tcPr marL="109728" marR="109728" marT="64008" marB="64008"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6172200"/>
            <a:ext cx="11064240" cy="411480"/>
          </a:xfrm>
          <a:prstGeom prst="rect">
            <a:avLst/>
          </a:prstGeom>
          <a:noFill/>
          <a:ln/>
        </p:spPr>
        <p:txBody>
          <a:bodyPr wrap="square" lIns="0" tIns="0" rIns="0" bIns="0" rtlCol="0" anchor="ctr"/>
          <a:lstStyle/>
          <a:p>
            <a:pPr indent="0" marL="0">
              <a:lnSpc>
                <a:spcPts val="1700"/>
              </a:lnSpc>
              <a:buNone/>
            </a:pPr>
            <a:r>
              <a:rPr lang="en-US" sz="1200" i="1" dirty="0">
                <a:solidFill>
                  <a:srgbClr val="4A5568"/>
                </a:solidFill>
                <a:latin typeface="Calibri" pitchFamily="34" charset="0"/>
                <a:ea typeface="Calibri" pitchFamily="34" charset="-122"/>
                <a:cs typeface="Calibri" pitchFamily="34" charset="-120"/>
              </a:rPr>
              <a:t>If only two things from this deck are adopted, make them the comparison at CDR and the field on the change form.</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292608"/>
            <a:ext cx="11064240" cy="237744"/>
          </a:xfrm>
          <a:prstGeom prst="rect">
            <a:avLst/>
          </a:prstGeom>
          <a:noFill/>
          <a:ln/>
        </p:spPr>
        <p:txBody>
          <a:bodyPr wrap="square" lIns="0" tIns="0" rIns="0" bIns="0" rtlCol="0" anchor="ctr"/>
          <a:lstStyle/>
          <a:p>
            <a:pPr indent="0" marL="0">
              <a:buNone/>
            </a:pPr>
            <a:r>
              <a:rPr lang="en-US" sz="1050" b="1" spc="160" kern="0" dirty="0">
                <a:solidFill>
                  <a:srgbClr val="B4530C"/>
                </a:solidFill>
                <a:latin typeface="Calibri" pitchFamily="34" charset="0"/>
                <a:ea typeface="Calibri" pitchFamily="34" charset="-122"/>
                <a:cs typeface="Calibri" pitchFamily="34" charset="-120"/>
              </a:rPr>
              <a:t>ACTIONS, PART 2 OF 2</a:t>
            </a:r>
            <a:endParaRPr lang="en-US" sz="1050" dirty="0"/>
          </a:p>
        </p:txBody>
      </p:sp>
      <p:sp>
        <p:nvSpPr>
          <p:cNvPr id="3" name="Text 1"/>
          <p:cNvSpPr/>
          <p:nvPr/>
        </p:nvSpPr>
        <p:spPr>
          <a:xfrm>
            <a:off x="548640" y="548640"/>
            <a:ext cx="11064240" cy="658368"/>
          </a:xfrm>
          <a:prstGeom prst="rect">
            <a:avLst/>
          </a:prstGeom>
          <a:noFill/>
          <a:ln/>
        </p:spPr>
        <p:txBody>
          <a:bodyPr wrap="square" lIns="0" tIns="0" rIns="0" bIns="0" rtlCol="0" anchor="t"/>
          <a:lstStyle/>
          <a:p>
            <a:pPr indent="0" marL="0">
              <a:buNone/>
            </a:pPr>
            <a:r>
              <a:rPr lang="en-US" sz="2900" b="1" dirty="0">
                <a:solidFill>
                  <a:srgbClr val="132A4E"/>
                </a:solidFill>
                <a:latin typeface="Cambria" pitchFamily="34" charset="0"/>
                <a:ea typeface="Cambria" pitchFamily="34" charset="-122"/>
                <a:cs typeface="Cambria" pitchFamily="34" charset="-120"/>
              </a:rPr>
              <a:t>What happens when, and who owns it  ·  later lifecycle</a:t>
            </a:r>
            <a:endParaRPr lang="en-US" sz="2900" dirty="0"/>
          </a:p>
        </p:txBody>
      </p:sp>
      <p:sp>
        <p:nvSpPr>
          <p:cNvPr id="4" name="Text 2"/>
          <p:cNvSpPr/>
          <p:nvPr/>
        </p:nvSpPr>
        <p:spPr>
          <a:xfrm>
            <a:off x="548640" y="1225296"/>
            <a:ext cx="11064240" cy="457200"/>
          </a:xfrm>
          <a:prstGeom prst="rect">
            <a:avLst/>
          </a:prstGeom>
          <a:noFill/>
          <a:ln/>
        </p:spPr>
        <p:txBody>
          <a:bodyPr wrap="square" lIns="0" tIns="0" rIns="0" bIns="0" rtlCol="0" anchor="t"/>
          <a:lstStyle/>
          <a:p>
            <a:pPr indent="0" marL="0">
              <a:lnSpc>
                <a:spcPts val="2000"/>
              </a:lnSpc>
              <a:buNone/>
            </a:pPr>
            <a:r>
              <a:rPr lang="en-US" sz="1400" dirty="0">
                <a:solidFill>
                  <a:srgbClr val="1A2333"/>
                </a:solidFill>
                <a:latin typeface="Calibri" pitchFamily="34" charset="0"/>
                <a:ea typeface="Calibri" pitchFamily="34" charset="-122"/>
                <a:cs typeface="Calibri" pitchFamily="34" charset="-120"/>
              </a:rPr>
              <a:t>Three states, from verification into service. The work here is mostly about keeping the mechanism running once change volume rises, and about not exporting the same problem to the next program.</a:t>
            </a:r>
            <a:endParaRPr lang="en-US" sz="1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1672" cy="914400"/>
        </p:xfrm>
        <a:graphic>
          <a:graphicData uri="http://schemas.openxmlformats.org/drawingml/2006/table">
            <a:tbl>
              <a:tblPr/>
              <a:tblGrid>
                <a:gridCol w="2148840"/>
                <a:gridCol w="6172200"/>
                <a:gridCol w="2770632"/>
              </a:tblGrid>
              <a:tr h="84124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Lifecycle state</a:t>
                      </a:r>
                      <a:endParaRPr lang="en-US" sz="1150" dirty="0">
                        <a:latin typeface="Calibri" charset="0"/>
                        <a:ea typeface="Calibri" charset="0"/>
                        <a:cs typeface="Calibri" charset="0"/>
                      </a:endParaRPr>
                    </a:p>
                  </a:txBody>
                  <a:tcPr marL="109728" marR="109728" marT="64008" marB="64008"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132A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has to happen</a:t>
                      </a:r>
                      <a:endParaRPr lang="en-US" sz="1150" dirty="0">
                        <a:latin typeface="Calibri" charset="0"/>
                        <a:ea typeface="Calibri" charset="0"/>
                        <a:cs typeface="Calibri" charset="0"/>
                      </a:endParaRPr>
                    </a:p>
                  </a:txBody>
                  <a:tcPr marL="109728" marR="109728" marT="64008" marB="64008"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132A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Who owns it</a:t>
                      </a:r>
                      <a:endParaRPr lang="en-US" sz="1150" dirty="0">
                        <a:latin typeface="Calibri" charset="0"/>
                        <a:ea typeface="Calibri" charset="0"/>
                        <a:cs typeface="Calibri" charset="0"/>
                      </a:endParaRPr>
                    </a:p>
                  </a:txBody>
                  <a:tcPr marL="109728" marR="109728" marT="64008" marB="64008"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132A4E"/>
                    </a:solidFill>
                  </a:tcPr>
                </a:tc>
              </a:tr>
              <a:tr h="841248">
                <a:tc>
                  <a:txBody>
                    <a:bodyPr/>
                    <a:lstStyle/>
                    <a:p>
                      <a:pPr indent="0" marL="0">
                        <a:buNone/>
                      </a:pPr>
                      <a:r>
                        <a:rPr lang="en-US" sz="1150" b="1" dirty="0">
                          <a:solidFill>
                            <a:srgbClr val="132A4E"/>
                          </a:solidFill>
                          <a:latin typeface="Calibri" pitchFamily="34" charset="0"/>
                          <a:ea typeface="Calibri" pitchFamily="34" charset="-122"/>
                          <a:cs typeface="Calibri" pitchFamily="34" charset="-120"/>
                        </a:rPr>
                        <a:t>Verification, audits and certification</a:t>
                      </a:r>
                      <a:endParaRPr lang="en-US" sz="1150" dirty="0">
                        <a:latin typeface="Calibri" charset="0"/>
                        <a:ea typeface="Calibri" charset="0"/>
                        <a:cs typeface="Calibri" charset="0"/>
                      </a:endParaRPr>
                    </a:p>
                  </a:txBody>
                  <a:tcPr marL="109728" marR="109728" marT="64008" marB="64008"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100" dirty="0">
                          <a:solidFill>
                            <a:srgbClr val="1A2333"/>
                          </a:solidFill>
                          <a:latin typeface="Calibri" pitchFamily="34" charset="0"/>
                          <a:ea typeface="Calibri" pitchFamily="34" charset="-122"/>
                          <a:cs typeface="Calibri" pitchFamily="34" charset="-120"/>
                        </a:rPr>
                        <a:t>Confirm conditions by test, analysis and audit, and move assumptions to verified. An assumption falsified by test is handled as a major change because it affects safety. Confirm assumed task times and alerting by test rather than assertion.</a:t>
                      </a:r>
                      <a:endParaRPr lang="en-US" sz="1100" dirty="0">
                        <a:latin typeface="Calibri" charset="0"/>
                        <a:ea typeface="Calibri" charset="0"/>
                        <a:cs typeface="Calibri" charset="0"/>
                      </a:endParaRPr>
                    </a:p>
                  </a:txBody>
                  <a:tcPr marL="109728" marR="109728" marT="64008" marB="64008"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Systems Engineering</a:t>
                      </a:r>
                      <a:endParaRPr lang="en-US" sz="1050" dirty="0">
                        <a:latin typeface="Calibri" charset="0"/>
                        <a:ea typeface="Calibri" charset="0"/>
                        <a:cs typeface="Calibri" charset="0"/>
                      </a:endParaRPr>
                    </a:p>
                    <a:p>
                      <a:pPr indent="0" marL="0">
                        <a:buNone/>
                      </a:pPr>
                      <a:r>
                        <a:rPr lang="en-US" sz="1050" b="1" dirty="0">
                          <a:solidFill>
                            <a:srgbClr val="1F4380"/>
                          </a:solidFill>
                          <a:latin typeface="Calibri" pitchFamily="34" charset="0"/>
                          <a:ea typeface="Calibri" pitchFamily="34" charset="-122"/>
                          <a:cs typeface="Calibri" pitchFamily="34" charset="-120"/>
                        </a:rPr>
                        <a:t>Quality</a:t>
                      </a:r>
                      <a:endParaRPr lang="en-US" sz="1050" dirty="0">
                        <a:latin typeface="Calibri" charset="0"/>
                        <a:ea typeface="Calibri" charset="0"/>
                        <a:cs typeface="Calibri" charset="0"/>
                      </a:endParaRPr>
                    </a:p>
                    <a:p>
                      <a:pPr indent="0" marL="0">
                        <a:buNone/>
                      </a:pPr>
                      <a:r>
                        <a:rPr lang="en-US" sz="1050" b="1" dirty="0">
                          <a:solidFill>
                            <a:srgbClr val="1F4380"/>
                          </a:solidFill>
                          <a:latin typeface="Calibri" pitchFamily="34" charset="0"/>
                          <a:ea typeface="Calibri" pitchFamily="34" charset="-122"/>
                          <a:cs typeface="Calibri" pitchFamily="34" charset="-120"/>
                        </a:rPr>
                        <a:t>Human Factors</a:t>
                      </a:r>
                      <a:endParaRPr lang="en-US" sz="1050" dirty="0">
                        <a:latin typeface="Calibri" charset="0"/>
                        <a:ea typeface="Calibri" charset="0"/>
                        <a:cs typeface="Calibri" charset="0"/>
                      </a:endParaRPr>
                    </a:p>
                  </a:txBody>
                  <a:tcPr marL="109728" marR="109728" marT="64008" marB="64008"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r h="841248">
                <a:tc>
                  <a:txBody>
                    <a:bodyPr/>
                    <a:lstStyle/>
                    <a:p>
                      <a:pPr indent="0" marL="0">
                        <a:buNone/>
                      </a:pPr>
                      <a:r>
                        <a:rPr lang="en-US" sz="1150" b="1" dirty="0">
                          <a:solidFill>
                            <a:srgbClr val="132A4E"/>
                          </a:solidFill>
                          <a:latin typeface="Calibri" pitchFamily="34" charset="0"/>
                          <a:ea typeface="Calibri" pitchFamily="34" charset="-122"/>
                          <a:cs typeface="Calibri" pitchFamily="34" charset="-120"/>
                        </a:rPr>
                        <a:t>Production</a:t>
                      </a:r>
                      <a:endParaRPr lang="en-US" sz="1150" dirty="0">
                        <a:latin typeface="Calibri" charset="0"/>
                        <a:ea typeface="Calibri" charset="0"/>
                        <a:cs typeface="Calibri" charset="0"/>
                      </a:endParaRPr>
                    </a:p>
                  </a:txBody>
                  <a:tcPr marL="109728" marR="109728" marT="64008" marB="64008"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100" dirty="0">
                          <a:solidFill>
                            <a:srgbClr val="1A2333"/>
                          </a:solidFill>
                          <a:latin typeface="Calibri" pitchFamily="34" charset="0"/>
                          <a:ea typeface="Calibri" pitchFamily="34" charset="-122"/>
                          <a:cs typeface="Calibri" pitchFamily="34" charset="-120"/>
                        </a:rPr>
                        <a:t>Screen every engineering change for effect on assumptions. When a repeated deviation is made permanent, reopen the assumptions it touches. Trigger a review when a procedure or training course is revised, even though no hardware change exists.</a:t>
                      </a:r>
                      <a:endParaRPr lang="en-US" sz="1100" dirty="0">
                        <a:latin typeface="Calibri" charset="0"/>
                        <a:ea typeface="Calibri" charset="0"/>
                        <a:cs typeface="Calibri" charset="0"/>
                      </a:endParaRPr>
                    </a:p>
                  </a:txBody>
                  <a:tcPr marL="109728" marR="109728" marT="64008" marB="64008"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Configuration Management</a:t>
                      </a:r>
                      <a:endParaRPr lang="en-US" sz="1050" dirty="0">
                        <a:latin typeface="Calibri" charset="0"/>
                        <a:ea typeface="Calibri" charset="0"/>
                        <a:cs typeface="Calibri" charset="0"/>
                      </a:endParaRPr>
                    </a:p>
                    <a:p>
                      <a:pPr indent="0" marL="0">
                        <a:buNone/>
                      </a:pPr>
                      <a:r>
                        <a:rPr lang="en-US" sz="1050" b="1" dirty="0">
                          <a:solidFill>
                            <a:srgbClr val="1F4380"/>
                          </a:solidFill>
                          <a:latin typeface="Calibri" pitchFamily="34" charset="0"/>
                          <a:ea typeface="Calibri" pitchFamily="34" charset="-122"/>
                          <a:cs typeface="Calibri" pitchFamily="34" charset="-120"/>
                        </a:rPr>
                        <a:t>Human Factors</a:t>
                      </a:r>
                      <a:endParaRPr lang="en-US" sz="1050" dirty="0">
                        <a:latin typeface="Calibri" charset="0"/>
                        <a:ea typeface="Calibri" charset="0"/>
                        <a:cs typeface="Calibri" charset="0"/>
                      </a:endParaRPr>
                    </a:p>
                    <a:p>
                      <a:pPr indent="0" marL="0">
                        <a:buNone/>
                      </a:pPr>
                      <a:r>
                        <a:rPr lang="en-US" sz="1050" b="1" dirty="0">
                          <a:solidFill>
                            <a:srgbClr val="1F4380"/>
                          </a:solidFill>
                          <a:latin typeface="Calibri" pitchFamily="34" charset="0"/>
                          <a:ea typeface="Calibri" pitchFamily="34" charset="-122"/>
                          <a:cs typeface="Calibri" pitchFamily="34" charset="-120"/>
                        </a:rPr>
                        <a:t>SMS</a:t>
                      </a:r>
                      <a:endParaRPr lang="en-US" sz="1050" dirty="0">
                        <a:latin typeface="Calibri" charset="0"/>
                        <a:ea typeface="Calibri" charset="0"/>
                        <a:cs typeface="Calibri" charset="0"/>
                      </a:endParaRPr>
                    </a:p>
                  </a:txBody>
                  <a:tcPr marL="109728" marR="109728" marT="64008" marB="64008"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r h="841248">
                <a:tc>
                  <a:txBody>
                    <a:bodyPr/>
                    <a:lstStyle/>
                    <a:p>
                      <a:pPr indent="0" marL="0">
                        <a:buNone/>
                      </a:pPr>
                      <a:r>
                        <a:rPr lang="en-US" sz="1150" b="1" dirty="0">
                          <a:solidFill>
                            <a:srgbClr val="132A4E"/>
                          </a:solidFill>
                          <a:latin typeface="Calibri" pitchFamily="34" charset="0"/>
                          <a:ea typeface="Calibri" pitchFamily="34" charset="-122"/>
                          <a:cs typeface="Calibri" pitchFamily="34" charset="-120"/>
                        </a:rPr>
                        <a:t>In service, and handing on</a:t>
                      </a:r>
                      <a:endParaRPr lang="en-US" sz="1150" dirty="0">
                        <a:latin typeface="Calibri" charset="0"/>
                        <a:ea typeface="Calibri" charset="0"/>
                        <a:cs typeface="Calibri" charset="0"/>
                      </a:endParaRPr>
                    </a:p>
                  </a:txBody>
                  <a:tcPr marL="109728" marR="109728" marT="64008" marB="64008"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100" dirty="0">
                          <a:solidFill>
                            <a:srgbClr val="1A2333"/>
                          </a:solidFill>
                          <a:latin typeface="Calibri" pitchFamily="34" charset="0"/>
                          <a:ea typeface="Calibri" pitchFamily="34" charset="-122"/>
                          <a:cs typeface="Calibri" pitchFamily="34" charset="-120"/>
                        </a:rPr>
                        <a:t>Field evidence is the only thing that tests assumptions about how the aircraft is actually operated and maintained; route findings to assumption owners. Nothing leaves for the next program without its conditions, references and evidence.</a:t>
                      </a:r>
                      <a:endParaRPr lang="en-US" sz="1100" dirty="0">
                        <a:latin typeface="Calibri" charset="0"/>
                        <a:ea typeface="Calibri" charset="0"/>
                        <a:cs typeface="Calibri" charset="0"/>
                      </a:endParaRPr>
                    </a:p>
                  </a:txBody>
                  <a:tcPr marL="109728" marR="109728" marT="64008" marB="64008"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Safety Risk Management</a:t>
                      </a:r>
                      <a:endParaRPr lang="en-US" sz="1050" dirty="0">
                        <a:latin typeface="Calibri" charset="0"/>
                        <a:ea typeface="Calibri" charset="0"/>
                        <a:cs typeface="Calibri" charset="0"/>
                      </a:endParaRPr>
                    </a:p>
                    <a:p>
                      <a:pPr indent="0" marL="0">
                        <a:buNone/>
                      </a:pPr>
                      <a:r>
                        <a:rPr lang="en-US" sz="1050" b="1" dirty="0">
                          <a:solidFill>
                            <a:srgbClr val="1F4380"/>
                          </a:solidFill>
                          <a:latin typeface="Calibri" pitchFamily="34" charset="0"/>
                          <a:ea typeface="Calibri" pitchFamily="34" charset="-122"/>
                          <a:cs typeface="Calibri" pitchFamily="34" charset="-120"/>
                        </a:rPr>
                        <a:t>SMS</a:t>
                      </a:r>
                      <a:endParaRPr lang="en-US" sz="1050" dirty="0">
                        <a:latin typeface="Calibri" charset="0"/>
                        <a:ea typeface="Calibri" charset="0"/>
                        <a:cs typeface="Calibri" charset="0"/>
                      </a:endParaRPr>
                    </a:p>
                    <a:p>
                      <a:pPr indent="0" marL="0">
                        <a:buNone/>
                      </a:pPr>
                      <a:r>
                        <a:rPr lang="en-US" sz="1050" b="1" dirty="0">
                          <a:solidFill>
                            <a:srgbClr val="1F4380"/>
                          </a:solidFill>
                          <a:latin typeface="Calibri" pitchFamily="34" charset="0"/>
                          <a:ea typeface="Calibri" pitchFamily="34" charset="-122"/>
                          <a:cs typeface="Calibri" pitchFamily="34" charset="-120"/>
                        </a:rPr>
                        <a:t>Program Management</a:t>
                      </a:r>
                      <a:endParaRPr lang="en-US" sz="1050" dirty="0">
                        <a:latin typeface="Calibri" charset="0"/>
                        <a:ea typeface="Calibri" charset="0"/>
                        <a:cs typeface="Calibri" charset="0"/>
                      </a:endParaRPr>
                    </a:p>
                  </a:txBody>
                  <a:tcPr marL="109728" marR="109728" marT="64008" marB="64008"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6172200"/>
            <a:ext cx="11064240" cy="411480"/>
          </a:xfrm>
          <a:prstGeom prst="rect">
            <a:avLst/>
          </a:prstGeom>
          <a:noFill/>
          <a:ln/>
        </p:spPr>
        <p:txBody>
          <a:bodyPr wrap="square" lIns="0" tIns="0" rIns="0" bIns="0" rtlCol="0" anchor="ctr"/>
          <a:lstStyle/>
          <a:p>
            <a:pPr indent="0" marL="0">
              <a:lnSpc>
                <a:spcPts val="1700"/>
              </a:lnSpc>
              <a:buNone/>
            </a:pPr>
            <a:r>
              <a:rPr lang="en-US" sz="1200" i="1" dirty="0">
                <a:solidFill>
                  <a:srgbClr val="4A5568"/>
                </a:solidFill>
                <a:latin typeface="Calibri" pitchFamily="34" charset="0"/>
                <a:ea typeface="Calibri" pitchFamily="34" charset="-122"/>
                <a:cs typeface="Calibri" pitchFamily="34" charset="-120"/>
              </a:rPr>
              <a:t>A program that exports well makes the next program cheaper. A program that exports badly makes it more dangerous.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292608"/>
            <a:ext cx="11064240" cy="237744"/>
          </a:xfrm>
          <a:prstGeom prst="rect">
            <a:avLst/>
          </a:prstGeom>
          <a:noFill/>
          <a:ln/>
        </p:spPr>
        <p:txBody>
          <a:bodyPr wrap="square" lIns="0" tIns="0" rIns="0" bIns="0" rtlCol="0" anchor="ctr"/>
          <a:lstStyle/>
          <a:p>
            <a:pPr indent="0" marL="0">
              <a:buNone/>
            </a:pPr>
            <a:r>
              <a:rPr lang="en-US" sz="1050" b="1" spc="160" kern="0" dirty="0">
                <a:solidFill>
                  <a:srgbClr val="B4530C"/>
                </a:solidFill>
                <a:latin typeface="Calibri" pitchFamily="34" charset="0"/>
                <a:ea typeface="Calibri" pitchFamily="34" charset="-122"/>
                <a:cs typeface="Calibri" pitchFamily="34" charset="-120"/>
              </a:rPr>
              <a:t>BEYOND HARDWARE</a:t>
            </a:r>
            <a:endParaRPr lang="en-US" sz="1050" dirty="0"/>
          </a:p>
        </p:txBody>
      </p:sp>
      <p:sp>
        <p:nvSpPr>
          <p:cNvPr id="3" name="Text 1"/>
          <p:cNvSpPr/>
          <p:nvPr/>
        </p:nvSpPr>
        <p:spPr>
          <a:xfrm>
            <a:off x="548640" y="548640"/>
            <a:ext cx="11064240" cy="658368"/>
          </a:xfrm>
          <a:prstGeom prst="rect">
            <a:avLst/>
          </a:prstGeom>
          <a:noFill/>
          <a:ln/>
        </p:spPr>
        <p:txBody>
          <a:bodyPr wrap="square" lIns="0" tIns="0" rIns="0" bIns="0" rtlCol="0" anchor="t"/>
          <a:lstStyle/>
          <a:p>
            <a:pPr indent="0" marL="0">
              <a:buNone/>
            </a:pPr>
            <a:r>
              <a:rPr lang="en-US" sz="2900" b="1" dirty="0">
                <a:solidFill>
                  <a:srgbClr val="132A4E"/>
                </a:solidFill>
                <a:latin typeface="Cambria" pitchFamily="34" charset="0"/>
                <a:ea typeface="Cambria" pitchFamily="34" charset="-122"/>
                <a:cs typeface="Cambria" pitchFamily="34" charset="-120"/>
              </a:rPr>
              <a:t>Two categories a hardware comparison will never surface</a:t>
            </a:r>
            <a:endParaRPr lang="en-US" sz="2900" dirty="0"/>
          </a:p>
        </p:txBody>
      </p:sp>
      <p:sp>
        <p:nvSpPr>
          <p:cNvPr id="4" name="Text 2"/>
          <p:cNvSpPr/>
          <p:nvPr/>
        </p:nvSpPr>
        <p:spPr>
          <a:xfrm>
            <a:off x="548640" y="1261872"/>
            <a:ext cx="11064240" cy="457200"/>
          </a:xfrm>
          <a:prstGeom prst="rect">
            <a:avLst/>
          </a:prstGeom>
          <a:noFill/>
          <a:ln/>
        </p:spPr>
        <p:txBody>
          <a:bodyPr wrap="square" lIns="0" tIns="0" rIns="0" bIns="0" rtlCol="0" anchor="t"/>
          <a:lstStyle/>
          <a:p>
            <a:pPr indent="0" marL="0">
              <a:lnSpc>
                <a:spcPts val="2000"/>
              </a:lnSpc>
              <a:buNone/>
            </a:pPr>
            <a:r>
              <a:rPr lang="en-US" sz="1400" dirty="0">
                <a:solidFill>
                  <a:srgbClr val="1A2333"/>
                </a:solidFill>
                <a:latin typeface="Calibri" pitchFamily="34" charset="0"/>
                <a:ea typeface="Calibri" pitchFamily="34" charset="-122"/>
                <a:cs typeface="Calibri" pitchFamily="34" charset="-120"/>
              </a:rPr>
              <a:t>A similarity review compares parts. The assumptions most likely to be wrong are not about parts at all, which is why nothing in the current process catches them.</a:t>
            </a:r>
            <a:endParaRPr lang="en-US" sz="1400" dirty="0"/>
          </a:p>
        </p:txBody>
      </p:sp>
      <p:sp>
        <p:nvSpPr>
          <p:cNvPr id="5" name="Shape 3"/>
          <p:cNvSpPr/>
          <p:nvPr/>
        </p:nvSpPr>
        <p:spPr>
          <a:xfrm>
            <a:off x="548640" y="1883664"/>
            <a:ext cx="5394960" cy="3200400"/>
          </a:xfrm>
          <a:prstGeom prst="roundRect">
            <a:avLst>
              <a:gd name="adj" fmla="val 1429"/>
            </a:avLst>
          </a:prstGeom>
          <a:solidFill>
            <a:srgbClr val="FBEBDC"/>
          </a:solidFill>
          <a:ln w="12700">
            <a:solidFill>
              <a:srgbClr val="ECC8AE"/>
            </a:solidFill>
            <a:prstDash val="solid"/>
          </a:ln>
        </p:spPr>
      </p:sp>
      <p:sp>
        <p:nvSpPr>
          <p:cNvPr id="6" name="Text 4"/>
          <p:cNvSpPr/>
          <p:nvPr/>
        </p:nvSpPr>
        <p:spPr>
          <a:xfrm>
            <a:off x="822960" y="2029968"/>
            <a:ext cx="4846320" cy="310896"/>
          </a:xfrm>
          <a:prstGeom prst="rect">
            <a:avLst/>
          </a:prstGeom>
          <a:noFill/>
          <a:ln/>
        </p:spPr>
        <p:txBody>
          <a:bodyPr wrap="square" lIns="0" tIns="0" rIns="0" bIns="0" rtlCol="0" anchor="ctr"/>
          <a:lstStyle/>
          <a:p>
            <a:pPr indent="0" marL="0">
              <a:buNone/>
            </a:pPr>
            <a:r>
              <a:rPr lang="en-US" sz="1700" b="1" dirty="0">
                <a:solidFill>
                  <a:srgbClr val="B4530C"/>
                </a:solidFill>
                <a:latin typeface="Cambria" pitchFamily="34" charset="0"/>
                <a:ea typeface="Cambria" pitchFamily="34" charset="-122"/>
                <a:cs typeface="Cambria" pitchFamily="34" charset="-120"/>
              </a:rPr>
              <a:t>Assumptions about people</a:t>
            </a:r>
            <a:endParaRPr lang="en-US" sz="1700" dirty="0"/>
          </a:p>
        </p:txBody>
      </p:sp>
      <p:sp>
        <p:nvSpPr>
          <p:cNvPr id="7" name="Text 5"/>
          <p:cNvSpPr/>
          <p:nvPr/>
        </p:nvSpPr>
        <p:spPr>
          <a:xfrm>
            <a:off x="822960" y="2432304"/>
            <a:ext cx="4864608" cy="2560320"/>
          </a:xfrm>
          <a:prstGeom prst="rect">
            <a:avLst/>
          </a:prstGeom>
          <a:noFill/>
          <a:ln/>
        </p:spPr>
        <p:txBody>
          <a:bodyPr wrap="square" lIns="0" tIns="0" rIns="0" bIns="0" rtlCol="0" anchor="t"/>
          <a:lstStyle/>
          <a:p>
            <a:pPr indent="0" marL="0">
              <a:lnSpc>
                <a:spcPts val="1700"/>
              </a:lnSpc>
              <a:buNone/>
            </a:pPr>
            <a:r>
              <a:rPr lang="en-US" sz="1150" dirty="0">
                <a:solidFill>
                  <a:srgbClr val="1A2333"/>
                </a:solidFill>
                <a:latin typeface="Calibri" pitchFamily="34" charset="0"/>
                <a:ea typeface="Calibri" pitchFamily="34" charset="-122"/>
                <a:cs typeface="Calibri" pitchFamily="34" charset="-120"/>
              </a:rPr>
              <a:t>Crew training standard and recency. Workload in the phase of flight concerned. Maintainer skill level. The probability an inspector spots a defect. Time available to complete a procedure. Staffing and fatigue.</a:t>
            </a:r>
            <a:endParaRPr lang="en-US" sz="1150" dirty="0"/>
          </a:p>
          <a:p>
            <a:pPr indent="0" marL="0">
              <a:lnSpc>
                <a:spcPts val="1700"/>
              </a:lnSpc>
              <a:buNone/>
            </a:pPr>
            <a:endParaRPr lang="en-US" sz="1150" dirty="0"/>
          </a:p>
          <a:p>
            <a:pPr indent="0" marL="0">
              <a:lnSpc>
                <a:spcPts val="1700"/>
              </a:lnSpc>
              <a:buNone/>
            </a:pPr>
            <a:r>
              <a:rPr lang="en-US" sz="1150" dirty="0">
                <a:solidFill>
                  <a:srgbClr val="1A2333"/>
                </a:solidFill>
                <a:latin typeface="Calibri" pitchFamily="34" charset="0"/>
                <a:ea typeface="Calibri" pitchFamily="34" charset="-122"/>
                <a:cs typeface="Calibri" pitchFamily="34" charset="-120"/>
              </a:rPr>
              <a:t>These have no part number, so nothing in a parts comparison raises them. Their validity lives in procedures, training and staffing, not in drawings.</a:t>
            </a:r>
            <a:endParaRPr lang="en-US" sz="1150" dirty="0"/>
          </a:p>
          <a:p>
            <a:pPr indent="0" marL="0">
              <a:lnSpc>
                <a:spcPts val="1700"/>
              </a:lnSpc>
              <a:buNone/>
            </a:pPr>
            <a:endParaRPr lang="en-US" sz="1150" dirty="0"/>
          </a:p>
          <a:p>
            <a:pPr indent="0" marL="0">
              <a:lnSpc>
                <a:spcPts val="1700"/>
              </a:lnSpc>
              <a:buNone/>
            </a:pPr>
            <a:r>
              <a:rPr lang="en-US" sz="1150" dirty="0">
                <a:solidFill>
                  <a:srgbClr val="1A2333"/>
                </a:solidFill>
                <a:latin typeface="Calibri" pitchFamily="34" charset="0"/>
                <a:ea typeface="Calibri" pitchFamily="34" charset="-122"/>
                <a:cs typeface="Calibri" pitchFamily="34" charset="-120"/>
              </a:rPr>
              <a:t>The gap: a procedure or training revision generates no engineering change against hardware, so nothing today prompts anyone to ask whether an assumption just broke.</a:t>
            </a:r>
            <a:endParaRPr lang="en-US" sz="1150" dirty="0"/>
          </a:p>
        </p:txBody>
      </p:sp>
      <p:sp>
        <p:nvSpPr>
          <p:cNvPr id="8" name="Shape 6"/>
          <p:cNvSpPr/>
          <p:nvPr/>
        </p:nvSpPr>
        <p:spPr>
          <a:xfrm>
            <a:off x="6245352" y="1883664"/>
            <a:ext cx="5394960" cy="3200400"/>
          </a:xfrm>
          <a:prstGeom prst="roundRect">
            <a:avLst>
              <a:gd name="adj" fmla="val 1429"/>
            </a:avLst>
          </a:prstGeom>
          <a:solidFill>
            <a:srgbClr val="E9EEF7"/>
          </a:solidFill>
          <a:ln w="12700">
            <a:solidFill>
              <a:srgbClr val="D3DEEF"/>
            </a:solidFill>
            <a:prstDash val="solid"/>
          </a:ln>
        </p:spPr>
      </p:sp>
      <p:sp>
        <p:nvSpPr>
          <p:cNvPr id="9" name="Text 7"/>
          <p:cNvSpPr/>
          <p:nvPr/>
        </p:nvSpPr>
        <p:spPr>
          <a:xfrm>
            <a:off x="6519672" y="2029968"/>
            <a:ext cx="4846320" cy="310896"/>
          </a:xfrm>
          <a:prstGeom prst="rect">
            <a:avLst/>
          </a:prstGeom>
          <a:noFill/>
          <a:ln/>
        </p:spPr>
        <p:txBody>
          <a:bodyPr wrap="square" lIns="0" tIns="0" rIns="0" bIns="0" rtlCol="0" anchor="ctr"/>
          <a:lstStyle/>
          <a:p>
            <a:pPr indent="0" marL="0">
              <a:buNone/>
            </a:pPr>
            <a:r>
              <a:rPr lang="en-US" sz="1700" b="1" dirty="0">
                <a:solidFill>
                  <a:srgbClr val="132A4E"/>
                </a:solidFill>
                <a:latin typeface="Cambria" pitchFamily="34" charset="0"/>
                <a:ea typeface="Cambria" pitchFamily="34" charset="-122"/>
                <a:cs typeface="Cambria" pitchFamily="34" charset="-120"/>
              </a:rPr>
              <a:t>Assumptions about interfaces</a:t>
            </a:r>
            <a:endParaRPr lang="en-US" sz="1700" dirty="0"/>
          </a:p>
        </p:txBody>
      </p:sp>
      <p:sp>
        <p:nvSpPr>
          <p:cNvPr id="10" name="Text 8"/>
          <p:cNvSpPr/>
          <p:nvPr/>
        </p:nvSpPr>
        <p:spPr>
          <a:xfrm>
            <a:off x="6519672" y="2432304"/>
            <a:ext cx="4864608" cy="2560320"/>
          </a:xfrm>
          <a:prstGeom prst="rect">
            <a:avLst/>
          </a:prstGeom>
          <a:noFill/>
          <a:ln/>
        </p:spPr>
        <p:txBody>
          <a:bodyPr wrap="square" lIns="0" tIns="0" rIns="0" bIns="0" rtlCol="0" anchor="t"/>
          <a:lstStyle/>
          <a:p>
            <a:pPr indent="0" marL="0">
              <a:lnSpc>
                <a:spcPts val="1700"/>
              </a:lnSpc>
              <a:buNone/>
            </a:pPr>
            <a:r>
              <a:rPr lang="en-US" sz="1150" dirty="0">
                <a:solidFill>
                  <a:srgbClr val="1A2333"/>
                </a:solidFill>
                <a:latin typeface="Calibri" pitchFamily="34" charset="0"/>
                <a:ea typeface="Calibri" pitchFamily="34" charset="-122"/>
                <a:cs typeface="Calibri" pitchFamily="34" charset="-120"/>
              </a:rPr>
              <a:t>Reuse by similarity is a claim about the item. An interface assumption is a claim about the item's surroundings, which is exactly what did not come across.</a:t>
            </a:r>
            <a:endParaRPr lang="en-US" sz="1150" dirty="0"/>
          </a:p>
          <a:p>
            <a:pPr indent="0" marL="0">
              <a:lnSpc>
                <a:spcPts val="1700"/>
              </a:lnSpc>
              <a:buNone/>
            </a:pPr>
            <a:endParaRPr lang="en-US" sz="1150" dirty="0"/>
          </a:p>
          <a:p>
            <a:pPr indent="0" marL="0">
              <a:lnSpc>
                <a:spcPts val="1700"/>
              </a:lnSpc>
              <a:buNone/>
            </a:pPr>
            <a:r>
              <a:rPr lang="en-US" sz="1150" dirty="0">
                <a:solidFill>
                  <a:srgbClr val="1A2333"/>
                </a:solidFill>
                <a:latin typeface="Calibri" pitchFamily="34" charset="0"/>
                <a:ea typeface="Calibri" pitchFamily="34" charset="-122"/>
                <a:cs typeface="Calibri" pitchFamily="34" charset="-120"/>
              </a:rPr>
              <a:t>Technically, the obligation already exists: interface requirements must be identified, documented and change-controlled. Attaching assumptions to them adds a link, not a process.</a:t>
            </a:r>
            <a:endParaRPr lang="en-US" sz="1150" dirty="0"/>
          </a:p>
          <a:p>
            <a:pPr indent="0" marL="0">
              <a:lnSpc>
                <a:spcPts val="1700"/>
              </a:lnSpc>
              <a:buNone/>
            </a:pPr>
            <a:endParaRPr lang="en-US" sz="1150" dirty="0"/>
          </a:p>
          <a:p>
            <a:pPr indent="0" marL="0">
              <a:lnSpc>
                <a:spcPts val="1700"/>
              </a:lnSpc>
              <a:buNone/>
            </a:pPr>
            <a:r>
              <a:rPr lang="en-US" sz="1150" dirty="0">
                <a:solidFill>
                  <a:srgbClr val="1A2333"/>
                </a:solidFill>
                <a:latin typeface="Calibri" pitchFamily="34" charset="0"/>
                <a:ea typeface="Calibri" pitchFamily="34" charset="-122"/>
                <a:cs typeface="Calibri" pitchFamily="34" charset="-120"/>
              </a:rPr>
              <a:t>Organizationally, the classic failure is that the supplier assumed the integrator covered it and the integrator assumed the supplier had. The assumption falls into the gap between two safety management systems.</a:t>
            </a:r>
            <a:endParaRPr lang="en-US" sz="1150" dirty="0"/>
          </a:p>
        </p:txBody>
      </p:sp>
      <p:sp>
        <p:nvSpPr>
          <p:cNvPr id="11" name="Shape 9"/>
          <p:cNvSpPr/>
          <p:nvPr/>
        </p:nvSpPr>
        <p:spPr>
          <a:xfrm>
            <a:off x="548640" y="5230368"/>
            <a:ext cx="11091672" cy="1188720"/>
          </a:xfrm>
          <a:prstGeom prst="roundRect">
            <a:avLst>
              <a:gd name="adj" fmla="val 3846"/>
            </a:avLst>
          </a:prstGeom>
          <a:solidFill>
            <a:srgbClr val="132A4E"/>
          </a:solidFill>
          <a:ln w="12700">
            <a:solidFill>
              <a:srgbClr val="132A4E"/>
            </a:solidFill>
            <a:prstDash val="solid"/>
          </a:ln>
        </p:spPr>
      </p:sp>
      <p:sp>
        <p:nvSpPr>
          <p:cNvPr id="12" name="Text 10"/>
          <p:cNvSpPr/>
          <p:nvPr/>
        </p:nvSpPr>
        <p:spPr>
          <a:xfrm>
            <a:off x="841248" y="5367528"/>
            <a:ext cx="10515600" cy="274320"/>
          </a:xfrm>
          <a:prstGeom prst="rect">
            <a:avLst/>
          </a:prstGeom>
          <a:noFill/>
          <a:ln/>
        </p:spPr>
        <p:txBody>
          <a:bodyPr wrap="square" lIns="0" tIns="0" rIns="0" bIns="0" rtlCol="0" anchor="ctr"/>
          <a:lstStyle/>
          <a:p>
            <a:pPr indent="0" marL="0">
              <a:buNone/>
            </a:pPr>
            <a:r>
              <a:rPr lang="en-US" sz="1200" b="1" dirty="0">
                <a:solidFill>
                  <a:srgbClr val="F0B37E"/>
                </a:solidFill>
                <a:latin typeface="Calibri" pitchFamily="34" charset="0"/>
                <a:ea typeface="Calibri" pitchFamily="34" charset="-122"/>
                <a:cs typeface="Calibri" pitchFamily="34" charset="-120"/>
              </a:rPr>
              <a:t>Why this matters more than the hardware case</a:t>
            </a:r>
            <a:endParaRPr lang="en-US" sz="1200" dirty="0"/>
          </a:p>
        </p:txBody>
      </p:sp>
      <p:sp>
        <p:nvSpPr>
          <p:cNvPr id="13" name="Text 11"/>
          <p:cNvSpPr/>
          <p:nvPr/>
        </p:nvSpPr>
        <p:spPr>
          <a:xfrm>
            <a:off x="841248" y="5669280"/>
            <a:ext cx="10515600" cy="621792"/>
          </a:xfrm>
          <a:prstGeom prst="rect">
            <a:avLst/>
          </a:prstGeom>
          <a:noFill/>
          <a:ln/>
        </p:spPr>
        <p:txBody>
          <a:bodyPr wrap="square" lIns="0" tIns="0" rIns="0" bIns="0" rtlCol="0" anchor="t"/>
          <a:lstStyle/>
          <a:p>
            <a:pPr indent="0" marL="0">
              <a:lnSpc>
                <a:spcPts val="1900"/>
              </a:lnSpc>
              <a:buNone/>
            </a:pPr>
            <a:r>
              <a:rPr lang="en-US" sz="1300" dirty="0">
                <a:solidFill>
                  <a:srgbClr val="FFFFFF"/>
                </a:solidFill>
                <a:latin typeface="Calibri" pitchFamily="34" charset="0"/>
                <a:ea typeface="Calibri" pitchFamily="34" charset="-122"/>
                <a:cs typeface="Calibri" pitchFamily="34" charset="-120"/>
              </a:rPr>
              <a:t>In the worked example, three of the four broken conditions are interface or people conditions: the alerting logic, the maintenance program and the crew procedure. The hardware really was identical. That is the pattern, not the exception, and it is why a parts-based similarity argument is not sufficient evidence for carrying an assumption across.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292608"/>
            <a:ext cx="11064240" cy="237744"/>
          </a:xfrm>
          <a:prstGeom prst="rect">
            <a:avLst/>
          </a:prstGeom>
          <a:noFill/>
          <a:ln/>
        </p:spPr>
        <p:txBody>
          <a:bodyPr wrap="square" lIns="0" tIns="0" rIns="0" bIns="0" rtlCol="0" anchor="ctr"/>
          <a:lstStyle/>
          <a:p>
            <a:pPr indent="0" marL="0">
              <a:buNone/>
            </a:pPr>
            <a:r>
              <a:rPr lang="en-US" sz="1050" b="1" spc="160" kern="0" dirty="0">
                <a:solidFill>
                  <a:srgbClr val="B4530C"/>
                </a:solidFill>
                <a:latin typeface="Calibri" pitchFamily="34" charset="0"/>
                <a:ea typeface="Calibri" pitchFamily="34" charset="-122"/>
                <a:cs typeface="Calibri" pitchFamily="34" charset="-120"/>
              </a:rPr>
              <a:t>OWNERSHIP</a:t>
            </a:r>
            <a:endParaRPr lang="en-US" sz="1050" dirty="0"/>
          </a:p>
        </p:txBody>
      </p:sp>
      <p:sp>
        <p:nvSpPr>
          <p:cNvPr id="3" name="Text 1"/>
          <p:cNvSpPr/>
          <p:nvPr/>
        </p:nvSpPr>
        <p:spPr>
          <a:xfrm>
            <a:off x="548640" y="548640"/>
            <a:ext cx="11064240" cy="658368"/>
          </a:xfrm>
          <a:prstGeom prst="rect">
            <a:avLst/>
          </a:prstGeom>
          <a:noFill/>
          <a:ln/>
        </p:spPr>
        <p:txBody>
          <a:bodyPr wrap="square" lIns="0" tIns="0" rIns="0" bIns="0" rtlCol="0" anchor="t"/>
          <a:lstStyle/>
          <a:p>
            <a:pPr indent="0" marL="0">
              <a:buNone/>
            </a:pPr>
            <a:r>
              <a:rPr lang="en-US" sz="2900" b="1" dirty="0">
                <a:solidFill>
                  <a:srgbClr val="132A4E"/>
                </a:solidFill>
                <a:latin typeface="Cambria" pitchFamily="34" charset="0"/>
                <a:ea typeface="Cambria" pitchFamily="34" charset="-122"/>
                <a:cs typeface="Cambria" pitchFamily="34" charset="-120"/>
              </a:rPr>
              <a:t>Who owns what</a:t>
            </a:r>
            <a:endParaRPr lang="en-US" sz="2900" dirty="0"/>
          </a:p>
        </p:txBody>
      </p:sp>
      <p:sp>
        <p:nvSpPr>
          <p:cNvPr id="4" name="Text 2"/>
          <p:cNvSpPr/>
          <p:nvPr/>
        </p:nvSpPr>
        <p:spPr>
          <a:xfrm>
            <a:off x="548640" y="1261872"/>
            <a:ext cx="11064240" cy="457200"/>
          </a:xfrm>
          <a:prstGeom prst="rect">
            <a:avLst/>
          </a:prstGeom>
          <a:noFill/>
          <a:ln/>
        </p:spPr>
        <p:txBody>
          <a:bodyPr wrap="square" lIns="0" tIns="0" rIns="0" bIns="0" rtlCol="0" anchor="t"/>
          <a:lstStyle/>
          <a:p>
            <a:pPr indent="0" marL="0">
              <a:lnSpc>
                <a:spcPts val="2000"/>
              </a:lnSpc>
              <a:buNone/>
            </a:pPr>
            <a:r>
              <a:rPr lang="en-US" sz="1400" dirty="0">
                <a:solidFill>
                  <a:srgbClr val="1A2333"/>
                </a:solidFill>
                <a:latin typeface="Calibri" pitchFamily="34" charset="0"/>
                <a:ea typeface="Calibri" pitchFamily="34" charset="-122"/>
                <a:cs typeface="Calibri" pitchFamily="34" charset="-120"/>
              </a:rPr>
              <a:t>No single activity owns this end to end today, which is the underlying reason it falls through the cracks. The proposal spreads specific duties across six activities.</a:t>
            </a:r>
            <a:endParaRPr lang="en-US" sz="1400" dirty="0"/>
          </a:p>
        </p:txBody>
      </p:sp>
      <p:sp>
        <p:nvSpPr>
          <p:cNvPr id="5" name="Shape 3"/>
          <p:cNvSpPr/>
          <p:nvPr/>
        </p:nvSpPr>
        <p:spPr>
          <a:xfrm>
            <a:off x="548640" y="1920240"/>
            <a:ext cx="5394960" cy="1371600"/>
          </a:xfrm>
          <a:prstGeom prst="roundRect">
            <a:avLst>
              <a:gd name="adj" fmla="val 3333"/>
            </a:avLst>
          </a:prstGeom>
          <a:solidFill>
            <a:srgbClr val="E9EEF7"/>
          </a:solidFill>
          <a:ln w="12700">
            <a:solidFill>
              <a:srgbClr val="D3DEEF"/>
            </a:solidFill>
            <a:prstDash val="solid"/>
          </a:ln>
        </p:spPr>
      </p:sp>
      <p:sp>
        <p:nvSpPr>
          <p:cNvPr id="6" name="Text 4"/>
          <p:cNvSpPr/>
          <p:nvPr/>
        </p:nvSpPr>
        <p:spPr>
          <a:xfrm>
            <a:off x="786384" y="2066544"/>
            <a:ext cx="4937760" cy="329184"/>
          </a:xfrm>
          <a:prstGeom prst="rect">
            <a:avLst/>
          </a:prstGeom>
          <a:noFill/>
          <a:ln/>
        </p:spPr>
        <p:txBody>
          <a:bodyPr wrap="square" lIns="0" tIns="0" rIns="0" bIns="0" rtlCol="0" anchor="ctr"/>
          <a:lstStyle/>
          <a:p>
            <a:pPr indent="0" marL="0">
              <a:buNone/>
            </a:pPr>
            <a:r>
              <a:rPr lang="en-US" sz="1300" b="1" dirty="0">
                <a:solidFill>
                  <a:srgbClr val="132A4E"/>
                </a:solidFill>
                <a:latin typeface="Calibri" pitchFamily="34" charset="0"/>
                <a:ea typeface="Calibri" pitchFamily="34" charset="-122"/>
                <a:cs typeface="Calibri" pitchFamily="34" charset="-120"/>
              </a:rPr>
              <a:t>Program Management</a:t>
            </a:r>
            <a:endParaRPr lang="en-US" sz="1300" dirty="0"/>
          </a:p>
        </p:txBody>
      </p:sp>
      <p:sp>
        <p:nvSpPr>
          <p:cNvPr id="7" name="Text 5"/>
          <p:cNvSpPr/>
          <p:nvPr/>
        </p:nvSpPr>
        <p:spPr>
          <a:xfrm>
            <a:off x="786384" y="2432304"/>
            <a:ext cx="4956048" cy="731520"/>
          </a:xfrm>
          <a:prstGeom prst="rect">
            <a:avLst/>
          </a:prstGeom>
          <a:noFill/>
          <a:ln/>
        </p:spPr>
        <p:txBody>
          <a:bodyPr wrap="square" lIns="0" tIns="0" rIns="0" bIns="0" rtlCol="0" anchor="t"/>
          <a:lstStyle/>
          <a:p>
            <a:pPr indent="0" marL="0">
              <a:lnSpc>
                <a:spcPts val="1700"/>
              </a:lnSpc>
              <a:buNone/>
            </a:pPr>
            <a:r>
              <a:rPr lang="en-US" sz="1200" dirty="0">
                <a:solidFill>
                  <a:srgbClr val="1A2333"/>
                </a:solidFill>
                <a:latin typeface="Calibri" pitchFamily="34" charset="0"/>
                <a:ea typeface="Calibri" pitchFamily="34" charset="-122"/>
                <a:cs typeface="Calibri" pitchFamily="34" charset="-120"/>
              </a:rPr>
              <a:t>Funds and schedules the work. Owns the design review criteria and the reported position. Owns what gets exported to the next program.</a:t>
            </a:r>
            <a:endParaRPr lang="en-US" sz="1200" dirty="0"/>
          </a:p>
        </p:txBody>
      </p:sp>
      <p:sp>
        <p:nvSpPr>
          <p:cNvPr id="8" name="Shape 6"/>
          <p:cNvSpPr/>
          <p:nvPr/>
        </p:nvSpPr>
        <p:spPr>
          <a:xfrm>
            <a:off x="6245352" y="1920240"/>
            <a:ext cx="5394960" cy="1371600"/>
          </a:xfrm>
          <a:prstGeom prst="roundRect">
            <a:avLst>
              <a:gd name="adj" fmla="val 3333"/>
            </a:avLst>
          </a:prstGeom>
          <a:solidFill>
            <a:srgbClr val="FFFFFF"/>
          </a:solidFill>
          <a:ln w="12700">
            <a:solidFill>
              <a:srgbClr val="D3DEEF"/>
            </a:solidFill>
            <a:prstDash val="solid"/>
          </a:ln>
        </p:spPr>
      </p:sp>
      <p:sp>
        <p:nvSpPr>
          <p:cNvPr id="9" name="Text 7"/>
          <p:cNvSpPr/>
          <p:nvPr/>
        </p:nvSpPr>
        <p:spPr>
          <a:xfrm>
            <a:off x="6483096" y="2066544"/>
            <a:ext cx="4937760" cy="329184"/>
          </a:xfrm>
          <a:prstGeom prst="rect">
            <a:avLst/>
          </a:prstGeom>
          <a:noFill/>
          <a:ln/>
        </p:spPr>
        <p:txBody>
          <a:bodyPr wrap="square" lIns="0" tIns="0" rIns="0" bIns="0" rtlCol="0" anchor="ctr"/>
          <a:lstStyle/>
          <a:p>
            <a:pPr indent="0" marL="0">
              <a:buNone/>
            </a:pPr>
            <a:r>
              <a:rPr lang="en-US" sz="1300" b="1" dirty="0">
                <a:solidFill>
                  <a:srgbClr val="132A4E"/>
                </a:solidFill>
                <a:latin typeface="Calibri" pitchFamily="34" charset="0"/>
                <a:ea typeface="Calibri" pitchFamily="34" charset="-122"/>
                <a:cs typeface="Calibri" pitchFamily="34" charset="-120"/>
              </a:rPr>
              <a:t>Systems Engineering</a:t>
            </a:r>
            <a:endParaRPr lang="en-US" sz="1300" dirty="0"/>
          </a:p>
        </p:txBody>
      </p:sp>
      <p:sp>
        <p:nvSpPr>
          <p:cNvPr id="10" name="Text 8"/>
          <p:cNvSpPr/>
          <p:nvPr/>
        </p:nvSpPr>
        <p:spPr>
          <a:xfrm>
            <a:off x="6483096" y="2432304"/>
            <a:ext cx="4956048" cy="731520"/>
          </a:xfrm>
          <a:prstGeom prst="rect">
            <a:avLst/>
          </a:prstGeom>
          <a:noFill/>
          <a:ln/>
        </p:spPr>
        <p:txBody>
          <a:bodyPr wrap="square" lIns="0" tIns="0" rIns="0" bIns="0" rtlCol="0" anchor="t"/>
          <a:lstStyle/>
          <a:p>
            <a:pPr indent="0" marL="0">
              <a:lnSpc>
                <a:spcPts val="1700"/>
              </a:lnSpc>
              <a:buNone/>
            </a:pPr>
            <a:r>
              <a:rPr lang="en-US" sz="1200" dirty="0">
                <a:solidFill>
                  <a:srgbClr val="1A2333"/>
                </a:solidFill>
                <a:latin typeface="Calibri" pitchFamily="34" charset="0"/>
                <a:ea typeface="Calibri" pitchFamily="34" charset="-122"/>
                <a:cs typeface="Calibri" pitchFamily="34" charset="-120"/>
              </a:rPr>
              <a:t>Writes the conditions, attaches them to documents, and performs the source-to-receiving comparison.</a:t>
            </a:r>
            <a:endParaRPr lang="en-US" sz="1200" dirty="0"/>
          </a:p>
        </p:txBody>
      </p:sp>
      <p:sp>
        <p:nvSpPr>
          <p:cNvPr id="11" name="Shape 9"/>
          <p:cNvSpPr/>
          <p:nvPr/>
        </p:nvSpPr>
        <p:spPr>
          <a:xfrm>
            <a:off x="548640" y="3474720"/>
            <a:ext cx="5394960" cy="1371600"/>
          </a:xfrm>
          <a:prstGeom prst="roundRect">
            <a:avLst>
              <a:gd name="adj" fmla="val 3333"/>
            </a:avLst>
          </a:prstGeom>
          <a:solidFill>
            <a:srgbClr val="E9EEF7"/>
          </a:solidFill>
          <a:ln w="12700">
            <a:solidFill>
              <a:srgbClr val="D3DEEF"/>
            </a:solidFill>
            <a:prstDash val="solid"/>
          </a:ln>
        </p:spPr>
      </p:sp>
      <p:sp>
        <p:nvSpPr>
          <p:cNvPr id="12" name="Text 10"/>
          <p:cNvSpPr/>
          <p:nvPr/>
        </p:nvSpPr>
        <p:spPr>
          <a:xfrm>
            <a:off x="786384" y="3621024"/>
            <a:ext cx="4937760" cy="329184"/>
          </a:xfrm>
          <a:prstGeom prst="rect">
            <a:avLst/>
          </a:prstGeom>
          <a:noFill/>
          <a:ln/>
        </p:spPr>
        <p:txBody>
          <a:bodyPr wrap="square" lIns="0" tIns="0" rIns="0" bIns="0" rtlCol="0" anchor="ctr"/>
          <a:lstStyle/>
          <a:p>
            <a:pPr indent="0" marL="0">
              <a:buNone/>
            </a:pPr>
            <a:r>
              <a:rPr lang="en-US" sz="1300" b="1" dirty="0">
                <a:solidFill>
                  <a:srgbClr val="132A4E"/>
                </a:solidFill>
                <a:latin typeface="Calibri" pitchFamily="34" charset="0"/>
                <a:ea typeface="Calibri" pitchFamily="34" charset="-122"/>
                <a:cs typeface="Calibri" pitchFamily="34" charset="-120"/>
              </a:rPr>
              <a:t>Configuration Management</a:t>
            </a:r>
            <a:endParaRPr lang="en-US" sz="1300" dirty="0"/>
          </a:p>
        </p:txBody>
      </p:sp>
      <p:sp>
        <p:nvSpPr>
          <p:cNvPr id="13" name="Text 11"/>
          <p:cNvSpPr/>
          <p:nvPr/>
        </p:nvSpPr>
        <p:spPr>
          <a:xfrm>
            <a:off x="786384" y="3986784"/>
            <a:ext cx="4956048" cy="731520"/>
          </a:xfrm>
          <a:prstGeom prst="rect">
            <a:avLst/>
          </a:prstGeom>
          <a:noFill/>
          <a:ln/>
        </p:spPr>
        <p:txBody>
          <a:bodyPr wrap="square" lIns="0" tIns="0" rIns="0" bIns="0" rtlCol="0" anchor="t"/>
          <a:lstStyle/>
          <a:p>
            <a:pPr indent="0" marL="0">
              <a:lnSpc>
                <a:spcPts val="1700"/>
              </a:lnSpc>
              <a:buNone/>
            </a:pPr>
            <a:r>
              <a:rPr lang="en-US" sz="1200" dirty="0">
                <a:solidFill>
                  <a:srgbClr val="1A2333"/>
                </a:solidFill>
                <a:latin typeface="Calibri" pitchFamily="34" charset="0"/>
                <a:ea typeface="Calibri" pitchFamily="34" charset="-122"/>
                <a:cs typeface="Calibri" pitchFamily="34" charset="-120"/>
              </a:rPr>
              <a:t>Makes the register a controlled data type, maintains the link to items, adds the field to the change form, and provides the query that finds affected assumptions.</a:t>
            </a:r>
            <a:endParaRPr lang="en-US" sz="1200" dirty="0"/>
          </a:p>
        </p:txBody>
      </p:sp>
      <p:sp>
        <p:nvSpPr>
          <p:cNvPr id="14" name="Shape 12"/>
          <p:cNvSpPr/>
          <p:nvPr/>
        </p:nvSpPr>
        <p:spPr>
          <a:xfrm>
            <a:off x="6245352" y="3474720"/>
            <a:ext cx="5394960" cy="1371600"/>
          </a:xfrm>
          <a:prstGeom prst="roundRect">
            <a:avLst>
              <a:gd name="adj" fmla="val 3333"/>
            </a:avLst>
          </a:prstGeom>
          <a:solidFill>
            <a:srgbClr val="FFFFFF"/>
          </a:solidFill>
          <a:ln w="12700">
            <a:solidFill>
              <a:srgbClr val="D3DEEF"/>
            </a:solidFill>
            <a:prstDash val="solid"/>
          </a:ln>
        </p:spPr>
      </p:sp>
      <p:sp>
        <p:nvSpPr>
          <p:cNvPr id="15" name="Text 13"/>
          <p:cNvSpPr/>
          <p:nvPr/>
        </p:nvSpPr>
        <p:spPr>
          <a:xfrm>
            <a:off x="6483096" y="3621024"/>
            <a:ext cx="4937760" cy="329184"/>
          </a:xfrm>
          <a:prstGeom prst="rect">
            <a:avLst/>
          </a:prstGeom>
          <a:noFill/>
          <a:ln/>
        </p:spPr>
        <p:txBody>
          <a:bodyPr wrap="square" lIns="0" tIns="0" rIns="0" bIns="0" rtlCol="0" anchor="ctr"/>
          <a:lstStyle/>
          <a:p>
            <a:pPr indent="0" marL="0">
              <a:buNone/>
            </a:pPr>
            <a:r>
              <a:rPr lang="en-US" sz="1300" b="1" dirty="0">
                <a:solidFill>
                  <a:srgbClr val="132A4E"/>
                </a:solidFill>
                <a:latin typeface="Calibri" pitchFamily="34" charset="0"/>
                <a:ea typeface="Calibri" pitchFamily="34" charset="-122"/>
                <a:cs typeface="Calibri" pitchFamily="34" charset="-120"/>
              </a:rPr>
              <a:t>Safety Risk Management</a:t>
            </a:r>
            <a:endParaRPr lang="en-US" sz="1300" dirty="0"/>
          </a:p>
        </p:txBody>
      </p:sp>
      <p:sp>
        <p:nvSpPr>
          <p:cNvPr id="16" name="Text 14"/>
          <p:cNvSpPr/>
          <p:nvPr/>
        </p:nvSpPr>
        <p:spPr>
          <a:xfrm>
            <a:off x="6483096" y="3986784"/>
            <a:ext cx="4956048" cy="731520"/>
          </a:xfrm>
          <a:prstGeom prst="rect">
            <a:avLst/>
          </a:prstGeom>
          <a:noFill/>
          <a:ln/>
        </p:spPr>
        <p:txBody>
          <a:bodyPr wrap="square" lIns="0" tIns="0" rIns="0" bIns="0" rtlCol="0" anchor="t"/>
          <a:lstStyle/>
          <a:p>
            <a:pPr indent="0" marL="0">
              <a:lnSpc>
                <a:spcPts val="1700"/>
              </a:lnSpc>
              <a:buNone/>
            </a:pPr>
            <a:r>
              <a:rPr lang="en-US" sz="1200" dirty="0">
                <a:solidFill>
                  <a:srgbClr val="1A2333"/>
                </a:solidFill>
                <a:latin typeface="Calibri" pitchFamily="34" charset="0"/>
                <a:ea typeface="Calibri" pitchFamily="34" charset="-122"/>
                <a:cs typeface="Calibri" pitchFamily="34" charset="-120"/>
              </a:rPr>
              <a:t>Decides which assumptions carry risk credit, reopens those that cannot be verified, and routes in-service findings to assumption owners.</a:t>
            </a:r>
            <a:endParaRPr lang="en-US" sz="1200" dirty="0"/>
          </a:p>
        </p:txBody>
      </p:sp>
      <p:sp>
        <p:nvSpPr>
          <p:cNvPr id="17" name="Shape 15"/>
          <p:cNvSpPr/>
          <p:nvPr/>
        </p:nvSpPr>
        <p:spPr>
          <a:xfrm>
            <a:off x="548640" y="5029200"/>
            <a:ext cx="5394960" cy="1371600"/>
          </a:xfrm>
          <a:prstGeom prst="roundRect">
            <a:avLst>
              <a:gd name="adj" fmla="val 3333"/>
            </a:avLst>
          </a:prstGeom>
          <a:solidFill>
            <a:srgbClr val="E9EEF7"/>
          </a:solidFill>
          <a:ln w="12700">
            <a:solidFill>
              <a:srgbClr val="D3DEEF"/>
            </a:solidFill>
            <a:prstDash val="solid"/>
          </a:ln>
        </p:spPr>
      </p:sp>
      <p:sp>
        <p:nvSpPr>
          <p:cNvPr id="18" name="Text 16"/>
          <p:cNvSpPr/>
          <p:nvPr/>
        </p:nvSpPr>
        <p:spPr>
          <a:xfrm>
            <a:off x="786384" y="5175504"/>
            <a:ext cx="4937760" cy="329184"/>
          </a:xfrm>
          <a:prstGeom prst="rect">
            <a:avLst/>
          </a:prstGeom>
          <a:noFill/>
          <a:ln/>
        </p:spPr>
        <p:txBody>
          <a:bodyPr wrap="square" lIns="0" tIns="0" rIns="0" bIns="0" rtlCol="0" anchor="ctr"/>
          <a:lstStyle/>
          <a:p>
            <a:pPr indent="0" marL="0">
              <a:buNone/>
            </a:pPr>
            <a:r>
              <a:rPr lang="en-US" sz="1300" b="1" dirty="0">
                <a:solidFill>
                  <a:srgbClr val="132A4E"/>
                </a:solidFill>
                <a:latin typeface="Calibri" pitchFamily="34" charset="0"/>
                <a:ea typeface="Calibri" pitchFamily="34" charset="-122"/>
                <a:cs typeface="Calibri" pitchFamily="34" charset="-120"/>
              </a:rPr>
              <a:t>SMS Safety Assurance</a:t>
            </a:r>
            <a:endParaRPr lang="en-US" sz="1300" dirty="0"/>
          </a:p>
        </p:txBody>
      </p:sp>
      <p:sp>
        <p:nvSpPr>
          <p:cNvPr id="19" name="Text 17"/>
          <p:cNvSpPr/>
          <p:nvPr/>
        </p:nvSpPr>
        <p:spPr>
          <a:xfrm>
            <a:off x="786384" y="5541264"/>
            <a:ext cx="4956048" cy="731520"/>
          </a:xfrm>
          <a:prstGeom prst="rect">
            <a:avLst/>
          </a:prstGeom>
          <a:noFill/>
          <a:ln/>
        </p:spPr>
        <p:txBody>
          <a:bodyPr wrap="square" lIns="0" tIns="0" rIns="0" bIns="0" rtlCol="0" anchor="t"/>
          <a:lstStyle/>
          <a:p>
            <a:pPr indent="0" marL="0">
              <a:lnSpc>
                <a:spcPts val="1700"/>
              </a:lnSpc>
              <a:buNone/>
            </a:pPr>
            <a:r>
              <a:rPr lang="en-US" sz="1200" dirty="0">
                <a:solidFill>
                  <a:srgbClr val="1A2333"/>
                </a:solidFill>
                <a:latin typeface="Calibri" pitchFamily="34" charset="0"/>
                <a:ea typeface="Calibri" pitchFamily="34" charset="-122"/>
                <a:cs typeface="Calibri" pitchFamily="34" charset="-120"/>
              </a:rPr>
              <a:t>Owns scope through the system description, the named-acceptor rule, and monitoring whether re-checks actually happen.</a:t>
            </a:r>
            <a:endParaRPr lang="en-US" sz="1200" dirty="0"/>
          </a:p>
        </p:txBody>
      </p:sp>
      <p:sp>
        <p:nvSpPr>
          <p:cNvPr id="20" name="Shape 18"/>
          <p:cNvSpPr/>
          <p:nvPr/>
        </p:nvSpPr>
        <p:spPr>
          <a:xfrm>
            <a:off x="6245352" y="5029200"/>
            <a:ext cx="5394960" cy="1371600"/>
          </a:xfrm>
          <a:prstGeom prst="roundRect">
            <a:avLst>
              <a:gd name="adj" fmla="val 3333"/>
            </a:avLst>
          </a:prstGeom>
          <a:solidFill>
            <a:srgbClr val="FFFFFF"/>
          </a:solidFill>
          <a:ln w="12700">
            <a:solidFill>
              <a:srgbClr val="D3DEEF"/>
            </a:solidFill>
            <a:prstDash val="solid"/>
          </a:ln>
        </p:spPr>
      </p:sp>
      <p:sp>
        <p:nvSpPr>
          <p:cNvPr id="21" name="Text 19"/>
          <p:cNvSpPr/>
          <p:nvPr/>
        </p:nvSpPr>
        <p:spPr>
          <a:xfrm>
            <a:off x="6483096" y="5175504"/>
            <a:ext cx="4937760" cy="329184"/>
          </a:xfrm>
          <a:prstGeom prst="rect">
            <a:avLst/>
          </a:prstGeom>
          <a:noFill/>
          <a:ln/>
        </p:spPr>
        <p:txBody>
          <a:bodyPr wrap="square" lIns="0" tIns="0" rIns="0" bIns="0" rtlCol="0" anchor="ctr"/>
          <a:lstStyle/>
          <a:p>
            <a:pPr indent="0" marL="0">
              <a:buNone/>
            </a:pPr>
            <a:r>
              <a:rPr lang="en-US" sz="1300" b="1" dirty="0">
                <a:solidFill>
                  <a:srgbClr val="132A4E"/>
                </a:solidFill>
                <a:latin typeface="Calibri" pitchFamily="34" charset="0"/>
                <a:ea typeface="Calibri" pitchFamily="34" charset="-122"/>
                <a:cs typeface="Calibri" pitchFamily="34" charset="-120"/>
              </a:rPr>
              <a:t>Human Factors</a:t>
            </a:r>
            <a:endParaRPr lang="en-US" sz="1300" dirty="0"/>
          </a:p>
        </p:txBody>
      </p:sp>
      <p:sp>
        <p:nvSpPr>
          <p:cNvPr id="22" name="Text 20"/>
          <p:cNvSpPr/>
          <p:nvPr/>
        </p:nvSpPr>
        <p:spPr>
          <a:xfrm>
            <a:off x="6483096" y="5541264"/>
            <a:ext cx="4956048" cy="731520"/>
          </a:xfrm>
          <a:prstGeom prst="rect">
            <a:avLst/>
          </a:prstGeom>
          <a:noFill/>
          <a:ln/>
        </p:spPr>
        <p:txBody>
          <a:bodyPr wrap="square" lIns="0" tIns="0" rIns="0" bIns="0" rtlCol="0" anchor="t"/>
          <a:lstStyle/>
          <a:p>
            <a:pPr indent="0" marL="0">
              <a:lnSpc>
                <a:spcPts val="1700"/>
              </a:lnSpc>
              <a:buNone/>
            </a:pPr>
            <a:r>
              <a:rPr lang="en-US" sz="1200" dirty="0">
                <a:solidFill>
                  <a:srgbClr val="1A2333"/>
                </a:solidFill>
                <a:latin typeface="Calibri" pitchFamily="34" charset="0"/>
                <a:ea typeface="Calibri" pitchFamily="34" charset="-122"/>
                <a:cs typeface="Calibri" pitchFamily="34" charset="-120"/>
              </a:rPr>
              <a:t>Owns the assumptions that have no part number, attaches them to procedure and training documents, and validates claims about people by test.</a:t>
            </a:r>
            <a:endParaRPr lang="en-US" sz="1200" dirty="0"/>
          </a:p>
        </p:txBody>
      </p:sp>
      <p:sp>
        <p:nvSpPr>
          <p:cNvPr id="23" name="Shape 21"/>
          <p:cNvSpPr/>
          <p:nvPr/>
        </p:nvSpPr>
        <p:spPr>
          <a:xfrm>
            <a:off x="548640" y="5742432"/>
            <a:ext cx="11091672" cy="749808"/>
          </a:xfrm>
          <a:prstGeom prst="roundRect">
            <a:avLst>
              <a:gd name="adj" fmla="val 6098"/>
            </a:avLst>
          </a:prstGeom>
          <a:solidFill>
            <a:srgbClr val="FBEBDC"/>
          </a:solidFill>
          <a:ln w="12700">
            <a:solidFill>
              <a:srgbClr val="ECC8AE"/>
            </a:solidFill>
            <a:prstDash val="solid"/>
          </a:ln>
        </p:spPr>
      </p:sp>
      <p:sp>
        <p:nvSpPr>
          <p:cNvPr id="24" name="Text 22"/>
          <p:cNvSpPr/>
          <p:nvPr/>
        </p:nvSpPr>
        <p:spPr>
          <a:xfrm>
            <a:off x="822960" y="5742432"/>
            <a:ext cx="10515600" cy="749808"/>
          </a:xfrm>
          <a:prstGeom prst="rect">
            <a:avLst/>
          </a:prstGeom>
          <a:noFill/>
          <a:ln/>
        </p:spPr>
        <p:txBody>
          <a:bodyPr wrap="square" lIns="0" tIns="0" rIns="0" bIns="0" rtlCol="0" anchor="ctr"/>
          <a:lstStyle/>
          <a:p>
            <a:pPr indent="0" marL="0">
              <a:buNone/>
            </a:pPr>
            <a:r>
              <a:rPr lang="en-US" sz="1300" b="1" dirty="0">
                <a:solidFill>
                  <a:srgbClr val="B4530C"/>
                </a:solidFill>
                <a:latin typeface="Calibri" pitchFamily="34" charset="0"/>
                <a:ea typeface="Calibri" pitchFamily="34" charset="-122"/>
                <a:cs typeface="Calibri" pitchFamily="34" charset="-120"/>
              </a:rPr>
              <a:t>Single accountable position: the Safety Accountable Executive, because that is the only role with authority over both the cost pressure and the risk it creates.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32A4E"/>
        </a:solidFill>
      </p:bgPr>
    </p:bg>
    <p:spTree>
      <p:nvGrpSpPr>
        <p:cNvPr id="1" name=""/>
        <p:cNvGrpSpPr/>
        <p:nvPr/>
      </p:nvGrpSpPr>
      <p:grpSpPr>
        <a:xfrm>
          <a:off x="0" y="0"/>
          <a:ext cx="0" cy="0"/>
          <a:chOff x="0" y="0"/>
          <a:chExt cx="0" cy="0"/>
        </a:xfrm>
      </p:grpSpPr>
      <p:sp>
        <p:nvSpPr>
          <p:cNvPr id="2" name="Text 0"/>
          <p:cNvSpPr/>
          <p:nvPr/>
        </p:nvSpPr>
        <p:spPr>
          <a:xfrm>
            <a:off x="548640" y="457200"/>
            <a:ext cx="10515600" cy="274320"/>
          </a:xfrm>
          <a:prstGeom prst="rect">
            <a:avLst/>
          </a:prstGeom>
          <a:noFill/>
          <a:ln/>
        </p:spPr>
        <p:txBody>
          <a:bodyPr wrap="square" lIns="0" tIns="0" rIns="0" bIns="0" rtlCol="0" anchor="ctr"/>
          <a:lstStyle/>
          <a:p>
            <a:pPr indent="0" marL="0">
              <a:buNone/>
            </a:pPr>
            <a:r>
              <a:rPr lang="en-US" sz="1100" b="1" spc="180" kern="0" dirty="0">
                <a:solidFill>
                  <a:srgbClr val="F0B37E"/>
                </a:solidFill>
                <a:latin typeface="Calibri" pitchFamily="34" charset="0"/>
                <a:ea typeface="Calibri" pitchFamily="34" charset="-122"/>
                <a:cs typeface="Calibri" pitchFamily="34" charset="-120"/>
              </a:rPr>
              <a:t>WHAT I AM ASKING FOR</a:t>
            </a:r>
            <a:endParaRPr lang="en-US" sz="1100" dirty="0"/>
          </a:p>
        </p:txBody>
      </p:sp>
      <p:sp>
        <p:nvSpPr>
          <p:cNvPr id="3" name="Text 1"/>
          <p:cNvSpPr/>
          <p:nvPr/>
        </p:nvSpPr>
        <p:spPr>
          <a:xfrm>
            <a:off x="548640" y="768096"/>
            <a:ext cx="10515600" cy="603504"/>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Five decisions</a:t>
            </a:r>
            <a:endParaRPr lang="en-US" sz="3000" dirty="0"/>
          </a:p>
        </p:txBody>
      </p:sp>
      <p:sp>
        <p:nvSpPr>
          <p:cNvPr id="4" name="Shape 2"/>
          <p:cNvSpPr/>
          <p:nvPr/>
        </p:nvSpPr>
        <p:spPr>
          <a:xfrm>
            <a:off x="548640" y="1755648"/>
            <a:ext cx="402336" cy="402336"/>
          </a:xfrm>
          <a:prstGeom prst="roundRect">
            <a:avLst>
              <a:gd name="adj" fmla="val 15909"/>
            </a:avLst>
          </a:prstGeom>
          <a:solidFill>
            <a:srgbClr val="B4530C"/>
          </a:solidFill>
          <a:ln w="12700">
            <a:solidFill>
              <a:srgbClr val="B4530C"/>
            </a:solidFill>
            <a:prstDash val="solid"/>
          </a:ln>
        </p:spPr>
      </p:sp>
      <p:sp>
        <p:nvSpPr>
          <p:cNvPr id="5" name="Text 3"/>
          <p:cNvSpPr/>
          <p:nvPr/>
        </p:nvSpPr>
        <p:spPr>
          <a:xfrm>
            <a:off x="548640" y="1755648"/>
            <a:ext cx="402336" cy="40233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1</a:t>
            </a:r>
            <a:endParaRPr lang="en-US" sz="1350" dirty="0"/>
          </a:p>
        </p:txBody>
      </p:sp>
      <p:sp>
        <p:nvSpPr>
          <p:cNvPr id="6" name="Text 4"/>
          <p:cNvSpPr/>
          <p:nvPr/>
        </p:nvSpPr>
        <p:spPr>
          <a:xfrm>
            <a:off x="1133856" y="1609344"/>
            <a:ext cx="4526280" cy="768096"/>
          </a:xfrm>
          <a:prstGeom prst="rect">
            <a:avLst/>
          </a:prstGeom>
          <a:noFill/>
          <a:ln/>
        </p:spPr>
        <p:txBody>
          <a:bodyPr wrap="square" lIns="0" tIns="0" rIns="0" bIns="0" rtlCol="0" anchor="ctr"/>
          <a:lstStyle/>
          <a:p>
            <a:pPr indent="0" marL="0">
              <a:lnSpc>
                <a:spcPts val="1700"/>
              </a:lnSpc>
              <a:buNone/>
            </a:pPr>
            <a:r>
              <a:rPr lang="en-US" sz="1250" b="1" dirty="0">
                <a:solidFill>
                  <a:srgbClr val="FFFFFF"/>
                </a:solidFill>
                <a:latin typeface="Calibri" pitchFamily="34" charset="0"/>
                <a:ea typeface="Calibri" pitchFamily="34" charset="-122"/>
                <a:cs typeface="Calibri" pitchFamily="34" charset="-120"/>
              </a:rPr>
              <a:t>Name the assumption register in the configuration management plan</a:t>
            </a:r>
            <a:endParaRPr lang="en-US" sz="1250" dirty="0"/>
          </a:p>
        </p:txBody>
      </p:sp>
      <p:sp>
        <p:nvSpPr>
          <p:cNvPr id="7" name="Text 5"/>
          <p:cNvSpPr/>
          <p:nvPr/>
        </p:nvSpPr>
        <p:spPr>
          <a:xfrm>
            <a:off x="5852160" y="1609344"/>
            <a:ext cx="5760720" cy="768096"/>
          </a:xfrm>
          <a:prstGeom prst="rect">
            <a:avLst/>
          </a:prstGeom>
          <a:noFill/>
          <a:ln/>
        </p:spPr>
        <p:txBody>
          <a:bodyPr wrap="square" lIns="0" tIns="0" rIns="0" bIns="0" rtlCol="0" anchor="ctr"/>
          <a:lstStyle/>
          <a:p>
            <a:pPr indent="0" marL="0">
              <a:lnSpc>
                <a:spcPts val="1500"/>
              </a:lnSpc>
              <a:buNone/>
            </a:pPr>
            <a:r>
              <a:rPr lang="en-US" sz="1100" dirty="0">
                <a:solidFill>
                  <a:srgbClr val="C9D6EC"/>
                </a:solidFill>
                <a:latin typeface="Calibri" pitchFamily="34" charset="0"/>
                <a:ea typeface="Calibri" pitchFamily="34" charset="-122"/>
                <a:cs typeface="Calibri" pitchFamily="34" charset="-120"/>
              </a:rPr>
              <a:t>Give it an identifier convention, a control class and a place in the release system. Configuration Management owns the mechanism. Nothing else works until this exists.</a:t>
            </a:r>
            <a:endParaRPr lang="en-US" sz="1100" dirty="0"/>
          </a:p>
        </p:txBody>
      </p:sp>
      <p:sp>
        <p:nvSpPr>
          <p:cNvPr id="8" name="Shape 6"/>
          <p:cNvSpPr/>
          <p:nvPr/>
        </p:nvSpPr>
        <p:spPr>
          <a:xfrm>
            <a:off x="548640" y="2615184"/>
            <a:ext cx="402336" cy="402336"/>
          </a:xfrm>
          <a:prstGeom prst="roundRect">
            <a:avLst>
              <a:gd name="adj" fmla="val 15909"/>
            </a:avLst>
          </a:prstGeom>
          <a:solidFill>
            <a:srgbClr val="B4530C"/>
          </a:solidFill>
          <a:ln w="12700">
            <a:solidFill>
              <a:srgbClr val="B4530C"/>
            </a:solidFill>
            <a:prstDash val="solid"/>
          </a:ln>
        </p:spPr>
      </p:sp>
      <p:sp>
        <p:nvSpPr>
          <p:cNvPr id="9" name="Text 7"/>
          <p:cNvSpPr/>
          <p:nvPr/>
        </p:nvSpPr>
        <p:spPr>
          <a:xfrm>
            <a:off x="548640" y="2615184"/>
            <a:ext cx="402336" cy="40233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2</a:t>
            </a:r>
            <a:endParaRPr lang="en-US" sz="1350" dirty="0"/>
          </a:p>
        </p:txBody>
      </p:sp>
      <p:sp>
        <p:nvSpPr>
          <p:cNvPr id="10" name="Text 8"/>
          <p:cNvSpPr/>
          <p:nvPr/>
        </p:nvSpPr>
        <p:spPr>
          <a:xfrm>
            <a:off x="1133856" y="2468880"/>
            <a:ext cx="4526280" cy="768096"/>
          </a:xfrm>
          <a:prstGeom prst="rect">
            <a:avLst/>
          </a:prstGeom>
          <a:noFill/>
          <a:ln/>
        </p:spPr>
        <p:txBody>
          <a:bodyPr wrap="square" lIns="0" tIns="0" rIns="0" bIns="0" rtlCol="0" anchor="ctr"/>
          <a:lstStyle/>
          <a:p>
            <a:pPr indent="0" marL="0">
              <a:lnSpc>
                <a:spcPts val="1700"/>
              </a:lnSpc>
              <a:buNone/>
            </a:pPr>
            <a:r>
              <a:rPr lang="en-US" sz="1250" b="1" dirty="0">
                <a:solidFill>
                  <a:srgbClr val="FFFFFF"/>
                </a:solidFill>
                <a:latin typeface="Calibri" pitchFamily="34" charset="0"/>
                <a:ea typeface="Calibri" pitchFamily="34" charset="-122"/>
                <a:cs typeface="Calibri" pitchFamily="34" charset="-120"/>
              </a:rPr>
              <a:t>Require a named risk acceptor on this program for every safety-bearing assumption</a:t>
            </a:r>
            <a:endParaRPr lang="en-US" sz="1250" dirty="0"/>
          </a:p>
        </p:txBody>
      </p:sp>
      <p:sp>
        <p:nvSpPr>
          <p:cNvPr id="11" name="Text 9"/>
          <p:cNvSpPr/>
          <p:nvPr/>
        </p:nvSpPr>
        <p:spPr>
          <a:xfrm>
            <a:off x="5852160" y="2468880"/>
            <a:ext cx="5760720" cy="768096"/>
          </a:xfrm>
          <a:prstGeom prst="rect">
            <a:avLst/>
          </a:prstGeom>
          <a:noFill/>
          <a:ln/>
        </p:spPr>
        <p:txBody>
          <a:bodyPr wrap="square" lIns="0" tIns="0" rIns="0" bIns="0" rtlCol="0" anchor="ctr"/>
          <a:lstStyle/>
          <a:p>
            <a:pPr indent="0" marL="0">
              <a:lnSpc>
                <a:spcPts val="1500"/>
              </a:lnSpc>
              <a:buNone/>
            </a:pPr>
            <a:r>
              <a:rPr lang="en-US" sz="1100" dirty="0">
                <a:solidFill>
                  <a:srgbClr val="C9D6EC"/>
                </a:solidFill>
                <a:latin typeface="Calibri" pitchFamily="34" charset="0"/>
                <a:ea typeface="Calibri" pitchFamily="34" charset="-122"/>
                <a:cs typeface="Calibri" pitchFamily="34" charset="-120"/>
              </a:rPr>
              <a:t>Inherited acceptance does not carry over. This is the item with genuine compliance weight under SM-0001.</a:t>
            </a:r>
            <a:endParaRPr lang="en-US" sz="1100" dirty="0"/>
          </a:p>
        </p:txBody>
      </p:sp>
      <p:sp>
        <p:nvSpPr>
          <p:cNvPr id="12" name="Shape 10"/>
          <p:cNvSpPr/>
          <p:nvPr/>
        </p:nvSpPr>
        <p:spPr>
          <a:xfrm>
            <a:off x="548640" y="3474720"/>
            <a:ext cx="402336" cy="402336"/>
          </a:xfrm>
          <a:prstGeom prst="roundRect">
            <a:avLst>
              <a:gd name="adj" fmla="val 15909"/>
            </a:avLst>
          </a:prstGeom>
          <a:solidFill>
            <a:srgbClr val="B4530C"/>
          </a:solidFill>
          <a:ln w="12700">
            <a:solidFill>
              <a:srgbClr val="B4530C"/>
            </a:solidFill>
            <a:prstDash val="solid"/>
          </a:ln>
        </p:spPr>
      </p:sp>
      <p:sp>
        <p:nvSpPr>
          <p:cNvPr id="13" name="Text 11"/>
          <p:cNvSpPr/>
          <p:nvPr/>
        </p:nvSpPr>
        <p:spPr>
          <a:xfrm>
            <a:off x="548640" y="3474720"/>
            <a:ext cx="402336" cy="40233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3</a:t>
            </a:r>
            <a:endParaRPr lang="en-US" sz="1350" dirty="0"/>
          </a:p>
        </p:txBody>
      </p:sp>
      <p:sp>
        <p:nvSpPr>
          <p:cNvPr id="14" name="Text 12"/>
          <p:cNvSpPr/>
          <p:nvPr/>
        </p:nvSpPr>
        <p:spPr>
          <a:xfrm>
            <a:off x="1133856" y="3328416"/>
            <a:ext cx="4526280" cy="768096"/>
          </a:xfrm>
          <a:prstGeom prst="rect">
            <a:avLst/>
          </a:prstGeom>
          <a:noFill/>
          <a:ln/>
        </p:spPr>
        <p:txBody>
          <a:bodyPr wrap="square" lIns="0" tIns="0" rIns="0" bIns="0" rtlCol="0" anchor="ctr"/>
          <a:lstStyle/>
          <a:p>
            <a:pPr indent="0" marL="0">
              <a:lnSpc>
                <a:spcPts val="1700"/>
              </a:lnSpc>
              <a:buNone/>
            </a:pPr>
            <a:r>
              <a:rPr lang="en-US" sz="1250" b="1" dirty="0">
                <a:solidFill>
                  <a:srgbClr val="FFFFFF"/>
                </a:solidFill>
                <a:latin typeface="Calibri" pitchFamily="34" charset="0"/>
                <a:ea typeface="Calibri" pitchFamily="34" charset="-122"/>
                <a:cs typeface="Calibri" pitchFamily="34" charset="-120"/>
              </a:rPr>
              <a:t>Add one field to the engineering change proposal form</a:t>
            </a:r>
            <a:endParaRPr lang="en-US" sz="1250" dirty="0"/>
          </a:p>
        </p:txBody>
      </p:sp>
      <p:sp>
        <p:nvSpPr>
          <p:cNvPr id="15" name="Text 13"/>
          <p:cNvSpPr/>
          <p:nvPr/>
        </p:nvSpPr>
        <p:spPr>
          <a:xfrm>
            <a:off x="5852160" y="3328416"/>
            <a:ext cx="5760720" cy="768096"/>
          </a:xfrm>
          <a:prstGeom prst="rect">
            <a:avLst/>
          </a:prstGeom>
          <a:noFill/>
          <a:ln/>
        </p:spPr>
        <p:txBody>
          <a:bodyPr wrap="square" lIns="0" tIns="0" rIns="0" bIns="0" rtlCol="0" anchor="ctr"/>
          <a:lstStyle/>
          <a:p>
            <a:pPr indent="0" marL="0">
              <a:lnSpc>
                <a:spcPts val="1500"/>
              </a:lnSpc>
              <a:buNone/>
            </a:pPr>
            <a:r>
              <a:rPr lang="en-US" sz="1100" dirty="0">
                <a:solidFill>
                  <a:srgbClr val="C9D6EC"/>
                </a:solidFill>
                <a:latin typeface="Calibri" pitchFamily="34" charset="0"/>
                <a:ea typeface="Calibri" pitchFamily="34" charset="-122"/>
                <a:cs typeface="Calibri" pitchFamily="34" charset="-120"/>
              </a:rPr>
              <a:t>Ask which assumptions the change affects. A form change, not a new process, and it makes the workflow do the remembering.</a:t>
            </a:r>
            <a:endParaRPr lang="en-US" sz="1100" dirty="0"/>
          </a:p>
        </p:txBody>
      </p:sp>
      <p:sp>
        <p:nvSpPr>
          <p:cNvPr id="16" name="Shape 14"/>
          <p:cNvSpPr/>
          <p:nvPr/>
        </p:nvSpPr>
        <p:spPr>
          <a:xfrm>
            <a:off x="548640" y="4334256"/>
            <a:ext cx="402336" cy="402336"/>
          </a:xfrm>
          <a:prstGeom prst="roundRect">
            <a:avLst>
              <a:gd name="adj" fmla="val 15909"/>
            </a:avLst>
          </a:prstGeom>
          <a:solidFill>
            <a:srgbClr val="B4530C"/>
          </a:solidFill>
          <a:ln w="12700">
            <a:solidFill>
              <a:srgbClr val="B4530C"/>
            </a:solidFill>
            <a:prstDash val="solid"/>
          </a:ln>
        </p:spPr>
      </p:sp>
      <p:sp>
        <p:nvSpPr>
          <p:cNvPr id="17" name="Text 15"/>
          <p:cNvSpPr/>
          <p:nvPr/>
        </p:nvSpPr>
        <p:spPr>
          <a:xfrm>
            <a:off x="548640" y="4334256"/>
            <a:ext cx="402336" cy="40233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4</a:t>
            </a:r>
            <a:endParaRPr lang="en-US" sz="1350" dirty="0"/>
          </a:p>
        </p:txBody>
      </p:sp>
      <p:sp>
        <p:nvSpPr>
          <p:cNvPr id="18" name="Text 16"/>
          <p:cNvSpPr/>
          <p:nvPr/>
        </p:nvSpPr>
        <p:spPr>
          <a:xfrm>
            <a:off x="1133856" y="4187952"/>
            <a:ext cx="4526280" cy="768096"/>
          </a:xfrm>
          <a:prstGeom prst="rect">
            <a:avLst/>
          </a:prstGeom>
          <a:noFill/>
          <a:ln/>
        </p:spPr>
        <p:txBody>
          <a:bodyPr wrap="square" lIns="0" tIns="0" rIns="0" bIns="0" rtlCol="0" anchor="ctr"/>
          <a:lstStyle/>
          <a:p>
            <a:pPr indent="0" marL="0">
              <a:lnSpc>
                <a:spcPts val="1700"/>
              </a:lnSpc>
              <a:buNone/>
            </a:pPr>
            <a:r>
              <a:rPr lang="en-US" sz="1250" b="1" dirty="0">
                <a:solidFill>
                  <a:srgbClr val="FFFFFF"/>
                </a:solidFill>
                <a:latin typeface="Calibri" pitchFamily="34" charset="0"/>
                <a:ea typeface="Calibri" pitchFamily="34" charset="-122"/>
                <a:cs typeface="Calibri" pitchFamily="34" charset="-120"/>
              </a:rPr>
              <a:t>Report the count of unattached safety-bearing assumptions at design reviews</a:t>
            </a:r>
            <a:endParaRPr lang="en-US" sz="1250" dirty="0"/>
          </a:p>
        </p:txBody>
      </p:sp>
      <p:sp>
        <p:nvSpPr>
          <p:cNvPr id="19" name="Text 17"/>
          <p:cNvSpPr/>
          <p:nvPr/>
        </p:nvSpPr>
        <p:spPr>
          <a:xfrm>
            <a:off x="5852160" y="4187952"/>
            <a:ext cx="5760720" cy="768096"/>
          </a:xfrm>
          <a:prstGeom prst="rect">
            <a:avLst/>
          </a:prstGeom>
          <a:noFill/>
          <a:ln/>
        </p:spPr>
        <p:txBody>
          <a:bodyPr wrap="square" lIns="0" tIns="0" rIns="0" bIns="0" rtlCol="0" anchor="ctr"/>
          <a:lstStyle/>
          <a:p>
            <a:pPr indent="0" marL="0">
              <a:lnSpc>
                <a:spcPts val="1500"/>
              </a:lnSpc>
              <a:buNone/>
            </a:pPr>
            <a:r>
              <a:rPr lang="en-US" sz="1100" dirty="0">
                <a:solidFill>
                  <a:srgbClr val="C9D6EC"/>
                </a:solidFill>
                <a:latin typeface="Calibri" pitchFamily="34" charset="0"/>
                <a:ea typeface="Calibri" pitchFamily="34" charset="-122"/>
                <a:cs typeface="Calibri" pitchFamily="34" charset="-120"/>
              </a:rPr>
              <a:t>Program Management owns the position; Safety Assurance owns the measure. Expect the first number to be uncomfortable.</a:t>
            </a:r>
            <a:endParaRPr lang="en-US" sz="1100" dirty="0"/>
          </a:p>
        </p:txBody>
      </p:sp>
      <p:sp>
        <p:nvSpPr>
          <p:cNvPr id="20" name="Shape 18"/>
          <p:cNvSpPr/>
          <p:nvPr/>
        </p:nvSpPr>
        <p:spPr>
          <a:xfrm>
            <a:off x="548640" y="5193792"/>
            <a:ext cx="402336" cy="402336"/>
          </a:xfrm>
          <a:prstGeom prst="roundRect">
            <a:avLst>
              <a:gd name="adj" fmla="val 15909"/>
            </a:avLst>
          </a:prstGeom>
          <a:solidFill>
            <a:srgbClr val="B4530C"/>
          </a:solidFill>
          <a:ln w="12700">
            <a:solidFill>
              <a:srgbClr val="B4530C"/>
            </a:solidFill>
            <a:prstDash val="solid"/>
          </a:ln>
        </p:spPr>
      </p:sp>
      <p:sp>
        <p:nvSpPr>
          <p:cNvPr id="21" name="Text 19"/>
          <p:cNvSpPr/>
          <p:nvPr/>
        </p:nvSpPr>
        <p:spPr>
          <a:xfrm>
            <a:off x="548640" y="5193792"/>
            <a:ext cx="402336" cy="40233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5</a:t>
            </a:r>
            <a:endParaRPr lang="en-US" sz="1350" dirty="0"/>
          </a:p>
        </p:txBody>
      </p:sp>
      <p:sp>
        <p:nvSpPr>
          <p:cNvPr id="22" name="Text 20"/>
          <p:cNvSpPr/>
          <p:nvPr/>
        </p:nvSpPr>
        <p:spPr>
          <a:xfrm>
            <a:off x="1133856" y="5047488"/>
            <a:ext cx="4526280" cy="768096"/>
          </a:xfrm>
          <a:prstGeom prst="rect">
            <a:avLst/>
          </a:prstGeom>
          <a:noFill/>
          <a:ln/>
        </p:spPr>
        <p:txBody>
          <a:bodyPr wrap="square" lIns="0" tIns="0" rIns="0" bIns="0" rtlCol="0" anchor="ctr"/>
          <a:lstStyle/>
          <a:p>
            <a:pPr indent="0" marL="0">
              <a:lnSpc>
                <a:spcPts val="1700"/>
              </a:lnSpc>
              <a:buNone/>
            </a:pPr>
            <a:r>
              <a:rPr lang="en-US" sz="1250" b="1" dirty="0">
                <a:solidFill>
                  <a:srgbClr val="FFFFFF"/>
                </a:solidFill>
                <a:latin typeface="Calibri" pitchFamily="34" charset="0"/>
                <a:ea typeface="Calibri" pitchFamily="34" charset="-122"/>
                <a:cs typeface="Calibri" pitchFamily="34" charset="-120"/>
              </a:rPr>
              <a:t>Stop releasing bare assumption statements to other programs</a:t>
            </a:r>
            <a:endParaRPr lang="en-US" sz="1250" dirty="0"/>
          </a:p>
        </p:txBody>
      </p:sp>
      <p:sp>
        <p:nvSpPr>
          <p:cNvPr id="23" name="Text 21"/>
          <p:cNvSpPr/>
          <p:nvPr/>
        </p:nvSpPr>
        <p:spPr>
          <a:xfrm>
            <a:off x="5852160" y="5047488"/>
            <a:ext cx="5760720" cy="768096"/>
          </a:xfrm>
          <a:prstGeom prst="rect">
            <a:avLst/>
          </a:prstGeom>
          <a:noFill/>
          <a:ln/>
        </p:spPr>
        <p:txBody>
          <a:bodyPr wrap="square" lIns="0" tIns="0" rIns="0" bIns="0" rtlCol="0" anchor="ctr"/>
          <a:lstStyle/>
          <a:p>
            <a:pPr indent="0" marL="0">
              <a:lnSpc>
                <a:spcPts val="1500"/>
              </a:lnSpc>
              <a:buNone/>
            </a:pPr>
            <a:r>
              <a:rPr lang="en-US" sz="1100" dirty="0">
                <a:solidFill>
                  <a:srgbClr val="C9D6EC"/>
                </a:solidFill>
                <a:latin typeface="Calibri" pitchFamily="34" charset="0"/>
                <a:ea typeface="Calibri" pitchFamily="34" charset="-122"/>
                <a:cs typeface="Calibri" pitchFamily="34" charset="-120"/>
              </a:rPr>
              <a:t>The conditions, the document references and the evidence travel with the statement, or nothing travels.</a:t>
            </a:r>
            <a:endParaRPr lang="en-US" sz="1100" dirty="0"/>
          </a:p>
        </p:txBody>
      </p:sp>
      <p:sp>
        <p:nvSpPr>
          <p:cNvPr id="24" name="Shape 22"/>
          <p:cNvSpPr/>
          <p:nvPr/>
        </p:nvSpPr>
        <p:spPr>
          <a:xfrm>
            <a:off x="548640" y="5980176"/>
            <a:ext cx="11091672" cy="676656"/>
          </a:xfrm>
          <a:prstGeom prst="roundRect">
            <a:avLst>
              <a:gd name="adj" fmla="val 6757"/>
            </a:avLst>
          </a:prstGeom>
          <a:solidFill>
            <a:srgbClr val="1F4380"/>
          </a:solidFill>
          <a:ln w="12700">
            <a:solidFill>
              <a:srgbClr val="1F4380"/>
            </a:solidFill>
            <a:prstDash val="solid"/>
          </a:ln>
        </p:spPr>
      </p:sp>
      <p:sp>
        <p:nvSpPr>
          <p:cNvPr id="25" name="Text 23"/>
          <p:cNvSpPr/>
          <p:nvPr/>
        </p:nvSpPr>
        <p:spPr>
          <a:xfrm>
            <a:off x="822960" y="5980176"/>
            <a:ext cx="10515600" cy="676656"/>
          </a:xfrm>
          <a:prstGeom prst="rect">
            <a:avLst/>
          </a:prstGeom>
          <a:noFill/>
          <a:ln/>
        </p:spPr>
        <p:txBody>
          <a:bodyPr wrap="square" lIns="0" tIns="0" rIns="0" bIns="0" rtlCol="0" anchor="ctr"/>
          <a:lstStyle/>
          <a:p>
            <a:pPr indent="0" marL="0">
              <a:lnSpc>
                <a:spcPts val="1500"/>
              </a:lnSpc>
              <a:buNone/>
            </a:pPr>
            <a:r>
              <a:rPr lang="en-US" sz="1050" dirty="0">
                <a:solidFill>
                  <a:srgbClr val="D6E0F2"/>
                </a:solidFill>
                <a:latin typeface="Calibri" pitchFamily="34" charset="0"/>
                <a:ea typeface="Calibri" pitchFamily="34" charset="-122"/>
                <a:cs typeface="Calibri" pitchFamily="34" charset="-120"/>
              </a:rPr>
              <a:t>Two honest caveats:  neither SM-0001 nor EIA-649-1 requires an assumption register today, so this is a bridge we are building rather than an existing obligation.  And applied to everything it is unaffordable, so the tiering decision on slide 12 is what determines whether it survives.</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292608"/>
            <a:ext cx="11064240" cy="237744"/>
          </a:xfrm>
          <a:prstGeom prst="rect">
            <a:avLst/>
          </a:prstGeom>
          <a:noFill/>
          <a:ln/>
        </p:spPr>
        <p:txBody>
          <a:bodyPr wrap="square" lIns="0" tIns="0" rIns="0" bIns="0" rtlCol="0" anchor="ctr"/>
          <a:lstStyle/>
          <a:p>
            <a:pPr indent="0" marL="0">
              <a:buNone/>
            </a:pPr>
            <a:r>
              <a:rPr lang="en-US" sz="1050" b="1" spc="160" kern="0" dirty="0">
                <a:solidFill>
                  <a:srgbClr val="B4530C"/>
                </a:solidFill>
                <a:latin typeface="Calibri" pitchFamily="34" charset="0"/>
                <a:ea typeface="Calibri" pitchFamily="34" charset="-122"/>
                <a:cs typeface="Calibri" pitchFamily="34" charset="-120"/>
              </a:rPr>
              <a:t>BACK-UP</a:t>
            </a:r>
            <a:endParaRPr lang="en-US" sz="1050" dirty="0"/>
          </a:p>
        </p:txBody>
      </p:sp>
      <p:sp>
        <p:nvSpPr>
          <p:cNvPr id="3" name="Text 1"/>
          <p:cNvSpPr/>
          <p:nvPr/>
        </p:nvSpPr>
        <p:spPr>
          <a:xfrm>
            <a:off x="548640" y="548640"/>
            <a:ext cx="11064240" cy="658368"/>
          </a:xfrm>
          <a:prstGeom prst="rect">
            <a:avLst/>
          </a:prstGeom>
          <a:noFill/>
          <a:ln/>
        </p:spPr>
        <p:txBody>
          <a:bodyPr wrap="square" lIns="0" tIns="0" rIns="0" bIns="0" rtlCol="0" anchor="t"/>
          <a:lstStyle/>
          <a:p>
            <a:pPr indent="0" marL="0">
              <a:buNone/>
            </a:pPr>
            <a:r>
              <a:rPr lang="en-US" sz="2900" b="1" dirty="0">
                <a:solidFill>
                  <a:srgbClr val="132A4E"/>
                </a:solidFill>
                <a:latin typeface="Cambria" pitchFamily="34" charset="0"/>
                <a:ea typeface="Cambria" pitchFamily="34" charset="-122"/>
                <a:cs typeface="Cambria" pitchFamily="34" charset="-120"/>
              </a:rPr>
              <a:t>Glossary and references</a:t>
            </a:r>
            <a:endParaRPr lang="en-US" sz="2900" dirty="0"/>
          </a:p>
        </p:txBody>
      </p:sp>
      <p:sp>
        <p:nvSpPr>
          <p:cNvPr id="4" name="Shape 2"/>
          <p:cNvSpPr/>
          <p:nvPr/>
        </p:nvSpPr>
        <p:spPr>
          <a:xfrm>
            <a:off x="548640" y="1280160"/>
            <a:ext cx="5394960" cy="1316736"/>
          </a:xfrm>
          <a:prstGeom prst="roundRect">
            <a:avLst>
              <a:gd name="adj" fmla="val 3472"/>
            </a:avLst>
          </a:prstGeom>
          <a:solidFill>
            <a:srgbClr val="E9EEF7"/>
          </a:solidFill>
          <a:ln w="12700">
            <a:solidFill>
              <a:srgbClr val="D3DEEF"/>
            </a:solidFill>
            <a:prstDash val="solid"/>
          </a:ln>
        </p:spPr>
      </p:sp>
      <p:sp>
        <p:nvSpPr>
          <p:cNvPr id="5" name="Text 3"/>
          <p:cNvSpPr/>
          <p:nvPr/>
        </p:nvSpPr>
        <p:spPr>
          <a:xfrm>
            <a:off x="786384" y="1426464"/>
            <a:ext cx="4882896" cy="292608"/>
          </a:xfrm>
          <a:prstGeom prst="rect">
            <a:avLst/>
          </a:prstGeom>
          <a:noFill/>
          <a:ln/>
        </p:spPr>
        <p:txBody>
          <a:bodyPr wrap="square" lIns="0" tIns="0" rIns="0" bIns="0" rtlCol="0" anchor="ctr"/>
          <a:lstStyle/>
          <a:p>
            <a:pPr indent="0" marL="0">
              <a:buNone/>
            </a:pPr>
            <a:r>
              <a:rPr lang="en-US" sz="1250" b="1" dirty="0">
                <a:solidFill>
                  <a:srgbClr val="1F4380"/>
                </a:solidFill>
                <a:latin typeface="Calibri" pitchFamily="34" charset="0"/>
                <a:ea typeface="Calibri" pitchFamily="34" charset="-122"/>
                <a:cs typeface="Calibri" pitchFamily="34" charset="-120"/>
              </a:rPr>
              <a:t>Ground rules and assumptions</a:t>
            </a:r>
            <a:endParaRPr lang="en-US" sz="1250" dirty="0"/>
          </a:p>
        </p:txBody>
      </p:sp>
      <p:sp>
        <p:nvSpPr>
          <p:cNvPr id="6" name="Text 4"/>
          <p:cNvSpPr/>
          <p:nvPr/>
        </p:nvSpPr>
        <p:spPr>
          <a:xfrm>
            <a:off x="786384" y="1755648"/>
            <a:ext cx="4901184" cy="768096"/>
          </a:xfrm>
          <a:prstGeom prst="rect">
            <a:avLst/>
          </a:prstGeom>
          <a:noFill/>
          <a:ln/>
        </p:spPr>
        <p:txBody>
          <a:bodyPr wrap="square" lIns="0" tIns="0" rIns="0" bIns="0" rtlCol="0" anchor="t"/>
          <a:lstStyle/>
          <a:p>
            <a:pPr indent="0" marL="0">
              <a:lnSpc>
                <a:spcPts val="1600"/>
              </a:lnSpc>
              <a:buNone/>
            </a:pPr>
            <a:r>
              <a:rPr lang="en-US" sz="1150" dirty="0">
                <a:solidFill>
                  <a:srgbClr val="1A2333"/>
                </a:solidFill>
                <a:latin typeface="Calibri" pitchFamily="34" charset="0"/>
                <a:ea typeface="Calibri" pitchFamily="34" charset="-122"/>
                <a:cs typeface="Calibri" pitchFamily="34" charset="-120"/>
              </a:rPr>
              <a:t>Statements a program adopts as true to bound analysis and design. In safety work they usually carry risk credit, meaning a hazard was closed partly because of them.</a:t>
            </a:r>
            <a:endParaRPr lang="en-US" sz="1150" dirty="0"/>
          </a:p>
        </p:txBody>
      </p:sp>
      <p:sp>
        <p:nvSpPr>
          <p:cNvPr id="7" name="Shape 5"/>
          <p:cNvSpPr/>
          <p:nvPr/>
        </p:nvSpPr>
        <p:spPr>
          <a:xfrm>
            <a:off x="6181344" y="1280160"/>
            <a:ext cx="5394960" cy="1316736"/>
          </a:xfrm>
          <a:prstGeom prst="roundRect">
            <a:avLst>
              <a:gd name="adj" fmla="val 3472"/>
            </a:avLst>
          </a:prstGeom>
          <a:solidFill>
            <a:srgbClr val="FFFFFF"/>
          </a:solidFill>
          <a:ln w="12700">
            <a:solidFill>
              <a:srgbClr val="D3DEEF"/>
            </a:solidFill>
            <a:prstDash val="solid"/>
          </a:ln>
        </p:spPr>
      </p:sp>
      <p:sp>
        <p:nvSpPr>
          <p:cNvPr id="8" name="Text 6"/>
          <p:cNvSpPr/>
          <p:nvPr/>
        </p:nvSpPr>
        <p:spPr>
          <a:xfrm>
            <a:off x="6419088" y="1426464"/>
            <a:ext cx="4882896" cy="292608"/>
          </a:xfrm>
          <a:prstGeom prst="rect">
            <a:avLst/>
          </a:prstGeom>
          <a:noFill/>
          <a:ln/>
        </p:spPr>
        <p:txBody>
          <a:bodyPr wrap="square" lIns="0" tIns="0" rIns="0" bIns="0" rtlCol="0" anchor="ctr"/>
          <a:lstStyle/>
          <a:p>
            <a:pPr indent="0" marL="0">
              <a:buNone/>
            </a:pPr>
            <a:r>
              <a:rPr lang="en-US" sz="1250" b="1" dirty="0">
                <a:solidFill>
                  <a:srgbClr val="1F4380"/>
                </a:solidFill>
                <a:latin typeface="Calibri" pitchFamily="34" charset="0"/>
                <a:ea typeface="Calibri" pitchFamily="34" charset="-122"/>
                <a:cs typeface="Calibri" pitchFamily="34" charset="-120"/>
              </a:rPr>
              <a:t>Risk credit</a:t>
            </a:r>
            <a:endParaRPr lang="en-US" sz="1250" dirty="0"/>
          </a:p>
        </p:txBody>
      </p:sp>
      <p:sp>
        <p:nvSpPr>
          <p:cNvPr id="9" name="Text 7"/>
          <p:cNvSpPr/>
          <p:nvPr/>
        </p:nvSpPr>
        <p:spPr>
          <a:xfrm>
            <a:off x="6419088" y="1755648"/>
            <a:ext cx="4901184" cy="768096"/>
          </a:xfrm>
          <a:prstGeom prst="rect">
            <a:avLst/>
          </a:prstGeom>
          <a:noFill/>
          <a:ln/>
        </p:spPr>
        <p:txBody>
          <a:bodyPr wrap="square" lIns="0" tIns="0" rIns="0" bIns="0" rtlCol="0" anchor="t"/>
          <a:lstStyle/>
          <a:p>
            <a:pPr indent="0" marL="0">
              <a:lnSpc>
                <a:spcPts val="1600"/>
              </a:lnSpc>
              <a:buNone/>
            </a:pPr>
            <a:r>
              <a:rPr lang="en-US" sz="1150" dirty="0">
                <a:solidFill>
                  <a:srgbClr val="1A2333"/>
                </a:solidFill>
                <a:latin typeface="Calibri" pitchFamily="34" charset="0"/>
                <a:ea typeface="Calibri" pitchFamily="34" charset="-122"/>
                <a:cs typeface="Calibri" pitchFamily="34" charset="-120"/>
              </a:rPr>
              <a:t>The reduction in assessed risk an assumption provides. If the assumption fails, the credit is withdrawn and the hazard reopens.</a:t>
            </a:r>
            <a:endParaRPr lang="en-US" sz="1150" dirty="0"/>
          </a:p>
        </p:txBody>
      </p:sp>
      <p:sp>
        <p:nvSpPr>
          <p:cNvPr id="10" name="Shape 8"/>
          <p:cNvSpPr/>
          <p:nvPr/>
        </p:nvSpPr>
        <p:spPr>
          <a:xfrm>
            <a:off x="548640" y="2761488"/>
            <a:ext cx="5394960" cy="1316736"/>
          </a:xfrm>
          <a:prstGeom prst="roundRect">
            <a:avLst>
              <a:gd name="adj" fmla="val 3472"/>
            </a:avLst>
          </a:prstGeom>
          <a:solidFill>
            <a:srgbClr val="E9EEF7"/>
          </a:solidFill>
          <a:ln w="12700">
            <a:solidFill>
              <a:srgbClr val="D3DEEF"/>
            </a:solidFill>
            <a:prstDash val="solid"/>
          </a:ln>
        </p:spPr>
      </p:sp>
      <p:sp>
        <p:nvSpPr>
          <p:cNvPr id="11" name="Text 9"/>
          <p:cNvSpPr/>
          <p:nvPr/>
        </p:nvSpPr>
        <p:spPr>
          <a:xfrm>
            <a:off x="786384" y="2907792"/>
            <a:ext cx="4882896" cy="292608"/>
          </a:xfrm>
          <a:prstGeom prst="rect">
            <a:avLst/>
          </a:prstGeom>
          <a:noFill/>
          <a:ln/>
        </p:spPr>
        <p:txBody>
          <a:bodyPr wrap="square" lIns="0" tIns="0" rIns="0" bIns="0" rtlCol="0" anchor="ctr"/>
          <a:lstStyle/>
          <a:p>
            <a:pPr indent="0" marL="0">
              <a:buNone/>
            </a:pPr>
            <a:r>
              <a:rPr lang="en-US" sz="1250" b="1" dirty="0">
                <a:solidFill>
                  <a:srgbClr val="1F4380"/>
                </a:solidFill>
                <a:latin typeface="Calibri" pitchFamily="34" charset="0"/>
                <a:ea typeface="Calibri" pitchFamily="34" charset="-122"/>
                <a:cs typeface="Calibri" pitchFamily="34" charset="-120"/>
              </a:rPr>
              <a:t>Configuration item</a:t>
            </a:r>
            <a:endParaRPr lang="en-US" sz="1250" dirty="0"/>
          </a:p>
        </p:txBody>
      </p:sp>
      <p:sp>
        <p:nvSpPr>
          <p:cNvPr id="12" name="Text 10"/>
          <p:cNvSpPr/>
          <p:nvPr/>
        </p:nvSpPr>
        <p:spPr>
          <a:xfrm>
            <a:off x="786384" y="3236976"/>
            <a:ext cx="4901184" cy="768096"/>
          </a:xfrm>
          <a:prstGeom prst="rect">
            <a:avLst/>
          </a:prstGeom>
          <a:noFill/>
          <a:ln/>
        </p:spPr>
        <p:txBody>
          <a:bodyPr wrap="square" lIns="0" tIns="0" rIns="0" bIns="0" rtlCol="0" anchor="t"/>
          <a:lstStyle/>
          <a:p>
            <a:pPr indent="0" marL="0">
              <a:lnSpc>
                <a:spcPts val="1600"/>
              </a:lnSpc>
              <a:buNone/>
            </a:pPr>
            <a:r>
              <a:rPr lang="en-US" sz="1150" dirty="0">
                <a:solidFill>
                  <a:srgbClr val="1A2333"/>
                </a:solidFill>
                <a:latin typeface="Calibri" pitchFamily="34" charset="0"/>
                <a:ea typeface="Calibri" pitchFamily="34" charset="-122"/>
                <a:cs typeface="Calibri" pitchFamily="34" charset="-120"/>
              </a:rPr>
              <a:t>A part of the product designated for individual tracking and change control. Safety-significant items are already required to be designated.</a:t>
            </a:r>
            <a:endParaRPr lang="en-US" sz="1150" dirty="0"/>
          </a:p>
        </p:txBody>
      </p:sp>
      <p:sp>
        <p:nvSpPr>
          <p:cNvPr id="13" name="Shape 11"/>
          <p:cNvSpPr/>
          <p:nvPr/>
        </p:nvSpPr>
        <p:spPr>
          <a:xfrm>
            <a:off x="6181344" y="2761488"/>
            <a:ext cx="5394960" cy="1316736"/>
          </a:xfrm>
          <a:prstGeom prst="roundRect">
            <a:avLst>
              <a:gd name="adj" fmla="val 3472"/>
            </a:avLst>
          </a:prstGeom>
          <a:solidFill>
            <a:srgbClr val="FFFFFF"/>
          </a:solidFill>
          <a:ln w="12700">
            <a:solidFill>
              <a:srgbClr val="D3DEEF"/>
            </a:solidFill>
            <a:prstDash val="solid"/>
          </a:ln>
        </p:spPr>
      </p:sp>
      <p:sp>
        <p:nvSpPr>
          <p:cNvPr id="14" name="Text 12"/>
          <p:cNvSpPr/>
          <p:nvPr/>
        </p:nvSpPr>
        <p:spPr>
          <a:xfrm>
            <a:off x="6419088" y="2907792"/>
            <a:ext cx="4882896" cy="292608"/>
          </a:xfrm>
          <a:prstGeom prst="rect">
            <a:avLst/>
          </a:prstGeom>
          <a:noFill/>
          <a:ln/>
        </p:spPr>
        <p:txBody>
          <a:bodyPr wrap="square" lIns="0" tIns="0" rIns="0" bIns="0" rtlCol="0" anchor="ctr"/>
          <a:lstStyle/>
          <a:p>
            <a:pPr indent="0" marL="0">
              <a:buNone/>
            </a:pPr>
            <a:r>
              <a:rPr lang="en-US" sz="1250" b="1" dirty="0">
                <a:solidFill>
                  <a:srgbClr val="1F4380"/>
                </a:solidFill>
                <a:latin typeface="Calibri" pitchFamily="34" charset="0"/>
                <a:ea typeface="Calibri" pitchFamily="34" charset="-122"/>
                <a:cs typeface="Calibri" pitchFamily="34" charset="-120"/>
              </a:rPr>
              <a:t>Baseline</a:t>
            </a:r>
            <a:endParaRPr lang="en-US" sz="1250" dirty="0"/>
          </a:p>
        </p:txBody>
      </p:sp>
      <p:sp>
        <p:nvSpPr>
          <p:cNvPr id="15" name="Text 13"/>
          <p:cNvSpPr/>
          <p:nvPr/>
        </p:nvSpPr>
        <p:spPr>
          <a:xfrm>
            <a:off x="6419088" y="3236976"/>
            <a:ext cx="4901184" cy="768096"/>
          </a:xfrm>
          <a:prstGeom prst="rect">
            <a:avLst/>
          </a:prstGeom>
          <a:noFill/>
          <a:ln/>
        </p:spPr>
        <p:txBody>
          <a:bodyPr wrap="square" lIns="0" tIns="0" rIns="0" bIns="0" rtlCol="0" anchor="t"/>
          <a:lstStyle/>
          <a:p>
            <a:pPr indent="0" marL="0">
              <a:lnSpc>
                <a:spcPts val="1600"/>
              </a:lnSpc>
              <a:buNone/>
            </a:pPr>
            <a:r>
              <a:rPr lang="en-US" sz="1150" dirty="0">
                <a:solidFill>
                  <a:srgbClr val="1A2333"/>
                </a:solidFill>
                <a:latin typeface="Calibri" pitchFamily="34" charset="0"/>
                <a:ea typeface="Calibri" pitchFamily="34" charset="-122"/>
                <a:cs typeface="Calibri" pitchFamily="34" charset="-120"/>
              </a:rPr>
              <a:t>An approved snapshot of the documentation defining the product. Functional covers what the system does, allocated what each part does, product what it actually is.</a:t>
            </a:r>
            <a:endParaRPr lang="en-US" sz="1150" dirty="0"/>
          </a:p>
        </p:txBody>
      </p:sp>
      <p:sp>
        <p:nvSpPr>
          <p:cNvPr id="16" name="Shape 14"/>
          <p:cNvSpPr/>
          <p:nvPr/>
        </p:nvSpPr>
        <p:spPr>
          <a:xfrm>
            <a:off x="548640" y="4242816"/>
            <a:ext cx="5394960" cy="1316736"/>
          </a:xfrm>
          <a:prstGeom prst="roundRect">
            <a:avLst>
              <a:gd name="adj" fmla="val 3472"/>
            </a:avLst>
          </a:prstGeom>
          <a:solidFill>
            <a:srgbClr val="E9EEF7"/>
          </a:solidFill>
          <a:ln w="12700">
            <a:solidFill>
              <a:srgbClr val="D3DEEF"/>
            </a:solidFill>
            <a:prstDash val="solid"/>
          </a:ln>
        </p:spPr>
      </p:sp>
      <p:sp>
        <p:nvSpPr>
          <p:cNvPr id="17" name="Text 15"/>
          <p:cNvSpPr/>
          <p:nvPr/>
        </p:nvSpPr>
        <p:spPr>
          <a:xfrm>
            <a:off x="786384" y="4389120"/>
            <a:ext cx="4882896" cy="292608"/>
          </a:xfrm>
          <a:prstGeom prst="rect">
            <a:avLst/>
          </a:prstGeom>
          <a:noFill/>
          <a:ln/>
        </p:spPr>
        <p:txBody>
          <a:bodyPr wrap="square" lIns="0" tIns="0" rIns="0" bIns="0" rtlCol="0" anchor="ctr"/>
          <a:lstStyle/>
          <a:p>
            <a:pPr indent="0" marL="0">
              <a:buNone/>
            </a:pPr>
            <a:r>
              <a:rPr lang="en-US" sz="1250" b="1" dirty="0">
                <a:solidFill>
                  <a:srgbClr val="1F4380"/>
                </a:solidFill>
                <a:latin typeface="Calibri" pitchFamily="34" charset="0"/>
                <a:ea typeface="Calibri" pitchFamily="34" charset="-122"/>
                <a:cs typeface="Calibri" pitchFamily="34" charset="-120"/>
              </a:rPr>
              <a:t>Engineering change proposal</a:t>
            </a:r>
            <a:endParaRPr lang="en-US" sz="1250" dirty="0"/>
          </a:p>
        </p:txBody>
      </p:sp>
      <p:sp>
        <p:nvSpPr>
          <p:cNvPr id="18" name="Text 16"/>
          <p:cNvSpPr/>
          <p:nvPr/>
        </p:nvSpPr>
        <p:spPr>
          <a:xfrm>
            <a:off x="786384" y="4718304"/>
            <a:ext cx="4901184" cy="768096"/>
          </a:xfrm>
          <a:prstGeom prst="rect">
            <a:avLst/>
          </a:prstGeom>
          <a:noFill/>
          <a:ln/>
        </p:spPr>
        <p:txBody>
          <a:bodyPr wrap="square" lIns="0" tIns="0" rIns="0" bIns="0" rtlCol="0" anchor="t"/>
          <a:lstStyle/>
          <a:p>
            <a:pPr indent="0" marL="0">
              <a:lnSpc>
                <a:spcPts val="1600"/>
              </a:lnSpc>
              <a:buNone/>
            </a:pPr>
            <a:r>
              <a:rPr lang="en-US" sz="1150" dirty="0">
                <a:solidFill>
                  <a:srgbClr val="1A2333"/>
                </a:solidFill>
                <a:latin typeface="Calibri" pitchFamily="34" charset="0"/>
                <a:ea typeface="Calibri" pitchFamily="34" charset="-122"/>
                <a:cs typeface="Calibri" pitchFamily="34" charset="-120"/>
              </a:rPr>
              <a:t>The formal package proposing a change to something baselined, including an assessment of the full extent of its effects.</a:t>
            </a:r>
            <a:endParaRPr lang="en-US" sz="1150" dirty="0"/>
          </a:p>
        </p:txBody>
      </p:sp>
      <p:sp>
        <p:nvSpPr>
          <p:cNvPr id="19" name="Shape 17"/>
          <p:cNvSpPr/>
          <p:nvPr/>
        </p:nvSpPr>
        <p:spPr>
          <a:xfrm>
            <a:off x="6181344" y="4242816"/>
            <a:ext cx="5394960" cy="1316736"/>
          </a:xfrm>
          <a:prstGeom prst="roundRect">
            <a:avLst>
              <a:gd name="adj" fmla="val 3472"/>
            </a:avLst>
          </a:prstGeom>
          <a:solidFill>
            <a:srgbClr val="FFFFFF"/>
          </a:solidFill>
          <a:ln w="12700">
            <a:solidFill>
              <a:srgbClr val="D3DEEF"/>
            </a:solidFill>
            <a:prstDash val="solid"/>
          </a:ln>
        </p:spPr>
      </p:sp>
      <p:sp>
        <p:nvSpPr>
          <p:cNvPr id="20" name="Text 18"/>
          <p:cNvSpPr/>
          <p:nvPr/>
        </p:nvSpPr>
        <p:spPr>
          <a:xfrm>
            <a:off x="6419088" y="4389120"/>
            <a:ext cx="4882896" cy="292608"/>
          </a:xfrm>
          <a:prstGeom prst="rect">
            <a:avLst/>
          </a:prstGeom>
          <a:noFill/>
          <a:ln/>
        </p:spPr>
        <p:txBody>
          <a:bodyPr wrap="square" lIns="0" tIns="0" rIns="0" bIns="0" rtlCol="0" anchor="ctr"/>
          <a:lstStyle/>
          <a:p>
            <a:pPr indent="0" marL="0">
              <a:buNone/>
            </a:pPr>
            <a:r>
              <a:rPr lang="en-US" sz="1250" b="1" dirty="0">
                <a:solidFill>
                  <a:srgbClr val="1F4380"/>
                </a:solidFill>
                <a:latin typeface="Calibri" pitchFamily="34" charset="0"/>
                <a:ea typeface="Calibri" pitchFamily="34" charset="-122"/>
                <a:cs typeface="Calibri" pitchFamily="34" charset="-120"/>
              </a:rPr>
              <a:t>Configuration status accounting</a:t>
            </a:r>
            <a:endParaRPr lang="en-US" sz="1250" dirty="0"/>
          </a:p>
        </p:txBody>
      </p:sp>
      <p:sp>
        <p:nvSpPr>
          <p:cNvPr id="21" name="Text 19"/>
          <p:cNvSpPr/>
          <p:nvPr/>
        </p:nvSpPr>
        <p:spPr>
          <a:xfrm>
            <a:off x="6419088" y="4718304"/>
            <a:ext cx="4901184" cy="768096"/>
          </a:xfrm>
          <a:prstGeom prst="rect">
            <a:avLst/>
          </a:prstGeom>
          <a:noFill/>
          <a:ln/>
        </p:spPr>
        <p:txBody>
          <a:bodyPr wrap="square" lIns="0" tIns="0" rIns="0" bIns="0" rtlCol="0" anchor="t"/>
          <a:lstStyle/>
          <a:p>
            <a:pPr indent="0" marL="0">
              <a:lnSpc>
                <a:spcPts val="1600"/>
              </a:lnSpc>
              <a:buNone/>
            </a:pPr>
            <a:r>
              <a:rPr lang="en-US" sz="1150" dirty="0">
                <a:solidFill>
                  <a:srgbClr val="1A2333"/>
                </a:solidFill>
                <a:latin typeface="Calibri" pitchFamily="34" charset="0"/>
                <a:ea typeface="Calibri" pitchFamily="34" charset="-122"/>
                <a:cs typeface="Calibri" pitchFamily="34" charset="-120"/>
              </a:rPr>
              <a:t>The record-keeping that reports the current approved definition of an item and what changes are outstanding against it.</a:t>
            </a:r>
            <a:endParaRPr lang="en-US" sz="1150" dirty="0"/>
          </a:p>
        </p:txBody>
      </p:sp>
      <p:sp>
        <p:nvSpPr>
          <p:cNvPr id="22" name="Shape 20"/>
          <p:cNvSpPr/>
          <p:nvPr/>
        </p:nvSpPr>
        <p:spPr>
          <a:xfrm>
            <a:off x="548640" y="5797296"/>
            <a:ext cx="11091672" cy="713232"/>
          </a:xfrm>
          <a:prstGeom prst="roundRect">
            <a:avLst>
              <a:gd name="adj" fmla="val 6410"/>
            </a:avLst>
          </a:prstGeom>
          <a:solidFill>
            <a:srgbClr val="132A4E"/>
          </a:solidFill>
          <a:ln w="12700">
            <a:solidFill>
              <a:srgbClr val="132A4E"/>
            </a:solidFill>
            <a:prstDash val="solid"/>
          </a:ln>
        </p:spPr>
      </p:sp>
      <p:sp>
        <p:nvSpPr>
          <p:cNvPr id="23" name="Text 21"/>
          <p:cNvSpPr/>
          <p:nvPr/>
        </p:nvSpPr>
        <p:spPr>
          <a:xfrm>
            <a:off x="841248" y="5907024"/>
            <a:ext cx="10515600" cy="493776"/>
          </a:xfrm>
          <a:prstGeom prst="rect">
            <a:avLst/>
          </a:prstGeom>
          <a:noFill/>
          <a:ln/>
        </p:spPr>
        <p:txBody>
          <a:bodyPr wrap="square" lIns="0" tIns="0" rIns="0" bIns="0" rtlCol="0" anchor="t"/>
          <a:lstStyle/>
          <a:p>
            <a:pPr indent="0" marL="0">
              <a:lnSpc>
                <a:spcPts val="1900"/>
              </a:lnSpc>
              <a:buNone/>
            </a:pPr>
            <a:r>
              <a:rPr lang="en-US" sz="1300" dirty="0">
                <a:solidFill>
                  <a:srgbClr val="FFFFFF"/>
                </a:solidFill>
                <a:latin typeface="Calibri" pitchFamily="34" charset="0"/>
                <a:ea typeface="Calibri" pitchFamily="34" charset="-122"/>
                <a:cs typeface="Calibri" pitchFamily="34" charset="-120"/>
              </a:rPr>
              <a:t>References: SM-0001 Issue C for safety management system and safety risk management requirements. EIA-649-1 and GEIA-HB-649 for configuration management requirements and guidance.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2026-08-05T02:36:28Z</dcterms:created>
  <dcterms:modified xsi:type="dcterms:W3CDTF">2026-08-05T02:36:28Z</dcterms:modified>
</cp:coreProperties>
</file>