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2E"/>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3282D"/>
          </a:solidFill>
          <a:ln/>
        </p:spPr>
      </p:sp>
      <p:sp>
        <p:nvSpPr>
          <p:cNvPr id="3" name="Text 1"/>
          <p:cNvSpPr/>
          <p:nvPr/>
        </p:nvSpPr>
        <p:spPr>
          <a:xfrm>
            <a:off x="777240" y="1051560"/>
            <a:ext cx="1060704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Sixty Barriers</a:t>
            </a:r>
            <a:endParaRPr lang="en-US" sz="5200" dirty="0"/>
          </a:p>
        </p:txBody>
      </p:sp>
      <p:sp>
        <p:nvSpPr>
          <p:cNvPr id="4" name="Text 2"/>
          <p:cNvSpPr/>
          <p:nvPr/>
        </p:nvSpPr>
        <p:spPr>
          <a:xfrm>
            <a:off x="822960" y="1965960"/>
            <a:ext cx="10058400" cy="640080"/>
          </a:xfrm>
          <a:prstGeom prst="rect">
            <a:avLst/>
          </a:prstGeom>
          <a:noFill/>
          <a:ln/>
        </p:spPr>
        <p:txBody>
          <a:bodyPr wrap="square" lIns="0" tIns="0" rIns="0" bIns="0" rtlCol="0" anchor="ctr"/>
          <a:lstStyle/>
          <a:p>
            <a:pPr indent="0" marL="0">
              <a:buNone/>
            </a:pPr>
            <a:r>
              <a:rPr lang="en-US" sz="1700" dirty="0">
                <a:solidFill>
                  <a:srgbClr val="9FB3C4"/>
                </a:solidFill>
                <a:latin typeface="Calibri" pitchFamily="34" charset="0"/>
                <a:ea typeface="Calibri" pitchFamily="34" charset="-122"/>
                <a:cs typeface="Calibri" pitchFamily="34" charset="-120"/>
              </a:rPr>
              <a:t>Reliability, Maintainability, System Health and Human Factors requirements that stand between us and catastrophe</a:t>
            </a:r>
            <a:endParaRPr lang="en-US" sz="1700" dirty="0"/>
          </a:p>
        </p:txBody>
      </p:sp>
      <p:sp>
        <p:nvSpPr>
          <p:cNvPr id="5" name="Shape 3"/>
          <p:cNvSpPr/>
          <p:nvPr/>
        </p:nvSpPr>
        <p:spPr>
          <a:xfrm>
            <a:off x="822960" y="2880360"/>
            <a:ext cx="10058400" cy="1207008"/>
          </a:xfrm>
          <a:prstGeom prst="roundRect">
            <a:avLst>
              <a:gd name="adj" fmla="val 4545"/>
            </a:avLst>
          </a:prstGeom>
          <a:solidFill>
            <a:srgbClr val="1E3A54"/>
          </a:solidFill>
          <a:ln/>
        </p:spPr>
      </p:sp>
      <p:sp>
        <p:nvSpPr>
          <p:cNvPr id="6" name="Text 4"/>
          <p:cNvSpPr/>
          <p:nvPr/>
        </p:nvSpPr>
        <p:spPr>
          <a:xfrm>
            <a:off x="1097280" y="3035808"/>
            <a:ext cx="9509760" cy="91440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The position that these requirements bind only through contract flow-down is making Severity 4 to 5 risk-acceptance decisions by omission, at the wrong altitude in the organization.</a:t>
            </a:r>
            <a:endParaRPr lang="en-US" sz="1550" dirty="0"/>
          </a:p>
        </p:txBody>
      </p:sp>
      <p:sp>
        <p:nvSpPr>
          <p:cNvPr id="7" name="Text 5"/>
          <p:cNvSpPr/>
          <p:nvPr/>
        </p:nvSpPr>
        <p:spPr>
          <a:xfrm>
            <a:off x="822960" y="4343400"/>
            <a:ext cx="2286000" cy="566928"/>
          </a:xfrm>
          <a:prstGeom prst="rect">
            <a:avLst/>
          </a:prstGeom>
          <a:noFill/>
          <a:ln/>
        </p:spPr>
        <p:txBody>
          <a:bodyPr wrap="square" lIns="0" tIns="0" rIns="0" bIns="0" rtlCol="0" anchor="ctr"/>
          <a:lstStyle/>
          <a:p>
            <a:pPr indent="0" marL="0">
              <a:buNone/>
            </a:pPr>
            <a:r>
              <a:rPr lang="en-US" sz="3200" b="1" dirty="0">
                <a:solidFill>
                  <a:srgbClr val="D9A441"/>
                </a:solidFill>
                <a:latin typeface="Cambria" pitchFamily="34" charset="0"/>
                <a:ea typeface="Cambria" pitchFamily="34" charset="-122"/>
                <a:cs typeface="Cambria" pitchFamily="34" charset="-120"/>
              </a:rPr>
              <a:t>60</a:t>
            </a:r>
            <a:endParaRPr lang="en-US" sz="3200" dirty="0"/>
          </a:p>
        </p:txBody>
      </p:sp>
      <p:sp>
        <p:nvSpPr>
          <p:cNvPr id="8" name="Text 6"/>
          <p:cNvSpPr/>
          <p:nvPr/>
        </p:nvSpPr>
        <p:spPr>
          <a:xfrm>
            <a:off x="822960" y="4901184"/>
            <a:ext cx="2377440" cy="365760"/>
          </a:xfrm>
          <a:prstGeom prst="rect">
            <a:avLst/>
          </a:prstGeom>
          <a:noFill/>
          <a:ln/>
        </p:spPr>
        <p:txBody>
          <a:bodyPr wrap="square" lIns="0" tIns="0" rIns="0" bIns="0" rtlCol="0" anchor="ctr"/>
          <a:lstStyle/>
          <a:p>
            <a:pPr indent="0" marL="0">
              <a:buNone/>
            </a:pPr>
            <a:r>
              <a:rPr lang="en-US" sz="1100" dirty="0">
                <a:solidFill>
                  <a:srgbClr val="9FB3C4"/>
                </a:solidFill>
                <a:latin typeface="Calibri" pitchFamily="34" charset="0"/>
                <a:ea typeface="Calibri" pitchFamily="34" charset="-122"/>
                <a:cs typeface="Calibri" pitchFamily="34" charset="-120"/>
              </a:rPr>
              <a:t>clause-anchored barriers</a:t>
            </a:r>
            <a:endParaRPr lang="en-US" sz="1100" dirty="0"/>
          </a:p>
        </p:txBody>
      </p:sp>
      <p:sp>
        <p:nvSpPr>
          <p:cNvPr id="9" name="Text 7"/>
          <p:cNvSpPr/>
          <p:nvPr/>
        </p:nvSpPr>
        <p:spPr>
          <a:xfrm>
            <a:off x="3364992" y="4343400"/>
            <a:ext cx="2286000" cy="566928"/>
          </a:xfrm>
          <a:prstGeom prst="rect">
            <a:avLst/>
          </a:prstGeom>
          <a:noFill/>
          <a:ln/>
        </p:spPr>
        <p:txBody>
          <a:bodyPr wrap="square" lIns="0" tIns="0" rIns="0" bIns="0" rtlCol="0" anchor="ctr"/>
          <a:lstStyle/>
          <a:p>
            <a:pPr indent="0" marL="0">
              <a:buNone/>
            </a:pPr>
            <a:r>
              <a:rPr lang="en-US" sz="3200" b="1" dirty="0">
                <a:solidFill>
                  <a:srgbClr val="D9A441"/>
                </a:solidFill>
                <a:latin typeface="Cambria" pitchFamily="34" charset="0"/>
                <a:ea typeface="Cambria" pitchFamily="34" charset="-122"/>
                <a:cs typeface="Cambria" pitchFamily="34" charset="-120"/>
              </a:rPr>
              <a:t>36</a:t>
            </a:r>
            <a:endParaRPr lang="en-US" sz="3200" dirty="0"/>
          </a:p>
        </p:txBody>
      </p:sp>
      <p:sp>
        <p:nvSpPr>
          <p:cNvPr id="10" name="Text 8"/>
          <p:cNvSpPr/>
          <p:nvPr/>
        </p:nvSpPr>
        <p:spPr>
          <a:xfrm>
            <a:off x="3364992" y="4901184"/>
            <a:ext cx="2377440" cy="365760"/>
          </a:xfrm>
          <a:prstGeom prst="rect">
            <a:avLst/>
          </a:prstGeom>
          <a:noFill/>
          <a:ln/>
        </p:spPr>
        <p:txBody>
          <a:bodyPr wrap="square" lIns="0" tIns="0" rIns="0" bIns="0" rtlCol="0" anchor="ctr"/>
          <a:lstStyle/>
          <a:p>
            <a:pPr indent="0" marL="0">
              <a:buNone/>
            </a:pPr>
            <a:r>
              <a:rPr lang="en-US" sz="1100" dirty="0">
                <a:solidFill>
                  <a:srgbClr val="9FB3C4"/>
                </a:solidFill>
                <a:latin typeface="Calibri" pitchFamily="34" charset="0"/>
                <a:ea typeface="Calibri" pitchFamily="34" charset="-122"/>
                <a:cs typeface="Calibri" pitchFamily="34" charset="-120"/>
              </a:rPr>
              <a:t>documented Sev 4-5 events</a:t>
            </a:r>
            <a:endParaRPr lang="en-US" sz="1100" dirty="0"/>
          </a:p>
        </p:txBody>
      </p:sp>
      <p:sp>
        <p:nvSpPr>
          <p:cNvPr id="11" name="Text 9"/>
          <p:cNvSpPr/>
          <p:nvPr/>
        </p:nvSpPr>
        <p:spPr>
          <a:xfrm>
            <a:off x="5907024" y="4343400"/>
            <a:ext cx="2286000" cy="566928"/>
          </a:xfrm>
          <a:prstGeom prst="rect">
            <a:avLst/>
          </a:prstGeom>
          <a:noFill/>
          <a:ln/>
        </p:spPr>
        <p:txBody>
          <a:bodyPr wrap="square" lIns="0" tIns="0" rIns="0" bIns="0" rtlCol="0" anchor="ctr"/>
          <a:lstStyle/>
          <a:p>
            <a:pPr indent="0" marL="0">
              <a:buNone/>
            </a:pPr>
            <a:r>
              <a:rPr lang="en-US" sz="3200" b="1" dirty="0">
                <a:solidFill>
                  <a:srgbClr val="D9A441"/>
                </a:solidFill>
                <a:latin typeface="Cambria" pitchFamily="34" charset="0"/>
                <a:ea typeface="Cambria" pitchFamily="34" charset="-122"/>
                <a:cs typeface="Cambria" pitchFamily="34" charset="-120"/>
              </a:rPr>
              <a:t>23</a:t>
            </a:r>
            <a:endParaRPr lang="en-US" sz="3200" dirty="0"/>
          </a:p>
        </p:txBody>
      </p:sp>
      <p:sp>
        <p:nvSpPr>
          <p:cNvPr id="12" name="Text 10"/>
          <p:cNvSpPr/>
          <p:nvPr/>
        </p:nvSpPr>
        <p:spPr>
          <a:xfrm>
            <a:off x="5907024" y="4901184"/>
            <a:ext cx="2377440" cy="365760"/>
          </a:xfrm>
          <a:prstGeom prst="rect">
            <a:avLst/>
          </a:prstGeom>
          <a:noFill/>
          <a:ln/>
        </p:spPr>
        <p:txBody>
          <a:bodyPr wrap="square" lIns="0" tIns="0" rIns="0" bIns="0" rtlCol="0" anchor="ctr"/>
          <a:lstStyle/>
          <a:p>
            <a:pPr indent="0" marL="0">
              <a:buNone/>
            </a:pPr>
            <a:r>
              <a:rPr lang="en-US" sz="1100" dirty="0">
                <a:solidFill>
                  <a:srgbClr val="9FB3C4"/>
                </a:solidFill>
                <a:latin typeface="Calibri" pitchFamily="34" charset="0"/>
                <a:ea typeface="Calibri" pitchFamily="34" charset="-122"/>
                <a:cs typeface="Calibri" pitchFamily="34" charset="-120"/>
              </a:rPr>
              <a:t>multi-standard anchored</a:t>
            </a:r>
            <a:endParaRPr lang="en-US" sz="1100" dirty="0"/>
          </a:p>
        </p:txBody>
      </p:sp>
      <p:sp>
        <p:nvSpPr>
          <p:cNvPr id="13" name="Text 11"/>
          <p:cNvSpPr/>
          <p:nvPr/>
        </p:nvSpPr>
        <p:spPr>
          <a:xfrm>
            <a:off x="8449056" y="4343400"/>
            <a:ext cx="2286000" cy="566928"/>
          </a:xfrm>
          <a:prstGeom prst="rect">
            <a:avLst/>
          </a:prstGeom>
          <a:noFill/>
          <a:ln/>
        </p:spPr>
        <p:txBody>
          <a:bodyPr wrap="square" lIns="0" tIns="0" rIns="0" bIns="0" rtlCol="0" anchor="ctr"/>
          <a:lstStyle/>
          <a:p>
            <a:pPr indent="0" marL="0">
              <a:buNone/>
            </a:pPr>
            <a:r>
              <a:rPr lang="en-US" sz="3200" b="1" dirty="0">
                <a:solidFill>
                  <a:srgbClr val="D9A441"/>
                </a:solidFill>
                <a:latin typeface="Cambria" pitchFamily="34" charset="0"/>
                <a:ea typeface="Cambria" pitchFamily="34" charset="-122"/>
                <a:cs typeface="Cambria" pitchFamily="34" charset="-120"/>
              </a:rPr>
              <a:t>1,900+</a:t>
            </a:r>
            <a:endParaRPr lang="en-US" sz="3200" dirty="0"/>
          </a:p>
        </p:txBody>
      </p:sp>
      <p:sp>
        <p:nvSpPr>
          <p:cNvPr id="14" name="Text 12"/>
          <p:cNvSpPr/>
          <p:nvPr/>
        </p:nvSpPr>
        <p:spPr>
          <a:xfrm>
            <a:off x="8449056" y="4901184"/>
            <a:ext cx="2377440" cy="365760"/>
          </a:xfrm>
          <a:prstGeom prst="rect">
            <a:avLst/>
          </a:prstGeom>
          <a:noFill/>
          <a:ln/>
        </p:spPr>
        <p:txBody>
          <a:bodyPr wrap="square" lIns="0" tIns="0" rIns="0" bIns="0" rtlCol="0" anchor="ctr"/>
          <a:lstStyle/>
          <a:p>
            <a:pPr indent="0" marL="0">
              <a:buNone/>
            </a:pPr>
            <a:r>
              <a:rPr lang="en-US" sz="1100" dirty="0">
                <a:solidFill>
                  <a:srgbClr val="9FB3C4"/>
                </a:solidFill>
                <a:latin typeface="Calibri" pitchFamily="34" charset="0"/>
                <a:ea typeface="Calibri" pitchFamily="34" charset="-122"/>
                <a:cs typeface="Calibri" pitchFamily="34" charset="-120"/>
              </a:rPr>
              <a:t>documented fatalities</a:t>
            </a:r>
            <a:endParaRPr lang="en-US" sz="1100" dirty="0"/>
          </a:p>
        </p:txBody>
      </p:sp>
      <p:sp>
        <p:nvSpPr>
          <p:cNvPr id="15" name="Text 13"/>
          <p:cNvSpPr/>
          <p:nvPr/>
        </p:nvSpPr>
        <p:spPr>
          <a:xfrm>
            <a:off x="822960" y="5943600"/>
            <a:ext cx="5486400" cy="320040"/>
          </a:xfrm>
          <a:prstGeom prst="rect">
            <a:avLst/>
          </a:prstGeom>
          <a:noFill/>
          <a:ln/>
        </p:spPr>
        <p:txBody>
          <a:bodyPr wrap="square" lIns="0" tIns="0" rIns="0" bIns="0" rtlCol="0" anchor="ctr"/>
          <a:lstStyle/>
          <a:p>
            <a:pPr indent="0" marL="0">
              <a:buNone/>
            </a:pPr>
            <a:r>
              <a:rPr lang="en-US" sz="1200" dirty="0">
                <a:solidFill>
                  <a:srgbClr val="39586F"/>
                </a:solidFill>
                <a:latin typeface="Calibri" pitchFamily="34" charset="0"/>
                <a:ea typeface="Calibri" pitchFamily="34" charset="-122"/>
                <a:cs typeface="Calibri" pitchFamily="34" charset="-120"/>
              </a:rPr>
              <a:t>Briefing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BLUF</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Two positions, and which one the standards support</a:t>
            </a:r>
            <a:endParaRPr lang="en-US" sz="1350" dirty="0"/>
          </a:p>
        </p:txBody>
      </p:sp>
      <p:sp>
        <p:nvSpPr>
          <p:cNvPr id="4" name="Shape 2"/>
          <p:cNvSpPr/>
          <p:nvPr/>
        </p:nvSpPr>
        <p:spPr>
          <a:xfrm>
            <a:off x="548640" y="1554480"/>
            <a:ext cx="5440680" cy="2148840"/>
          </a:xfrm>
          <a:prstGeom prst="roundRect">
            <a:avLst>
              <a:gd name="adj" fmla="val 2553"/>
            </a:avLst>
          </a:prstGeom>
          <a:solidFill>
            <a:srgbClr val="FFFFFF"/>
          </a:solidFill>
          <a:ln w="9525">
            <a:solidFill>
              <a:srgbClr val="D6DEE6"/>
            </a:solidFill>
            <a:prstDash val="solid"/>
          </a:ln>
        </p:spPr>
      </p:sp>
      <p:sp>
        <p:nvSpPr>
          <p:cNvPr id="5" name="Text 3"/>
          <p:cNvSpPr/>
          <p:nvPr/>
        </p:nvSpPr>
        <p:spPr>
          <a:xfrm>
            <a:off x="868680" y="1755648"/>
            <a:ext cx="4846320" cy="310896"/>
          </a:xfrm>
          <a:prstGeom prst="rect">
            <a:avLst/>
          </a:prstGeom>
          <a:noFill/>
          <a:ln/>
        </p:spPr>
        <p:txBody>
          <a:bodyPr wrap="square" lIns="0" tIns="0" rIns="0" bIns="0" rtlCol="0" anchor="ctr"/>
          <a:lstStyle/>
          <a:p>
            <a:pPr indent="0" marL="0">
              <a:buNone/>
            </a:pPr>
            <a:r>
              <a:rPr lang="en-US" sz="1500" b="1" dirty="0">
                <a:solidFill>
                  <a:srgbClr val="5C6E7D"/>
                </a:solidFill>
                <a:latin typeface="Calibri" pitchFamily="34" charset="0"/>
                <a:ea typeface="Calibri" pitchFamily="34" charset="-122"/>
                <a:cs typeface="Calibri" pitchFamily="34" charset="-120"/>
              </a:rPr>
              <a:t>Current problematic position</a:t>
            </a:r>
            <a:endParaRPr lang="en-US" sz="1500" dirty="0"/>
          </a:p>
        </p:txBody>
      </p:sp>
      <p:sp>
        <p:nvSpPr>
          <p:cNvPr id="6" name="Text 4"/>
          <p:cNvSpPr/>
          <p:nvPr/>
        </p:nvSpPr>
        <p:spPr>
          <a:xfrm>
            <a:off x="868680" y="2139696"/>
            <a:ext cx="4846320" cy="1325880"/>
          </a:xfrm>
          <a:prstGeom prst="rect">
            <a:avLst/>
          </a:prstGeom>
          <a:noFill/>
          <a:ln/>
        </p:spPr>
        <p:txBody>
          <a:bodyPr wrap="square" lIns="0" tIns="0" rIns="0" bIns="0" rtlCol="0" anchor="ctr"/>
          <a:lstStyle/>
          <a:p>
            <a:pPr indent="0" marL="0">
              <a:buNone/>
            </a:pPr>
            <a:r>
              <a:rPr lang="en-US" sz="1450" i="1" dirty="0">
                <a:solidFill>
                  <a:srgbClr val="16232E"/>
                </a:solidFill>
                <a:latin typeface="Calibri" pitchFamily="34" charset="0"/>
                <a:ea typeface="Calibri" pitchFamily="34" charset="-122"/>
                <a:cs typeface="Calibri" pitchFamily="34" charset="-120"/>
              </a:rPr>
              <a:t>“These are contractually invoked engineering standards. If a contract does not require a specific clause, we are not obligated to perform it.”</a:t>
            </a:r>
            <a:endParaRPr lang="en-US" sz="1450" dirty="0"/>
          </a:p>
        </p:txBody>
      </p:sp>
      <p:sp>
        <p:nvSpPr>
          <p:cNvPr id="7" name="Shape 5"/>
          <p:cNvSpPr/>
          <p:nvPr/>
        </p:nvSpPr>
        <p:spPr>
          <a:xfrm>
            <a:off x="6199632" y="1554480"/>
            <a:ext cx="5440680" cy="2148840"/>
          </a:xfrm>
          <a:prstGeom prst="roundRect">
            <a:avLst>
              <a:gd name="adj" fmla="val 2553"/>
            </a:avLst>
          </a:prstGeom>
          <a:solidFill>
            <a:srgbClr val="1E3A54"/>
          </a:solidFill>
          <a:ln/>
        </p:spPr>
      </p:sp>
      <p:sp>
        <p:nvSpPr>
          <p:cNvPr id="8" name="Text 6"/>
          <p:cNvSpPr/>
          <p:nvPr/>
        </p:nvSpPr>
        <p:spPr>
          <a:xfrm>
            <a:off x="6519672" y="1755648"/>
            <a:ext cx="4846320" cy="310896"/>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This deck's position</a:t>
            </a:r>
            <a:endParaRPr lang="en-US" sz="1500" dirty="0"/>
          </a:p>
        </p:txBody>
      </p:sp>
      <p:sp>
        <p:nvSpPr>
          <p:cNvPr id="9" name="Text 7"/>
          <p:cNvSpPr/>
          <p:nvPr/>
        </p:nvSpPr>
        <p:spPr>
          <a:xfrm>
            <a:off x="6519672" y="2139696"/>
            <a:ext cx="4846320" cy="132588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These requirements are SMS-pathway obligations, not contract-pathway preferences. Suspending one is a Severity 4 to 5 risk-acceptance decision, and the standards themselves say so.</a:t>
            </a:r>
            <a:endParaRPr lang="en-US" sz="1450" dirty="0"/>
          </a:p>
        </p:txBody>
      </p:sp>
      <p:sp>
        <p:nvSpPr>
          <p:cNvPr id="10" name="Shape 8"/>
          <p:cNvSpPr/>
          <p:nvPr/>
        </p:nvSpPr>
        <p:spPr>
          <a:xfrm>
            <a:off x="548640" y="3977640"/>
            <a:ext cx="11091672" cy="1783080"/>
          </a:xfrm>
          <a:prstGeom prst="roundRect">
            <a:avLst>
              <a:gd name="adj" fmla="val 3077"/>
            </a:avLst>
          </a:prstGeom>
          <a:solidFill>
            <a:srgbClr val="FFFFFF"/>
          </a:solidFill>
          <a:ln w="9525">
            <a:solidFill>
              <a:srgbClr val="D6DEE6"/>
            </a:solidFill>
            <a:prstDash val="solid"/>
          </a:ln>
        </p:spPr>
      </p:sp>
      <p:sp>
        <p:nvSpPr>
          <p:cNvPr id="11" name="Text 9"/>
          <p:cNvSpPr/>
          <p:nvPr/>
        </p:nvSpPr>
        <p:spPr>
          <a:xfrm>
            <a:off x="868680" y="4160520"/>
            <a:ext cx="10424160" cy="310896"/>
          </a:xfrm>
          <a:prstGeom prst="rect">
            <a:avLst/>
          </a:prstGeom>
          <a:noFill/>
          <a:ln/>
        </p:spPr>
        <p:txBody>
          <a:bodyPr wrap="square" lIns="0" tIns="0" rIns="0" bIns="0" rtlCol="0" anchor="ctr"/>
          <a:lstStyle/>
          <a:p>
            <a:pPr indent="0" marL="0">
              <a:buNone/>
            </a:pPr>
            <a:r>
              <a:rPr lang="en-US" sz="1500" b="1" dirty="0">
                <a:solidFill>
                  <a:srgbClr val="B3282D"/>
                </a:solidFill>
                <a:latin typeface="Calibri" pitchFamily="34" charset="0"/>
                <a:ea typeface="Calibri" pitchFamily="34" charset="-122"/>
                <a:cs typeface="Calibri" pitchFamily="34" charset="-120"/>
              </a:rPr>
              <a:t>The bottom line for leadership</a:t>
            </a:r>
            <a:endParaRPr lang="en-US" sz="1500" dirty="0"/>
          </a:p>
        </p:txBody>
      </p:sp>
      <p:sp>
        <p:nvSpPr>
          <p:cNvPr id="12" name="Text 10"/>
          <p:cNvSpPr/>
          <p:nvPr/>
        </p:nvSpPr>
        <p:spPr>
          <a:xfrm>
            <a:off x="868680" y="4526280"/>
            <a:ext cx="10424160" cy="1097280"/>
          </a:xfrm>
          <a:prstGeom prst="rect">
            <a:avLst/>
          </a:prstGeom>
          <a:noFill/>
          <a:ln/>
        </p:spPr>
        <p:txBody>
          <a:bodyPr wrap="square" lIns="0" tIns="0" rIns="0" bIns="0" rtlCol="0" anchor="ctr"/>
          <a:lstStyle/>
          <a:p>
            <a:pPr indent="0" marL="0">
              <a:buNone/>
            </a:pPr>
            <a:r>
              <a:rPr lang="en-US" sz="1450" dirty="0">
                <a:solidFill>
                  <a:srgbClr val="16232E"/>
                </a:solidFill>
                <a:latin typeface="Calibri" pitchFamily="34" charset="0"/>
                <a:ea typeface="Calibri" pitchFamily="34" charset="-122"/>
                <a:cs typeface="Calibri" pitchFamily="34" charset="-120"/>
              </a:rPr>
              <a:t>Whether or not a contract calls out GEIA-STD-0009A, JA1011, MIL-STD-1530D, MIL-STD-882E or MIL-STD-1472H, the SMS standard the organization has adopted independently requires the controls those standards implement. Both pathways bind. And every one of those standards states that tailoring is a documented, risk-assessed, approved act rather than a silent omission.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2E"/>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Argument Is Already Written Into MIL-STD-882E</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9FB3C4"/>
                </a:solidFill>
                <a:latin typeface="Calibri" pitchFamily="34" charset="0"/>
                <a:ea typeface="Calibri" pitchFamily="34" charset="-122"/>
                <a:cs typeface="Calibri" pitchFamily="34" charset="-120"/>
              </a:rPr>
              <a:t>Three clauses, quoted in substance, not our framing imposed on the standards</a:t>
            </a:r>
            <a:endParaRPr lang="en-US" sz="1350" dirty="0"/>
          </a:p>
        </p:txBody>
      </p:sp>
      <p:sp>
        <p:nvSpPr>
          <p:cNvPr id="4" name="Shape 2"/>
          <p:cNvSpPr/>
          <p:nvPr/>
        </p:nvSpPr>
        <p:spPr>
          <a:xfrm>
            <a:off x="548640" y="1572768"/>
            <a:ext cx="3520440" cy="3246120"/>
          </a:xfrm>
          <a:prstGeom prst="roundRect">
            <a:avLst>
              <a:gd name="adj" fmla="val 1690"/>
            </a:avLst>
          </a:prstGeom>
          <a:solidFill>
            <a:srgbClr val="1E3A54"/>
          </a:solidFill>
          <a:ln/>
        </p:spPr>
      </p:sp>
      <p:sp>
        <p:nvSpPr>
          <p:cNvPr id="5" name="Text 3"/>
          <p:cNvSpPr/>
          <p:nvPr/>
        </p:nvSpPr>
        <p:spPr>
          <a:xfrm>
            <a:off x="804672" y="1773936"/>
            <a:ext cx="3017520" cy="292608"/>
          </a:xfrm>
          <a:prstGeom prst="rect">
            <a:avLst/>
          </a:prstGeom>
          <a:noFill/>
          <a:ln/>
        </p:spPr>
        <p:txBody>
          <a:bodyPr wrap="square" lIns="0" tIns="0" rIns="0" bIns="0" rtlCol="0" anchor="ctr"/>
          <a:lstStyle/>
          <a:p>
            <a:pPr indent="0" marL="0">
              <a:buNone/>
            </a:pPr>
            <a:r>
              <a:rPr lang="en-US" sz="1300" b="1" dirty="0">
                <a:solidFill>
                  <a:srgbClr val="D9A441"/>
                </a:solidFill>
                <a:latin typeface="Calibri" pitchFamily="34" charset="0"/>
                <a:ea typeface="Calibri" pitchFamily="34" charset="-122"/>
                <a:cs typeface="Calibri" pitchFamily="34" charset="-120"/>
              </a:rPr>
              <a:t>4.1.1 / 4.1.2</a:t>
            </a:r>
            <a:endParaRPr lang="en-US" sz="1300" dirty="0"/>
          </a:p>
        </p:txBody>
      </p:sp>
      <p:sp>
        <p:nvSpPr>
          <p:cNvPr id="6" name="Text 4"/>
          <p:cNvSpPr/>
          <p:nvPr/>
        </p:nvSpPr>
        <p:spPr>
          <a:xfrm>
            <a:off x="804672" y="2121408"/>
            <a:ext cx="3017520" cy="65836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Tailoring can only add</a:t>
            </a:r>
            <a:endParaRPr lang="en-US" sz="1700" dirty="0"/>
          </a:p>
        </p:txBody>
      </p:sp>
      <p:sp>
        <p:nvSpPr>
          <p:cNvPr id="7" name="Text 5"/>
          <p:cNvSpPr/>
          <p:nvPr/>
        </p:nvSpPr>
        <p:spPr>
          <a:xfrm>
            <a:off x="804672" y="2761488"/>
            <a:ext cx="3017520" cy="1874520"/>
          </a:xfrm>
          <a:prstGeom prst="rect">
            <a:avLst/>
          </a:prstGeom>
          <a:noFill/>
          <a:ln/>
        </p:spPr>
        <p:txBody>
          <a:bodyPr wrap="square" lIns="0" tIns="0" rIns="0" bIns="0" rtlCol="0" anchor="ctr"/>
          <a:lstStyle/>
          <a:p>
            <a:pPr indent="0" marL="0">
              <a:buNone/>
            </a:pPr>
            <a:r>
              <a:rPr lang="en-US" sz="1250" dirty="0">
                <a:solidFill>
                  <a:srgbClr val="9FB3C4"/>
                </a:solidFill>
                <a:latin typeface="Calibri" pitchFamily="34" charset="0"/>
                <a:ea typeface="Calibri" pitchFamily="34" charset="-122"/>
                <a:cs typeface="Calibri" pitchFamily="34" charset="-120"/>
              </a:rPr>
              <a:t>Sections 3 and 4 are the minimum mandatory requirements for an acceptable system safety effort for any DoD system. Tasks may be cited to ADD requirements. Tailoring cannot subtract from the floor.</a:t>
            </a:r>
            <a:endParaRPr lang="en-US" sz="1250" dirty="0"/>
          </a:p>
        </p:txBody>
      </p:sp>
      <p:sp>
        <p:nvSpPr>
          <p:cNvPr id="8" name="Shape 6"/>
          <p:cNvSpPr/>
          <p:nvPr/>
        </p:nvSpPr>
        <p:spPr>
          <a:xfrm>
            <a:off x="4306824" y="1572768"/>
            <a:ext cx="3520440" cy="3246120"/>
          </a:xfrm>
          <a:prstGeom prst="roundRect">
            <a:avLst>
              <a:gd name="adj" fmla="val 1690"/>
            </a:avLst>
          </a:prstGeom>
          <a:solidFill>
            <a:srgbClr val="1E3A54"/>
          </a:solidFill>
          <a:ln/>
        </p:spPr>
      </p:sp>
      <p:sp>
        <p:nvSpPr>
          <p:cNvPr id="9" name="Text 7"/>
          <p:cNvSpPr/>
          <p:nvPr/>
        </p:nvSpPr>
        <p:spPr>
          <a:xfrm>
            <a:off x="4562856" y="1773936"/>
            <a:ext cx="3017520" cy="292608"/>
          </a:xfrm>
          <a:prstGeom prst="rect">
            <a:avLst/>
          </a:prstGeom>
          <a:noFill/>
          <a:ln/>
        </p:spPr>
        <p:txBody>
          <a:bodyPr wrap="square" lIns="0" tIns="0" rIns="0" bIns="0" rtlCol="0" anchor="ctr"/>
          <a:lstStyle/>
          <a:p>
            <a:pPr indent="0" marL="0">
              <a:buNone/>
            </a:pPr>
            <a:r>
              <a:rPr lang="en-US" sz="1300" b="1" dirty="0">
                <a:solidFill>
                  <a:srgbClr val="D9A441"/>
                </a:solidFill>
                <a:latin typeface="Calibri" pitchFamily="34" charset="0"/>
                <a:ea typeface="Calibri" pitchFamily="34" charset="-122"/>
                <a:cs typeface="Calibri" pitchFamily="34" charset="-120"/>
              </a:rPr>
              <a:t>4.2.2 / 4.2.2.2</a:t>
            </a:r>
            <a:endParaRPr lang="en-US" sz="1300" dirty="0"/>
          </a:p>
        </p:txBody>
      </p:sp>
      <p:sp>
        <p:nvSpPr>
          <p:cNvPr id="10" name="Text 8"/>
          <p:cNvSpPr/>
          <p:nvPr/>
        </p:nvSpPr>
        <p:spPr>
          <a:xfrm>
            <a:off x="4562856" y="2121408"/>
            <a:ext cx="3017520" cy="65836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Each discipline owns its own risk</a:t>
            </a:r>
            <a:endParaRPr lang="en-US" sz="1700" dirty="0"/>
          </a:p>
        </p:txBody>
      </p:sp>
      <p:sp>
        <p:nvSpPr>
          <p:cNvPr id="11" name="Text 9"/>
          <p:cNvSpPr/>
          <p:nvPr/>
        </p:nvSpPr>
        <p:spPr>
          <a:xfrm>
            <a:off x="4562856" y="2761488"/>
            <a:ext cx="3017520" cy="1874520"/>
          </a:xfrm>
          <a:prstGeom prst="rect">
            <a:avLst/>
          </a:prstGeom>
          <a:noFill/>
          <a:ln/>
        </p:spPr>
        <p:txBody>
          <a:bodyPr wrap="square" lIns="0" tIns="0" rIns="0" bIns="0" rtlCol="0" anchor="ctr"/>
          <a:lstStyle/>
          <a:p>
            <a:pPr indent="0" marL="0">
              <a:buNone/>
            </a:pPr>
            <a:r>
              <a:rPr lang="en-US" sz="1250" dirty="0">
                <a:solidFill>
                  <a:srgbClr val="9FB3C4"/>
                </a:solidFill>
                <a:latin typeface="Calibri" pitchFamily="34" charset="0"/>
                <a:ea typeface="Calibri" pitchFamily="34" charset="-122"/>
                <a:cs typeface="Calibri" pitchFamily="34" charset="-120"/>
              </a:rPr>
              <a:t>System safety personnel are not responsible for hazard management in other engineering disciplines. Each discipline obtains its own risk acceptance from the appropriate risk acceptance authority.</a:t>
            </a:r>
            <a:endParaRPr lang="en-US" sz="1250" dirty="0"/>
          </a:p>
        </p:txBody>
      </p:sp>
      <p:sp>
        <p:nvSpPr>
          <p:cNvPr id="12" name="Shape 10"/>
          <p:cNvSpPr/>
          <p:nvPr/>
        </p:nvSpPr>
        <p:spPr>
          <a:xfrm>
            <a:off x="8065008" y="1572768"/>
            <a:ext cx="3520440" cy="3246120"/>
          </a:xfrm>
          <a:prstGeom prst="roundRect">
            <a:avLst>
              <a:gd name="adj" fmla="val 1690"/>
            </a:avLst>
          </a:prstGeom>
          <a:solidFill>
            <a:srgbClr val="1E3A54"/>
          </a:solidFill>
          <a:ln/>
        </p:spPr>
      </p:sp>
      <p:sp>
        <p:nvSpPr>
          <p:cNvPr id="13" name="Text 11"/>
          <p:cNvSpPr/>
          <p:nvPr/>
        </p:nvSpPr>
        <p:spPr>
          <a:xfrm>
            <a:off x="8321040" y="1773936"/>
            <a:ext cx="3017520" cy="292608"/>
          </a:xfrm>
          <a:prstGeom prst="rect">
            <a:avLst/>
          </a:prstGeom>
          <a:noFill/>
          <a:ln/>
        </p:spPr>
        <p:txBody>
          <a:bodyPr wrap="square" lIns="0" tIns="0" rIns="0" bIns="0" rtlCol="0" anchor="ctr"/>
          <a:lstStyle/>
          <a:p>
            <a:pPr indent="0" marL="0">
              <a:buNone/>
            </a:pPr>
            <a:r>
              <a:rPr lang="en-US" sz="1300" b="1" dirty="0">
                <a:solidFill>
                  <a:srgbClr val="D9A441"/>
                </a:solidFill>
                <a:latin typeface="Calibri" pitchFamily="34" charset="0"/>
                <a:ea typeface="Calibri" pitchFamily="34" charset="-122"/>
                <a:cs typeface="Calibri" pitchFamily="34" charset="-120"/>
              </a:rPr>
              <a:t>4.3.2</a:t>
            </a:r>
            <a:endParaRPr lang="en-US" sz="1300" dirty="0"/>
          </a:p>
        </p:txBody>
      </p:sp>
      <p:sp>
        <p:nvSpPr>
          <p:cNvPr id="14" name="Text 12"/>
          <p:cNvSpPr/>
          <p:nvPr/>
        </p:nvSpPr>
        <p:spPr>
          <a:xfrm>
            <a:off x="8321040" y="2121408"/>
            <a:ext cx="3017520" cy="65836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barrier method is an obligation</a:t>
            </a:r>
            <a:endParaRPr lang="en-US" sz="1700" dirty="0"/>
          </a:p>
        </p:txBody>
      </p:sp>
      <p:sp>
        <p:nvSpPr>
          <p:cNvPr id="15" name="Text 13"/>
          <p:cNvSpPr/>
          <p:nvPr/>
        </p:nvSpPr>
        <p:spPr>
          <a:xfrm>
            <a:off x="8321040" y="2761488"/>
            <a:ext cx="3017520" cy="1874520"/>
          </a:xfrm>
          <a:prstGeom prst="rect">
            <a:avLst/>
          </a:prstGeom>
          <a:noFill/>
          <a:ln/>
        </p:spPr>
        <p:txBody>
          <a:bodyPr wrap="square" lIns="0" tIns="0" rIns="0" bIns="0" rtlCol="0" anchor="ctr"/>
          <a:lstStyle/>
          <a:p>
            <a:pPr indent="0" marL="0">
              <a:buNone/>
            </a:pPr>
            <a:r>
              <a:rPr lang="en-US" sz="1250" dirty="0">
                <a:solidFill>
                  <a:srgbClr val="9FB3C4"/>
                </a:solidFill>
                <a:latin typeface="Calibri" pitchFamily="34" charset="0"/>
                <a:ea typeface="Calibri" pitchFamily="34" charset="-122"/>
                <a:cs typeface="Calibri" pitchFamily="34" charset="-120"/>
              </a:rPr>
              <a:t>Hazard identification shall consider the entire life cycle and shall use mishap data and lessons learned from legacy and similar systems. This assessment is not an initiative. It is a requirement.</a:t>
            </a:r>
            <a:endParaRPr lang="en-US" sz="1250" dirty="0"/>
          </a:p>
        </p:txBody>
      </p:sp>
      <p:sp>
        <p:nvSpPr>
          <p:cNvPr id="16" name="Shape 14"/>
          <p:cNvSpPr/>
          <p:nvPr/>
        </p:nvSpPr>
        <p:spPr>
          <a:xfrm>
            <a:off x="548640" y="5010912"/>
            <a:ext cx="11091672" cy="1005840"/>
          </a:xfrm>
          <a:prstGeom prst="roundRect">
            <a:avLst>
              <a:gd name="adj" fmla="val 5455"/>
            </a:avLst>
          </a:prstGeom>
          <a:solidFill>
            <a:srgbClr val="B3282D"/>
          </a:solidFill>
          <a:ln/>
        </p:spPr>
      </p:sp>
      <p:sp>
        <p:nvSpPr>
          <p:cNvPr id="17" name="Text 15"/>
          <p:cNvSpPr/>
          <p:nvPr/>
        </p:nvSpPr>
        <p:spPr>
          <a:xfrm>
            <a:off x="868680" y="5138928"/>
            <a:ext cx="10469880" cy="7772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Two further clauses carry their own slides. 4.3.4 sets a mitigation order of precedence and states that procedures, training and PPE should not be the only control for a catastrophic hazard. 4.3.3.b states that no amount of doctrine, training, warning, caution or PPE moves a mishap probability to eliminated.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Two Pathways Both Bind the Organization</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The contract may be silent. The SMS is not.</a:t>
            </a:r>
            <a:endParaRPr lang="en-US" sz="1350" dirty="0"/>
          </a:p>
        </p:txBody>
      </p:sp>
      <p:sp>
        <p:nvSpPr>
          <p:cNvPr id="4" name="Shape 2"/>
          <p:cNvSpPr/>
          <p:nvPr/>
        </p:nvSpPr>
        <p:spPr>
          <a:xfrm>
            <a:off x="548640" y="1554480"/>
            <a:ext cx="5440680" cy="3840480"/>
          </a:xfrm>
          <a:prstGeom prst="roundRect">
            <a:avLst>
              <a:gd name="adj" fmla="val 1429"/>
            </a:avLst>
          </a:prstGeom>
          <a:solidFill>
            <a:srgbClr val="FFFFFF"/>
          </a:solidFill>
          <a:ln w="9525">
            <a:solidFill>
              <a:srgbClr val="D6DEE6"/>
            </a:solidFill>
            <a:prstDash val="solid"/>
          </a:ln>
        </p:spPr>
      </p:sp>
      <p:sp>
        <p:nvSpPr>
          <p:cNvPr id="5" name="Text 3"/>
          <p:cNvSpPr/>
          <p:nvPr/>
        </p:nvSpPr>
        <p:spPr>
          <a:xfrm>
            <a:off x="868680" y="1755648"/>
            <a:ext cx="4846320" cy="329184"/>
          </a:xfrm>
          <a:prstGeom prst="rect">
            <a:avLst/>
          </a:prstGeom>
          <a:noFill/>
          <a:ln/>
        </p:spPr>
        <p:txBody>
          <a:bodyPr wrap="square" lIns="0" tIns="0" rIns="0" bIns="0" rtlCol="0" anchor="ctr"/>
          <a:lstStyle/>
          <a:p>
            <a:pPr indent="0" marL="0">
              <a:buNone/>
            </a:pPr>
            <a:r>
              <a:rPr lang="en-US" sz="1900" b="1" dirty="0">
                <a:solidFill>
                  <a:srgbClr val="16232E"/>
                </a:solidFill>
                <a:latin typeface="Cambria" pitchFamily="34" charset="0"/>
                <a:ea typeface="Cambria" pitchFamily="34" charset="-122"/>
                <a:cs typeface="Cambria" pitchFamily="34" charset="-120"/>
              </a:rPr>
              <a:t>Contract pathway</a:t>
            </a:r>
            <a:endParaRPr lang="en-US" sz="1900" dirty="0"/>
          </a:p>
        </p:txBody>
      </p:sp>
      <p:sp>
        <p:nvSpPr>
          <p:cNvPr id="6" name="Text 4"/>
          <p:cNvSpPr/>
          <p:nvPr/>
        </p:nvSpPr>
        <p:spPr>
          <a:xfrm>
            <a:off x="868680" y="2103120"/>
            <a:ext cx="4846320" cy="365760"/>
          </a:xfrm>
          <a:prstGeom prst="rect">
            <a:avLst/>
          </a:prstGeom>
          <a:noFill/>
          <a:ln/>
        </p:spPr>
        <p:txBody>
          <a:bodyPr wrap="square" lIns="0" tIns="0" rIns="0" bIns="0" rtlCol="0" anchor="ctr"/>
          <a:lstStyle/>
          <a:p>
            <a:pPr indent="0" marL="0">
              <a:buNone/>
            </a:pPr>
            <a:r>
              <a:rPr lang="en-US" sz="1250" dirty="0">
                <a:solidFill>
                  <a:srgbClr val="5C6E7D"/>
                </a:solidFill>
                <a:latin typeface="Calibri" pitchFamily="34" charset="0"/>
                <a:ea typeface="Calibri" pitchFamily="34" charset="-122"/>
                <a:cs typeface="Calibri" pitchFamily="34" charset="-120"/>
              </a:rPr>
              <a:t>Standards invoked by contract clause, then selectively tailored.</a:t>
            </a:r>
            <a:endParaRPr lang="en-US" sz="1250" dirty="0"/>
          </a:p>
        </p:txBody>
      </p:sp>
      <p:sp>
        <p:nvSpPr>
          <p:cNvPr id="7" name="Shape 5"/>
          <p:cNvSpPr/>
          <p:nvPr/>
        </p:nvSpPr>
        <p:spPr>
          <a:xfrm>
            <a:off x="914400" y="2615184"/>
            <a:ext cx="310896" cy="310896"/>
          </a:xfrm>
          <a:prstGeom prst="ellipse">
            <a:avLst/>
          </a:prstGeom>
          <a:solidFill>
            <a:srgbClr val="F2F5F8"/>
          </a:solidFill>
          <a:ln/>
        </p:spPr>
      </p:sp>
      <p:sp>
        <p:nvSpPr>
          <p:cNvPr id="8" name="Text 6"/>
          <p:cNvSpPr/>
          <p:nvPr/>
        </p:nvSpPr>
        <p:spPr>
          <a:xfrm>
            <a:off x="914400" y="2615184"/>
            <a:ext cx="310896" cy="310896"/>
          </a:xfrm>
          <a:prstGeom prst="rect">
            <a:avLst/>
          </a:prstGeom>
          <a:noFill/>
          <a:ln/>
        </p:spPr>
        <p:txBody>
          <a:bodyPr wrap="square" lIns="0" tIns="0" rIns="0" bIns="0" rtlCol="0" anchor="ctr"/>
          <a:lstStyle/>
          <a:p>
            <a:pPr algn="ctr" indent="0" marL="0">
              <a:buNone/>
            </a:pPr>
            <a:r>
              <a:rPr lang="en-US" sz="1250" b="1" dirty="0">
                <a:solidFill>
                  <a:srgbClr val="5C6E7D"/>
                </a:solidFill>
                <a:latin typeface="Calibri" pitchFamily="34" charset="0"/>
                <a:ea typeface="Calibri" pitchFamily="34" charset="-122"/>
                <a:cs typeface="Calibri" pitchFamily="34" charset="-120"/>
              </a:rPr>
              <a:t>1</a:t>
            </a:r>
            <a:endParaRPr lang="en-US" sz="1250" dirty="0"/>
          </a:p>
        </p:txBody>
      </p:sp>
      <p:sp>
        <p:nvSpPr>
          <p:cNvPr id="9" name="Text 7"/>
          <p:cNvSpPr/>
          <p:nvPr/>
        </p:nvSpPr>
        <p:spPr>
          <a:xfrm>
            <a:off x="1353312" y="2615184"/>
            <a:ext cx="4389120" cy="310896"/>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Customer selects clauses or tasks</a:t>
            </a:r>
            <a:endParaRPr lang="en-US" sz="1350" dirty="0"/>
          </a:p>
        </p:txBody>
      </p:sp>
      <p:sp>
        <p:nvSpPr>
          <p:cNvPr id="10" name="Shape 8"/>
          <p:cNvSpPr/>
          <p:nvPr/>
        </p:nvSpPr>
        <p:spPr>
          <a:xfrm>
            <a:off x="914400" y="3218688"/>
            <a:ext cx="310896" cy="310896"/>
          </a:xfrm>
          <a:prstGeom prst="ellipse">
            <a:avLst/>
          </a:prstGeom>
          <a:solidFill>
            <a:srgbClr val="F2F5F8"/>
          </a:solidFill>
          <a:ln/>
        </p:spPr>
      </p:sp>
      <p:sp>
        <p:nvSpPr>
          <p:cNvPr id="11" name="Text 9"/>
          <p:cNvSpPr/>
          <p:nvPr/>
        </p:nvSpPr>
        <p:spPr>
          <a:xfrm>
            <a:off x="914400" y="3218688"/>
            <a:ext cx="310896" cy="310896"/>
          </a:xfrm>
          <a:prstGeom prst="rect">
            <a:avLst/>
          </a:prstGeom>
          <a:noFill/>
          <a:ln/>
        </p:spPr>
        <p:txBody>
          <a:bodyPr wrap="square" lIns="0" tIns="0" rIns="0" bIns="0" rtlCol="0" anchor="ctr"/>
          <a:lstStyle/>
          <a:p>
            <a:pPr algn="ctr" indent="0" marL="0">
              <a:buNone/>
            </a:pPr>
            <a:r>
              <a:rPr lang="en-US" sz="1250" b="1" dirty="0">
                <a:solidFill>
                  <a:srgbClr val="5C6E7D"/>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1353312" y="3218688"/>
            <a:ext cx="4389120" cy="310896"/>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Tailoring applied at program level</a:t>
            </a:r>
            <a:endParaRPr lang="en-US" sz="1350" dirty="0"/>
          </a:p>
        </p:txBody>
      </p:sp>
      <p:sp>
        <p:nvSpPr>
          <p:cNvPr id="13" name="Shape 11"/>
          <p:cNvSpPr/>
          <p:nvPr/>
        </p:nvSpPr>
        <p:spPr>
          <a:xfrm>
            <a:off x="914400" y="3822192"/>
            <a:ext cx="310896" cy="310896"/>
          </a:xfrm>
          <a:prstGeom prst="ellipse">
            <a:avLst/>
          </a:prstGeom>
          <a:solidFill>
            <a:srgbClr val="F2F5F8"/>
          </a:solidFill>
          <a:ln/>
        </p:spPr>
      </p:sp>
      <p:sp>
        <p:nvSpPr>
          <p:cNvPr id="14" name="Text 12"/>
          <p:cNvSpPr/>
          <p:nvPr/>
        </p:nvSpPr>
        <p:spPr>
          <a:xfrm>
            <a:off x="914400" y="3822192"/>
            <a:ext cx="310896" cy="310896"/>
          </a:xfrm>
          <a:prstGeom prst="rect">
            <a:avLst/>
          </a:prstGeom>
          <a:noFill/>
          <a:ln/>
        </p:spPr>
        <p:txBody>
          <a:bodyPr wrap="square" lIns="0" tIns="0" rIns="0" bIns="0" rtlCol="0" anchor="ctr"/>
          <a:lstStyle/>
          <a:p>
            <a:pPr algn="ctr" indent="0" marL="0">
              <a:buNone/>
            </a:pPr>
            <a:r>
              <a:rPr lang="en-US" sz="1250" b="1" dirty="0">
                <a:solidFill>
                  <a:srgbClr val="5C6E7D"/>
                </a:solidFill>
                <a:latin typeface="Calibri" pitchFamily="34" charset="0"/>
                <a:ea typeface="Calibri" pitchFamily="34" charset="-122"/>
                <a:cs typeface="Calibri" pitchFamily="34" charset="-120"/>
              </a:rPr>
              <a:t>3</a:t>
            </a:r>
            <a:endParaRPr lang="en-US" sz="1250" dirty="0"/>
          </a:p>
        </p:txBody>
      </p:sp>
      <p:sp>
        <p:nvSpPr>
          <p:cNvPr id="15" name="Text 13"/>
          <p:cNvSpPr/>
          <p:nvPr/>
        </p:nvSpPr>
        <p:spPr>
          <a:xfrm>
            <a:off x="1353312" y="3822192"/>
            <a:ext cx="4389120" cy="310896"/>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Contractor performs what was invoked</a:t>
            </a:r>
            <a:endParaRPr lang="en-US" sz="1350" dirty="0"/>
          </a:p>
        </p:txBody>
      </p:sp>
      <p:sp>
        <p:nvSpPr>
          <p:cNvPr id="16" name="Shape 14"/>
          <p:cNvSpPr/>
          <p:nvPr/>
        </p:nvSpPr>
        <p:spPr>
          <a:xfrm>
            <a:off x="914400" y="4425696"/>
            <a:ext cx="310896" cy="310896"/>
          </a:xfrm>
          <a:prstGeom prst="ellipse">
            <a:avLst/>
          </a:prstGeom>
          <a:solidFill>
            <a:srgbClr val="F2F5F8"/>
          </a:solidFill>
          <a:ln/>
        </p:spPr>
      </p:sp>
      <p:sp>
        <p:nvSpPr>
          <p:cNvPr id="17" name="Text 15"/>
          <p:cNvSpPr/>
          <p:nvPr/>
        </p:nvSpPr>
        <p:spPr>
          <a:xfrm>
            <a:off x="914400" y="4425696"/>
            <a:ext cx="310896" cy="310896"/>
          </a:xfrm>
          <a:prstGeom prst="rect">
            <a:avLst/>
          </a:prstGeom>
          <a:noFill/>
          <a:ln/>
        </p:spPr>
        <p:txBody>
          <a:bodyPr wrap="square" lIns="0" tIns="0" rIns="0" bIns="0" rtlCol="0" anchor="ctr"/>
          <a:lstStyle/>
          <a:p>
            <a:pPr algn="ctr" indent="0" marL="0">
              <a:buNone/>
            </a:pPr>
            <a:r>
              <a:rPr lang="en-US" sz="1250" b="1" dirty="0">
                <a:solidFill>
                  <a:srgbClr val="5C6E7D"/>
                </a:solidFill>
                <a:latin typeface="Calibri" pitchFamily="34" charset="0"/>
                <a:ea typeface="Calibri" pitchFamily="34" charset="-122"/>
                <a:cs typeface="Calibri" pitchFamily="34" charset="-120"/>
              </a:rPr>
              <a:t>4</a:t>
            </a:r>
            <a:endParaRPr lang="en-US" sz="1250" dirty="0"/>
          </a:p>
        </p:txBody>
      </p:sp>
      <p:sp>
        <p:nvSpPr>
          <p:cNvPr id="18" name="Text 16"/>
          <p:cNvSpPr/>
          <p:nvPr/>
        </p:nvSpPr>
        <p:spPr>
          <a:xfrm>
            <a:off x="1353312" y="4425696"/>
            <a:ext cx="4389120" cy="310896"/>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Compliance demonstrated to customer</a:t>
            </a:r>
            <a:endParaRPr lang="en-US" sz="1350" dirty="0"/>
          </a:p>
        </p:txBody>
      </p:sp>
      <p:sp>
        <p:nvSpPr>
          <p:cNvPr id="19" name="Text 17"/>
          <p:cNvSpPr/>
          <p:nvPr/>
        </p:nvSpPr>
        <p:spPr>
          <a:xfrm>
            <a:off x="868680" y="4956048"/>
            <a:ext cx="4846320" cy="292608"/>
          </a:xfrm>
          <a:prstGeom prst="rect">
            <a:avLst/>
          </a:prstGeom>
          <a:noFill/>
          <a:ln/>
        </p:spPr>
        <p:txBody>
          <a:bodyPr wrap="square" lIns="0" tIns="0" rIns="0" bIns="0" rtlCol="0" anchor="ctr"/>
          <a:lstStyle/>
          <a:p>
            <a:pPr indent="0" marL="0">
              <a:buNone/>
            </a:pPr>
            <a:r>
              <a:rPr lang="en-US" sz="1250" b="1" dirty="0">
                <a:solidFill>
                  <a:srgbClr val="5C6E7D"/>
                </a:solidFill>
                <a:latin typeface="Calibri" pitchFamily="34" charset="0"/>
                <a:ea typeface="Calibri" pitchFamily="34" charset="-122"/>
                <a:cs typeface="Calibri" pitchFamily="34" charset="-120"/>
              </a:rPr>
              <a:t>Contingent on contract scope.</a:t>
            </a:r>
            <a:endParaRPr lang="en-US" sz="1250" dirty="0"/>
          </a:p>
        </p:txBody>
      </p:sp>
      <p:sp>
        <p:nvSpPr>
          <p:cNvPr id="20" name="Shape 18"/>
          <p:cNvSpPr/>
          <p:nvPr/>
        </p:nvSpPr>
        <p:spPr>
          <a:xfrm>
            <a:off x="6199632" y="1554480"/>
            <a:ext cx="5440680" cy="3840480"/>
          </a:xfrm>
          <a:prstGeom prst="roundRect">
            <a:avLst>
              <a:gd name="adj" fmla="val 1429"/>
            </a:avLst>
          </a:prstGeom>
          <a:solidFill>
            <a:srgbClr val="1E3A54"/>
          </a:solidFill>
          <a:ln/>
        </p:spPr>
      </p:sp>
      <p:sp>
        <p:nvSpPr>
          <p:cNvPr id="21" name="Text 19"/>
          <p:cNvSpPr/>
          <p:nvPr/>
        </p:nvSpPr>
        <p:spPr>
          <a:xfrm>
            <a:off x="6519672" y="1755648"/>
            <a:ext cx="4846320" cy="32918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SMS pathway</a:t>
            </a:r>
            <a:endParaRPr lang="en-US" sz="1900" dirty="0"/>
          </a:p>
        </p:txBody>
      </p:sp>
      <p:sp>
        <p:nvSpPr>
          <p:cNvPr id="22" name="Text 20"/>
          <p:cNvSpPr/>
          <p:nvPr/>
        </p:nvSpPr>
        <p:spPr>
          <a:xfrm>
            <a:off x="6519672" y="2103120"/>
            <a:ext cx="4846320" cy="365760"/>
          </a:xfrm>
          <a:prstGeom prst="rect">
            <a:avLst/>
          </a:prstGeom>
          <a:noFill/>
          <a:ln/>
        </p:spPr>
        <p:txBody>
          <a:bodyPr wrap="square" lIns="0" tIns="0" rIns="0" bIns="0" rtlCol="0" anchor="ctr"/>
          <a:lstStyle/>
          <a:p>
            <a:pPr indent="0" marL="0">
              <a:buNone/>
            </a:pPr>
            <a:r>
              <a:rPr lang="en-US" sz="1250" dirty="0">
                <a:solidFill>
                  <a:srgbClr val="9FB3C4"/>
                </a:solidFill>
                <a:latin typeface="Calibri" pitchFamily="34" charset="0"/>
                <a:ea typeface="Calibri" pitchFamily="34" charset="-122"/>
                <a:cs typeface="Calibri" pitchFamily="34" charset="-120"/>
              </a:rPr>
              <a:t>SM-0001 adopted as the basis of the organization's SMS.</a:t>
            </a:r>
            <a:endParaRPr lang="en-US" sz="1250" dirty="0"/>
          </a:p>
        </p:txBody>
      </p:sp>
      <p:sp>
        <p:nvSpPr>
          <p:cNvPr id="23" name="Shape 21"/>
          <p:cNvSpPr/>
          <p:nvPr/>
        </p:nvSpPr>
        <p:spPr>
          <a:xfrm>
            <a:off x="6565392" y="2615184"/>
            <a:ext cx="310896" cy="310896"/>
          </a:xfrm>
          <a:prstGeom prst="ellipse">
            <a:avLst/>
          </a:prstGeom>
          <a:solidFill>
            <a:srgbClr val="39586F"/>
          </a:solidFill>
          <a:ln/>
        </p:spPr>
      </p:sp>
      <p:sp>
        <p:nvSpPr>
          <p:cNvPr id="24" name="Text 22"/>
          <p:cNvSpPr/>
          <p:nvPr/>
        </p:nvSpPr>
        <p:spPr>
          <a:xfrm>
            <a:off x="6565392" y="261518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25" name="Text 23"/>
          <p:cNvSpPr/>
          <p:nvPr/>
        </p:nvSpPr>
        <p:spPr>
          <a:xfrm>
            <a:off x="7004304" y="2615184"/>
            <a:ext cx="43891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Org adopts SM-0001 as SMS basis</a:t>
            </a:r>
            <a:endParaRPr lang="en-US" sz="1350" dirty="0"/>
          </a:p>
        </p:txBody>
      </p:sp>
      <p:sp>
        <p:nvSpPr>
          <p:cNvPr id="26" name="Shape 24"/>
          <p:cNvSpPr/>
          <p:nvPr/>
        </p:nvSpPr>
        <p:spPr>
          <a:xfrm>
            <a:off x="6565392" y="3218688"/>
            <a:ext cx="310896" cy="310896"/>
          </a:xfrm>
          <a:prstGeom prst="ellipse">
            <a:avLst/>
          </a:prstGeom>
          <a:solidFill>
            <a:srgbClr val="39586F"/>
          </a:solidFill>
          <a:ln/>
        </p:spPr>
      </p:sp>
      <p:sp>
        <p:nvSpPr>
          <p:cNvPr id="27" name="Text 25"/>
          <p:cNvSpPr/>
          <p:nvPr/>
        </p:nvSpPr>
        <p:spPr>
          <a:xfrm>
            <a:off x="6565392" y="321868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28" name="Text 26"/>
          <p:cNvSpPr/>
          <p:nvPr/>
        </p:nvSpPr>
        <p:spPr>
          <a:xfrm>
            <a:off x="7004304" y="3218688"/>
            <a:ext cx="43891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SM-0001 6.2.1 names the hazards</a:t>
            </a:r>
            <a:endParaRPr lang="en-US" sz="1350" dirty="0"/>
          </a:p>
        </p:txBody>
      </p:sp>
      <p:sp>
        <p:nvSpPr>
          <p:cNvPr id="29" name="Shape 27"/>
          <p:cNvSpPr/>
          <p:nvPr/>
        </p:nvSpPr>
        <p:spPr>
          <a:xfrm>
            <a:off x="6565392" y="3822192"/>
            <a:ext cx="310896" cy="310896"/>
          </a:xfrm>
          <a:prstGeom prst="ellipse">
            <a:avLst/>
          </a:prstGeom>
          <a:solidFill>
            <a:srgbClr val="39586F"/>
          </a:solidFill>
          <a:ln/>
        </p:spPr>
      </p:sp>
      <p:sp>
        <p:nvSpPr>
          <p:cNvPr id="30" name="Text 28"/>
          <p:cNvSpPr/>
          <p:nvPr/>
        </p:nvSpPr>
        <p:spPr>
          <a:xfrm>
            <a:off x="6565392" y="382219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31" name="Text 29"/>
          <p:cNvSpPr/>
          <p:nvPr/>
        </p:nvSpPr>
        <p:spPr>
          <a:xfrm>
            <a:off x="7004304" y="3822192"/>
            <a:ext cx="43891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Organization must control those hazards</a:t>
            </a:r>
            <a:endParaRPr lang="en-US" sz="1350" dirty="0"/>
          </a:p>
        </p:txBody>
      </p:sp>
      <p:sp>
        <p:nvSpPr>
          <p:cNvPr id="32" name="Shape 30"/>
          <p:cNvSpPr/>
          <p:nvPr/>
        </p:nvSpPr>
        <p:spPr>
          <a:xfrm>
            <a:off x="6565392" y="4425696"/>
            <a:ext cx="310896" cy="310896"/>
          </a:xfrm>
          <a:prstGeom prst="ellipse">
            <a:avLst/>
          </a:prstGeom>
          <a:solidFill>
            <a:srgbClr val="39586F"/>
          </a:solidFill>
          <a:ln/>
        </p:spPr>
      </p:sp>
      <p:sp>
        <p:nvSpPr>
          <p:cNvPr id="33" name="Text 31"/>
          <p:cNvSpPr/>
          <p:nvPr/>
        </p:nvSpPr>
        <p:spPr>
          <a:xfrm>
            <a:off x="6565392" y="44256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34" name="Text 32"/>
          <p:cNvSpPr/>
          <p:nvPr/>
        </p:nvSpPr>
        <p:spPr>
          <a:xfrm>
            <a:off x="7004304" y="4425696"/>
            <a:ext cx="43891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R&amp;M activities are those controls</a:t>
            </a:r>
            <a:endParaRPr lang="en-US" sz="1350" dirty="0"/>
          </a:p>
        </p:txBody>
      </p:sp>
      <p:sp>
        <p:nvSpPr>
          <p:cNvPr id="35" name="Text 33"/>
          <p:cNvSpPr/>
          <p:nvPr/>
        </p:nvSpPr>
        <p:spPr>
          <a:xfrm>
            <a:off x="6519672" y="4956048"/>
            <a:ext cx="4846320" cy="292608"/>
          </a:xfrm>
          <a:prstGeom prst="rect">
            <a:avLst/>
          </a:prstGeom>
          <a:noFill/>
          <a:ln/>
        </p:spPr>
        <p:txBody>
          <a:bodyPr wrap="square" lIns="0" tIns="0" rIns="0" bIns="0" rtlCol="0" anchor="ctr"/>
          <a:lstStyle/>
          <a:p>
            <a:pPr indent="0" marL="0">
              <a:buNone/>
            </a:pPr>
            <a:r>
              <a:rPr lang="en-US" sz="1250" b="1" dirty="0">
                <a:solidFill>
                  <a:srgbClr val="D9A441"/>
                </a:solidFill>
                <a:latin typeface="Calibri" pitchFamily="34" charset="0"/>
                <a:ea typeface="Calibri" pitchFamily="34" charset="-122"/>
                <a:cs typeface="Calibri" pitchFamily="34" charset="-120"/>
              </a:rPr>
              <a:t>Not contingent on contract scope.</a:t>
            </a:r>
            <a:endParaRPr lang="en-US" sz="1250" dirty="0"/>
          </a:p>
        </p:txBody>
      </p:sp>
      <p:sp>
        <p:nvSpPr>
          <p:cNvPr id="36" name="Text 34"/>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Both pathways converge on the same activities. MIL-STD-882E 4.2.2.2 adds a third obligation: the discipline must obtain its own risk acceptance either way.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What “Barrier” Means in SMS Language</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Not a metaphor. SM-0001's own definition of a risk control.</a:t>
            </a:r>
            <a:endParaRPr lang="en-US" sz="1350" dirty="0"/>
          </a:p>
        </p:txBody>
      </p:sp>
      <p:sp>
        <p:nvSpPr>
          <p:cNvPr id="4" name="Shape 2"/>
          <p:cNvSpPr/>
          <p:nvPr/>
        </p:nvSpPr>
        <p:spPr>
          <a:xfrm>
            <a:off x="548640" y="1536192"/>
            <a:ext cx="11091672" cy="777240"/>
          </a:xfrm>
          <a:prstGeom prst="roundRect">
            <a:avLst>
              <a:gd name="adj" fmla="val 7059"/>
            </a:avLst>
          </a:prstGeom>
          <a:solidFill>
            <a:srgbClr val="FFFFFF"/>
          </a:solidFill>
          <a:ln w="9525">
            <a:solidFill>
              <a:srgbClr val="D6DEE6"/>
            </a:solidFill>
            <a:prstDash val="solid"/>
          </a:ln>
        </p:spPr>
      </p:sp>
      <p:sp>
        <p:nvSpPr>
          <p:cNvPr id="5" name="Text 3"/>
          <p:cNvSpPr/>
          <p:nvPr/>
        </p:nvSpPr>
        <p:spPr>
          <a:xfrm>
            <a:off x="868680" y="1664208"/>
            <a:ext cx="10469880" cy="530352"/>
          </a:xfrm>
          <a:prstGeom prst="rect">
            <a:avLst/>
          </a:prstGeom>
          <a:noFill/>
          <a:ln/>
        </p:spPr>
        <p:txBody>
          <a:bodyPr wrap="square" lIns="0" tIns="0" rIns="0" bIns="0" rtlCol="0" anchor="ctr"/>
          <a:lstStyle/>
          <a:p>
            <a:pPr indent="0" marL="0">
              <a:buNone/>
            </a:pPr>
            <a:r>
              <a:rPr lang="en-US" sz="1500" i="1" dirty="0">
                <a:solidFill>
                  <a:srgbClr val="16232E"/>
                </a:solidFill>
                <a:latin typeface="Calibri" pitchFamily="34" charset="0"/>
                <a:ea typeface="Calibri" pitchFamily="34" charset="-122"/>
                <a:cs typeface="Calibri" pitchFamily="34" charset="-120"/>
              </a:rPr>
              <a:t>SM-0001 defines risk control and mitigation as a means to reduce or eliminate the effects of hazards.</a:t>
            </a:r>
            <a:endParaRPr lang="en-US" sz="1500" dirty="0"/>
          </a:p>
        </p:txBody>
      </p:sp>
      <p:sp>
        <p:nvSpPr>
          <p:cNvPr id="6" name="Shape 4"/>
          <p:cNvSpPr/>
          <p:nvPr/>
        </p:nvSpPr>
        <p:spPr>
          <a:xfrm>
            <a:off x="548640" y="2542032"/>
            <a:ext cx="11091672" cy="932688"/>
          </a:xfrm>
          <a:prstGeom prst="roundRect">
            <a:avLst>
              <a:gd name="adj" fmla="val 5882"/>
            </a:avLst>
          </a:prstGeom>
          <a:solidFill>
            <a:srgbClr val="FFFFFF"/>
          </a:solidFill>
          <a:ln w="9525">
            <a:solidFill>
              <a:srgbClr val="D6DEE6"/>
            </a:solidFill>
            <a:prstDash val="solid"/>
          </a:ln>
        </p:spPr>
      </p:sp>
      <p:sp>
        <p:nvSpPr>
          <p:cNvPr id="7" name="Shape 5"/>
          <p:cNvSpPr/>
          <p:nvPr/>
        </p:nvSpPr>
        <p:spPr>
          <a:xfrm>
            <a:off x="841248" y="2798064"/>
            <a:ext cx="420624" cy="420624"/>
          </a:xfrm>
          <a:prstGeom prst="ellipse">
            <a:avLst/>
          </a:prstGeom>
          <a:solidFill>
            <a:srgbClr val="B3282D"/>
          </a:solidFill>
          <a:ln/>
        </p:spPr>
      </p:sp>
      <p:sp>
        <p:nvSpPr>
          <p:cNvPr id="8" name="Text 6"/>
          <p:cNvSpPr/>
          <p:nvPr/>
        </p:nvSpPr>
        <p:spPr>
          <a:xfrm>
            <a:off x="841248" y="2798064"/>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p:nvPr/>
        </p:nvSpPr>
        <p:spPr>
          <a:xfrm>
            <a:off x="1463040" y="2670048"/>
            <a:ext cx="9966960" cy="310896"/>
          </a:xfrm>
          <a:prstGeom prst="rect">
            <a:avLst/>
          </a:prstGeom>
          <a:noFill/>
          <a:ln/>
        </p:spPr>
        <p:txBody>
          <a:bodyPr wrap="square" lIns="0" tIns="0" rIns="0" bIns="0" rtlCol="0" anchor="ctr"/>
          <a:lstStyle/>
          <a:p>
            <a:pPr indent="0" marL="0">
              <a:buNone/>
            </a:pPr>
            <a:r>
              <a:rPr lang="en-US" sz="1550" b="1" dirty="0">
                <a:solidFill>
                  <a:srgbClr val="16232E"/>
                </a:solidFill>
                <a:latin typeface="Calibri" pitchFamily="34" charset="0"/>
                <a:ea typeface="Calibri" pitchFamily="34" charset="-122"/>
                <a:cs typeface="Calibri" pitchFamily="34" charset="-120"/>
              </a:rPr>
              <a:t>The hazard it addresses is one SM-0001 explicitly names</a:t>
            </a:r>
            <a:endParaRPr lang="en-US" sz="1550" dirty="0"/>
          </a:p>
        </p:txBody>
      </p:sp>
      <p:sp>
        <p:nvSpPr>
          <p:cNvPr id="10" name="Text 8"/>
          <p:cNvSpPr/>
          <p:nvPr/>
        </p:nvSpPr>
        <p:spPr>
          <a:xfrm>
            <a:off x="1463040" y="2980944"/>
            <a:ext cx="9966960" cy="420624"/>
          </a:xfrm>
          <a:prstGeom prst="rect">
            <a:avLst/>
          </a:prstGeom>
          <a:noFill/>
          <a:ln/>
        </p:spPr>
        <p:txBody>
          <a:bodyPr wrap="square" lIns="0" tIns="0" rIns="0" bIns="0" rtlCol="0" anchor="ctr"/>
          <a:lstStyle/>
          <a:p>
            <a:pPr indent="0" marL="0">
              <a:buNone/>
            </a:pPr>
            <a:r>
              <a:rPr lang="en-US" sz="1250" dirty="0">
                <a:solidFill>
                  <a:srgbClr val="5C6E7D"/>
                </a:solidFill>
                <a:latin typeface="Calibri" pitchFamily="34" charset="0"/>
                <a:ea typeface="Calibri" pitchFamily="34" charset="-122"/>
                <a:cs typeface="Calibri" pitchFamily="34" charset="-120"/>
              </a:rPr>
              <a:t>in 6.2.1, 6.2.3, 6.3 or 7. That list names FMECA findings, in-service failures, maintenance data, ambiguous manufacturing or maintenance information, work not performed to approved data, and inadequate training, time, rest or experience.</a:t>
            </a:r>
            <a:endParaRPr lang="en-US" sz="1250" dirty="0"/>
          </a:p>
        </p:txBody>
      </p:sp>
      <p:sp>
        <p:nvSpPr>
          <p:cNvPr id="11" name="Shape 9"/>
          <p:cNvSpPr/>
          <p:nvPr/>
        </p:nvSpPr>
        <p:spPr>
          <a:xfrm>
            <a:off x="548640" y="3621024"/>
            <a:ext cx="11091672" cy="932688"/>
          </a:xfrm>
          <a:prstGeom prst="roundRect">
            <a:avLst>
              <a:gd name="adj" fmla="val 5882"/>
            </a:avLst>
          </a:prstGeom>
          <a:solidFill>
            <a:srgbClr val="FFFFFF"/>
          </a:solidFill>
          <a:ln w="9525">
            <a:solidFill>
              <a:srgbClr val="D6DEE6"/>
            </a:solidFill>
            <a:prstDash val="solid"/>
          </a:ln>
        </p:spPr>
      </p:sp>
      <p:sp>
        <p:nvSpPr>
          <p:cNvPr id="12" name="Shape 10"/>
          <p:cNvSpPr/>
          <p:nvPr/>
        </p:nvSpPr>
        <p:spPr>
          <a:xfrm>
            <a:off x="841248" y="3877056"/>
            <a:ext cx="420624" cy="420624"/>
          </a:xfrm>
          <a:prstGeom prst="ellipse">
            <a:avLst/>
          </a:prstGeom>
          <a:solidFill>
            <a:srgbClr val="B3282D"/>
          </a:solidFill>
          <a:ln/>
        </p:spPr>
      </p:sp>
      <p:sp>
        <p:nvSpPr>
          <p:cNvPr id="13" name="Text 11"/>
          <p:cNvSpPr/>
          <p:nvPr/>
        </p:nvSpPr>
        <p:spPr>
          <a:xfrm>
            <a:off x="841248" y="3877056"/>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2"/>
          <p:cNvSpPr/>
          <p:nvPr/>
        </p:nvSpPr>
        <p:spPr>
          <a:xfrm>
            <a:off x="1463040" y="3749040"/>
            <a:ext cx="9966960" cy="310896"/>
          </a:xfrm>
          <a:prstGeom prst="rect">
            <a:avLst/>
          </a:prstGeom>
          <a:noFill/>
          <a:ln/>
        </p:spPr>
        <p:txBody>
          <a:bodyPr wrap="square" lIns="0" tIns="0" rIns="0" bIns="0" rtlCol="0" anchor="ctr"/>
          <a:lstStyle/>
          <a:p>
            <a:pPr indent="0" marL="0">
              <a:buNone/>
            </a:pPr>
            <a:r>
              <a:rPr lang="en-US" sz="1550" b="1" dirty="0">
                <a:solidFill>
                  <a:srgbClr val="16232E"/>
                </a:solidFill>
                <a:latin typeface="Calibri" pitchFamily="34" charset="0"/>
                <a:ea typeface="Calibri" pitchFamily="34" charset="-122"/>
                <a:cs typeface="Calibri" pitchFamily="34" charset="-120"/>
              </a:rPr>
              <a:t>Failure of the requirement directly enables that hazard</a:t>
            </a:r>
            <a:endParaRPr lang="en-US" sz="1550" dirty="0"/>
          </a:p>
        </p:txBody>
      </p:sp>
      <p:sp>
        <p:nvSpPr>
          <p:cNvPr id="15" name="Text 13"/>
          <p:cNvSpPr/>
          <p:nvPr/>
        </p:nvSpPr>
        <p:spPr>
          <a:xfrm>
            <a:off x="1463040" y="4059936"/>
            <a:ext cx="9966960" cy="420624"/>
          </a:xfrm>
          <a:prstGeom prst="rect">
            <a:avLst/>
          </a:prstGeom>
          <a:noFill/>
          <a:ln/>
        </p:spPr>
        <p:txBody>
          <a:bodyPr wrap="square" lIns="0" tIns="0" rIns="0" bIns="0" rtlCol="0" anchor="ctr"/>
          <a:lstStyle/>
          <a:p>
            <a:pPr indent="0" marL="0">
              <a:buNone/>
            </a:pPr>
            <a:r>
              <a:rPr lang="en-US" sz="1250" dirty="0">
                <a:solidFill>
                  <a:srgbClr val="5C6E7D"/>
                </a:solidFill>
                <a:latin typeface="Calibri" pitchFamily="34" charset="0"/>
                <a:ea typeface="Calibri" pitchFamily="34" charset="-122"/>
                <a:cs typeface="Calibri" pitchFamily="34" charset="-120"/>
              </a:rPr>
              <a:t>without other healthy and critical barriers remaining in the path.</a:t>
            </a:r>
            <a:endParaRPr lang="en-US" sz="1250" dirty="0"/>
          </a:p>
        </p:txBody>
      </p:sp>
      <p:sp>
        <p:nvSpPr>
          <p:cNvPr id="16" name="Shape 14"/>
          <p:cNvSpPr/>
          <p:nvPr/>
        </p:nvSpPr>
        <p:spPr>
          <a:xfrm>
            <a:off x="548640" y="4700016"/>
            <a:ext cx="11091672" cy="932688"/>
          </a:xfrm>
          <a:prstGeom prst="roundRect">
            <a:avLst>
              <a:gd name="adj" fmla="val 5882"/>
            </a:avLst>
          </a:prstGeom>
          <a:solidFill>
            <a:srgbClr val="FFFFFF"/>
          </a:solidFill>
          <a:ln w="9525">
            <a:solidFill>
              <a:srgbClr val="D6DEE6"/>
            </a:solidFill>
            <a:prstDash val="solid"/>
          </a:ln>
        </p:spPr>
      </p:sp>
      <p:sp>
        <p:nvSpPr>
          <p:cNvPr id="17" name="Shape 15"/>
          <p:cNvSpPr/>
          <p:nvPr/>
        </p:nvSpPr>
        <p:spPr>
          <a:xfrm>
            <a:off x="841248" y="4956048"/>
            <a:ext cx="420624" cy="420624"/>
          </a:xfrm>
          <a:prstGeom prst="ellipse">
            <a:avLst/>
          </a:prstGeom>
          <a:solidFill>
            <a:srgbClr val="B3282D"/>
          </a:solidFill>
          <a:ln/>
        </p:spPr>
      </p:sp>
      <p:sp>
        <p:nvSpPr>
          <p:cNvPr id="18" name="Text 16"/>
          <p:cNvSpPr/>
          <p:nvPr/>
        </p:nvSpPr>
        <p:spPr>
          <a:xfrm>
            <a:off x="841248" y="4956048"/>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7"/>
          <p:cNvSpPr/>
          <p:nvPr/>
        </p:nvSpPr>
        <p:spPr>
          <a:xfrm>
            <a:off x="1463040" y="4828032"/>
            <a:ext cx="9966960" cy="310896"/>
          </a:xfrm>
          <a:prstGeom prst="rect">
            <a:avLst/>
          </a:prstGeom>
          <a:noFill/>
          <a:ln/>
        </p:spPr>
        <p:txBody>
          <a:bodyPr wrap="square" lIns="0" tIns="0" rIns="0" bIns="0" rtlCol="0" anchor="ctr"/>
          <a:lstStyle/>
          <a:p>
            <a:pPr indent="0" marL="0">
              <a:buNone/>
            </a:pPr>
            <a:r>
              <a:rPr lang="en-US" sz="1550" b="1" dirty="0">
                <a:solidFill>
                  <a:srgbClr val="16232E"/>
                </a:solidFill>
                <a:latin typeface="Calibri" pitchFamily="34" charset="0"/>
                <a:ea typeface="Calibri" pitchFamily="34" charset="-122"/>
                <a:cs typeface="Calibri" pitchFamily="34" charset="-120"/>
              </a:rPr>
              <a:t>Documented historical events demonstrate the consequence</a:t>
            </a:r>
            <a:endParaRPr lang="en-US" sz="1550" dirty="0"/>
          </a:p>
        </p:txBody>
      </p:sp>
      <p:sp>
        <p:nvSpPr>
          <p:cNvPr id="20" name="Text 18"/>
          <p:cNvSpPr/>
          <p:nvPr/>
        </p:nvSpPr>
        <p:spPr>
          <a:xfrm>
            <a:off x="1463040" y="5138928"/>
            <a:ext cx="9966960" cy="420624"/>
          </a:xfrm>
          <a:prstGeom prst="rect">
            <a:avLst/>
          </a:prstGeom>
          <a:noFill/>
          <a:ln/>
        </p:spPr>
        <p:txBody>
          <a:bodyPr wrap="square" lIns="0" tIns="0" rIns="0" bIns="0" rtlCol="0" anchor="ctr"/>
          <a:lstStyle/>
          <a:p>
            <a:pPr indent="0" marL="0">
              <a:buNone/>
            </a:pPr>
            <a:r>
              <a:rPr lang="en-US" sz="1250" dirty="0">
                <a:solidFill>
                  <a:srgbClr val="5C6E7D"/>
                </a:solidFill>
                <a:latin typeface="Calibri" pitchFamily="34" charset="0"/>
                <a:ea typeface="Calibri" pitchFamily="34" charset="-122"/>
                <a:cs typeface="Calibri" pitchFamily="34" charset="-120"/>
              </a:rPr>
              <a:t>of barrier failure at Severity 4 or 5. Thirty-six of the sixty carry a specific investigated event rather than an industry pattern.</a:t>
            </a:r>
            <a:endParaRPr lang="en-US" sz="1250" dirty="0"/>
          </a:p>
        </p:txBody>
      </p:sp>
      <p:sp>
        <p:nvSpPr>
          <p:cNvPr id="21" name="Text 19"/>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Sixty requirements across six standards satisfy all three. They are barriers in SMS terms.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What Removing a Barrier Actually Means</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In SMS terms, not contract terms</a:t>
            </a:r>
            <a:endParaRPr lang="en-US" sz="1350" dirty="0"/>
          </a:p>
        </p:txBody>
      </p:sp>
      <p:sp>
        <p:nvSpPr>
          <p:cNvPr id="4" name="Shape 2"/>
          <p:cNvSpPr/>
          <p:nvPr/>
        </p:nvSpPr>
        <p:spPr>
          <a:xfrm>
            <a:off x="548640" y="1554480"/>
            <a:ext cx="5440680" cy="3566160"/>
          </a:xfrm>
          <a:prstGeom prst="roundRect">
            <a:avLst>
              <a:gd name="adj" fmla="val 1538"/>
            </a:avLst>
          </a:prstGeom>
          <a:solidFill>
            <a:srgbClr val="FFFFFF"/>
          </a:solidFill>
          <a:ln w="9525">
            <a:solidFill>
              <a:srgbClr val="D6DEE6"/>
            </a:solidFill>
            <a:prstDash val="solid"/>
          </a:ln>
        </p:spPr>
      </p:sp>
      <p:sp>
        <p:nvSpPr>
          <p:cNvPr id="5" name="Text 3"/>
          <p:cNvSpPr/>
          <p:nvPr/>
        </p:nvSpPr>
        <p:spPr>
          <a:xfrm>
            <a:off x="868680" y="1755648"/>
            <a:ext cx="4846320" cy="329184"/>
          </a:xfrm>
          <a:prstGeom prst="rect">
            <a:avLst/>
          </a:prstGeom>
          <a:noFill/>
          <a:ln/>
        </p:spPr>
        <p:txBody>
          <a:bodyPr wrap="square" lIns="0" tIns="0" rIns="0" bIns="0" rtlCol="0" anchor="ctr"/>
          <a:lstStyle/>
          <a:p>
            <a:pPr indent="0" marL="0">
              <a:buNone/>
            </a:pPr>
            <a:r>
              <a:rPr lang="en-US" sz="1900" b="1" dirty="0">
                <a:solidFill>
                  <a:srgbClr val="16232E"/>
                </a:solidFill>
                <a:latin typeface="Cambria" pitchFamily="34" charset="0"/>
                <a:ea typeface="Cambria" pitchFamily="34" charset="-122"/>
                <a:cs typeface="Cambria" pitchFamily="34" charset="-120"/>
              </a:rPr>
              <a:t>With the barrier in place</a:t>
            </a:r>
            <a:endParaRPr lang="en-US" sz="1900" dirty="0"/>
          </a:p>
        </p:txBody>
      </p:sp>
      <p:sp>
        <p:nvSpPr>
          <p:cNvPr id="6" name="Text 4"/>
          <p:cNvSpPr/>
          <p:nvPr/>
        </p:nvSpPr>
        <p:spPr>
          <a:xfrm>
            <a:off x="914400" y="2304288"/>
            <a:ext cx="365760" cy="365760"/>
          </a:xfrm>
          <a:prstGeom prst="rect">
            <a:avLst/>
          </a:prstGeom>
          <a:noFill/>
          <a:ln/>
        </p:spPr>
        <p:txBody>
          <a:bodyPr wrap="square" lIns="0" tIns="0" rIns="0" bIns="0" rtlCol="0" anchor="ctr"/>
          <a:lstStyle/>
          <a:p>
            <a:pPr indent="0" marL="0">
              <a:buNone/>
            </a:pPr>
            <a:r>
              <a:rPr lang="en-US" sz="1600" b="1" dirty="0">
                <a:solidFill>
                  <a:srgbClr val="2E7D5B"/>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298448" y="2304288"/>
            <a:ext cx="4480560" cy="365760"/>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Named SMS hazard exists in the environment</a:t>
            </a:r>
            <a:endParaRPr lang="en-US" sz="1350" dirty="0"/>
          </a:p>
        </p:txBody>
      </p:sp>
      <p:sp>
        <p:nvSpPr>
          <p:cNvPr id="8" name="Text 6"/>
          <p:cNvSpPr/>
          <p:nvPr/>
        </p:nvSpPr>
        <p:spPr>
          <a:xfrm>
            <a:off x="914400" y="2962656"/>
            <a:ext cx="365760" cy="365760"/>
          </a:xfrm>
          <a:prstGeom prst="rect">
            <a:avLst/>
          </a:prstGeom>
          <a:noFill/>
          <a:ln/>
        </p:spPr>
        <p:txBody>
          <a:bodyPr wrap="square" lIns="0" tIns="0" rIns="0" bIns="0" rtlCol="0" anchor="ctr"/>
          <a:lstStyle/>
          <a:p>
            <a:pPr indent="0" marL="0">
              <a:buNone/>
            </a:pPr>
            <a:r>
              <a:rPr lang="en-US" sz="1600" b="1" dirty="0">
                <a:solidFill>
                  <a:srgbClr val="2E7D5B"/>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1298448" y="2962656"/>
            <a:ext cx="4480560" cy="365760"/>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The requirement operates as a risk control</a:t>
            </a:r>
            <a:endParaRPr lang="en-US" sz="1350" dirty="0"/>
          </a:p>
        </p:txBody>
      </p:sp>
      <p:sp>
        <p:nvSpPr>
          <p:cNvPr id="10" name="Text 8"/>
          <p:cNvSpPr/>
          <p:nvPr/>
        </p:nvSpPr>
        <p:spPr>
          <a:xfrm>
            <a:off x="914400" y="3621024"/>
            <a:ext cx="365760" cy="365760"/>
          </a:xfrm>
          <a:prstGeom prst="rect">
            <a:avLst/>
          </a:prstGeom>
          <a:noFill/>
          <a:ln/>
        </p:spPr>
        <p:txBody>
          <a:bodyPr wrap="square" lIns="0" tIns="0" rIns="0" bIns="0" rtlCol="0" anchor="ctr"/>
          <a:lstStyle/>
          <a:p>
            <a:pPr indent="0" marL="0">
              <a:buNone/>
            </a:pPr>
            <a:r>
              <a:rPr lang="en-US" sz="1600" b="1" dirty="0">
                <a:solidFill>
                  <a:srgbClr val="2E7D5B"/>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298448" y="3621024"/>
            <a:ext cx="4480560" cy="365760"/>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Detection exists at the critical control point</a:t>
            </a:r>
            <a:endParaRPr lang="en-US" sz="1350" dirty="0"/>
          </a:p>
        </p:txBody>
      </p:sp>
      <p:sp>
        <p:nvSpPr>
          <p:cNvPr id="12" name="Text 10"/>
          <p:cNvSpPr/>
          <p:nvPr/>
        </p:nvSpPr>
        <p:spPr>
          <a:xfrm>
            <a:off x="914400" y="4279392"/>
            <a:ext cx="365760" cy="365760"/>
          </a:xfrm>
          <a:prstGeom prst="rect">
            <a:avLst/>
          </a:prstGeom>
          <a:noFill/>
          <a:ln/>
        </p:spPr>
        <p:txBody>
          <a:bodyPr wrap="square" lIns="0" tIns="0" rIns="0" bIns="0" rtlCol="0" anchor="ctr"/>
          <a:lstStyle/>
          <a:p>
            <a:pPr indent="0" marL="0">
              <a:buNone/>
            </a:pPr>
            <a:r>
              <a:rPr lang="en-US" sz="1600" b="1" dirty="0">
                <a:solidFill>
                  <a:srgbClr val="2E7D5B"/>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298448" y="4279392"/>
            <a:ext cx="4480560" cy="365760"/>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Risk plots in the acceptable or monitor zone</a:t>
            </a:r>
            <a:endParaRPr lang="en-US" sz="1350" dirty="0"/>
          </a:p>
        </p:txBody>
      </p:sp>
      <p:sp>
        <p:nvSpPr>
          <p:cNvPr id="14" name="Shape 12"/>
          <p:cNvSpPr/>
          <p:nvPr/>
        </p:nvSpPr>
        <p:spPr>
          <a:xfrm>
            <a:off x="6199632" y="1554480"/>
            <a:ext cx="5440680" cy="3566160"/>
          </a:xfrm>
          <a:prstGeom prst="roundRect">
            <a:avLst>
              <a:gd name="adj" fmla="val 1538"/>
            </a:avLst>
          </a:prstGeom>
          <a:solidFill>
            <a:srgbClr val="1E3A54"/>
          </a:solidFill>
          <a:ln/>
        </p:spPr>
      </p:sp>
      <p:sp>
        <p:nvSpPr>
          <p:cNvPr id="15" name="Text 13"/>
          <p:cNvSpPr/>
          <p:nvPr/>
        </p:nvSpPr>
        <p:spPr>
          <a:xfrm>
            <a:off x="6519672" y="1755648"/>
            <a:ext cx="4846320" cy="32918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Without the barrier</a:t>
            </a:r>
            <a:endParaRPr lang="en-US" sz="1900" dirty="0"/>
          </a:p>
        </p:txBody>
      </p:sp>
      <p:sp>
        <p:nvSpPr>
          <p:cNvPr id="16" name="Text 14"/>
          <p:cNvSpPr/>
          <p:nvPr/>
        </p:nvSpPr>
        <p:spPr>
          <a:xfrm>
            <a:off x="6565392" y="2304288"/>
            <a:ext cx="365760" cy="365760"/>
          </a:xfrm>
          <a:prstGeom prst="rect">
            <a:avLst/>
          </a:prstGeom>
          <a:noFill/>
          <a:ln/>
        </p:spPr>
        <p:txBody>
          <a:bodyPr wrap="square" lIns="0" tIns="0" rIns="0" bIns="0"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6949440" y="2304288"/>
            <a:ext cx="448056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Named SMS hazard still exists in the environment</a:t>
            </a:r>
            <a:endParaRPr lang="en-US" sz="1350" dirty="0"/>
          </a:p>
        </p:txBody>
      </p:sp>
      <p:sp>
        <p:nvSpPr>
          <p:cNvPr id="18" name="Text 16"/>
          <p:cNvSpPr/>
          <p:nvPr/>
        </p:nvSpPr>
        <p:spPr>
          <a:xfrm>
            <a:off x="6565392" y="2962656"/>
            <a:ext cx="365760" cy="365760"/>
          </a:xfrm>
          <a:prstGeom prst="rect">
            <a:avLst/>
          </a:prstGeom>
          <a:noFill/>
          <a:ln/>
        </p:spPr>
        <p:txBody>
          <a:bodyPr wrap="square" lIns="0" tIns="0" rIns="0" bIns="0"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6949440" y="2962656"/>
            <a:ext cx="448056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Risk control absent or substantially degraded</a:t>
            </a:r>
            <a:endParaRPr lang="en-US" sz="1350" dirty="0"/>
          </a:p>
        </p:txBody>
      </p:sp>
      <p:sp>
        <p:nvSpPr>
          <p:cNvPr id="20" name="Text 18"/>
          <p:cNvSpPr/>
          <p:nvPr/>
        </p:nvSpPr>
        <p:spPr>
          <a:xfrm>
            <a:off x="6565392" y="3621024"/>
            <a:ext cx="365760" cy="365760"/>
          </a:xfrm>
          <a:prstGeom prst="rect">
            <a:avLst/>
          </a:prstGeom>
          <a:noFill/>
          <a:ln/>
        </p:spPr>
        <p:txBody>
          <a:bodyPr wrap="square" lIns="0" tIns="0" rIns="0" bIns="0"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6949440" y="3621024"/>
            <a:ext cx="448056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Detection missing at the critical control point</a:t>
            </a:r>
            <a:endParaRPr lang="en-US" sz="1350" dirty="0"/>
          </a:p>
        </p:txBody>
      </p:sp>
      <p:sp>
        <p:nvSpPr>
          <p:cNvPr id="22" name="Text 20"/>
          <p:cNvSpPr/>
          <p:nvPr/>
        </p:nvSpPr>
        <p:spPr>
          <a:xfrm>
            <a:off x="6565392" y="4279392"/>
            <a:ext cx="365760" cy="365760"/>
          </a:xfrm>
          <a:prstGeom prst="rect">
            <a:avLst/>
          </a:prstGeom>
          <a:noFill/>
          <a:ln/>
        </p:spPr>
        <p:txBody>
          <a:bodyPr wrap="square" lIns="0" tIns="0" rIns="0" bIns="0" rtlCol="0" anchor="ctr"/>
          <a:lstStyle/>
          <a:p>
            <a:pPr indent="0" marL="0">
              <a:buNone/>
            </a:pPr>
            <a:r>
              <a:rPr lang="en-US" sz="1600" b="1" dirty="0">
                <a:solidFill>
                  <a:srgbClr val="D9A441"/>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6949440" y="4279392"/>
            <a:ext cx="448056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Risk plots in the unacceptable zone</a:t>
            </a:r>
            <a:endParaRPr lang="en-US" sz="1350" dirty="0"/>
          </a:p>
        </p:txBody>
      </p:sp>
      <p:sp>
        <p:nvSpPr>
          <p:cNvPr id="24" name="Text 22"/>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Removing a barrier is not an administrative decision. It is a Severity 4 to 5 risk-acceptance decision, made deliberately or by default.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Who Has Authority to Accept or Remove a Barrier</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SM-0001 6.2.2 requires identification of the management personnel who can accept high, serious and medium risk</a:t>
            </a:r>
            <a:endParaRPr lang="en-US" sz="1350" dirty="0"/>
          </a:p>
        </p:txBody>
      </p:sp>
      <p:sp>
        <p:nvSpPr>
          <p:cNvPr id="4" name="Shape 2"/>
          <p:cNvSpPr/>
          <p:nvPr/>
        </p:nvSpPr>
        <p:spPr>
          <a:xfrm>
            <a:off x="548640" y="1600200"/>
            <a:ext cx="11091672" cy="694944"/>
          </a:xfrm>
          <a:prstGeom prst="roundRect">
            <a:avLst>
              <a:gd name="adj" fmla="val 7895"/>
            </a:avLst>
          </a:prstGeom>
          <a:solidFill>
            <a:srgbClr val="FFFFFF"/>
          </a:solidFill>
          <a:ln w="9525">
            <a:solidFill>
              <a:srgbClr val="D6DEE6"/>
            </a:solidFill>
            <a:prstDash val="solid"/>
          </a:ln>
        </p:spPr>
      </p:sp>
      <p:sp>
        <p:nvSpPr>
          <p:cNvPr id="5" name="Shape 3"/>
          <p:cNvSpPr/>
          <p:nvPr/>
        </p:nvSpPr>
        <p:spPr>
          <a:xfrm>
            <a:off x="777240" y="1746504"/>
            <a:ext cx="402336" cy="402336"/>
          </a:xfrm>
          <a:prstGeom prst="roundRect">
            <a:avLst>
              <a:gd name="adj" fmla="val 13636"/>
            </a:avLst>
          </a:prstGeom>
          <a:solidFill>
            <a:srgbClr val="B3282D"/>
          </a:solidFill>
          <a:ln/>
        </p:spPr>
      </p:sp>
      <p:sp>
        <p:nvSpPr>
          <p:cNvPr id="6" name="Text 4"/>
          <p:cNvSpPr/>
          <p:nvPr/>
        </p:nvSpPr>
        <p:spPr>
          <a:xfrm>
            <a:off x="1353312" y="1655064"/>
            <a:ext cx="6400800" cy="585216"/>
          </a:xfrm>
          <a:prstGeom prst="rect">
            <a:avLst/>
          </a:prstGeom>
          <a:noFill/>
          <a:ln/>
        </p:spPr>
        <p:txBody>
          <a:bodyPr wrap="square" lIns="0" tIns="0" rIns="0" bIns="0" rtlCol="0" anchor="ctr"/>
          <a:lstStyle/>
          <a:p>
            <a:pPr indent="0" marL="0">
              <a:buNone/>
            </a:pPr>
            <a:r>
              <a:rPr lang="en-US" sz="1550" b="1" dirty="0">
                <a:solidFill>
                  <a:srgbClr val="16232E"/>
                </a:solidFill>
                <a:latin typeface="Calibri" pitchFamily="34" charset="0"/>
                <a:ea typeface="Calibri" pitchFamily="34" charset="-122"/>
                <a:cs typeface="Calibri" pitchFamily="34" charset="-120"/>
              </a:rPr>
              <a:t>Accountable Executive / Business CEO or Delegate</a:t>
            </a:r>
            <a:endParaRPr lang="en-US" sz="1550" dirty="0"/>
          </a:p>
        </p:txBody>
      </p:sp>
      <p:sp>
        <p:nvSpPr>
          <p:cNvPr id="7" name="Text 5"/>
          <p:cNvSpPr/>
          <p:nvPr/>
        </p:nvSpPr>
        <p:spPr>
          <a:xfrm>
            <a:off x="7863840" y="1655064"/>
            <a:ext cx="3566160" cy="585216"/>
          </a:xfrm>
          <a:prstGeom prst="rect">
            <a:avLst/>
          </a:prstGeom>
          <a:noFill/>
          <a:ln/>
        </p:spPr>
        <p:txBody>
          <a:bodyPr wrap="square" lIns="0" tIns="0" rIns="0" bIns="0" rtlCol="0" anchor="ctr"/>
          <a:lstStyle/>
          <a:p>
            <a:pPr algn="r" indent="0" marL="0">
              <a:buNone/>
            </a:pPr>
            <a:r>
              <a:rPr lang="en-US" sz="1300" dirty="0">
                <a:solidFill>
                  <a:srgbClr val="5C6E7D"/>
                </a:solidFill>
                <a:latin typeface="Calibri" pitchFamily="34" charset="0"/>
                <a:ea typeface="Calibri" pitchFamily="34" charset="-122"/>
                <a:cs typeface="Calibri" pitchFamily="34" charset="-120"/>
              </a:rPr>
              <a:t>Catastrophic and Severe risk acceptance</a:t>
            </a:r>
            <a:endParaRPr lang="en-US" sz="1300" dirty="0"/>
          </a:p>
        </p:txBody>
      </p:sp>
      <p:sp>
        <p:nvSpPr>
          <p:cNvPr id="8" name="Shape 6"/>
          <p:cNvSpPr/>
          <p:nvPr/>
        </p:nvSpPr>
        <p:spPr>
          <a:xfrm>
            <a:off x="548640" y="2441448"/>
            <a:ext cx="11091672" cy="694944"/>
          </a:xfrm>
          <a:prstGeom prst="roundRect">
            <a:avLst>
              <a:gd name="adj" fmla="val 7895"/>
            </a:avLst>
          </a:prstGeom>
          <a:solidFill>
            <a:srgbClr val="FFFFFF"/>
          </a:solidFill>
          <a:ln w="9525">
            <a:solidFill>
              <a:srgbClr val="D6DEE6"/>
            </a:solidFill>
            <a:prstDash val="solid"/>
          </a:ln>
        </p:spPr>
      </p:sp>
      <p:sp>
        <p:nvSpPr>
          <p:cNvPr id="9" name="Shape 7"/>
          <p:cNvSpPr/>
          <p:nvPr/>
        </p:nvSpPr>
        <p:spPr>
          <a:xfrm>
            <a:off x="777240" y="2587752"/>
            <a:ext cx="402336" cy="402336"/>
          </a:xfrm>
          <a:prstGeom prst="roundRect">
            <a:avLst>
              <a:gd name="adj" fmla="val 13636"/>
            </a:avLst>
          </a:prstGeom>
          <a:solidFill>
            <a:srgbClr val="39586F"/>
          </a:solidFill>
          <a:ln/>
        </p:spPr>
      </p:sp>
      <p:sp>
        <p:nvSpPr>
          <p:cNvPr id="10" name="Text 8"/>
          <p:cNvSpPr/>
          <p:nvPr/>
        </p:nvSpPr>
        <p:spPr>
          <a:xfrm>
            <a:off x="1353312" y="2496312"/>
            <a:ext cx="6400800" cy="585216"/>
          </a:xfrm>
          <a:prstGeom prst="rect">
            <a:avLst/>
          </a:prstGeom>
          <a:noFill/>
          <a:ln/>
        </p:spPr>
        <p:txBody>
          <a:bodyPr wrap="square" lIns="0" tIns="0" rIns="0" bIns="0" rtlCol="0" anchor="ctr"/>
          <a:lstStyle/>
          <a:p>
            <a:pPr indent="0" marL="0">
              <a:buNone/>
            </a:pPr>
            <a:r>
              <a:rPr lang="en-US" sz="1550" b="1" dirty="0">
                <a:solidFill>
                  <a:srgbClr val="16232E"/>
                </a:solidFill>
                <a:latin typeface="Calibri" pitchFamily="34" charset="0"/>
                <a:ea typeface="Calibri" pitchFamily="34" charset="-122"/>
                <a:cs typeface="Calibri" pitchFamily="34" charset="-120"/>
              </a:rPr>
              <a:t>Executive (e.g. VP) or Delegate</a:t>
            </a:r>
            <a:endParaRPr lang="en-US" sz="1550" dirty="0"/>
          </a:p>
        </p:txBody>
      </p:sp>
      <p:sp>
        <p:nvSpPr>
          <p:cNvPr id="11" name="Text 9"/>
          <p:cNvSpPr/>
          <p:nvPr/>
        </p:nvSpPr>
        <p:spPr>
          <a:xfrm>
            <a:off x="7863840" y="2496312"/>
            <a:ext cx="3566160" cy="585216"/>
          </a:xfrm>
          <a:prstGeom prst="rect">
            <a:avLst/>
          </a:prstGeom>
          <a:noFill/>
          <a:ln/>
        </p:spPr>
        <p:txBody>
          <a:bodyPr wrap="square" lIns="0" tIns="0" rIns="0" bIns="0" rtlCol="0" anchor="ctr"/>
          <a:lstStyle/>
          <a:p>
            <a:pPr algn="r" indent="0" marL="0">
              <a:buNone/>
            </a:pPr>
            <a:r>
              <a:rPr lang="en-US" sz="1300" dirty="0">
                <a:solidFill>
                  <a:srgbClr val="5C6E7D"/>
                </a:solidFill>
                <a:latin typeface="Calibri" pitchFamily="34" charset="0"/>
                <a:ea typeface="Calibri" pitchFamily="34" charset="-122"/>
                <a:cs typeface="Calibri" pitchFamily="34" charset="-120"/>
              </a:rPr>
              <a:t>Significant risk acceptance</a:t>
            </a:r>
            <a:endParaRPr lang="en-US" sz="1300" dirty="0"/>
          </a:p>
        </p:txBody>
      </p:sp>
      <p:sp>
        <p:nvSpPr>
          <p:cNvPr id="12" name="Shape 10"/>
          <p:cNvSpPr/>
          <p:nvPr/>
        </p:nvSpPr>
        <p:spPr>
          <a:xfrm>
            <a:off x="548640" y="3282696"/>
            <a:ext cx="11091672" cy="694944"/>
          </a:xfrm>
          <a:prstGeom prst="roundRect">
            <a:avLst>
              <a:gd name="adj" fmla="val 7895"/>
            </a:avLst>
          </a:prstGeom>
          <a:solidFill>
            <a:srgbClr val="FFFFFF"/>
          </a:solidFill>
          <a:ln w="9525">
            <a:solidFill>
              <a:srgbClr val="D6DEE6"/>
            </a:solidFill>
            <a:prstDash val="solid"/>
          </a:ln>
        </p:spPr>
      </p:sp>
      <p:sp>
        <p:nvSpPr>
          <p:cNvPr id="13" name="Shape 11"/>
          <p:cNvSpPr/>
          <p:nvPr/>
        </p:nvSpPr>
        <p:spPr>
          <a:xfrm>
            <a:off x="777240" y="3429000"/>
            <a:ext cx="402336" cy="402336"/>
          </a:xfrm>
          <a:prstGeom prst="roundRect">
            <a:avLst>
              <a:gd name="adj" fmla="val 13636"/>
            </a:avLst>
          </a:prstGeom>
          <a:solidFill>
            <a:srgbClr val="5C6E7D"/>
          </a:solidFill>
          <a:ln/>
        </p:spPr>
      </p:sp>
      <p:sp>
        <p:nvSpPr>
          <p:cNvPr id="14" name="Text 12"/>
          <p:cNvSpPr/>
          <p:nvPr/>
        </p:nvSpPr>
        <p:spPr>
          <a:xfrm>
            <a:off x="1353312" y="3337560"/>
            <a:ext cx="6400800" cy="585216"/>
          </a:xfrm>
          <a:prstGeom prst="rect">
            <a:avLst/>
          </a:prstGeom>
          <a:noFill/>
          <a:ln/>
        </p:spPr>
        <p:txBody>
          <a:bodyPr wrap="square" lIns="0" tIns="0" rIns="0" bIns="0" rtlCol="0" anchor="ctr"/>
          <a:lstStyle/>
          <a:p>
            <a:pPr indent="0" marL="0">
              <a:buNone/>
            </a:pPr>
            <a:r>
              <a:rPr lang="en-US" sz="1550" b="1" dirty="0">
                <a:solidFill>
                  <a:srgbClr val="16232E"/>
                </a:solidFill>
                <a:latin typeface="Calibri" pitchFamily="34" charset="0"/>
                <a:ea typeface="Calibri" pitchFamily="34" charset="-122"/>
                <a:cs typeface="Calibri" pitchFamily="34" charset="-120"/>
              </a:rPr>
              <a:t>First-Line Manager or Delegate</a:t>
            </a:r>
            <a:endParaRPr lang="en-US" sz="1550" dirty="0"/>
          </a:p>
        </p:txBody>
      </p:sp>
      <p:sp>
        <p:nvSpPr>
          <p:cNvPr id="15" name="Text 13"/>
          <p:cNvSpPr/>
          <p:nvPr/>
        </p:nvSpPr>
        <p:spPr>
          <a:xfrm>
            <a:off x="7863840" y="3337560"/>
            <a:ext cx="3566160" cy="585216"/>
          </a:xfrm>
          <a:prstGeom prst="rect">
            <a:avLst/>
          </a:prstGeom>
          <a:noFill/>
          <a:ln/>
        </p:spPr>
        <p:txBody>
          <a:bodyPr wrap="square" lIns="0" tIns="0" rIns="0" bIns="0" rtlCol="0" anchor="ctr"/>
          <a:lstStyle/>
          <a:p>
            <a:pPr algn="r" indent="0" marL="0">
              <a:buNone/>
            </a:pPr>
            <a:r>
              <a:rPr lang="en-US" sz="1300" dirty="0">
                <a:solidFill>
                  <a:srgbClr val="5C6E7D"/>
                </a:solidFill>
                <a:latin typeface="Calibri" pitchFamily="34" charset="0"/>
                <a:ea typeface="Calibri" pitchFamily="34" charset="-122"/>
                <a:cs typeface="Calibri" pitchFamily="34" charset="-120"/>
              </a:rPr>
              <a:t>Minor and Negligible decisions</a:t>
            </a:r>
            <a:endParaRPr lang="en-US" sz="1300" dirty="0"/>
          </a:p>
        </p:txBody>
      </p:sp>
      <p:sp>
        <p:nvSpPr>
          <p:cNvPr id="16" name="Shape 14"/>
          <p:cNvSpPr/>
          <p:nvPr/>
        </p:nvSpPr>
        <p:spPr>
          <a:xfrm>
            <a:off x="548640" y="4224528"/>
            <a:ext cx="11091672" cy="1664208"/>
          </a:xfrm>
          <a:prstGeom prst="roundRect">
            <a:avLst>
              <a:gd name="adj" fmla="val 3297"/>
            </a:avLst>
          </a:prstGeom>
          <a:solidFill>
            <a:srgbClr val="1E3A54"/>
          </a:solidFill>
          <a:ln/>
        </p:spPr>
      </p:sp>
      <p:sp>
        <p:nvSpPr>
          <p:cNvPr id="17" name="Text 15"/>
          <p:cNvSpPr/>
          <p:nvPr/>
        </p:nvSpPr>
        <p:spPr>
          <a:xfrm>
            <a:off x="868680" y="4389120"/>
            <a:ext cx="10424160" cy="310896"/>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Today's situation</a:t>
            </a:r>
            <a:endParaRPr lang="en-US" sz="1500" dirty="0"/>
          </a:p>
        </p:txBody>
      </p:sp>
      <p:sp>
        <p:nvSpPr>
          <p:cNvPr id="18" name="Text 16"/>
          <p:cNvSpPr/>
          <p:nvPr/>
        </p:nvSpPr>
        <p:spPr>
          <a:xfrm>
            <a:off x="868680" y="4754880"/>
            <a:ext cx="10424160" cy="10058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Severity 4 to 5 risk-acceptance decisions are effectively being made at the engineering-organization altitude through interpretation of contract scope. By SM-0001 6.2.2 this is the wrong altitude. MIL-STD-882E 4.2.2.2 says the same thing from the other direction: the discipline must obtain its own acceptance from the authority that owns that severity, and it cannot delegate that upward by assumption or sideways to system safety.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F2E"/>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Decision Being Made, Whether Recognized or Not</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9FB3C4"/>
                </a:solidFill>
                <a:latin typeface="Calibri" pitchFamily="34" charset="0"/>
                <a:ea typeface="Calibri" pitchFamily="34" charset="-122"/>
                <a:cs typeface="Calibri" pitchFamily="34" charset="-120"/>
              </a:rPr>
              <a:t>When the organization says no contract means no obligation, it makes a decision it does not have authority to make</a:t>
            </a:r>
            <a:endParaRPr lang="en-US" sz="1350" dirty="0"/>
          </a:p>
        </p:txBody>
      </p:sp>
      <p:sp>
        <p:nvSpPr>
          <p:cNvPr id="4" name="Shape 2"/>
          <p:cNvSpPr/>
          <p:nvPr/>
        </p:nvSpPr>
        <p:spPr>
          <a:xfrm>
            <a:off x="548640" y="1572768"/>
            <a:ext cx="11091672" cy="1097280"/>
          </a:xfrm>
          <a:prstGeom prst="roundRect">
            <a:avLst>
              <a:gd name="adj" fmla="val 5000"/>
            </a:avLst>
          </a:prstGeom>
          <a:solidFill>
            <a:srgbClr val="1E3A54"/>
          </a:solidFill>
          <a:ln/>
        </p:spPr>
      </p:sp>
      <p:sp>
        <p:nvSpPr>
          <p:cNvPr id="5" name="Text 3"/>
          <p:cNvSpPr/>
          <p:nvPr/>
        </p:nvSpPr>
        <p:spPr>
          <a:xfrm>
            <a:off x="868680" y="1700784"/>
            <a:ext cx="10469880" cy="841248"/>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“We accept the residual Severity 4 to 5 risk of every SMS hazard that the omitted requirements would have controlled. We assert this acceptance as an administrative determination about contract scope.”</a:t>
            </a:r>
            <a:endParaRPr lang="en-US" sz="1500" dirty="0"/>
          </a:p>
        </p:txBody>
      </p:sp>
      <p:sp>
        <p:nvSpPr>
          <p:cNvPr id="6" name="Shape 4"/>
          <p:cNvSpPr/>
          <p:nvPr/>
        </p:nvSpPr>
        <p:spPr>
          <a:xfrm>
            <a:off x="548640" y="2852928"/>
            <a:ext cx="11091672" cy="914400"/>
          </a:xfrm>
          <a:prstGeom prst="roundRect">
            <a:avLst>
              <a:gd name="adj" fmla="val 6000"/>
            </a:avLst>
          </a:prstGeom>
          <a:solidFill>
            <a:srgbClr val="1E3A54"/>
          </a:solidFill>
          <a:ln/>
        </p:spPr>
      </p:sp>
      <p:sp>
        <p:nvSpPr>
          <p:cNvPr id="7" name="Shape 5"/>
          <p:cNvSpPr/>
          <p:nvPr/>
        </p:nvSpPr>
        <p:spPr>
          <a:xfrm>
            <a:off x="841248" y="3099816"/>
            <a:ext cx="420624" cy="420624"/>
          </a:xfrm>
          <a:prstGeom prst="ellipse">
            <a:avLst/>
          </a:prstGeom>
          <a:solidFill>
            <a:srgbClr val="B3282D"/>
          </a:solidFill>
          <a:ln/>
        </p:spPr>
      </p:sp>
      <p:sp>
        <p:nvSpPr>
          <p:cNvPr id="8" name="Text 6"/>
          <p:cNvSpPr/>
          <p:nvPr/>
        </p:nvSpPr>
        <p:spPr>
          <a:xfrm>
            <a:off x="841248" y="3099816"/>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p:nvPr/>
        </p:nvSpPr>
        <p:spPr>
          <a:xfrm>
            <a:off x="1463040" y="2962656"/>
            <a:ext cx="996696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It accepts risk that the record shows is real.</a:t>
            </a:r>
            <a:endParaRPr lang="en-US" sz="1550" dirty="0"/>
          </a:p>
        </p:txBody>
      </p:sp>
      <p:sp>
        <p:nvSpPr>
          <p:cNvPr id="10" name="Text 8"/>
          <p:cNvSpPr/>
          <p:nvPr/>
        </p:nvSpPr>
        <p:spPr>
          <a:xfrm>
            <a:off x="1463040" y="3273552"/>
            <a:ext cx="9966960" cy="420624"/>
          </a:xfrm>
          <a:prstGeom prst="rect">
            <a:avLst/>
          </a:prstGeom>
          <a:noFill/>
          <a:ln/>
        </p:spPr>
        <p:txBody>
          <a:bodyPr wrap="square" lIns="0" tIns="0" rIns="0" bIns="0" rtlCol="0" anchor="ctr"/>
          <a:lstStyle/>
          <a:p>
            <a:pPr indent="0" marL="0">
              <a:buNone/>
            </a:pPr>
            <a:r>
              <a:rPr lang="en-US" sz="1250" dirty="0">
                <a:solidFill>
                  <a:srgbClr val="9FB3C4"/>
                </a:solidFill>
                <a:latin typeface="Calibri" pitchFamily="34" charset="0"/>
                <a:ea typeface="Calibri" pitchFamily="34" charset="-122"/>
                <a:cs typeface="Calibri" pitchFamily="34" charset="-120"/>
              </a:rPr>
              <a:t>Alaska 261, JAL123, United 232, MCAS, Kegworth, Turoy, Cougar 91, AF447, CV-22, KC-130T, Aloha 243. Investigated events, not hypotheticals.</a:t>
            </a:r>
            <a:endParaRPr lang="en-US" sz="1250" dirty="0"/>
          </a:p>
        </p:txBody>
      </p:sp>
      <p:sp>
        <p:nvSpPr>
          <p:cNvPr id="11" name="Shape 9"/>
          <p:cNvSpPr/>
          <p:nvPr/>
        </p:nvSpPr>
        <p:spPr>
          <a:xfrm>
            <a:off x="548640" y="3913632"/>
            <a:ext cx="11091672" cy="914400"/>
          </a:xfrm>
          <a:prstGeom prst="roundRect">
            <a:avLst>
              <a:gd name="adj" fmla="val 6000"/>
            </a:avLst>
          </a:prstGeom>
          <a:solidFill>
            <a:srgbClr val="1E3A54"/>
          </a:solidFill>
          <a:ln/>
        </p:spPr>
      </p:sp>
      <p:sp>
        <p:nvSpPr>
          <p:cNvPr id="12" name="Shape 10"/>
          <p:cNvSpPr/>
          <p:nvPr/>
        </p:nvSpPr>
        <p:spPr>
          <a:xfrm>
            <a:off x="841248" y="4160520"/>
            <a:ext cx="420624" cy="420624"/>
          </a:xfrm>
          <a:prstGeom prst="ellipse">
            <a:avLst/>
          </a:prstGeom>
          <a:solidFill>
            <a:srgbClr val="B3282D"/>
          </a:solidFill>
          <a:ln/>
        </p:spPr>
      </p:sp>
      <p:sp>
        <p:nvSpPr>
          <p:cNvPr id="13" name="Text 11"/>
          <p:cNvSpPr/>
          <p:nvPr/>
        </p:nvSpPr>
        <p:spPr>
          <a:xfrm>
            <a:off x="841248" y="4160520"/>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2"/>
          <p:cNvSpPr/>
          <p:nvPr/>
        </p:nvSpPr>
        <p:spPr>
          <a:xfrm>
            <a:off x="1463040" y="4023360"/>
            <a:ext cx="996696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It accepts that risk at the wrong altitude.</a:t>
            </a:r>
            <a:endParaRPr lang="en-US" sz="1550" dirty="0"/>
          </a:p>
        </p:txBody>
      </p:sp>
      <p:sp>
        <p:nvSpPr>
          <p:cNvPr id="15" name="Text 13"/>
          <p:cNvSpPr/>
          <p:nvPr/>
        </p:nvSpPr>
        <p:spPr>
          <a:xfrm>
            <a:off x="1463040" y="4334256"/>
            <a:ext cx="9966960" cy="420624"/>
          </a:xfrm>
          <a:prstGeom prst="rect">
            <a:avLst/>
          </a:prstGeom>
          <a:noFill/>
          <a:ln/>
        </p:spPr>
        <p:txBody>
          <a:bodyPr wrap="square" lIns="0" tIns="0" rIns="0" bIns="0" rtlCol="0" anchor="ctr"/>
          <a:lstStyle/>
          <a:p>
            <a:pPr indent="0" marL="0">
              <a:buNone/>
            </a:pPr>
            <a:r>
              <a:rPr lang="en-US" sz="1250" dirty="0">
                <a:solidFill>
                  <a:srgbClr val="9FB3C4"/>
                </a:solidFill>
                <a:latin typeface="Calibri" pitchFamily="34" charset="0"/>
                <a:ea typeface="Calibri" pitchFamily="34" charset="-122"/>
                <a:cs typeface="Calibri" pitchFamily="34" charset="-120"/>
              </a:rPr>
              <a:t>SM-0001 6.2.2 names who may accept Severity 4 to 5. MIL-STD-882E 4.2.2.2 requires the discipline to obtain that acceptance itself. Neither names the engineering organization.</a:t>
            </a:r>
            <a:endParaRPr lang="en-US" sz="1250" dirty="0"/>
          </a:p>
        </p:txBody>
      </p:sp>
      <p:sp>
        <p:nvSpPr>
          <p:cNvPr id="16" name="Shape 14"/>
          <p:cNvSpPr/>
          <p:nvPr/>
        </p:nvSpPr>
        <p:spPr>
          <a:xfrm>
            <a:off x="548640" y="4974336"/>
            <a:ext cx="11091672" cy="914400"/>
          </a:xfrm>
          <a:prstGeom prst="roundRect">
            <a:avLst>
              <a:gd name="adj" fmla="val 6000"/>
            </a:avLst>
          </a:prstGeom>
          <a:solidFill>
            <a:srgbClr val="1E3A54"/>
          </a:solidFill>
          <a:ln/>
        </p:spPr>
      </p:sp>
      <p:sp>
        <p:nvSpPr>
          <p:cNvPr id="17" name="Shape 15"/>
          <p:cNvSpPr/>
          <p:nvPr/>
        </p:nvSpPr>
        <p:spPr>
          <a:xfrm>
            <a:off x="841248" y="5221224"/>
            <a:ext cx="420624" cy="420624"/>
          </a:xfrm>
          <a:prstGeom prst="ellipse">
            <a:avLst/>
          </a:prstGeom>
          <a:solidFill>
            <a:srgbClr val="B3282D"/>
          </a:solidFill>
          <a:ln/>
        </p:spPr>
      </p:sp>
      <p:sp>
        <p:nvSpPr>
          <p:cNvPr id="18" name="Text 16"/>
          <p:cNvSpPr/>
          <p:nvPr/>
        </p:nvSpPr>
        <p:spPr>
          <a:xfrm>
            <a:off x="841248" y="5221224"/>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7"/>
          <p:cNvSpPr/>
          <p:nvPr/>
        </p:nvSpPr>
        <p:spPr>
          <a:xfrm>
            <a:off x="1463040" y="5084064"/>
            <a:ext cx="996696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It accepts that risk silently.</a:t>
            </a:r>
            <a:endParaRPr lang="en-US" sz="1550" dirty="0"/>
          </a:p>
        </p:txBody>
      </p:sp>
      <p:sp>
        <p:nvSpPr>
          <p:cNvPr id="20" name="Text 18"/>
          <p:cNvSpPr/>
          <p:nvPr/>
        </p:nvSpPr>
        <p:spPr>
          <a:xfrm>
            <a:off x="1463040" y="5394960"/>
            <a:ext cx="9966960" cy="420624"/>
          </a:xfrm>
          <a:prstGeom prst="rect">
            <a:avLst/>
          </a:prstGeom>
          <a:noFill/>
          <a:ln/>
        </p:spPr>
        <p:txBody>
          <a:bodyPr wrap="square" lIns="0" tIns="0" rIns="0" bIns="0" rtlCol="0" anchor="ctr"/>
          <a:lstStyle/>
          <a:p>
            <a:pPr indent="0" marL="0">
              <a:buNone/>
            </a:pPr>
            <a:r>
              <a:rPr lang="en-US" sz="1250" dirty="0">
                <a:solidFill>
                  <a:srgbClr val="9FB3C4"/>
                </a:solidFill>
                <a:latin typeface="Calibri" pitchFamily="34" charset="0"/>
                <a:ea typeface="Calibri" pitchFamily="34" charset="-122"/>
                <a:cs typeface="Calibri" pitchFamily="34" charset="-120"/>
              </a:rPr>
              <a:t>No signed risk-acceptance memo, no named accountable individual, no SMS record. A contractual silence read as a tailoring choice.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The Cumulative Weight of Evidence</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Why sixty barriers cannot be dismissed as theoretical</a:t>
            </a:r>
            <a:endParaRPr lang="en-US" sz="1350" dirty="0"/>
          </a:p>
        </p:txBody>
      </p:sp>
      <p:sp>
        <p:nvSpPr>
          <p:cNvPr id="4" name="Shape 2"/>
          <p:cNvSpPr/>
          <p:nvPr/>
        </p:nvSpPr>
        <p:spPr>
          <a:xfrm>
            <a:off x="548640" y="1691640"/>
            <a:ext cx="2066544" cy="2286000"/>
          </a:xfrm>
          <a:prstGeom prst="roundRect">
            <a:avLst>
              <a:gd name="adj" fmla="val 2655"/>
            </a:avLst>
          </a:prstGeom>
          <a:solidFill>
            <a:srgbClr val="FFFFFF"/>
          </a:solidFill>
          <a:ln w="9525">
            <a:solidFill>
              <a:srgbClr val="D6DEE6"/>
            </a:solidFill>
            <a:prstDash val="solid"/>
          </a:ln>
        </p:spPr>
      </p:sp>
      <p:sp>
        <p:nvSpPr>
          <p:cNvPr id="5" name="Text 3"/>
          <p:cNvSpPr/>
          <p:nvPr/>
        </p:nvSpPr>
        <p:spPr>
          <a:xfrm>
            <a:off x="694944" y="1920240"/>
            <a:ext cx="1773936" cy="731520"/>
          </a:xfrm>
          <a:prstGeom prst="rect">
            <a:avLst/>
          </a:prstGeom>
          <a:noFill/>
          <a:ln/>
        </p:spPr>
        <p:txBody>
          <a:bodyPr wrap="square" lIns="0" tIns="0" rIns="0" bIns="0" rtlCol="0" anchor="ctr"/>
          <a:lstStyle/>
          <a:p>
            <a:pPr algn="ctr" indent="0" marL="0">
              <a:buNone/>
            </a:pPr>
            <a:r>
              <a:rPr lang="en-US" sz="4000" b="1" dirty="0">
                <a:solidFill>
                  <a:srgbClr val="B3282D"/>
                </a:solidFill>
                <a:latin typeface="Cambria" pitchFamily="34" charset="0"/>
                <a:ea typeface="Cambria" pitchFamily="34" charset="-122"/>
                <a:cs typeface="Cambria" pitchFamily="34" charset="-120"/>
              </a:rPr>
              <a:t>60</a:t>
            </a:r>
            <a:endParaRPr lang="en-US" sz="4000" dirty="0"/>
          </a:p>
        </p:txBody>
      </p:sp>
      <p:sp>
        <p:nvSpPr>
          <p:cNvPr id="6" name="Text 4"/>
          <p:cNvSpPr/>
          <p:nvPr/>
        </p:nvSpPr>
        <p:spPr>
          <a:xfrm>
            <a:off x="694944" y="2697480"/>
            <a:ext cx="1773936" cy="603504"/>
          </a:xfrm>
          <a:prstGeom prst="rect">
            <a:avLst/>
          </a:prstGeom>
          <a:noFill/>
          <a:ln/>
        </p:spPr>
        <p:txBody>
          <a:bodyPr wrap="square" lIns="0" tIns="0" rIns="0" bIns="0" rtlCol="0" anchor="ctr"/>
          <a:lstStyle/>
          <a:p>
            <a:pPr algn="ctr" indent="0" marL="0">
              <a:buNone/>
            </a:pPr>
            <a:r>
              <a:rPr lang="en-US" sz="1250" b="1" dirty="0">
                <a:solidFill>
                  <a:srgbClr val="16232E"/>
                </a:solidFill>
                <a:latin typeface="Calibri" pitchFamily="34" charset="0"/>
                <a:ea typeface="Calibri" pitchFamily="34" charset="-122"/>
                <a:cs typeface="Calibri" pitchFamily="34" charset="-120"/>
              </a:rPr>
              <a:t>clause-anchored barriers</a:t>
            </a:r>
            <a:endParaRPr lang="en-US" sz="1250" dirty="0"/>
          </a:p>
        </p:txBody>
      </p:sp>
      <p:sp>
        <p:nvSpPr>
          <p:cNvPr id="7" name="Text 5"/>
          <p:cNvSpPr/>
          <p:nvPr/>
        </p:nvSpPr>
        <p:spPr>
          <a:xfrm>
            <a:off x="694944" y="3310128"/>
            <a:ext cx="1773936" cy="548640"/>
          </a:xfrm>
          <a:prstGeom prst="rect">
            <a:avLst/>
          </a:prstGeom>
          <a:noFill/>
          <a:ln/>
        </p:spPr>
        <p:txBody>
          <a:bodyPr wrap="square" lIns="0" tIns="0" rIns="0" bIns="0" rtlCol="0" anchor="ctr"/>
          <a:lstStyle/>
          <a:p>
            <a:pPr algn="ctr" indent="0" marL="0">
              <a:buNone/>
            </a:pPr>
            <a:r>
              <a:rPr lang="en-US" sz="1050" dirty="0">
                <a:solidFill>
                  <a:srgbClr val="5C6E7D"/>
                </a:solidFill>
                <a:latin typeface="Calibri" pitchFamily="34" charset="0"/>
                <a:ea typeface="Calibri" pitchFamily="34" charset="-122"/>
                <a:cs typeface="Calibri" pitchFamily="34" charset="-120"/>
              </a:rPr>
              <a:t>Each traced to a named SM-0001 hazard</a:t>
            </a:r>
            <a:endParaRPr lang="en-US" sz="1050" dirty="0"/>
          </a:p>
        </p:txBody>
      </p:sp>
      <p:sp>
        <p:nvSpPr>
          <p:cNvPr id="8" name="Shape 6"/>
          <p:cNvSpPr/>
          <p:nvPr/>
        </p:nvSpPr>
        <p:spPr>
          <a:xfrm>
            <a:off x="2798064" y="1691640"/>
            <a:ext cx="2066544" cy="2286000"/>
          </a:xfrm>
          <a:prstGeom prst="roundRect">
            <a:avLst>
              <a:gd name="adj" fmla="val 2655"/>
            </a:avLst>
          </a:prstGeom>
          <a:solidFill>
            <a:srgbClr val="FFFFFF"/>
          </a:solidFill>
          <a:ln w="9525">
            <a:solidFill>
              <a:srgbClr val="D6DEE6"/>
            </a:solidFill>
            <a:prstDash val="solid"/>
          </a:ln>
        </p:spPr>
      </p:sp>
      <p:sp>
        <p:nvSpPr>
          <p:cNvPr id="9" name="Text 7"/>
          <p:cNvSpPr/>
          <p:nvPr/>
        </p:nvSpPr>
        <p:spPr>
          <a:xfrm>
            <a:off x="2944368" y="1920240"/>
            <a:ext cx="1773936" cy="731520"/>
          </a:xfrm>
          <a:prstGeom prst="rect">
            <a:avLst/>
          </a:prstGeom>
          <a:noFill/>
          <a:ln/>
        </p:spPr>
        <p:txBody>
          <a:bodyPr wrap="square" lIns="0" tIns="0" rIns="0" bIns="0" rtlCol="0" anchor="ctr"/>
          <a:lstStyle/>
          <a:p>
            <a:pPr algn="ctr" indent="0" marL="0">
              <a:buNone/>
            </a:pPr>
            <a:r>
              <a:rPr lang="en-US" sz="4000" b="1" dirty="0">
                <a:solidFill>
                  <a:srgbClr val="B3282D"/>
                </a:solidFill>
                <a:latin typeface="Cambria" pitchFamily="34" charset="0"/>
                <a:ea typeface="Cambria" pitchFamily="34" charset="-122"/>
                <a:cs typeface="Cambria" pitchFamily="34" charset="-120"/>
              </a:rPr>
              <a:t>36</a:t>
            </a:r>
            <a:endParaRPr lang="en-US" sz="4000" dirty="0"/>
          </a:p>
        </p:txBody>
      </p:sp>
      <p:sp>
        <p:nvSpPr>
          <p:cNvPr id="10" name="Text 8"/>
          <p:cNvSpPr/>
          <p:nvPr/>
        </p:nvSpPr>
        <p:spPr>
          <a:xfrm>
            <a:off x="2944368" y="2697480"/>
            <a:ext cx="1773936" cy="603504"/>
          </a:xfrm>
          <a:prstGeom prst="rect">
            <a:avLst/>
          </a:prstGeom>
          <a:noFill/>
          <a:ln/>
        </p:spPr>
        <p:txBody>
          <a:bodyPr wrap="square" lIns="0" tIns="0" rIns="0" bIns="0" rtlCol="0" anchor="ctr"/>
          <a:lstStyle/>
          <a:p>
            <a:pPr algn="ctr" indent="0" marL="0">
              <a:buNone/>
            </a:pPr>
            <a:r>
              <a:rPr lang="en-US" sz="1250" b="1" dirty="0">
                <a:solidFill>
                  <a:srgbClr val="16232E"/>
                </a:solidFill>
                <a:latin typeface="Calibri" pitchFamily="34" charset="0"/>
                <a:ea typeface="Calibri" pitchFamily="34" charset="-122"/>
                <a:cs typeface="Calibri" pitchFamily="34" charset="-120"/>
              </a:rPr>
              <a:t>with a specific event anchor</a:t>
            </a:r>
            <a:endParaRPr lang="en-US" sz="1250" dirty="0"/>
          </a:p>
        </p:txBody>
      </p:sp>
      <p:sp>
        <p:nvSpPr>
          <p:cNvPr id="11" name="Text 9"/>
          <p:cNvSpPr/>
          <p:nvPr/>
        </p:nvSpPr>
        <p:spPr>
          <a:xfrm>
            <a:off x="2944368" y="3310128"/>
            <a:ext cx="1773936" cy="548640"/>
          </a:xfrm>
          <a:prstGeom prst="rect">
            <a:avLst/>
          </a:prstGeom>
          <a:noFill/>
          <a:ln/>
        </p:spPr>
        <p:txBody>
          <a:bodyPr wrap="square" lIns="0" tIns="0" rIns="0" bIns="0" rtlCol="0" anchor="ctr"/>
          <a:lstStyle/>
          <a:p>
            <a:pPr algn="ctr" indent="0" marL="0">
              <a:buNone/>
            </a:pPr>
            <a:r>
              <a:rPr lang="en-US" sz="1050" dirty="0">
                <a:solidFill>
                  <a:srgbClr val="5C6E7D"/>
                </a:solidFill>
                <a:latin typeface="Calibri" pitchFamily="34" charset="0"/>
                <a:ea typeface="Calibri" pitchFamily="34" charset="-122"/>
                <a:cs typeface="Calibri" pitchFamily="34" charset="-120"/>
              </a:rPr>
              <a:t>Investigated accidents, not patterns</a:t>
            </a:r>
            <a:endParaRPr lang="en-US" sz="1050" dirty="0"/>
          </a:p>
        </p:txBody>
      </p:sp>
      <p:sp>
        <p:nvSpPr>
          <p:cNvPr id="12" name="Shape 10"/>
          <p:cNvSpPr/>
          <p:nvPr/>
        </p:nvSpPr>
        <p:spPr>
          <a:xfrm>
            <a:off x="5047488" y="1691640"/>
            <a:ext cx="2066544" cy="2286000"/>
          </a:xfrm>
          <a:prstGeom prst="roundRect">
            <a:avLst>
              <a:gd name="adj" fmla="val 2655"/>
            </a:avLst>
          </a:prstGeom>
          <a:solidFill>
            <a:srgbClr val="FFFFFF"/>
          </a:solidFill>
          <a:ln w="9525">
            <a:solidFill>
              <a:srgbClr val="D6DEE6"/>
            </a:solidFill>
            <a:prstDash val="solid"/>
          </a:ln>
        </p:spPr>
      </p:sp>
      <p:sp>
        <p:nvSpPr>
          <p:cNvPr id="13" name="Text 11"/>
          <p:cNvSpPr/>
          <p:nvPr/>
        </p:nvSpPr>
        <p:spPr>
          <a:xfrm>
            <a:off x="5193792" y="1920240"/>
            <a:ext cx="1773936" cy="731520"/>
          </a:xfrm>
          <a:prstGeom prst="rect">
            <a:avLst/>
          </a:prstGeom>
          <a:noFill/>
          <a:ln/>
        </p:spPr>
        <p:txBody>
          <a:bodyPr wrap="square" lIns="0" tIns="0" rIns="0" bIns="0" rtlCol="0" anchor="ctr"/>
          <a:lstStyle/>
          <a:p>
            <a:pPr algn="ctr" indent="0" marL="0">
              <a:buNone/>
            </a:pPr>
            <a:r>
              <a:rPr lang="en-US" sz="4000" b="1" dirty="0">
                <a:solidFill>
                  <a:srgbClr val="B3282D"/>
                </a:solidFill>
                <a:latin typeface="Cambria" pitchFamily="34" charset="0"/>
                <a:ea typeface="Cambria" pitchFamily="34" charset="-122"/>
                <a:cs typeface="Cambria" pitchFamily="34" charset="-120"/>
              </a:rPr>
              <a:t>54</a:t>
            </a:r>
            <a:endParaRPr lang="en-US" sz="4000" dirty="0"/>
          </a:p>
        </p:txBody>
      </p:sp>
      <p:sp>
        <p:nvSpPr>
          <p:cNvPr id="14" name="Text 12"/>
          <p:cNvSpPr/>
          <p:nvPr/>
        </p:nvSpPr>
        <p:spPr>
          <a:xfrm>
            <a:off x="5193792" y="2697480"/>
            <a:ext cx="1773936" cy="603504"/>
          </a:xfrm>
          <a:prstGeom prst="rect">
            <a:avLst/>
          </a:prstGeom>
          <a:noFill/>
          <a:ln/>
        </p:spPr>
        <p:txBody>
          <a:bodyPr wrap="square" lIns="0" tIns="0" rIns="0" bIns="0" rtlCol="0" anchor="ctr"/>
          <a:lstStyle/>
          <a:p>
            <a:pPr algn="ctr" indent="0" marL="0">
              <a:buNone/>
            </a:pPr>
            <a:r>
              <a:rPr lang="en-US" sz="1250" b="1" dirty="0">
                <a:solidFill>
                  <a:srgbClr val="16232E"/>
                </a:solidFill>
                <a:latin typeface="Calibri" pitchFamily="34" charset="0"/>
                <a:ea typeface="Calibri" pitchFamily="34" charset="-122"/>
                <a:cs typeface="Calibri" pitchFamily="34" charset="-120"/>
              </a:rPr>
              <a:t>rated Severity 5</a:t>
            </a:r>
            <a:endParaRPr lang="en-US" sz="1250" dirty="0"/>
          </a:p>
        </p:txBody>
      </p:sp>
      <p:sp>
        <p:nvSpPr>
          <p:cNvPr id="15" name="Text 13"/>
          <p:cNvSpPr/>
          <p:nvPr/>
        </p:nvSpPr>
        <p:spPr>
          <a:xfrm>
            <a:off x="5193792" y="3310128"/>
            <a:ext cx="1773936" cy="548640"/>
          </a:xfrm>
          <a:prstGeom prst="rect">
            <a:avLst/>
          </a:prstGeom>
          <a:noFill/>
          <a:ln/>
        </p:spPr>
        <p:txBody>
          <a:bodyPr wrap="square" lIns="0" tIns="0" rIns="0" bIns="0" rtlCol="0" anchor="ctr"/>
          <a:lstStyle/>
          <a:p>
            <a:pPr algn="ctr" indent="0" marL="0">
              <a:buNone/>
            </a:pPr>
            <a:r>
              <a:rPr lang="en-US" sz="1050" dirty="0">
                <a:solidFill>
                  <a:srgbClr val="5C6E7D"/>
                </a:solidFill>
                <a:latin typeface="Calibri" pitchFamily="34" charset="0"/>
                <a:ea typeface="Calibri" pitchFamily="34" charset="-122"/>
                <a:cs typeface="Calibri" pitchFamily="34" charset="-120"/>
              </a:rPr>
              <a:t>Catastrophic outcomes</a:t>
            </a:r>
            <a:endParaRPr lang="en-US" sz="1050" dirty="0"/>
          </a:p>
        </p:txBody>
      </p:sp>
      <p:sp>
        <p:nvSpPr>
          <p:cNvPr id="16" name="Shape 14"/>
          <p:cNvSpPr/>
          <p:nvPr/>
        </p:nvSpPr>
        <p:spPr>
          <a:xfrm>
            <a:off x="7296912" y="1691640"/>
            <a:ext cx="2066544" cy="2286000"/>
          </a:xfrm>
          <a:prstGeom prst="roundRect">
            <a:avLst>
              <a:gd name="adj" fmla="val 2655"/>
            </a:avLst>
          </a:prstGeom>
          <a:solidFill>
            <a:srgbClr val="FFFFFF"/>
          </a:solidFill>
          <a:ln w="9525">
            <a:solidFill>
              <a:srgbClr val="D6DEE6"/>
            </a:solidFill>
            <a:prstDash val="solid"/>
          </a:ln>
        </p:spPr>
      </p:sp>
      <p:sp>
        <p:nvSpPr>
          <p:cNvPr id="17" name="Text 15"/>
          <p:cNvSpPr/>
          <p:nvPr/>
        </p:nvSpPr>
        <p:spPr>
          <a:xfrm>
            <a:off x="7443216" y="1920240"/>
            <a:ext cx="1773936" cy="731520"/>
          </a:xfrm>
          <a:prstGeom prst="rect">
            <a:avLst/>
          </a:prstGeom>
          <a:noFill/>
          <a:ln/>
        </p:spPr>
        <p:txBody>
          <a:bodyPr wrap="square" lIns="0" tIns="0" rIns="0" bIns="0" rtlCol="0" anchor="ctr"/>
          <a:lstStyle/>
          <a:p>
            <a:pPr algn="ctr" indent="0" marL="0">
              <a:buNone/>
            </a:pPr>
            <a:r>
              <a:rPr lang="en-US" sz="4000" b="1" dirty="0">
                <a:solidFill>
                  <a:srgbClr val="B3282D"/>
                </a:solidFill>
                <a:latin typeface="Cambria" pitchFamily="34" charset="0"/>
                <a:ea typeface="Cambria" pitchFamily="34" charset="-122"/>
                <a:cs typeface="Cambria" pitchFamily="34" charset="-120"/>
              </a:rPr>
              <a:t>23</a:t>
            </a:r>
            <a:endParaRPr lang="en-US" sz="4000" dirty="0"/>
          </a:p>
        </p:txBody>
      </p:sp>
      <p:sp>
        <p:nvSpPr>
          <p:cNvPr id="18" name="Text 16"/>
          <p:cNvSpPr/>
          <p:nvPr/>
        </p:nvSpPr>
        <p:spPr>
          <a:xfrm>
            <a:off x="7443216" y="2697480"/>
            <a:ext cx="1773936" cy="603504"/>
          </a:xfrm>
          <a:prstGeom prst="rect">
            <a:avLst/>
          </a:prstGeom>
          <a:noFill/>
          <a:ln/>
        </p:spPr>
        <p:txBody>
          <a:bodyPr wrap="square" lIns="0" tIns="0" rIns="0" bIns="0" rtlCol="0" anchor="ctr"/>
          <a:lstStyle/>
          <a:p>
            <a:pPr algn="ctr" indent="0" marL="0">
              <a:buNone/>
            </a:pPr>
            <a:r>
              <a:rPr lang="en-US" sz="1250" b="1" dirty="0">
                <a:solidFill>
                  <a:srgbClr val="16232E"/>
                </a:solidFill>
                <a:latin typeface="Calibri" pitchFamily="34" charset="0"/>
                <a:ea typeface="Calibri" pitchFamily="34" charset="-122"/>
                <a:cs typeface="Calibri" pitchFamily="34" charset="-120"/>
              </a:rPr>
              <a:t>anchored in two or more standards</a:t>
            </a:r>
            <a:endParaRPr lang="en-US" sz="1250" dirty="0"/>
          </a:p>
        </p:txBody>
      </p:sp>
      <p:sp>
        <p:nvSpPr>
          <p:cNvPr id="19" name="Text 17"/>
          <p:cNvSpPr/>
          <p:nvPr/>
        </p:nvSpPr>
        <p:spPr>
          <a:xfrm>
            <a:off x="7443216" y="3310128"/>
            <a:ext cx="1773936" cy="548640"/>
          </a:xfrm>
          <a:prstGeom prst="rect">
            <a:avLst/>
          </a:prstGeom>
          <a:noFill/>
          <a:ln/>
        </p:spPr>
        <p:txBody>
          <a:bodyPr wrap="square" lIns="0" tIns="0" rIns="0" bIns="0" rtlCol="0" anchor="ctr"/>
          <a:lstStyle/>
          <a:p>
            <a:pPr algn="ctr" indent="0" marL="0">
              <a:buNone/>
            </a:pPr>
            <a:r>
              <a:rPr lang="en-US" sz="1050" dirty="0">
                <a:solidFill>
                  <a:srgbClr val="5C6E7D"/>
                </a:solidFill>
                <a:latin typeface="Calibri" pitchFamily="34" charset="0"/>
                <a:ea typeface="Calibri" pitchFamily="34" charset="-122"/>
                <a:cs typeface="Calibri" pitchFamily="34" charset="-120"/>
              </a:rPr>
              <a:t>Independently obligated</a:t>
            </a:r>
            <a:endParaRPr lang="en-US" sz="1050" dirty="0"/>
          </a:p>
        </p:txBody>
      </p:sp>
      <p:sp>
        <p:nvSpPr>
          <p:cNvPr id="20" name="Shape 18"/>
          <p:cNvSpPr/>
          <p:nvPr/>
        </p:nvSpPr>
        <p:spPr>
          <a:xfrm>
            <a:off x="9546336" y="1691640"/>
            <a:ext cx="2066544" cy="2286000"/>
          </a:xfrm>
          <a:prstGeom prst="roundRect">
            <a:avLst>
              <a:gd name="adj" fmla="val 2655"/>
            </a:avLst>
          </a:prstGeom>
          <a:solidFill>
            <a:srgbClr val="FFFFFF"/>
          </a:solidFill>
          <a:ln w="9525">
            <a:solidFill>
              <a:srgbClr val="D6DEE6"/>
            </a:solidFill>
            <a:prstDash val="solid"/>
          </a:ln>
        </p:spPr>
      </p:sp>
      <p:sp>
        <p:nvSpPr>
          <p:cNvPr id="21" name="Text 19"/>
          <p:cNvSpPr/>
          <p:nvPr/>
        </p:nvSpPr>
        <p:spPr>
          <a:xfrm>
            <a:off x="9692640" y="1920240"/>
            <a:ext cx="1773936" cy="731520"/>
          </a:xfrm>
          <a:prstGeom prst="rect">
            <a:avLst/>
          </a:prstGeom>
          <a:noFill/>
          <a:ln/>
        </p:spPr>
        <p:txBody>
          <a:bodyPr wrap="square" lIns="0" tIns="0" rIns="0" bIns="0" rtlCol="0" anchor="ctr"/>
          <a:lstStyle/>
          <a:p>
            <a:pPr algn="ctr" indent="0" marL="0">
              <a:buNone/>
            </a:pPr>
            <a:r>
              <a:rPr lang="en-US" sz="4000" b="1" dirty="0">
                <a:solidFill>
                  <a:srgbClr val="B3282D"/>
                </a:solidFill>
                <a:latin typeface="Cambria" pitchFamily="34" charset="0"/>
                <a:ea typeface="Cambria" pitchFamily="34" charset="-122"/>
                <a:cs typeface="Cambria" pitchFamily="34" charset="-120"/>
              </a:rPr>
              <a:t>1,900+</a:t>
            </a:r>
            <a:endParaRPr lang="en-US" sz="4000" dirty="0"/>
          </a:p>
        </p:txBody>
      </p:sp>
      <p:sp>
        <p:nvSpPr>
          <p:cNvPr id="22" name="Text 20"/>
          <p:cNvSpPr/>
          <p:nvPr/>
        </p:nvSpPr>
        <p:spPr>
          <a:xfrm>
            <a:off x="9692640" y="2697480"/>
            <a:ext cx="1773936" cy="603504"/>
          </a:xfrm>
          <a:prstGeom prst="rect">
            <a:avLst/>
          </a:prstGeom>
          <a:noFill/>
          <a:ln/>
        </p:spPr>
        <p:txBody>
          <a:bodyPr wrap="square" lIns="0" tIns="0" rIns="0" bIns="0" rtlCol="0" anchor="ctr"/>
          <a:lstStyle/>
          <a:p>
            <a:pPr algn="ctr" indent="0" marL="0">
              <a:buNone/>
            </a:pPr>
            <a:r>
              <a:rPr lang="en-US" sz="1250" b="1" dirty="0">
                <a:solidFill>
                  <a:srgbClr val="16232E"/>
                </a:solidFill>
                <a:latin typeface="Calibri" pitchFamily="34" charset="0"/>
                <a:ea typeface="Calibri" pitchFamily="34" charset="-122"/>
                <a:cs typeface="Calibri" pitchFamily="34" charset="-120"/>
              </a:rPr>
              <a:t>documented fatalities</a:t>
            </a:r>
            <a:endParaRPr lang="en-US" sz="1250" dirty="0"/>
          </a:p>
        </p:txBody>
      </p:sp>
      <p:sp>
        <p:nvSpPr>
          <p:cNvPr id="23" name="Text 21"/>
          <p:cNvSpPr/>
          <p:nvPr/>
        </p:nvSpPr>
        <p:spPr>
          <a:xfrm>
            <a:off x="9692640" y="3310128"/>
            <a:ext cx="1773936" cy="548640"/>
          </a:xfrm>
          <a:prstGeom prst="rect">
            <a:avLst/>
          </a:prstGeom>
          <a:noFill/>
          <a:ln/>
        </p:spPr>
        <p:txBody>
          <a:bodyPr wrap="square" lIns="0" tIns="0" rIns="0" bIns="0" rtlCol="0" anchor="ctr"/>
          <a:lstStyle/>
          <a:p>
            <a:pPr algn="ctr" indent="0" marL="0">
              <a:buNone/>
            </a:pPr>
            <a:r>
              <a:rPr lang="en-US" sz="1050" dirty="0">
                <a:solidFill>
                  <a:srgbClr val="5C6E7D"/>
                </a:solidFill>
                <a:latin typeface="Calibri" pitchFamily="34" charset="0"/>
                <a:ea typeface="Calibri" pitchFamily="34" charset="-122"/>
                <a:cs typeface="Calibri" pitchFamily="34" charset="-120"/>
              </a:rPr>
              <a:t>Real outcomes, not hypothetical risk</a:t>
            </a:r>
            <a:endParaRPr lang="en-US" sz="1050" dirty="0"/>
          </a:p>
        </p:txBody>
      </p:sp>
      <p:sp>
        <p:nvSpPr>
          <p:cNvPr id="24" name="Shape 22"/>
          <p:cNvSpPr/>
          <p:nvPr/>
        </p:nvSpPr>
        <p:spPr>
          <a:xfrm>
            <a:off x="548640" y="4251960"/>
            <a:ext cx="11091672" cy="1600200"/>
          </a:xfrm>
          <a:prstGeom prst="roundRect">
            <a:avLst>
              <a:gd name="adj" fmla="val 3429"/>
            </a:avLst>
          </a:prstGeom>
          <a:solidFill>
            <a:srgbClr val="1E3A54"/>
          </a:solidFill>
          <a:ln/>
        </p:spPr>
      </p:sp>
      <p:sp>
        <p:nvSpPr>
          <p:cNvPr id="25" name="Text 23"/>
          <p:cNvSpPr/>
          <p:nvPr/>
        </p:nvSpPr>
        <p:spPr>
          <a:xfrm>
            <a:off x="868680" y="4416552"/>
            <a:ext cx="10424160" cy="310896"/>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The multi-anchor figure matters more than the total</a:t>
            </a:r>
            <a:endParaRPr lang="en-US" sz="1500" dirty="0"/>
          </a:p>
        </p:txBody>
      </p:sp>
      <p:sp>
        <p:nvSpPr>
          <p:cNvPr id="26" name="Text 24"/>
          <p:cNvSpPr/>
          <p:nvPr/>
        </p:nvSpPr>
        <p:spPr>
          <a:xfrm>
            <a:off x="868680" y="4773168"/>
            <a:ext cx="10424160" cy="9601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barrier obligated independently by the system safety standard, the reliability standard and the structural integrity standard is not one discipline's preference. Twenty-three of the sixty are in that position. Of fourteen standards reviewed, only six carry normative content capable of anchoring anything at all, which means most of this discipline has no contract pathway to tailor away in the first place.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The Sixty Barriers</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Seven functional clusters, anchored across six standards</a:t>
            </a:r>
            <a:endParaRPr lang="en-US" sz="1350" dirty="0"/>
          </a:p>
        </p:txBody>
      </p:sp>
      <p:sp>
        <p:nvSpPr>
          <p:cNvPr id="4" name="Shape 2"/>
          <p:cNvSpPr/>
          <p:nvPr/>
        </p:nvSpPr>
        <p:spPr>
          <a:xfrm>
            <a:off x="548640" y="1554480"/>
            <a:ext cx="11091672" cy="548640"/>
          </a:xfrm>
          <a:prstGeom prst="roundRect">
            <a:avLst>
              <a:gd name="adj" fmla="val 10000"/>
            </a:avLst>
          </a:prstGeom>
          <a:solidFill>
            <a:srgbClr val="FFFFFF"/>
          </a:solidFill>
          <a:ln w="9525">
            <a:solidFill>
              <a:srgbClr val="D6DEE6"/>
            </a:solidFill>
            <a:prstDash val="solid"/>
          </a:ln>
        </p:spPr>
      </p:sp>
      <p:sp>
        <p:nvSpPr>
          <p:cNvPr id="5" name="Text 3"/>
          <p:cNvSpPr/>
          <p:nvPr/>
        </p:nvSpPr>
        <p:spPr>
          <a:xfrm>
            <a:off x="777240" y="1554480"/>
            <a:ext cx="868680" cy="566928"/>
          </a:xfrm>
          <a:prstGeom prst="rect">
            <a:avLst/>
          </a:prstGeom>
          <a:noFill/>
          <a:ln/>
        </p:spPr>
        <p:txBody>
          <a:bodyPr wrap="square" lIns="0" tIns="0" rIns="0" bIns="0" rtlCol="0" anchor="ctr"/>
          <a:lstStyle/>
          <a:p>
            <a:pPr indent="0" marL="0">
              <a:buNone/>
            </a:pPr>
            <a:r>
              <a:rPr lang="en-US" sz="1250" b="1" dirty="0">
                <a:solidFill>
                  <a:srgbClr val="B3282D"/>
                </a:solidFill>
                <a:latin typeface="Calibri" pitchFamily="34" charset="0"/>
                <a:ea typeface="Calibri" pitchFamily="34" charset="-122"/>
                <a:cs typeface="Calibri" pitchFamily="34" charset="-120"/>
              </a:rPr>
              <a:t>01-08</a:t>
            </a:r>
            <a:endParaRPr lang="en-US" sz="1250" dirty="0"/>
          </a:p>
        </p:txBody>
      </p:sp>
      <p:sp>
        <p:nvSpPr>
          <p:cNvPr id="6" name="Text 4"/>
          <p:cNvSpPr/>
          <p:nvPr/>
        </p:nvSpPr>
        <p:spPr>
          <a:xfrm>
            <a:off x="1737360" y="1554480"/>
            <a:ext cx="4114800" cy="566928"/>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Hazard and failure mode identification</a:t>
            </a:r>
            <a:endParaRPr lang="en-US" sz="1450" dirty="0"/>
          </a:p>
        </p:txBody>
      </p:sp>
      <p:sp>
        <p:nvSpPr>
          <p:cNvPr id="7" name="Text 5"/>
          <p:cNvSpPr/>
          <p:nvPr/>
        </p:nvSpPr>
        <p:spPr>
          <a:xfrm>
            <a:off x="5943600" y="1554480"/>
            <a:ext cx="4937760" cy="566928"/>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MCAS · United 232 · Continental Express 2574</a:t>
            </a:r>
            <a:endParaRPr lang="en-US" sz="1150" dirty="0"/>
          </a:p>
        </p:txBody>
      </p:sp>
      <p:sp>
        <p:nvSpPr>
          <p:cNvPr id="8" name="Text 6"/>
          <p:cNvSpPr/>
          <p:nvPr/>
        </p:nvSpPr>
        <p:spPr>
          <a:xfrm>
            <a:off x="10927080" y="1554480"/>
            <a:ext cx="548640" cy="566928"/>
          </a:xfrm>
          <a:prstGeom prst="rect">
            <a:avLst/>
          </a:prstGeom>
          <a:noFill/>
          <a:ln/>
        </p:spPr>
        <p:txBody>
          <a:bodyPr wrap="square" lIns="0" tIns="0" rIns="0" bIns="0" rtlCol="0" anchor="ctr"/>
          <a:lstStyle/>
          <a:p>
            <a:pPr algn="r" indent="0" marL="0">
              <a:buNone/>
            </a:pPr>
            <a:r>
              <a:rPr lang="en-US" sz="1600" b="1" dirty="0">
                <a:solidFill>
                  <a:srgbClr val="39586F"/>
                </a:solidFill>
                <a:latin typeface="Cambria" pitchFamily="34" charset="0"/>
                <a:ea typeface="Cambria" pitchFamily="34" charset="-122"/>
                <a:cs typeface="Cambria" pitchFamily="34" charset="-120"/>
              </a:rPr>
              <a:t>8</a:t>
            </a:r>
            <a:endParaRPr lang="en-US" sz="1600" dirty="0"/>
          </a:p>
        </p:txBody>
      </p:sp>
      <p:sp>
        <p:nvSpPr>
          <p:cNvPr id="9" name="Shape 7"/>
          <p:cNvSpPr/>
          <p:nvPr/>
        </p:nvSpPr>
        <p:spPr>
          <a:xfrm>
            <a:off x="548640" y="2176272"/>
            <a:ext cx="11091672" cy="548640"/>
          </a:xfrm>
          <a:prstGeom prst="roundRect">
            <a:avLst>
              <a:gd name="adj" fmla="val 10000"/>
            </a:avLst>
          </a:prstGeom>
          <a:solidFill>
            <a:srgbClr val="FFFFFF"/>
          </a:solidFill>
          <a:ln w="9525">
            <a:solidFill>
              <a:srgbClr val="D6DEE6"/>
            </a:solidFill>
            <a:prstDash val="solid"/>
          </a:ln>
        </p:spPr>
      </p:sp>
      <p:sp>
        <p:nvSpPr>
          <p:cNvPr id="10" name="Text 8"/>
          <p:cNvSpPr/>
          <p:nvPr/>
        </p:nvSpPr>
        <p:spPr>
          <a:xfrm>
            <a:off x="777240" y="2176272"/>
            <a:ext cx="868680" cy="566928"/>
          </a:xfrm>
          <a:prstGeom prst="rect">
            <a:avLst/>
          </a:prstGeom>
          <a:noFill/>
          <a:ln/>
        </p:spPr>
        <p:txBody>
          <a:bodyPr wrap="square" lIns="0" tIns="0" rIns="0" bIns="0" rtlCol="0" anchor="ctr"/>
          <a:lstStyle/>
          <a:p>
            <a:pPr indent="0" marL="0">
              <a:buNone/>
            </a:pPr>
            <a:r>
              <a:rPr lang="en-US" sz="1250" b="1" dirty="0">
                <a:solidFill>
                  <a:srgbClr val="B3282D"/>
                </a:solidFill>
                <a:latin typeface="Calibri" pitchFamily="34" charset="0"/>
                <a:ea typeface="Calibri" pitchFamily="34" charset="-122"/>
                <a:cs typeface="Calibri" pitchFamily="34" charset="-120"/>
              </a:rPr>
              <a:t>09-13</a:t>
            </a:r>
            <a:endParaRPr lang="en-US" sz="1250" dirty="0"/>
          </a:p>
        </p:txBody>
      </p:sp>
      <p:sp>
        <p:nvSpPr>
          <p:cNvPr id="11" name="Text 9"/>
          <p:cNvSpPr/>
          <p:nvPr/>
        </p:nvSpPr>
        <p:spPr>
          <a:xfrm>
            <a:off x="1737360" y="2176272"/>
            <a:ext cx="4114800" cy="566928"/>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Risk assessment and classification</a:t>
            </a:r>
            <a:endParaRPr lang="en-US" sz="1450" dirty="0"/>
          </a:p>
        </p:txBody>
      </p:sp>
      <p:sp>
        <p:nvSpPr>
          <p:cNvPr id="12" name="Text 10"/>
          <p:cNvSpPr/>
          <p:nvPr/>
        </p:nvSpPr>
        <p:spPr>
          <a:xfrm>
            <a:off x="5943600" y="2176272"/>
            <a:ext cx="4937760" cy="566928"/>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Alaska 261 · 787 battery · MCAS</a:t>
            </a:r>
            <a:endParaRPr lang="en-US" sz="1150" dirty="0"/>
          </a:p>
        </p:txBody>
      </p:sp>
      <p:sp>
        <p:nvSpPr>
          <p:cNvPr id="13" name="Text 11"/>
          <p:cNvSpPr/>
          <p:nvPr/>
        </p:nvSpPr>
        <p:spPr>
          <a:xfrm>
            <a:off x="10927080" y="2176272"/>
            <a:ext cx="548640" cy="566928"/>
          </a:xfrm>
          <a:prstGeom prst="rect">
            <a:avLst/>
          </a:prstGeom>
          <a:noFill/>
          <a:ln/>
        </p:spPr>
        <p:txBody>
          <a:bodyPr wrap="square" lIns="0" tIns="0" rIns="0" bIns="0" rtlCol="0" anchor="ctr"/>
          <a:lstStyle/>
          <a:p>
            <a:pPr algn="r" indent="0" marL="0">
              <a:buNone/>
            </a:pPr>
            <a:r>
              <a:rPr lang="en-US" sz="1600" b="1" dirty="0">
                <a:solidFill>
                  <a:srgbClr val="39586F"/>
                </a:solidFill>
                <a:latin typeface="Cambria" pitchFamily="34" charset="0"/>
                <a:ea typeface="Cambria" pitchFamily="34" charset="-122"/>
                <a:cs typeface="Cambria" pitchFamily="34" charset="-120"/>
              </a:rPr>
              <a:t>5</a:t>
            </a:r>
            <a:endParaRPr lang="en-US" sz="1600" dirty="0"/>
          </a:p>
        </p:txBody>
      </p:sp>
      <p:sp>
        <p:nvSpPr>
          <p:cNvPr id="14" name="Shape 12"/>
          <p:cNvSpPr/>
          <p:nvPr/>
        </p:nvSpPr>
        <p:spPr>
          <a:xfrm>
            <a:off x="548640" y="2798064"/>
            <a:ext cx="11091672" cy="548640"/>
          </a:xfrm>
          <a:prstGeom prst="roundRect">
            <a:avLst>
              <a:gd name="adj" fmla="val 10000"/>
            </a:avLst>
          </a:prstGeom>
          <a:solidFill>
            <a:srgbClr val="FFFFFF"/>
          </a:solidFill>
          <a:ln w="9525">
            <a:solidFill>
              <a:srgbClr val="D6DEE6"/>
            </a:solidFill>
            <a:prstDash val="solid"/>
          </a:ln>
        </p:spPr>
      </p:sp>
      <p:sp>
        <p:nvSpPr>
          <p:cNvPr id="15" name="Text 13"/>
          <p:cNvSpPr/>
          <p:nvPr/>
        </p:nvSpPr>
        <p:spPr>
          <a:xfrm>
            <a:off x="777240" y="2798064"/>
            <a:ext cx="868680" cy="566928"/>
          </a:xfrm>
          <a:prstGeom prst="rect">
            <a:avLst/>
          </a:prstGeom>
          <a:noFill/>
          <a:ln/>
        </p:spPr>
        <p:txBody>
          <a:bodyPr wrap="square" lIns="0" tIns="0" rIns="0" bIns="0" rtlCol="0" anchor="ctr"/>
          <a:lstStyle/>
          <a:p>
            <a:pPr indent="0" marL="0">
              <a:buNone/>
            </a:pPr>
            <a:r>
              <a:rPr lang="en-US" sz="1250" b="1" dirty="0">
                <a:solidFill>
                  <a:srgbClr val="B3282D"/>
                </a:solidFill>
                <a:latin typeface="Calibri" pitchFamily="34" charset="0"/>
                <a:ea typeface="Calibri" pitchFamily="34" charset="-122"/>
                <a:cs typeface="Calibri" pitchFamily="34" charset="-120"/>
              </a:rPr>
              <a:t>14-23</a:t>
            </a:r>
            <a:endParaRPr lang="en-US" sz="1250" dirty="0"/>
          </a:p>
        </p:txBody>
      </p:sp>
      <p:sp>
        <p:nvSpPr>
          <p:cNvPr id="16" name="Text 14"/>
          <p:cNvSpPr/>
          <p:nvPr/>
        </p:nvSpPr>
        <p:spPr>
          <a:xfrm>
            <a:off x="1737360" y="2798064"/>
            <a:ext cx="4114800" cy="566928"/>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Mitigation and design</a:t>
            </a:r>
            <a:endParaRPr lang="en-US" sz="1450" dirty="0"/>
          </a:p>
        </p:txBody>
      </p:sp>
      <p:sp>
        <p:nvSpPr>
          <p:cNvPr id="17" name="Text 15"/>
          <p:cNvSpPr/>
          <p:nvPr/>
        </p:nvSpPr>
        <p:spPr>
          <a:xfrm>
            <a:off x="5943600" y="2798064"/>
            <a:ext cx="4937760" cy="566928"/>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Alaska 261 · BA 5390 · Kegworth · KC-130T</a:t>
            </a:r>
            <a:endParaRPr lang="en-US" sz="1150" dirty="0"/>
          </a:p>
        </p:txBody>
      </p:sp>
      <p:sp>
        <p:nvSpPr>
          <p:cNvPr id="18" name="Text 16"/>
          <p:cNvSpPr/>
          <p:nvPr/>
        </p:nvSpPr>
        <p:spPr>
          <a:xfrm>
            <a:off x="10927080" y="2798064"/>
            <a:ext cx="548640" cy="566928"/>
          </a:xfrm>
          <a:prstGeom prst="rect">
            <a:avLst/>
          </a:prstGeom>
          <a:noFill/>
          <a:ln/>
        </p:spPr>
        <p:txBody>
          <a:bodyPr wrap="square" lIns="0" tIns="0" rIns="0" bIns="0" rtlCol="0" anchor="ctr"/>
          <a:lstStyle/>
          <a:p>
            <a:pPr algn="r" indent="0" marL="0">
              <a:buNone/>
            </a:pPr>
            <a:r>
              <a:rPr lang="en-US" sz="1600" b="1" dirty="0">
                <a:solidFill>
                  <a:srgbClr val="39586F"/>
                </a:solidFill>
                <a:latin typeface="Cambria" pitchFamily="34" charset="0"/>
                <a:ea typeface="Cambria" pitchFamily="34" charset="-122"/>
                <a:cs typeface="Cambria" pitchFamily="34" charset="-120"/>
              </a:rPr>
              <a:t>10</a:t>
            </a:r>
            <a:endParaRPr lang="en-US" sz="1600" dirty="0"/>
          </a:p>
        </p:txBody>
      </p:sp>
      <p:sp>
        <p:nvSpPr>
          <p:cNvPr id="19" name="Shape 17"/>
          <p:cNvSpPr/>
          <p:nvPr/>
        </p:nvSpPr>
        <p:spPr>
          <a:xfrm>
            <a:off x="548640" y="3419856"/>
            <a:ext cx="11091672" cy="548640"/>
          </a:xfrm>
          <a:prstGeom prst="roundRect">
            <a:avLst>
              <a:gd name="adj" fmla="val 10000"/>
            </a:avLst>
          </a:prstGeom>
          <a:solidFill>
            <a:srgbClr val="FFFFFF"/>
          </a:solidFill>
          <a:ln w="9525">
            <a:solidFill>
              <a:srgbClr val="D6DEE6"/>
            </a:solidFill>
            <a:prstDash val="solid"/>
          </a:ln>
        </p:spPr>
      </p:sp>
      <p:sp>
        <p:nvSpPr>
          <p:cNvPr id="20" name="Text 18"/>
          <p:cNvSpPr/>
          <p:nvPr/>
        </p:nvSpPr>
        <p:spPr>
          <a:xfrm>
            <a:off x="777240" y="3419856"/>
            <a:ext cx="868680" cy="566928"/>
          </a:xfrm>
          <a:prstGeom prst="rect">
            <a:avLst/>
          </a:prstGeom>
          <a:noFill/>
          <a:ln/>
        </p:spPr>
        <p:txBody>
          <a:bodyPr wrap="square" lIns="0" tIns="0" rIns="0" bIns="0" rtlCol="0" anchor="ctr"/>
          <a:lstStyle/>
          <a:p>
            <a:pPr indent="0" marL="0">
              <a:buNone/>
            </a:pPr>
            <a:r>
              <a:rPr lang="en-US" sz="1250" b="1" dirty="0">
                <a:solidFill>
                  <a:srgbClr val="B3282D"/>
                </a:solidFill>
                <a:latin typeface="Calibri" pitchFamily="34" charset="0"/>
                <a:ea typeface="Calibri" pitchFamily="34" charset="-122"/>
                <a:cs typeface="Calibri" pitchFamily="34" charset="-120"/>
              </a:rPr>
              <a:t>24-31</a:t>
            </a:r>
            <a:endParaRPr lang="en-US" sz="1250" dirty="0"/>
          </a:p>
        </p:txBody>
      </p:sp>
      <p:sp>
        <p:nvSpPr>
          <p:cNvPr id="21" name="Text 19"/>
          <p:cNvSpPr/>
          <p:nvPr/>
        </p:nvSpPr>
        <p:spPr>
          <a:xfrm>
            <a:off x="1737360" y="3419856"/>
            <a:ext cx="4114800" cy="566928"/>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Verification and test</a:t>
            </a:r>
            <a:endParaRPr lang="en-US" sz="1450" dirty="0"/>
          </a:p>
        </p:txBody>
      </p:sp>
      <p:sp>
        <p:nvSpPr>
          <p:cNvPr id="22" name="Text 20"/>
          <p:cNvSpPr/>
          <p:nvPr/>
        </p:nvSpPr>
        <p:spPr>
          <a:xfrm>
            <a:off x="5943600" y="3419856"/>
            <a:ext cx="4937760" cy="566928"/>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Kegworth · Cougar 91 · Qantas 32 · United 232</a:t>
            </a:r>
            <a:endParaRPr lang="en-US" sz="1150" dirty="0"/>
          </a:p>
        </p:txBody>
      </p:sp>
      <p:sp>
        <p:nvSpPr>
          <p:cNvPr id="23" name="Text 21"/>
          <p:cNvSpPr/>
          <p:nvPr/>
        </p:nvSpPr>
        <p:spPr>
          <a:xfrm>
            <a:off x="10927080" y="3419856"/>
            <a:ext cx="548640" cy="566928"/>
          </a:xfrm>
          <a:prstGeom prst="rect">
            <a:avLst/>
          </a:prstGeom>
          <a:noFill/>
          <a:ln/>
        </p:spPr>
        <p:txBody>
          <a:bodyPr wrap="square" lIns="0" tIns="0" rIns="0" bIns="0" rtlCol="0" anchor="ctr"/>
          <a:lstStyle/>
          <a:p>
            <a:pPr algn="r" indent="0" marL="0">
              <a:buNone/>
            </a:pPr>
            <a:r>
              <a:rPr lang="en-US" sz="1600" b="1" dirty="0">
                <a:solidFill>
                  <a:srgbClr val="39586F"/>
                </a:solidFill>
                <a:latin typeface="Cambria" pitchFamily="34" charset="0"/>
                <a:ea typeface="Cambria" pitchFamily="34" charset="-122"/>
                <a:cs typeface="Cambria" pitchFamily="34" charset="-120"/>
              </a:rPr>
              <a:t>8</a:t>
            </a:r>
            <a:endParaRPr lang="en-US" sz="1600" dirty="0"/>
          </a:p>
        </p:txBody>
      </p:sp>
      <p:sp>
        <p:nvSpPr>
          <p:cNvPr id="24" name="Shape 22"/>
          <p:cNvSpPr/>
          <p:nvPr/>
        </p:nvSpPr>
        <p:spPr>
          <a:xfrm>
            <a:off x="548640" y="4041648"/>
            <a:ext cx="11091672" cy="548640"/>
          </a:xfrm>
          <a:prstGeom prst="roundRect">
            <a:avLst>
              <a:gd name="adj" fmla="val 10000"/>
            </a:avLst>
          </a:prstGeom>
          <a:solidFill>
            <a:srgbClr val="FFFFFF"/>
          </a:solidFill>
          <a:ln w="9525">
            <a:solidFill>
              <a:srgbClr val="D6DEE6"/>
            </a:solidFill>
            <a:prstDash val="solid"/>
          </a:ln>
        </p:spPr>
      </p:sp>
      <p:sp>
        <p:nvSpPr>
          <p:cNvPr id="25" name="Text 23"/>
          <p:cNvSpPr/>
          <p:nvPr/>
        </p:nvSpPr>
        <p:spPr>
          <a:xfrm>
            <a:off x="777240" y="4041648"/>
            <a:ext cx="868680" cy="566928"/>
          </a:xfrm>
          <a:prstGeom prst="rect">
            <a:avLst/>
          </a:prstGeom>
          <a:noFill/>
          <a:ln/>
        </p:spPr>
        <p:txBody>
          <a:bodyPr wrap="square" lIns="0" tIns="0" rIns="0" bIns="0" rtlCol="0" anchor="ctr"/>
          <a:lstStyle/>
          <a:p>
            <a:pPr indent="0" marL="0">
              <a:buNone/>
            </a:pPr>
            <a:r>
              <a:rPr lang="en-US" sz="1250" b="1" dirty="0">
                <a:solidFill>
                  <a:srgbClr val="B3282D"/>
                </a:solidFill>
                <a:latin typeface="Calibri" pitchFamily="34" charset="0"/>
                <a:ea typeface="Calibri" pitchFamily="34" charset="-122"/>
                <a:cs typeface="Calibri" pitchFamily="34" charset="-120"/>
              </a:rPr>
              <a:t>32-42</a:t>
            </a:r>
            <a:endParaRPr lang="en-US" sz="1250" dirty="0"/>
          </a:p>
        </p:txBody>
      </p:sp>
      <p:sp>
        <p:nvSpPr>
          <p:cNvPr id="26" name="Text 24"/>
          <p:cNvSpPr/>
          <p:nvPr/>
        </p:nvSpPr>
        <p:spPr>
          <a:xfrm>
            <a:off x="1737360" y="4041648"/>
            <a:ext cx="4114800" cy="566928"/>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Maintenance program derivation</a:t>
            </a:r>
            <a:endParaRPr lang="en-US" sz="1450" dirty="0"/>
          </a:p>
        </p:txBody>
      </p:sp>
      <p:sp>
        <p:nvSpPr>
          <p:cNvPr id="27" name="Text 25"/>
          <p:cNvSpPr/>
          <p:nvPr/>
        </p:nvSpPr>
        <p:spPr>
          <a:xfrm>
            <a:off x="5943600" y="4041648"/>
            <a:ext cx="4937760" cy="566928"/>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Alaska 261 · Southwest 1380 · Chalk's 101 · Turøy</a:t>
            </a:r>
            <a:endParaRPr lang="en-US" sz="1150" dirty="0"/>
          </a:p>
        </p:txBody>
      </p:sp>
      <p:sp>
        <p:nvSpPr>
          <p:cNvPr id="28" name="Text 26"/>
          <p:cNvSpPr/>
          <p:nvPr/>
        </p:nvSpPr>
        <p:spPr>
          <a:xfrm>
            <a:off x="10927080" y="4041648"/>
            <a:ext cx="548640" cy="566928"/>
          </a:xfrm>
          <a:prstGeom prst="rect">
            <a:avLst/>
          </a:prstGeom>
          <a:noFill/>
          <a:ln/>
        </p:spPr>
        <p:txBody>
          <a:bodyPr wrap="square" lIns="0" tIns="0" rIns="0" bIns="0" rtlCol="0" anchor="ctr"/>
          <a:lstStyle/>
          <a:p>
            <a:pPr algn="r" indent="0" marL="0">
              <a:buNone/>
            </a:pPr>
            <a:r>
              <a:rPr lang="en-US" sz="1600" b="1" dirty="0">
                <a:solidFill>
                  <a:srgbClr val="39586F"/>
                </a:solidFill>
                <a:latin typeface="Cambria" pitchFamily="34" charset="0"/>
                <a:ea typeface="Cambria" pitchFamily="34" charset="-122"/>
                <a:cs typeface="Cambria" pitchFamily="34" charset="-120"/>
              </a:rPr>
              <a:t>11</a:t>
            </a:r>
            <a:endParaRPr lang="en-US" sz="1600" dirty="0"/>
          </a:p>
        </p:txBody>
      </p:sp>
      <p:sp>
        <p:nvSpPr>
          <p:cNvPr id="29" name="Shape 27"/>
          <p:cNvSpPr/>
          <p:nvPr/>
        </p:nvSpPr>
        <p:spPr>
          <a:xfrm>
            <a:off x="548640" y="4663440"/>
            <a:ext cx="11091672" cy="548640"/>
          </a:xfrm>
          <a:prstGeom prst="roundRect">
            <a:avLst>
              <a:gd name="adj" fmla="val 10000"/>
            </a:avLst>
          </a:prstGeom>
          <a:solidFill>
            <a:srgbClr val="FFFFFF"/>
          </a:solidFill>
          <a:ln w="9525">
            <a:solidFill>
              <a:srgbClr val="D6DEE6"/>
            </a:solidFill>
            <a:prstDash val="solid"/>
          </a:ln>
        </p:spPr>
      </p:sp>
      <p:sp>
        <p:nvSpPr>
          <p:cNvPr id="30" name="Text 28"/>
          <p:cNvSpPr/>
          <p:nvPr/>
        </p:nvSpPr>
        <p:spPr>
          <a:xfrm>
            <a:off x="777240" y="4663440"/>
            <a:ext cx="868680" cy="566928"/>
          </a:xfrm>
          <a:prstGeom prst="rect">
            <a:avLst/>
          </a:prstGeom>
          <a:noFill/>
          <a:ln/>
        </p:spPr>
        <p:txBody>
          <a:bodyPr wrap="square" lIns="0" tIns="0" rIns="0" bIns="0" rtlCol="0" anchor="ctr"/>
          <a:lstStyle/>
          <a:p>
            <a:pPr indent="0" marL="0">
              <a:buNone/>
            </a:pPr>
            <a:r>
              <a:rPr lang="en-US" sz="1250" b="1" dirty="0">
                <a:solidFill>
                  <a:srgbClr val="B3282D"/>
                </a:solidFill>
                <a:latin typeface="Calibri" pitchFamily="34" charset="0"/>
                <a:ea typeface="Calibri" pitchFamily="34" charset="-122"/>
                <a:cs typeface="Calibri" pitchFamily="34" charset="-120"/>
              </a:rPr>
              <a:t>43-53</a:t>
            </a:r>
            <a:endParaRPr lang="en-US" sz="1250" dirty="0"/>
          </a:p>
        </p:txBody>
      </p:sp>
      <p:sp>
        <p:nvSpPr>
          <p:cNvPr id="31" name="Text 29"/>
          <p:cNvSpPr/>
          <p:nvPr/>
        </p:nvSpPr>
        <p:spPr>
          <a:xfrm>
            <a:off x="1737360" y="4663440"/>
            <a:ext cx="4114800" cy="566928"/>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In-service monitoring and closed-loop action</a:t>
            </a:r>
            <a:endParaRPr lang="en-US" sz="1450" dirty="0"/>
          </a:p>
        </p:txBody>
      </p:sp>
      <p:sp>
        <p:nvSpPr>
          <p:cNvPr id="32" name="Text 30"/>
          <p:cNvSpPr/>
          <p:nvPr/>
        </p:nvSpPr>
        <p:spPr>
          <a:xfrm>
            <a:off x="5943600" y="4663440"/>
            <a:ext cx="4937760" cy="566928"/>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Turøy · CV-22 · JAL123 · AF447 · American 191</a:t>
            </a:r>
            <a:endParaRPr lang="en-US" sz="1150" dirty="0"/>
          </a:p>
        </p:txBody>
      </p:sp>
      <p:sp>
        <p:nvSpPr>
          <p:cNvPr id="33" name="Text 31"/>
          <p:cNvSpPr/>
          <p:nvPr/>
        </p:nvSpPr>
        <p:spPr>
          <a:xfrm>
            <a:off x="10927080" y="4663440"/>
            <a:ext cx="548640" cy="566928"/>
          </a:xfrm>
          <a:prstGeom prst="rect">
            <a:avLst/>
          </a:prstGeom>
          <a:noFill/>
          <a:ln/>
        </p:spPr>
        <p:txBody>
          <a:bodyPr wrap="square" lIns="0" tIns="0" rIns="0" bIns="0" rtlCol="0" anchor="ctr"/>
          <a:lstStyle/>
          <a:p>
            <a:pPr algn="r" indent="0" marL="0">
              <a:buNone/>
            </a:pPr>
            <a:r>
              <a:rPr lang="en-US" sz="1600" b="1" dirty="0">
                <a:solidFill>
                  <a:srgbClr val="39586F"/>
                </a:solidFill>
                <a:latin typeface="Cambria" pitchFamily="34" charset="0"/>
                <a:ea typeface="Cambria" pitchFamily="34" charset="-122"/>
                <a:cs typeface="Cambria" pitchFamily="34" charset="-120"/>
              </a:rPr>
              <a:t>11</a:t>
            </a:r>
            <a:endParaRPr lang="en-US" sz="1600" dirty="0"/>
          </a:p>
        </p:txBody>
      </p:sp>
      <p:sp>
        <p:nvSpPr>
          <p:cNvPr id="34" name="Shape 32"/>
          <p:cNvSpPr/>
          <p:nvPr/>
        </p:nvSpPr>
        <p:spPr>
          <a:xfrm>
            <a:off x="548640" y="5285232"/>
            <a:ext cx="11091672" cy="548640"/>
          </a:xfrm>
          <a:prstGeom prst="roundRect">
            <a:avLst>
              <a:gd name="adj" fmla="val 10000"/>
            </a:avLst>
          </a:prstGeom>
          <a:solidFill>
            <a:srgbClr val="FFFFFF"/>
          </a:solidFill>
          <a:ln w="9525">
            <a:solidFill>
              <a:srgbClr val="D6DEE6"/>
            </a:solidFill>
            <a:prstDash val="solid"/>
          </a:ln>
        </p:spPr>
      </p:sp>
      <p:sp>
        <p:nvSpPr>
          <p:cNvPr id="35" name="Text 33"/>
          <p:cNvSpPr/>
          <p:nvPr/>
        </p:nvSpPr>
        <p:spPr>
          <a:xfrm>
            <a:off x="777240" y="5285232"/>
            <a:ext cx="868680" cy="566928"/>
          </a:xfrm>
          <a:prstGeom prst="rect">
            <a:avLst/>
          </a:prstGeom>
          <a:noFill/>
          <a:ln/>
        </p:spPr>
        <p:txBody>
          <a:bodyPr wrap="square" lIns="0" tIns="0" rIns="0" bIns="0" rtlCol="0" anchor="ctr"/>
          <a:lstStyle/>
          <a:p>
            <a:pPr indent="0" marL="0">
              <a:buNone/>
            </a:pPr>
            <a:r>
              <a:rPr lang="en-US" sz="1250" b="1" dirty="0">
                <a:solidFill>
                  <a:srgbClr val="B3282D"/>
                </a:solidFill>
                <a:latin typeface="Calibri" pitchFamily="34" charset="0"/>
                <a:ea typeface="Calibri" pitchFamily="34" charset="-122"/>
                <a:cs typeface="Calibri" pitchFamily="34" charset="-120"/>
              </a:rPr>
              <a:t>54-60</a:t>
            </a:r>
            <a:endParaRPr lang="en-US" sz="1250" dirty="0"/>
          </a:p>
        </p:txBody>
      </p:sp>
      <p:sp>
        <p:nvSpPr>
          <p:cNvPr id="36" name="Text 34"/>
          <p:cNvSpPr/>
          <p:nvPr/>
        </p:nvSpPr>
        <p:spPr>
          <a:xfrm>
            <a:off x="1737360" y="5285232"/>
            <a:ext cx="4114800" cy="566928"/>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Governance, tailoring and risk acceptance</a:t>
            </a:r>
            <a:endParaRPr lang="en-US" sz="1450" dirty="0"/>
          </a:p>
        </p:txBody>
      </p:sp>
      <p:sp>
        <p:nvSpPr>
          <p:cNvPr id="37" name="Text 35"/>
          <p:cNvSpPr/>
          <p:nvPr/>
        </p:nvSpPr>
        <p:spPr>
          <a:xfrm>
            <a:off x="5943600" y="5285232"/>
            <a:ext cx="4937760" cy="566928"/>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Nimrod XV230 · Columbia · Aloha 243</a:t>
            </a:r>
            <a:endParaRPr lang="en-US" sz="1150" dirty="0"/>
          </a:p>
        </p:txBody>
      </p:sp>
      <p:sp>
        <p:nvSpPr>
          <p:cNvPr id="38" name="Text 36"/>
          <p:cNvSpPr/>
          <p:nvPr/>
        </p:nvSpPr>
        <p:spPr>
          <a:xfrm>
            <a:off x="10927080" y="5285232"/>
            <a:ext cx="548640" cy="566928"/>
          </a:xfrm>
          <a:prstGeom prst="rect">
            <a:avLst/>
          </a:prstGeom>
          <a:noFill/>
          <a:ln/>
        </p:spPr>
        <p:txBody>
          <a:bodyPr wrap="square" lIns="0" tIns="0" rIns="0" bIns="0" rtlCol="0" anchor="ctr"/>
          <a:lstStyle/>
          <a:p>
            <a:pPr algn="r" indent="0" marL="0">
              <a:buNone/>
            </a:pPr>
            <a:r>
              <a:rPr lang="en-US" sz="1600" b="1" dirty="0">
                <a:solidFill>
                  <a:srgbClr val="39586F"/>
                </a:solidFill>
                <a:latin typeface="Cambria" pitchFamily="34" charset="0"/>
                <a:ea typeface="Cambria" pitchFamily="34" charset="-122"/>
                <a:cs typeface="Cambria" pitchFamily="34" charset="-120"/>
              </a:rPr>
              <a:t>7</a:t>
            </a:r>
            <a:endParaRPr lang="en-US" sz="1600" dirty="0"/>
          </a:p>
        </p:txBody>
      </p:sp>
      <p:sp>
        <p:nvSpPr>
          <p:cNvPr id="39" name="Text 37"/>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Full clause anchors, event anchors and severity ratings are held in the barrier register.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2E"/>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Focused Example: Alaska 261 (2000)</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9FB3C4"/>
                </a:solidFill>
                <a:latin typeface="Calibri" pitchFamily="34" charset="0"/>
                <a:ea typeface="Calibri" pitchFamily="34" charset="-122"/>
                <a:cs typeface="Calibri" pitchFamily="34" charset="-120"/>
              </a:rPr>
              <a:t>Bottom-tier mitigation, named as inadequate by the standard's own order of precedence</a:t>
            </a:r>
            <a:endParaRPr lang="en-US" sz="1350" dirty="0"/>
          </a:p>
        </p:txBody>
      </p:sp>
      <p:sp>
        <p:nvSpPr>
          <p:cNvPr id="4" name="Shape 2"/>
          <p:cNvSpPr/>
          <p:nvPr/>
        </p:nvSpPr>
        <p:spPr>
          <a:xfrm>
            <a:off x="548640" y="1600200"/>
            <a:ext cx="5440680" cy="3931920"/>
          </a:xfrm>
          <a:prstGeom prst="roundRect">
            <a:avLst>
              <a:gd name="adj" fmla="val 1395"/>
            </a:avLst>
          </a:prstGeom>
          <a:solidFill>
            <a:srgbClr val="1E3A54"/>
          </a:solidFill>
          <a:ln/>
        </p:spPr>
      </p:sp>
      <p:sp>
        <p:nvSpPr>
          <p:cNvPr id="5" name="Text 3"/>
          <p:cNvSpPr/>
          <p:nvPr/>
        </p:nvSpPr>
        <p:spPr>
          <a:xfrm>
            <a:off x="868680" y="1783080"/>
            <a:ext cx="4846320" cy="310896"/>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What happened</a:t>
            </a:r>
            <a:endParaRPr lang="en-US" sz="1500" dirty="0"/>
          </a:p>
        </p:txBody>
      </p:sp>
      <p:sp>
        <p:nvSpPr>
          <p:cNvPr id="6" name="Text 4"/>
          <p:cNvSpPr/>
          <p:nvPr/>
        </p:nvSpPr>
        <p:spPr>
          <a:xfrm>
            <a:off x="868680" y="2157984"/>
            <a:ext cx="4846320" cy="17373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horizontal stabilizer jackscrew acme nut threads wore through from insufficient lubrication. There was no redundancy, no fail-safe, and no indication of wear. The only control was a scheduled maintenance task, and its interval had been progressively extended without reliability evidence.</a:t>
            </a:r>
            <a:endParaRPr lang="en-US" sz="1350" dirty="0"/>
          </a:p>
        </p:txBody>
      </p:sp>
      <p:sp>
        <p:nvSpPr>
          <p:cNvPr id="7" name="Text 5"/>
          <p:cNvSpPr/>
          <p:nvPr/>
        </p:nvSpPr>
        <p:spPr>
          <a:xfrm>
            <a:off x="868680" y="4114800"/>
            <a:ext cx="4846320" cy="548640"/>
          </a:xfrm>
          <a:prstGeom prst="rect">
            <a:avLst/>
          </a:prstGeom>
          <a:noFill/>
          <a:ln/>
        </p:spPr>
        <p:txBody>
          <a:bodyPr wrap="square" lIns="0" tIns="0" rIns="0" bIns="0" rtlCol="0" anchor="ctr"/>
          <a:lstStyle/>
          <a:p>
            <a:pPr indent="0" marL="0">
              <a:buNone/>
            </a:pPr>
            <a:r>
              <a:rPr lang="en-US" sz="3000" b="1" dirty="0">
                <a:solidFill>
                  <a:srgbClr val="D9A441"/>
                </a:solidFill>
                <a:latin typeface="Cambria" pitchFamily="34" charset="0"/>
                <a:ea typeface="Cambria" pitchFamily="34" charset="-122"/>
                <a:cs typeface="Cambria" pitchFamily="34" charset="-120"/>
              </a:rPr>
              <a:t>88 fatalities</a:t>
            </a:r>
            <a:endParaRPr lang="en-US" sz="3000" dirty="0"/>
          </a:p>
        </p:txBody>
      </p:sp>
      <p:sp>
        <p:nvSpPr>
          <p:cNvPr id="8" name="Text 6"/>
          <p:cNvSpPr/>
          <p:nvPr/>
        </p:nvSpPr>
        <p:spPr>
          <a:xfrm>
            <a:off x="868680" y="4681728"/>
            <a:ext cx="4846320" cy="329184"/>
          </a:xfrm>
          <a:prstGeom prst="rect">
            <a:avLst/>
          </a:prstGeom>
          <a:noFill/>
          <a:ln/>
        </p:spPr>
        <p:txBody>
          <a:bodyPr wrap="square" lIns="0" tIns="0" rIns="0" bIns="0" rtlCol="0" anchor="ctr"/>
          <a:lstStyle/>
          <a:p>
            <a:pPr indent="0" marL="0">
              <a:buNone/>
            </a:pPr>
            <a:r>
              <a:rPr lang="en-US" sz="1300" dirty="0">
                <a:solidFill>
                  <a:srgbClr val="9FB3C4"/>
                </a:solidFill>
                <a:latin typeface="Calibri" pitchFamily="34" charset="0"/>
                <a:ea typeface="Calibri" pitchFamily="34" charset="-122"/>
                <a:cs typeface="Calibri" pitchFamily="34" charset="-120"/>
              </a:rPr>
              <a:t>Severity 5</a:t>
            </a:r>
            <a:endParaRPr lang="en-US" sz="1300" dirty="0"/>
          </a:p>
        </p:txBody>
      </p:sp>
      <p:sp>
        <p:nvSpPr>
          <p:cNvPr id="9" name="Shape 7"/>
          <p:cNvSpPr/>
          <p:nvPr/>
        </p:nvSpPr>
        <p:spPr>
          <a:xfrm>
            <a:off x="6199632" y="1600200"/>
            <a:ext cx="5440680" cy="3931920"/>
          </a:xfrm>
          <a:prstGeom prst="roundRect">
            <a:avLst>
              <a:gd name="adj" fmla="val 1395"/>
            </a:avLst>
          </a:prstGeom>
          <a:solidFill>
            <a:srgbClr val="1E3A54"/>
          </a:solidFill>
          <a:ln/>
        </p:spPr>
      </p:sp>
      <p:sp>
        <p:nvSpPr>
          <p:cNvPr id="10" name="Text 8"/>
          <p:cNvSpPr/>
          <p:nvPr/>
        </p:nvSpPr>
        <p:spPr>
          <a:xfrm>
            <a:off x="6519672" y="1783080"/>
            <a:ext cx="4846320" cy="310896"/>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Which barriers failed</a:t>
            </a:r>
            <a:endParaRPr lang="en-US" sz="1500" dirty="0"/>
          </a:p>
        </p:txBody>
      </p:sp>
      <p:sp>
        <p:nvSpPr>
          <p:cNvPr id="11" name="Shape 9"/>
          <p:cNvSpPr/>
          <p:nvPr/>
        </p:nvSpPr>
        <p:spPr>
          <a:xfrm>
            <a:off x="6547104" y="2176272"/>
            <a:ext cx="365760" cy="365760"/>
          </a:xfrm>
          <a:prstGeom prst="ellipse">
            <a:avLst/>
          </a:prstGeom>
          <a:solidFill>
            <a:srgbClr val="B3282D"/>
          </a:solidFill>
          <a:ln/>
        </p:spPr>
      </p:sp>
      <p:sp>
        <p:nvSpPr>
          <p:cNvPr id="12" name="Text 10"/>
          <p:cNvSpPr/>
          <p:nvPr/>
        </p:nvSpPr>
        <p:spPr>
          <a:xfrm>
            <a:off x="6547104" y="217627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14</a:t>
            </a:r>
            <a:endParaRPr lang="en-US" sz="1250" dirty="0"/>
          </a:p>
        </p:txBody>
      </p:sp>
      <p:sp>
        <p:nvSpPr>
          <p:cNvPr id="13" name="Text 11"/>
          <p:cNvSpPr/>
          <p:nvPr/>
        </p:nvSpPr>
        <p:spPr>
          <a:xfrm>
            <a:off x="7059168" y="2121408"/>
            <a:ext cx="434340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882E 4.3.4 order of precedence: a procedure was the only control for a catastrophic hazard</a:t>
            </a:r>
            <a:endParaRPr lang="en-US" sz="1150" dirty="0"/>
          </a:p>
        </p:txBody>
      </p:sp>
      <p:sp>
        <p:nvSpPr>
          <p:cNvPr id="14" name="Shape 12"/>
          <p:cNvSpPr/>
          <p:nvPr/>
        </p:nvSpPr>
        <p:spPr>
          <a:xfrm>
            <a:off x="6547104" y="2834640"/>
            <a:ext cx="365760" cy="365760"/>
          </a:xfrm>
          <a:prstGeom prst="ellipse">
            <a:avLst/>
          </a:prstGeom>
          <a:solidFill>
            <a:srgbClr val="B3282D"/>
          </a:solidFill>
          <a:ln/>
        </p:spPr>
      </p:sp>
      <p:sp>
        <p:nvSpPr>
          <p:cNvPr id="15" name="Text 13"/>
          <p:cNvSpPr/>
          <p:nvPr/>
        </p:nvSpPr>
        <p:spPr>
          <a:xfrm>
            <a:off x="6547104" y="283464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15</a:t>
            </a:r>
            <a:endParaRPr lang="en-US" sz="1250" dirty="0"/>
          </a:p>
        </p:txBody>
      </p:sp>
      <p:sp>
        <p:nvSpPr>
          <p:cNvPr id="16" name="Text 14"/>
          <p:cNvSpPr/>
          <p:nvPr/>
        </p:nvSpPr>
        <p:spPr>
          <a:xfrm>
            <a:off x="7059168" y="2779776"/>
            <a:ext cx="434340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1530D 5.1.3.5.1: single load path requires slow damage growth design</a:t>
            </a:r>
            <a:endParaRPr lang="en-US" sz="1150" dirty="0"/>
          </a:p>
        </p:txBody>
      </p:sp>
      <p:sp>
        <p:nvSpPr>
          <p:cNvPr id="17" name="Shape 15"/>
          <p:cNvSpPr/>
          <p:nvPr/>
        </p:nvSpPr>
        <p:spPr>
          <a:xfrm>
            <a:off x="6547104" y="3493008"/>
            <a:ext cx="365760" cy="365760"/>
          </a:xfrm>
          <a:prstGeom prst="ellipse">
            <a:avLst/>
          </a:prstGeom>
          <a:solidFill>
            <a:srgbClr val="B3282D"/>
          </a:solidFill>
          <a:ln/>
        </p:spPr>
      </p:sp>
      <p:sp>
        <p:nvSpPr>
          <p:cNvPr id="18" name="Text 16"/>
          <p:cNvSpPr/>
          <p:nvPr/>
        </p:nvSpPr>
        <p:spPr>
          <a:xfrm>
            <a:off x="6547104" y="34930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19</a:t>
            </a:r>
            <a:endParaRPr lang="en-US" sz="1250" dirty="0"/>
          </a:p>
        </p:txBody>
      </p:sp>
      <p:sp>
        <p:nvSpPr>
          <p:cNvPr id="19" name="Text 17"/>
          <p:cNvSpPr/>
          <p:nvPr/>
        </p:nvSpPr>
        <p:spPr>
          <a:xfrm>
            <a:off x="7059168" y="3438144"/>
            <a:ext cx="434340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1472H 5.9.16.1.2: indication required when an item is out of tolerance</a:t>
            </a:r>
            <a:endParaRPr lang="en-US" sz="1150" dirty="0"/>
          </a:p>
        </p:txBody>
      </p:sp>
      <p:sp>
        <p:nvSpPr>
          <p:cNvPr id="20" name="Shape 18"/>
          <p:cNvSpPr/>
          <p:nvPr/>
        </p:nvSpPr>
        <p:spPr>
          <a:xfrm>
            <a:off x="6547104" y="4151376"/>
            <a:ext cx="365760" cy="365760"/>
          </a:xfrm>
          <a:prstGeom prst="ellipse">
            <a:avLst/>
          </a:prstGeom>
          <a:solidFill>
            <a:srgbClr val="B3282D"/>
          </a:solidFill>
          <a:ln/>
        </p:spPr>
      </p:sp>
      <p:sp>
        <p:nvSpPr>
          <p:cNvPr id="21" name="Text 19"/>
          <p:cNvSpPr/>
          <p:nvPr/>
        </p:nvSpPr>
        <p:spPr>
          <a:xfrm>
            <a:off x="6547104" y="415137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33</a:t>
            </a:r>
            <a:endParaRPr lang="en-US" sz="1250" dirty="0"/>
          </a:p>
        </p:txBody>
      </p:sp>
      <p:sp>
        <p:nvSpPr>
          <p:cNvPr id="22" name="Text 20"/>
          <p:cNvSpPr/>
          <p:nvPr/>
        </p:nvSpPr>
        <p:spPr>
          <a:xfrm>
            <a:off x="7059168" y="4096512"/>
            <a:ext cx="434340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JA1011 5.5.2: assess consequence as if no task is currently being done</a:t>
            </a:r>
            <a:endParaRPr lang="en-US" sz="1150" dirty="0"/>
          </a:p>
        </p:txBody>
      </p:sp>
      <p:sp>
        <p:nvSpPr>
          <p:cNvPr id="23" name="Shape 21"/>
          <p:cNvSpPr/>
          <p:nvPr/>
        </p:nvSpPr>
        <p:spPr>
          <a:xfrm>
            <a:off x="6547104" y="4809744"/>
            <a:ext cx="365760" cy="365760"/>
          </a:xfrm>
          <a:prstGeom prst="ellipse">
            <a:avLst/>
          </a:prstGeom>
          <a:solidFill>
            <a:srgbClr val="B3282D"/>
          </a:solidFill>
          <a:ln/>
        </p:spPr>
      </p:sp>
      <p:sp>
        <p:nvSpPr>
          <p:cNvPr id="24" name="Text 22"/>
          <p:cNvSpPr/>
          <p:nvPr/>
        </p:nvSpPr>
        <p:spPr>
          <a:xfrm>
            <a:off x="6547104" y="480974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42</a:t>
            </a:r>
            <a:endParaRPr lang="en-US" sz="1250" dirty="0"/>
          </a:p>
        </p:txBody>
      </p:sp>
      <p:sp>
        <p:nvSpPr>
          <p:cNvPr id="25" name="Text 23"/>
          <p:cNvSpPr/>
          <p:nvPr/>
        </p:nvSpPr>
        <p:spPr>
          <a:xfrm>
            <a:off x="7059168" y="4754880"/>
            <a:ext cx="434340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JA1011 5.10.2 and 5.11.1: review the decisions, and interval formulae must be supportable</a:t>
            </a:r>
            <a:endParaRPr lang="en-US" sz="1150" dirty="0"/>
          </a:p>
        </p:txBody>
      </p:sp>
      <p:sp>
        <p:nvSpPr>
          <p:cNvPr id="26" name="Text 24"/>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MIL-STD-882E 4.3.4 states that signage, procedures, training and PPE should not be the only risk reduction for a catastrophic hazard. Alaska 261 is what that clause is protecting against.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Focused Example: Japan Airlines 123 (1985)</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A repair is a design change to a life-limited structure, and must be substantiated as one</a:t>
            </a:r>
            <a:endParaRPr lang="en-US" sz="1350" dirty="0"/>
          </a:p>
        </p:txBody>
      </p:sp>
      <p:sp>
        <p:nvSpPr>
          <p:cNvPr id="4" name="Shape 2"/>
          <p:cNvSpPr/>
          <p:nvPr/>
        </p:nvSpPr>
        <p:spPr>
          <a:xfrm>
            <a:off x="548640" y="1600200"/>
            <a:ext cx="5440680" cy="3931920"/>
          </a:xfrm>
          <a:prstGeom prst="roundRect">
            <a:avLst>
              <a:gd name="adj" fmla="val 1395"/>
            </a:avLst>
          </a:prstGeom>
          <a:solidFill>
            <a:srgbClr val="FFFFFF"/>
          </a:solidFill>
          <a:ln w="9525">
            <a:solidFill>
              <a:srgbClr val="D6DEE6"/>
            </a:solidFill>
            <a:prstDash val="solid"/>
          </a:ln>
        </p:spPr>
      </p:sp>
      <p:sp>
        <p:nvSpPr>
          <p:cNvPr id="5" name="Text 3"/>
          <p:cNvSpPr/>
          <p:nvPr/>
        </p:nvSpPr>
        <p:spPr>
          <a:xfrm>
            <a:off x="868680" y="1783080"/>
            <a:ext cx="4846320" cy="310896"/>
          </a:xfrm>
          <a:prstGeom prst="rect">
            <a:avLst/>
          </a:prstGeom>
          <a:noFill/>
          <a:ln/>
        </p:spPr>
        <p:txBody>
          <a:bodyPr wrap="square" lIns="0" tIns="0" rIns="0" bIns="0" rtlCol="0" anchor="ctr"/>
          <a:lstStyle/>
          <a:p>
            <a:pPr indent="0" marL="0">
              <a:buNone/>
            </a:pPr>
            <a:r>
              <a:rPr lang="en-US" sz="1500" b="1" dirty="0">
                <a:solidFill>
                  <a:srgbClr val="B3282D"/>
                </a:solidFill>
                <a:latin typeface="Calibri" pitchFamily="34" charset="0"/>
                <a:ea typeface="Calibri" pitchFamily="34" charset="-122"/>
                <a:cs typeface="Calibri" pitchFamily="34" charset="-120"/>
              </a:rPr>
              <a:t>What happened</a:t>
            </a:r>
            <a:endParaRPr lang="en-US" sz="1500" dirty="0"/>
          </a:p>
        </p:txBody>
      </p:sp>
      <p:sp>
        <p:nvSpPr>
          <p:cNvPr id="6" name="Text 4"/>
          <p:cNvSpPr/>
          <p:nvPr/>
        </p:nvSpPr>
        <p:spPr>
          <a:xfrm>
            <a:off x="868680" y="2157984"/>
            <a:ext cx="4846320" cy="1737360"/>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The aft pressure bulkhead was repaired incorrectly after a tailstrike, halving the fatigue life of the splice. The aircraft then flew roughly twelve thousand further cycles. From the day of that repair, the certified fatigue life of the structure was fiction, and no inspection program was derived against the real condition.</a:t>
            </a:r>
            <a:endParaRPr lang="en-US" sz="1350" dirty="0"/>
          </a:p>
        </p:txBody>
      </p:sp>
      <p:sp>
        <p:nvSpPr>
          <p:cNvPr id="7" name="Text 5"/>
          <p:cNvSpPr/>
          <p:nvPr/>
        </p:nvSpPr>
        <p:spPr>
          <a:xfrm>
            <a:off x="868680" y="4114800"/>
            <a:ext cx="4846320" cy="548640"/>
          </a:xfrm>
          <a:prstGeom prst="rect">
            <a:avLst/>
          </a:prstGeom>
          <a:noFill/>
          <a:ln/>
        </p:spPr>
        <p:txBody>
          <a:bodyPr wrap="square" lIns="0" tIns="0" rIns="0" bIns="0" rtlCol="0" anchor="ctr"/>
          <a:lstStyle/>
          <a:p>
            <a:pPr indent="0" marL="0">
              <a:buNone/>
            </a:pPr>
            <a:r>
              <a:rPr lang="en-US" sz="3000" b="1" dirty="0">
                <a:solidFill>
                  <a:srgbClr val="B3282D"/>
                </a:solidFill>
                <a:latin typeface="Cambria" pitchFamily="34" charset="0"/>
                <a:ea typeface="Cambria" pitchFamily="34" charset="-122"/>
                <a:cs typeface="Cambria" pitchFamily="34" charset="-120"/>
              </a:rPr>
              <a:t>520 fatalities</a:t>
            </a:r>
            <a:endParaRPr lang="en-US" sz="3000" dirty="0"/>
          </a:p>
        </p:txBody>
      </p:sp>
      <p:sp>
        <p:nvSpPr>
          <p:cNvPr id="8" name="Text 6"/>
          <p:cNvSpPr/>
          <p:nvPr/>
        </p:nvSpPr>
        <p:spPr>
          <a:xfrm>
            <a:off x="868680" y="4681728"/>
            <a:ext cx="4846320" cy="329184"/>
          </a:xfrm>
          <a:prstGeom prst="rect">
            <a:avLst/>
          </a:prstGeom>
          <a:noFill/>
          <a:ln/>
        </p:spPr>
        <p:txBody>
          <a:bodyPr wrap="square" lIns="0" tIns="0" rIns="0" bIns="0" rtlCol="0" anchor="ctr"/>
          <a:lstStyle/>
          <a:p>
            <a:pPr indent="0" marL="0">
              <a:buNone/>
            </a:pPr>
            <a:r>
              <a:rPr lang="en-US" sz="1200" dirty="0">
                <a:solidFill>
                  <a:srgbClr val="5C6E7D"/>
                </a:solidFill>
                <a:latin typeface="Calibri" pitchFamily="34" charset="0"/>
                <a:ea typeface="Calibri" pitchFamily="34" charset="-122"/>
                <a:cs typeface="Calibri" pitchFamily="34" charset="-120"/>
              </a:rPr>
              <a:t>Deadliest single-aircraft accident on record  ·  Severity 5</a:t>
            </a:r>
            <a:endParaRPr lang="en-US" sz="1200" dirty="0"/>
          </a:p>
        </p:txBody>
      </p:sp>
      <p:sp>
        <p:nvSpPr>
          <p:cNvPr id="9" name="Shape 7"/>
          <p:cNvSpPr/>
          <p:nvPr/>
        </p:nvSpPr>
        <p:spPr>
          <a:xfrm>
            <a:off x="6199632" y="1600200"/>
            <a:ext cx="5440680" cy="3931920"/>
          </a:xfrm>
          <a:prstGeom prst="roundRect">
            <a:avLst>
              <a:gd name="adj" fmla="val 1395"/>
            </a:avLst>
          </a:prstGeom>
          <a:solidFill>
            <a:srgbClr val="1E3A54"/>
          </a:solidFill>
          <a:ln/>
        </p:spPr>
      </p:sp>
      <p:sp>
        <p:nvSpPr>
          <p:cNvPr id="10" name="Text 8"/>
          <p:cNvSpPr/>
          <p:nvPr/>
        </p:nvSpPr>
        <p:spPr>
          <a:xfrm>
            <a:off x="6519672" y="1783080"/>
            <a:ext cx="4846320" cy="310896"/>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Which barriers failed</a:t>
            </a:r>
            <a:endParaRPr lang="en-US" sz="1500" dirty="0"/>
          </a:p>
        </p:txBody>
      </p:sp>
      <p:sp>
        <p:nvSpPr>
          <p:cNvPr id="11" name="Shape 9"/>
          <p:cNvSpPr/>
          <p:nvPr/>
        </p:nvSpPr>
        <p:spPr>
          <a:xfrm>
            <a:off x="6547104" y="2212848"/>
            <a:ext cx="365760" cy="365760"/>
          </a:xfrm>
          <a:prstGeom prst="ellipse">
            <a:avLst/>
          </a:prstGeom>
          <a:solidFill>
            <a:srgbClr val="B3282D"/>
          </a:solidFill>
          <a:ln/>
        </p:spPr>
      </p:sp>
      <p:sp>
        <p:nvSpPr>
          <p:cNvPr id="12" name="Text 10"/>
          <p:cNvSpPr/>
          <p:nvPr/>
        </p:nvSpPr>
        <p:spPr>
          <a:xfrm>
            <a:off x="6547104" y="221284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52</a:t>
            </a:r>
            <a:endParaRPr lang="en-US" sz="1250" dirty="0"/>
          </a:p>
        </p:txBody>
      </p:sp>
      <p:sp>
        <p:nvSpPr>
          <p:cNvPr id="13" name="Text 11"/>
          <p:cNvSpPr/>
          <p:nvPr/>
        </p:nvSpPr>
        <p:spPr>
          <a:xfrm>
            <a:off x="7059168" y="2121408"/>
            <a:ext cx="4343400" cy="6217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1530D 5.2.4: stress and strength analysis is the basis for determining the adequacy of repairs and modifications across the life cycle</a:t>
            </a:r>
            <a:endParaRPr lang="en-US" sz="1150" dirty="0"/>
          </a:p>
        </p:txBody>
      </p:sp>
      <p:sp>
        <p:nvSpPr>
          <p:cNvPr id="14" name="Shape 12"/>
          <p:cNvSpPr/>
          <p:nvPr/>
        </p:nvSpPr>
        <p:spPr>
          <a:xfrm>
            <a:off x="6547104" y="2999232"/>
            <a:ext cx="365760" cy="365760"/>
          </a:xfrm>
          <a:prstGeom prst="ellipse">
            <a:avLst/>
          </a:prstGeom>
          <a:solidFill>
            <a:srgbClr val="B3282D"/>
          </a:solidFill>
          <a:ln/>
        </p:spPr>
      </p:sp>
      <p:sp>
        <p:nvSpPr>
          <p:cNvPr id="15" name="Text 13"/>
          <p:cNvSpPr/>
          <p:nvPr/>
        </p:nvSpPr>
        <p:spPr>
          <a:xfrm>
            <a:off x="6547104" y="299923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52</a:t>
            </a:r>
            <a:endParaRPr lang="en-US" sz="1250" dirty="0"/>
          </a:p>
        </p:txBody>
      </p:sp>
      <p:sp>
        <p:nvSpPr>
          <p:cNvPr id="16" name="Text 14"/>
          <p:cNvSpPr/>
          <p:nvPr/>
        </p:nvSpPr>
        <p:spPr>
          <a:xfrm>
            <a:off x="7059168" y="2907792"/>
            <a:ext cx="4343400" cy="6217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1530D 5.3.1: major repairs altering structural load paths require a static ultimate load test of the affected component</a:t>
            </a:r>
            <a:endParaRPr lang="en-US" sz="1150" dirty="0"/>
          </a:p>
        </p:txBody>
      </p:sp>
      <p:sp>
        <p:nvSpPr>
          <p:cNvPr id="17" name="Shape 15"/>
          <p:cNvSpPr/>
          <p:nvPr/>
        </p:nvSpPr>
        <p:spPr>
          <a:xfrm>
            <a:off x="6547104" y="3785616"/>
            <a:ext cx="365760" cy="365760"/>
          </a:xfrm>
          <a:prstGeom prst="ellipse">
            <a:avLst/>
          </a:prstGeom>
          <a:solidFill>
            <a:srgbClr val="B3282D"/>
          </a:solidFill>
          <a:ln/>
        </p:spPr>
      </p:sp>
      <p:sp>
        <p:nvSpPr>
          <p:cNvPr id="18" name="Text 16"/>
          <p:cNvSpPr/>
          <p:nvPr/>
        </p:nvSpPr>
        <p:spPr>
          <a:xfrm>
            <a:off x="6547104" y="378561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16</a:t>
            </a:r>
            <a:endParaRPr lang="en-US" sz="1250" dirty="0"/>
          </a:p>
        </p:txBody>
      </p:sp>
      <p:sp>
        <p:nvSpPr>
          <p:cNvPr id="19" name="Text 17"/>
          <p:cNvSpPr/>
          <p:nvPr/>
        </p:nvSpPr>
        <p:spPr>
          <a:xfrm>
            <a:off x="7059168" y="3694176"/>
            <a:ext cx="4343400" cy="6217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1530D 5.1.4.2: critical part and process classification with traceability</a:t>
            </a:r>
            <a:endParaRPr lang="en-US" sz="1150" dirty="0"/>
          </a:p>
        </p:txBody>
      </p:sp>
      <p:sp>
        <p:nvSpPr>
          <p:cNvPr id="20" name="Shape 18"/>
          <p:cNvSpPr/>
          <p:nvPr/>
        </p:nvSpPr>
        <p:spPr>
          <a:xfrm>
            <a:off x="6547104" y="4572000"/>
            <a:ext cx="365760" cy="365760"/>
          </a:xfrm>
          <a:prstGeom prst="ellipse">
            <a:avLst/>
          </a:prstGeom>
          <a:solidFill>
            <a:srgbClr val="B3282D"/>
          </a:solidFill>
          <a:ln/>
        </p:spPr>
      </p:sp>
      <p:sp>
        <p:nvSpPr>
          <p:cNvPr id="21" name="Text 19"/>
          <p:cNvSpPr/>
          <p:nvPr/>
        </p:nvSpPr>
        <p:spPr>
          <a:xfrm>
            <a:off x="6547104" y="457200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51</a:t>
            </a:r>
            <a:endParaRPr lang="en-US" sz="1250" dirty="0"/>
          </a:p>
        </p:txBody>
      </p:sp>
      <p:sp>
        <p:nvSpPr>
          <p:cNvPr id="22" name="Text 20"/>
          <p:cNvSpPr/>
          <p:nvPr/>
        </p:nvSpPr>
        <p:spPr>
          <a:xfrm>
            <a:off x="7059168" y="4480560"/>
            <a:ext cx="4343400" cy="6217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1530D 5.4.6: repairs and modifications recorded to maintain configuration control</a:t>
            </a:r>
            <a:endParaRPr lang="en-US" sz="1150" dirty="0"/>
          </a:p>
        </p:txBody>
      </p:sp>
      <p:sp>
        <p:nvSpPr>
          <p:cNvPr id="23" name="Text 21"/>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This barrier had no clause home until MIL-STD-1530D entered the set. Five hundred and twenty fatalities were previously unanchored.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F2E"/>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Focused Examples: Undemonstrated Credit and the Slow Loop</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9FB3C4"/>
                </a:solidFill>
                <a:latin typeface="Calibri" pitchFamily="34" charset="0"/>
                <a:ea typeface="Calibri" pitchFamily="34" charset="-122"/>
                <a:cs typeface="Calibri" pitchFamily="34" charset="-120"/>
              </a:rPr>
              <a:t>Two patterns that recur across the register</a:t>
            </a:r>
            <a:endParaRPr lang="en-US" sz="1350" dirty="0"/>
          </a:p>
        </p:txBody>
      </p:sp>
      <p:sp>
        <p:nvSpPr>
          <p:cNvPr id="4" name="Shape 2"/>
          <p:cNvSpPr/>
          <p:nvPr/>
        </p:nvSpPr>
        <p:spPr>
          <a:xfrm>
            <a:off x="548640" y="1600200"/>
            <a:ext cx="5440680" cy="3931920"/>
          </a:xfrm>
          <a:prstGeom prst="roundRect">
            <a:avLst>
              <a:gd name="adj" fmla="val 1395"/>
            </a:avLst>
          </a:prstGeom>
          <a:solidFill>
            <a:srgbClr val="1E3A54"/>
          </a:solidFill>
          <a:ln/>
        </p:spPr>
      </p:sp>
      <p:sp>
        <p:nvSpPr>
          <p:cNvPr id="5" name="Text 3"/>
          <p:cNvSpPr/>
          <p:nvPr/>
        </p:nvSpPr>
        <p:spPr>
          <a:xfrm>
            <a:off x="868680" y="1783080"/>
            <a:ext cx="4846320" cy="310896"/>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LN-OJF, Turøy (2016)  ·  13 fatalities</a:t>
            </a:r>
            <a:endParaRPr lang="en-US" sz="1500" dirty="0"/>
          </a:p>
        </p:txBody>
      </p:sp>
      <p:sp>
        <p:nvSpPr>
          <p:cNvPr id="6" name="Text 4"/>
          <p:cNvSpPr/>
          <p:nvPr/>
        </p:nvSpPr>
        <p:spPr>
          <a:xfrm>
            <a:off x="868680" y="2157984"/>
            <a:ext cx="4846320" cy="14173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second-stage planet gear cracked and propagated in a manner the installed monitoring could not detect. Maintenance credit had effectively been taken for a detection capability whose coverage of that failure mode had never been demonstrated.</a:t>
            </a:r>
            <a:endParaRPr lang="en-US" sz="1350" dirty="0"/>
          </a:p>
        </p:txBody>
      </p:sp>
      <p:sp>
        <p:nvSpPr>
          <p:cNvPr id="7" name="Text 5"/>
          <p:cNvSpPr/>
          <p:nvPr/>
        </p:nvSpPr>
        <p:spPr>
          <a:xfrm>
            <a:off x="868680" y="3657600"/>
            <a:ext cx="4846320" cy="274320"/>
          </a:xfrm>
          <a:prstGeom prst="rect">
            <a:avLst/>
          </a:prstGeom>
          <a:noFill/>
          <a:ln/>
        </p:spPr>
        <p:txBody>
          <a:bodyPr wrap="square" lIns="0" tIns="0" rIns="0" bIns="0" rtlCol="0" anchor="ctr"/>
          <a:lstStyle/>
          <a:p>
            <a:pPr indent="0" marL="0">
              <a:buNone/>
            </a:pPr>
            <a:r>
              <a:rPr lang="en-US" sz="1250" b="1" dirty="0">
                <a:solidFill>
                  <a:srgbClr val="D9A441"/>
                </a:solidFill>
                <a:latin typeface="Calibri" pitchFamily="34" charset="0"/>
                <a:ea typeface="Calibri" pitchFamily="34" charset="-122"/>
                <a:cs typeface="Calibri" pitchFamily="34" charset="-120"/>
              </a:rPr>
              <a:t>Barrier 43  ·  MIL-STD-1530D 5.4.3.2</a:t>
            </a:r>
            <a:endParaRPr lang="en-US" sz="1250" dirty="0"/>
          </a:p>
        </p:txBody>
      </p:sp>
      <p:sp>
        <p:nvSpPr>
          <p:cNvPr id="8" name="Text 6"/>
          <p:cNvSpPr/>
          <p:nvPr/>
        </p:nvSpPr>
        <p:spPr>
          <a:xfrm>
            <a:off x="868680" y="3986784"/>
            <a:ext cx="4846320" cy="1325880"/>
          </a:xfrm>
          <a:prstGeom prst="rect">
            <a:avLst/>
          </a:prstGeom>
          <a:noFill/>
          <a:ln/>
        </p:spPr>
        <p:txBody>
          <a:bodyPr wrap="square" lIns="0" tIns="0" rIns="0" bIns="0" rtlCol="0" anchor="ctr"/>
          <a:lstStyle/>
          <a:p>
            <a:pPr indent="0" marL="0">
              <a:buNone/>
            </a:pPr>
            <a:r>
              <a:rPr lang="en-US" sz="1200" dirty="0">
                <a:solidFill>
                  <a:srgbClr val="9FB3C4"/>
                </a:solidFill>
                <a:latin typeface="Calibri" pitchFamily="34" charset="0"/>
                <a:ea typeface="Calibri" pitchFamily="34" charset="-122"/>
                <a:cs typeface="Calibri" pitchFamily="34" charset="-120"/>
              </a:rPr>
              <a:t>Detection capability and monitoring intervals shall be determined from sensor and system-level probability of detection, and the methods for establishing that POD shall be approved before the monitoring system is installed. Taking undemonstrated credit is a silent Severity 5 risk acceptance.</a:t>
            </a:r>
            <a:endParaRPr lang="en-US" sz="1200" dirty="0"/>
          </a:p>
        </p:txBody>
      </p:sp>
      <p:sp>
        <p:nvSpPr>
          <p:cNvPr id="9" name="Shape 7"/>
          <p:cNvSpPr/>
          <p:nvPr/>
        </p:nvSpPr>
        <p:spPr>
          <a:xfrm>
            <a:off x="6199632" y="1600200"/>
            <a:ext cx="5440680" cy="3931920"/>
          </a:xfrm>
          <a:prstGeom prst="roundRect">
            <a:avLst>
              <a:gd name="adj" fmla="val 1395"/>
            </a:avLst>
          </a:prstGeom>
          <a:solidFill>
            <a:srgbClr val="1E3A54"/>
          </a:solidFill>
          <a:ln/>
        </p:spPr>
      </p:sp>
      <p:sp>
        <p:nvSpPr>
          <p:cNvPr id="10" name="Text 8"/>
          <p:cNvSpPr/>
          <p:nvPr/>
        </p:nvSpPr>
        <p:spPr>
          <a:xfrm>
            <a:off x="6519672" y="1783080"/>
            <a:ext cx="4846320" cy="310896"/>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United 585 into USAir 427  ·  157 fatalities</a:t>
            </a:r>
            <a:endParaRPr lang="en-US" sz="1500" dirty="0"/>
          </a:p>
        </p:txBody>
      </p:sp>
      <p:sp>
        <p:nvSpPr>
          <p:cNvPr id="11" name="Text 9"/>
          <p:cNvSpPr/>
          <p:nvPr/>
        </p:nvSpPr>
        <p:spPr>
          <a:xfrm>
            <a:off x="6519672" y="2157984"/>
            <a:ext cx="4846320" cy="14173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latent rudder power control unit failure mode produced the first accident in 1991. The same failure mode produced the second in 1994, killing 132 more. The gap between the two is the measurable cost of a slow feedback loop.</a:t>
            </a:r>
            <a:endParaRPr lang="en-US" sz="1350" dirty="0"/>
          </a:p>
        </p:txBody>
      </p:sp>
      <p:sp>
        <p:nvSpPr>
          <p:cNvPr id="12" name="Text 10"/>
          <p:cNvSpPr/>
          <p:nvPr/>
        </p:nvSpPr>
        <p:spPr>
          <a:xfrm>
            <a:off x="6519672" y="3657600"/>
            <a:ext cx="4846320" cy="274320"/>
          </a:xfrm>
          <a:prstGeom prst="rect">
            <a:avLst/>
          </a:prstGeom>
          <a:noFill/>
          <a:ln/>
        </p:spPr>
        <p:txBody>
          <a:bodyPr wrap="square" lIns="0" tIns="0" rIns="0" bIns="0" rtlCol="0" anchor="ctr"/>
          <a:lstStyle/>
          <a:p>
            <a:pPr indent="0" marL="0">
              <a:buNone/>
            </a:pPr>
            <a:r>
              <a:rPr lang="en-US" sz="1250" b="1" dirty="0">
                <a:solidFill>
                  <a:srgbClr val="D9A441"/>
                </a:solidFill>
                <a:latin typeface="Calibri" pitchFamily="34" charset="0"/>
                <a:ea typeface="Calibri" pitchFamily="34" charset="-122"/>
                <a:cs typeface="Calibri" pitchFamily="34" charset="-120"/>
              </a:rPr>
              <a:t>Barriers 08, 47  ·  JA1011 5.5.1.1  ·  GEIA-STD-0009A 7.5.1.7</a:t>
            </a:r>
            <a:endParaRPr lang="en-US" sz="1250" dirty="0"/>
          </a:p>
        </p:txBody>
      </p:sp>
      <p:sp>
        <p:nvSpPr>
          <p:cNvPr id="13" name="Text 11"/>
          <p:cNvSpPr/>
          <p:nvPr/>
        </p:nvSpPr>
        <p:spPr>
          <a:xfrm>
            <a:off x="6519672" y="3986784"/>
            <a:ext cx="4846320" cy="1325880"/>
          </a:xfrm>
          <a:prstGeom prst="rect">
            <a:avLst/>
          </a:prstGeom>
          <a:noFill/>
          <a:ln/>
        </p:spPr>
        <p:txBody>
          <a:bodyPr wrap="square" lIns="0" tIns="0" rIns="0" bIns="0" rtlCol="0" anchor="ctr"/>
          <a:lstStyle/>
          <a:p>
            <a:pPr indent="0" marL="0">
              <a:buNone/>
            </a:pPr>
            <a:r>
              <a:rPr lang="en-US" sz="1200" dirty="0">
                <a:solidFill>
                  <a:srgbClr val="9FB3C4"/>
                </a:solidFill>
                <a:latin typeface="Calibri" pitchFamily="34" charset="0"/>
                <a:ea typeface="Calibri" pitchFamily="34" charset="-122"/>
                <a:cs typeface="Calibri" pitchFamily="34" charset="-120"/>
              </a:rPr>
              <a:t>Hidden failure modes shall be separated from evident ones in consequence categorisation, and field failure modes shall be resolved in a timely manner by an integrated team. The requirement to be timely is the requirement that was missed.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Five Failure Modes Appear Across the Sixty Cases</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Recognize them. The next barrier failure will follow one of these.</a:t>
            </a:r>
            <a:endParaRPr lang="en-US" sz="1350" dirty="0"/>
          </a:p>
        </p:txBody>
      </p:sp>
      <p:sp>
        <p:nvSpPr>
          <p:cNvPr id="4" name="Shape 2"/>
          <p:cNvSpPr/>
          <p:nvPr/>
        </p:nvSpPr>
        <p:spPr>
          <a:xfrm>
            <a:off x="548640" y="1517904"/>
            <a:ext cx="11091672" cy="786384"/>
          </a:xfrm>
          <a:prstGeom prst="roundRect">
            <a:avLst>
              <a:gd name="adj" fmla="val 6977"/>
            </a:avLst>
          </a:prstGeom>
          <a:solidFill>
            <a:srgbClr val="FFFFFF"/>
          </a:solidFill>
          <a:ln w="9525">
            <a:solidFill>
              <a:srgbClr val="D6DEE6"/>
            </a:solidFill>
            <a:prstDash val="solid"/>
          </a:ln>
        </p:spPr>
      </p:sp>
      <p:sp>
        <p:nvSpPr>
          <p:cNvPr id="5" name="Shape 3"/>
          <p:cNvSpPr/>
          <p:nvPr/>
        </p:nvSpPr>
        <p:spPr>
          <a:xfrm>
            <a:off x="804672" y="1700784"/>
            <a:ext cx="420624" cy="420624"/>
          </a:xfrm>
          <a:prstGeom prst="ellipse">
            <a:avLst/>
          </a:prstGeom>
          <a:solidFill>
            <a:srgbClr val="39586F"/>
          </a:solidFill>
          <a:ln/>
        </p:spPr>
      </p:sp>
      <p:sp>
        <p:nvSpPr>
          <p:cNvPr id="6" name="Text 4"/>
          <p:cNvSpPr/>
          <p:nvPr/>
        </p:nvSpPr>
        <p:spPr>
          <a:xfrm>
            <a:off x="804672" y="1700784"/>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7" name="Text 5"/>
          <p:cNvSpPr/>
          <p:nvPr/>
        </p:nvSpPr>
        <p:spPr>
          <a:xfrm>
            <a:off x="1417320" y="1572768"/>
            <a:ext cx="3017520" cy="676656"/>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Optimistic classification</a:t>
            </a:r>
            <a:endParaRPr lang="en-US" sz="1450" dirty="0"/>
          </a:p>
        </p:txBody>
      </p:sp>
      <p:sp>
        <p:nvSpPr>
          <p:cNvPr id="8" name="Text 6"/>
          <p:cNvSpPr/>
          <p:nvPr/>
        </p:nvSpPr>
        <p:spPr>
          <a:xfrm>
            <a:off x="4480560" y="1572768"/>
            <a:ext cx="4937760" cy="676656"/>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A severity, probability, load estimate, design concept or detection coverage is assigned more favourably than the evidence supports, and nothing downstream re-tests it.</a:t>
            </a:r>
            <a:endParaRPr lang="en-US" sz="1150" dirty="0"/>
          </a:p>
        </p:txBody>
      </p:sp>
      <p:sp>
        <p:nvSpPr>
          <p:cNvPr id="9" name="Text 7"/>
          <p:cNvSpPr/>
          <p:nvPr/>
        </p:nvSpPr>
        <p:spPr>
          <a:xfrm>
            <a:off x="9509760" y="1572768"/>
            <a:ext cx="1920240" cy="676656"/>
          </a:xfrm>
          <a:prstGeom prst="rect">
            <a:avLst/>
          </a:prstGeom>
          <a:noFill/>
          <a:ln/>
        </p:spPr>
        <p:txBody>
          <a:bodyPr wrap="square" lIns="0" tIns="0" rIns="0" bIns="0" rtlCol="0" anchor="ctr"/>
          <a:lstStyle/>
          <a:p>
            <a:pPr indent="0" marL="0">
              <a:buNone/>
            </a:pPr>
            <a:r>
              <a:rPr lang="en-US" sz="1050" dirty="0">
                <a:solidFill>
                  <a:srgbClr val="39586F"/>
                </a:solidFill>
                <a:latin typeface="Calibri" pitchFamily="34" charset="0"/>
                <a:ea typeface="Calibri" pitchFamily="34" charset="-122"/>
                <a:cs typeface="Calibri" pitchFamily="34" charset="-120"/>
              </a:rPr>
              <a:t>MCAS · 787 battery · Turøy · AF447</a:t>
            </a:r>
            <a:endParaRPr lang="en-US" sz="1050" dirty="0"/>
          </a:p>
        </p:txBody>
      </p:sp>
      <p:sp>
        <p:nvSpPr>
          <p:cNvPr id="10" name="Shape 8"/>
          <p:cNvSpPr/>
          <p:nvPr/>
        </p:nvSpPr>
        <p:spPr>
          <a:xfrm>
            <a:off x="548640" y="2395728"/>
            <a:ext cx="11091672" cy="786384"/>
          </a:xfrm>
          <a:prstGeom prst="roundRect">
            <a:avLst>
              <a:gd name="adj" fmla="val 6977"/>
            </a:avLst>
          </a:prstGeom>
          <a:solidFill>
            <a:srgbClr val="FFFFFF"/>
          </a:solidFill>
          <a:ln w="9525">
            <a:solidFill>
              <a:srgbClr val="D6DEE6"/>
            </a:solidFill>
            <a:prstDash val="solid"/>
          </a:ln>
        </p:spPr>
      </p:sp>
      <p:sp>
        <p:nvSpPr>
          <p:cNvPr id="11" name="Shape 9"/>
          <p:cNvSpPr/>
          <p:nvPr/>
        </p:nvSpPr>
        <p:spPr>
          <a:xfrm>
            <a:off x="804672" y="2578608"/>
            <a:ext cx="420624" cy="420624"/>
          </a:xfrm>
          <a:prstGeom prst="ellipse">
            <a:avLst/>
          </a:prstGeom>
          <a:solidFill>
            <a:srgbClr val="39586F"/>
          </a:solidFill>
          <a:ln/>
        </p:spPr>
      </p:sp>
      <p:sp>
        <p:nvSpPr>
          <p:cNvPr id="12" name="Text 10"/>
          <p:cNvSpPr/>
          <p:nvPr/>
        </p:nvSpPr>
        <p:spPr>
          <a:xfrm>
            <a:off x="804672" y="2578608"/>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t>
            </a:r>
            <a:endParaRPr lang="en-US" sz="1250" dirty="0"/>
          </a:p>
        </p:txBody>
      </p:sp>
      <p:sp>
        <p:nvSpPr>
          <p:cNvPr id="13" name="Text 11"/>
          <p:cNvSpPr/>
          <p:nvPr/>
        </p:nvSpPr>
        <p:spPr>
          <a:xfrm>
            <a:off x="1417320" y="2450592"/>
            <a:ext cx="3017520" cy="676656"/>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Evidence-free interval</a:t>
            </a:r>
            <a:endParaRPr lang="en-US" sz="1450" dirty="0"/>
          </a:p>
        </p:txBody>
      </p:sp>
      <p:sp>
        <p:nvSpPr>
          <p:cNvPr id="14" name="Text 12"/>
          <p:cNvSpPr/>
          <p:nvPr/>
        </p:nvSpPr>
        <p:spPr>
          <a:xfrm>
            <a:off x="4480560" y="2450592"/>
            <a:ext cx="4937760" cy="676656"/>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A task, inspection interval or life limit is set or changed without the substantiation the clause requires.</a:t>
            </a:r>
            <a:endParaRPr lang="en-US" sz="1150" dirty="0"/>
          </a:p>
        </p:txBody>
      </p:sp>
      <p:sp>
        <p:nvSpPr>
          <p:cNvPr id="15" name="Text 13"/>
          <p:cNvSpPr/>
          <p:nvPr/>
        </p:nvSpPr>
        <p:spPr>
          <a:xfrm>
            <a:off x="9509760" y="2450592"/>
            <a:ext cx="1920240" cy="676656"/>
          </a:xfrm>
          <a:prstGeom prst="rect">
            <a:avLst/>
          </a:prstGeom>
          <a:noFill/>
          <a:ln/>
        </p:spPr>
        <p:txBody>
          <a:bodyPr wrap="square" lIns="0" tIns="0" rIns="0" bIns="0" rtlCol="0" anchor="ctr"/>
          <a:lstStyle/>
          <a:p>
            <a:pPr indent="0" marL="0">
              <a:buNone/>
            </a:pPr>
            <a:r>
              <a:rPr lang="en-US" sz="1050" dirty="0">
                <a:solidFill>
                  <a:srgbClr val="39586F"/>
                </a:solidFill>
                <a:latin typeface="Calibri" pitchFamily="34" charset="0"/>
                <a:ea typeface="Calibri" pitchFamily="34" charset="-122"/>
                <a:cs typeface="Calibri" pitchFamily="34" charset="-120"/>
              </a:rPr>
              <a:t>Alaska 261 · Southwest 1380 · Chalk's 101</a:t>
            </a:r>
            <a:endParaRPr lang="en-US" sz="1050" dirty="0"/>
          </a:p>
        </p:txBody>
      </p:sp>
      <p:sp>
        <p:nvSpPr>
          <p:cNvPr id="16" name="Shape 14"/>
          <p:cNvSpPr/>
          <p:nvPr/>
        </p:nvSpPr>
        <p:spPr>
          <a:xfrm>
            <a:off x="548640" y="3273552"/>
            <a:ext cx="11091672" cy="786384"/>
          </a:xfrm>
          <a:prstGeom prst="roundRect">
            <a:avLst>
              <a:gd name="adj" fmla="val 6977"/>
            </a:avLst>
          </a:prstGeom>
          <a:solidFill>
            <a:srgbClr val="FFFFFF"/>
          </a:solidFill>
          <a:ln w="9525">
            <a:solidFill>
              <a:srgbClr val="D6DEE6"/>
            </a:solidFill>
            <a:prstDash val="solid"/>
          </a:ln>
        </p:spPr>
      </p:sp>
      <p:sp>
        <p:nvSpPr>
          <p:cNvPr id="17" name="Shape 15"/>
          <p:cNvSpPr/>
          <p:nvPr/>
        </p:nvSpPr>
        <p:spPr>
          <a:xfrm>
            <a:off x="804672" y="3456432"/>
            <a:ext cx="420624" cy="420624"/>
          </a:xfrm>
          <a:prstGeom prst="ellipse">
            <a:avLst/>
          </a:prstGeom>
          <a:solidFill>
            <a:srgbClr val="39586F"/>
          </a:solidFill>
          <a:ln/>
        </p:spPr>
      </p:sp>
      <p:sp>
        <p:nvSpPr>
          <p:cNvPr id="18" name="Text 16"/>
          <p:cNvSpPr/>
          <p:nvPr/>
        </p:nvSpPr>
        <p:spPr>
          <a:xfrm>
            <a:off x="804672" y="3456432"/>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19" name="Text 17"/>
          <p:cNvSpPr/>
          <p:nvPr/>
        </p:nvSpPr>
        <p:spPr>
          <a:xfrm>
            <a:off x="1417320" y="3328416"/>
            <a:ext cx="3017520" cy="676656"/>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Slow loop</a:t>
            </a:r>
            <a:endParaRPr lang="en-US" sz="1450" dirty="0"/>
          </a:p>
        </p:txBody>
      </p:sp>
      <p:sp>
        <p:nvSpPr>
          <p:cNvPr id="20" name="Text 18"/>
          <p:cNvSpPr/>
          <p:nvPr/>
        </p:nvSpPr>
        <p:spPr>
          <a:xfrm>
            <a:off x="4480560" y="3328416"/>
            <a:ext cx="4937760" cy="676656"/>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The fleet produces the signal and the organization does not convert it into action before the second event.</a:t>
            </a:r>
            <a:endParaRPr lang="en-US" sz="1150" dirty="0"/>
          </a:p>
        </p:txBody>
      </p:sp>
      <p:sp>
        <p:nvSpPr>
          <p:cNvPr id="21" name="Text 19"/>
          <p:cNvSpPr/>
          <p:nvPr/>
        </p:nvSpPr>
        <p:spPr>
          <a:xfrm>
            <a:off x="9509760" y="3328416"/>
            <a:ext cx="1920240" cy="676656"/>
          </a:xfrm>
          <a:prstGeom prst="rect">
            <a:avLst/>
          </a:prstGeom>
          <a:noFill/>
          <a:ln/>
        </p:spPr>
        <p:txBody>
          <a:bodyPr wrap="square" lIns="0" tIns="0" rIns="0" bIns="0" rtlCol="0" anchor="ctr"/>
          <a:lstStyle/>
          <a:p>
            <a:pPr indent="0" marL="0">
              <a:buNone/>
            </a:pPr>
            <a:r>
              <a:rPr lang="en-US" sz="1050" dirty="0">
                <a:solidFill>
                  <a:srgbClr val="39586F"/>
                </a:solidFill>
                <a:latin typeface="Calibri" pitchFamily="34" charset="0"/>
                <a:ea typeface="Calibri" pitchFamily="34" charset="-122"/>
                <a:cs typeface="Calibri" pitchFamily="34" charset="-120"/>
              </a:rPr>
              <a:t>UA585 into US427 · Cougar 91 · CV-22 · AF447</a:t>
            </a:r>
            <a:endParaRPr lang="en-US" sz="1050" dirty="0"/>
          </a:p>
        </p:txBody>
      </p:sp>
      <p:sp>
        <p:nvSpPr>
          <p:cNvPr id="22" name="Shape 20"/>
          <p:cNvSpPr/>
          <p:nvPr/>
        </p:nvSpPr>
        <p:spPr>
          <a:xfrm>
            <a:off x="548640" y="4151376"/>
            <a:ext cx="11091672" cy="786384"/>
          </a:xfrm>
          <a:prstGeom prst="roundRect">
            <a:avLst>
              <a:gd name="adj" fmla="val 6977"/>
            </a:avLst>
          </a:prstGeom>
          <a:solidFill>
            <a:srgbClr val="FFFFFF"/>
          </a:solidFill>
          <a:ln w="9525">
            <a:solidFill>
              <a:srgbClr val="D6DEE6"/>
            </a:solidFill>
            <a:prstDash val="solid"/>
          </a:ln>
        </p:spPr>
      </p:sp>
      <p:sp>
        <p:nvSpPr>
          <p:cNvPr id="23" name="Shape 21"/>
          <p:cNvSpPr/>
          <p:nvPr/>
        </p:nvSpPr>
        <p:spPr>
          <a:xfrm>
            <a:off x="804672" y="4334256"/>
            <a:ext cx="420624" cy="420624"/>
          </a:xfrm>
          <a:prstGeom prst="ellipse">
            <a:avLst/>
          </a:prstGeom>
          <a:solidFill>
            <a:srgbClr val="B3282D"/>
          </a:solidFill>
          <a:ln/>
        </p:spPr>
      </p:sp>
      <p:sp>
        <p:nvSpPr>
          <p:cNvPr id="24" name="Text 22"/>
          <p:cNvSpPr/>
          <p:nvPr/>
        </p:nvSpPr>
        <p:spPr>
          <a:xfrm>
            <a:off x="804672" y="4334256"/>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25" name="Text 23"/>
          <p:cNvSpPr/>
          <p:nvPr/>
        </p:nvSpPr>
        <p:spPr>
          <a:xfrm>
            <a:off x="1417320" y="4206240"/>
            <a:ext cx="3017520" cy="676656"/>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Bottom-tier mitigation</a:t>
            </a:r>
            <a:endParaRPr lang="en-US" sz="1450" dirty="0"/>
          </a:p>
        </p:txBody>
      </p:sp>
      <p:sp>
        <p:nvSpPr>
          <p:cNvPr id="26" name="Text 24"/>
          <p:cNvSpPr/>
          <p:nvPr/>
        </p:nvSpPr>
        <p:spPr>
          <a:xfrm>
            <a:off x="4480560" y="4206240"/>
            <a:ext cx="4937760" cy="676656"/>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A catastrophic hazard is controlled solely by a procedure, task, training or warning, when the order of precedence requires elimination or design change first.</a:t>
            </a:r>
            <a:endParaRPr lang="en-US" sz="1150" dirty="0"/>
          </a:p>
        </p:txBody>
      </p:sp>
      <p:sp>
        <p:nvSpPr>
          <p:cNvPr id="27" name="Text 25"/>
          <p:cNvSpPr/>
          <p:nvPr/>
        </p:nvSpPr>
        <p:spPr>
          <a:xfrm>
            <a:off x="9509760" y="4206240"/>
            <a:ext cx="1920240" cy="676656"/>
          </a:xfrm>
          <a:prstGeom prst="rect">
            <a:avLst/>
          </a:prstGeom>
          <a:noFill/>
          <a:ln/>
        </p:spPr>
        <p:txBody>
          <a:bodyPr wrap="square" lIns="0" tIns="0" rIns="0" bIns="0" rtlCol="0" anchor="ctr"/>
          <a:lstStyle/>
          <a:p>
            <a:pPr indent="0" marL="0">
              <a:buNone/>
            </a:pPr>
            <a:r>
              <a:rPr lang="en-US" sz="1050" dirty="0">
                <a:solidFill>
                  <a:srgbClr val="39586F"/>
                </a:solidFill>
                <a:latin typeface="Calibri" pitchFamily="34" charset="0"/>
                <a:ea typeface="Calibri" pitchFamily="34" charset="-122"/>
                <a:cs typeface="Calibri" pitchFamily="34" charset="-120"/>
              </a:rPr>
              <a:t>Alaska 261 · Aloha 243</a:t>
            </a:r>
            <a:endParaRPr lang="en-US" sz="1050" dirty="0"/>
          </a:p>
        </p:txBody>
      </p:sp>
      <p:sp>
        <p:nvSpPr>
          <p:cNvPr id="28" name="Shape 26"/>
          <p:cNvSpPr/>
          <p:nvPr/>
        </p:nvSpPr>
        <p:spPr>
          <a:xfrm>
            <a:off x="548640" y="5029200"/>
            <a:ext cx="11091672" cy="786384"/>
          </a:xfrm>
          <a:prstGeom prst="roundRect">
            <a:avLst>
              <a:gd name="adj" fmla="val 6977"/>
            </a:avLst>
          </a:prstGeom>
          <a:solidFill>
            <a:srgbClr val="FFFFFF"/>
          </a:solidFill>
          <a:ln w="9525">
            <a:solidFill>
              <a:srgbClr val="D6DEE6"/>
            </a:solidFill>
            <a:prstDash val="solid"/>
          </a:ln>
        </p:spPr>
      </p:sp>
      <p:sp>
        <p:nvSpPr>
          <p:cNvPr id="29" name="Shape 27"/>
          <p:cNvSpPr/>
          <p:nvPr/>
        </p:nvSpPr>
        <p:spPr>
          <a:xfrm>
            <a:off x="804672" y="5212080"/>
            <a:ext cx="420624" cy="420624"/>
          </a:xfrm>
          <a:prstGeom prst="ellipse">
            <a:avLst/>
          </a:prstGeom>
          <a:solidFill>
            <a:srgbClr val="B3282D"/>
          </a:solidFill>
          <a:ln/>
        </p:spPr>
      </p:sp>
      <p:sp>
        <p:nvSpPr>
          <p:cNvPr id="30" name="Text 28"/>
          <p:cNvSpPr/>
          <p:nvPr/>
        </p:nvSpPr>
        <p:spPr>
          <a:xfrm>
            <a:off x="804672" y="5212080"/>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a:t>
            </a:r>
            <a:endParaRPr lang="en-US" sz="1250" dirty="0"/>
          </a:p>
        </p:txBody>
      </p:sp>
      <p:sp>
        <p:nvSpPr>
          <p:cNvPr id="31" name="Text 29"/>
          <p:cNvSpPr/>
          <p:nvPr/>
        </p:nvSpPr>
        <p:spPr>
          <a:xfrm>
            <a:off x="1417320" y="5084064"/>
            <a:ext cx="3017520" cy="676656"/>
          </a:xfrm>
          <a:prstGeom prst="rect">
            <a:avLst/>
          </a:prstGeom>
          <a:noFill/>
          <a:ln/>
        </p:spPr>
        <p:txBody>
          <a:bodyPr wrap="square" lIns="0" tIns="0" rIns="0" bIns="0" rtlCol="0" anchor="ctr"/>
          <a:lstStyle/>
          <a:p>
            <a:pPr indent="0" marL="0">
              <a:buNone/>
            </a:pPr>
            <a:r>
              <a:rPr lang="en-US" sz="1450" b="1" dirty="0">
                <a:solidFill>
                  <a:srgbClr val="16232E"/>
                </a:solidFill>
                <a:latin typeface="Calibri" pitchFamily="34" charset="0"/>
                <a:ea typeface="Calibri" pitchFamily="34" charset="-122"/>
                <a:cs typeface="Calibri" pitchFamily="34" charset="-120"/>
              </a:rPr>
              <a:t>Undocumented exception</a:t>
            </a:r>
            <a:endParaRPr lang="en-US" sz="1450" dirty="0"/>
          </a:p>
        </p:txBody>
      </p:sp>
      <p:sp>
        <p:nvSpPr>
          <p:cNvPr id="32" name="Text 30"/>
          <p:cNvSpPr/>
          <p:nvPr/>
        </p:nvSpPr>
        <p:spPr>
          <a:xfrm>
            <a:off x="4480560" y="5084064"/>
            <a:ext cx="4937760" cy="676656"/>
          </a:xfrm>
          <a:prstGeom prst="rect">
            <a:avLst/>
          </a:prstGeom>
          <a:noFill/>
          <a:ln/>
        </p:spPr>
        <p:txBody>
          <a:bodyPr wrap="square" lIns="0" tIns="0" rIns="0" bIns="0" rtlCol="0" anchor="ctr"/>
          <a:lstStyle/>
          <a:p>
            <a:pPr indent="0" marL="0">
              <a:buNone/>
            </a:pPr>
            <a:r>
              <a:rPr lang="en-US" sz="1150" dirty="0">
                <a:solidFill>
                  <a:srgbClr val="5C6E7D"/>
                </a:solidFill>
                <a:latin typeface="Calibri" pitchFamily="34" charset="0"/>
                <a:ea typeface="Calibri" pitchFamily="34" charset="-122"/>
                <a:cs typeface="Calibri" pitchFamily="34" charset="-120"/>
              </a:rPr>
              <a:t>A required activity is omitted without the rationale, risk assessment and approval the standard itself demands, and the acceptance never reaches the authority that owns that severity.</a:t>
            </a:r>
            <a:endParaRPr lang="en-US" sz="1150" dirty="0"/>
          </a:p>
        </p:txBody>
      </p:sp>
      <p:sp>
        <p:nvSpPr>
          <p:cNvPr id="33" name="Text 31"/>
          <p:cNvSpPr/>
          <p:nvPr/>
        </p:nvSpPr>
        <p:spPr>
          <a:xfrm>
            <a:off x="9509760" y="5084064"/>
            <a:ext cx="1920240" cy="676656"/>
          </a:xfrm>
          <a:prstGeom prst="rect">
            <a:avLst/>
          </a:prstGeom>
          <a:noFill/>
          <a:ln/>
        </p:spPr>
        <p:txBody>
          <a:bodyPr wrap="square" lIns="0" tIns="0" rIns="0" bIns="0" rtlCol="0" anchor="ctr"/>
          <a:lstStyle/>
          <a:p>
            <a:pPr indent="0" marL="0">
              <a:buNone/>
            </a:pPr>
            <a:r>
              <a:rPr lang="en-US" sz="1050" dirty="0">
                <a:solidFill>
                  <a:srgbClr val="39586F"/>
                </a:solidFill>
                <a:latin typeface="Calibri" pitchFamily="34" charset="0"/>
                <a:ea typeface="Calibri" pitchFamily="34" charset="-122"/>
                <a:cs typeface="Calibri" pitchFamily="34" charset="-120"/>
              </a:rPr>
              <a:t>Nimrod XV230 · Columbia · the current dispute</a:t>
            </a:r>
            <a:endParaRPr lang="en-US" sz="1050" dirty="0"/>
          </a:p>
        </p:txBody>
      </p:sp>
      <p:sp>
        <p:nvSpPr>
          <p:cNvPr id="34" name="Text 32"/>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Patterns D and E map onto the organizational dispute rather than onto engineering error, and both are anchored in explicit clause text rather than argued by analogy.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None of These Standards Permits Silent Omission</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Every one allows tailoring. Every one requires it to be documented, risk-assessed and approved.</a:t>
            </a:r>
            <a:endParaRPr lang="en-US" sz="1350" dirty="0"/>
          </a:p>
        </p:txBody>
      </p:sp>
      <p:sp>
        <p:nvSpPr>
          <p:cNvPr id="4" name="Shape 2"/>
          <p:cNvSpPr/>
          <p:nvPr/>
        </p:nvSpPr>
        <p:spPr>
          <a:xfrm>
            <a:off x="548640" y="1600200"/>
            <a:ext cx="11091672" cy="758952"/>
          </a:xfrm>
          <a:prstGeom prst="roundRect">
            <a:avLst>
              <a:gd name="adj" fmla="val 7229"/>
            </a:avLst>
          </a:prstGeom>
          <a:solidFill>
            <a:srgbClr val="FFFFFF"/>
          </a:solidFill>
          <a:ln w="9525">
            <a:solidFill>
              <a:srgbClr val="D6DEE6"/>
            </a:solidFill>
            <a:prstDash val="solid"/>
          </a:ln>
        </p:spPr>
      </p:sp>
      <p:sp>
        <p:nvSpPr>
          <p:cNvPr id="5" name="Text 3"/>
          <p:cNvSpPr/>
          <p:nvPr/>
        </p:nvSpPr>
        <p:spPr>
          <a:xfrm>
            <a:off x="822960" y="1600200"/>
            <a:ext cx="2103120" cy="758952"/>
          </a:xfrm>
          <a:prstGeom prst="rect">
            <a:avLst/>
          </a:prstGeom>
          <a:noFill/>
          <a:ln/>
        </p:spPr>
        <p:txBody>
          <a:bodyPr wrap="square" lIns="0" tIns="0" rIns="0" bIns="0" rtlCol="0" anchor="ctr"/>
          <a:lstStyle/>
          <a:p>
            <a:pPr indent="0" marL="0">
              <a:buNone/>
            </a:pPr>
            <a:r>
              <a:rPr lang="en-US" sz="1400" b="1" dirty="0">
                <a:solidFill>
                  <a:srgbClr val="16232E"/>
                </a:solidFill>
                <a:latin typeface="Calibri" pitchFamily="34" charset="0"/>
                <a:ea typeface="Calibri" pitchFamily="34" charset="-122"/>
                <a:cs typeface="Calibri" pitchFamily="34" charset="-120"/>
              </a:rPr>
              <a:t>MIL-STD-882E</a:t>
            </a:r>
            <a:endParaRPr lang="en-US" sz="1400" dirty="0"/>
          </a:p>
        </p:txBody>
      </p:sp>
      <p:sp>
        <p:nvSpPr>
          <p:cNvPr id="6" name="Text 4"/>
          <p:cNvSpPr/>
          <p:nvPr/>
        </p:nvSpPr>
        <p:spPr>
          <a:xfrm>
            <a:off x="2971800" y="1600200"/>
            <a:ext cx="1600200" cy="758952"/>
          </a:xfrm>
          <a:prstGeom prst="rect">
            <a:avLst/>
          </a:prstGeom>
          <a:noFill/>
          <a:ln/>
        </p:spPr>
        <p:txBody>
          <a:bodyPr wrap="square" lIns="0" tIns="0" rIns="0" bIns="0" rtlCol="0" anchor="ctr"/>
          <a:lstStyle/>
          <a:p>
            <a:pPr indent="0" marL="0">
              <a:buNone/>
            </a:pPr>
            <a:r>
              <a:rPr lang="en-US" sz="1200" b="1" dirty="0">
                <a:solidFill>
                  <a:srgbClr val="B3282D"/>
                </a:solidFill>
                <a:latin typeface="Calibri" pitchFamily="34" charset="0"/>
                <a:ea typeface="Calibri" pitchFamily="34" charset="-122"/>
                <a:cs typeface="Calibri" pitchFamily="34" charset="-120"/>
              </a:rPr>
              <a:t>4.1.1, 4.1.2</a:t>
            </a:r>
            <a:endParaRPr lang="en-US" sz="1200" dirty="0"/>
          </a:p>
        </p:txBody>
      </p:sp>
      <p:sp>
        <p:nvSpPr>
          <p:cNvPr id="7" name="Text 5"/>
          <p:cNvSpPr/>
          <p:nvPr/>
        </p:nvSpPr>
        <p:spPr>
          <a:xfrm>
            <a:off x="4663440" y="1655064"/>
            <a:ext cx="6766560" cy="658368"/>
          </a:xfrm>
          <a:prstGeom prst="rect">
            <a:avLst/>
          </a:prstGeom>
          <a:noFill/>
          <a:ln/>
        </p:spPr>
        <p:txBody>
          <a:bodyPr wrap="square" lIns="0" tIns="0" rIns="0" bIns="0" rtlCol="0" anchor="ctr"/>
          <a:lstStyle/>
          <a:p>
            <a:pPr indent="0" marL="0">
              <a:buNone/>
            </a:pPr>
            <a:r>
              <a:rPr lang="en-US" sz="1200" dirty="0">
                <a:solidFill>
                  <a:srgbClr val="5C6E7D"/>
                </a:solidFill>
                <a:latin typeface="Calibri" pitchFamily="34" charset="0"/>
                <a:ea typeface="Calibri" pitchFamily="34" charset="-122"/>
                <a:cs typeface="Calibri" pitchFamily="34" charset="-120"/>
              </a:rPr>
              <a:t>Sections 3 and 4 are the mandatory minimum. Tasks may be cited only to add requirements.</a:t>
            </a:r>
            <a:endParaRPr lang="en-US" sz="1200" dirty="0"/>
          </a:p>
        </p:txBody>
      </p:sp>
      <p:sp>
        <p:nvSpPr>
          <p:cNvPr id="8" name="Shape 6"/>
          <p:cNvSpPr/>
          <p:nvPr/>
        </p:nvSpPr>
        <p:spPr>
          <a:xfrm>
            <a:off x="548640" y="2468880"/>
            <a:ext cx="11091672" cy="758952"/>
          </a:xfrm>
          <a:prstGeom prst="roundRect">
            <a:avLst>
              <a:gd name="adj" fmla="val 7229"/>
            </a:avLst>
          </a:prstGeom>
          <a:solidFill>
            <a:srgbClr val="FFFFFF"/>
          </a:solidFill>
          <a:ln w="9525">
            <a:solidFill>
              <a:srgbClr val="D6DEE6"/>
            </a:solidFill>
            <a:prstDash val="solid"/>
          </a:ln>
        </p:spPr>
      </p:sp>
      <p:sp>
        <p:nvSpPr>
          <p:cNvPr id="9" name="Text 7"/>
          <p:cNvSpPr/>
          <p:nvPr/>
        </p:nvSpPr>
        <p:spPr>
          <a:xfrm>
            <a:off x="822960" y="2468880"/>
            <a:ext cx="2103120" cy="758952"/>
          </a:xfrm>
          <a:prstGeom prst="rect">
            <a:avLst/>
          </a:prstGeom>
          <a:noFill/>
          <a:ln/>
        </p:spPr>
        <p:txBody>
          <a:bodyPr wrap="square" lIns="0" tIns="0" rIns="0" bIns="0" rtlCol="0" anchor="ctr"/>
          <a:lstStyle/>
          <a:p>
            <a:pPr indent="0" marL="0">
              <a:buNone/>
            </a:pPr>
            <a:r>
              <a:rPr lang="en-US" sz="1400" b="1" dirty="0">
                <a:solidFill>
                  <a:srgbClr val="16232E"/>
                </a:solidFill>
                <a:latin typeface="Calibri" pitchFamily="34" charset="0"/>
                <a:ea typeface="Calibri" pitchFamily="34" charset="-122"/>
                <a:cs typeface="Calibri" pitchFamily="34" charset="-120"/>
              </a:rPr>
              <a:t>MIL-STD-1530D</a:t>
            </a:r>
            <a:endParaRPr lang="en-US" sz="1400" dirty="0"/>
          </a:p>
        </p:txBody>
      </p:sp>
      <p:sp>
        <p:nvSpPr>
          <p:cNvPr id="10" name="Text 8"/>
          <p:cNvSpPr/>
          <p:nvPr/>
        </p:nvSpPr>
        <p:spPr>
          <a:xfrm>
            <a:off x="2971800" y="2468880"/>
            <a:ext cx="1600200" cy="758952"/>
          </a:xfrm>
          <a:prstGeom prst="rect">
            <a:avLst/>
          </a:prstGeom>
          <a:noFill/>
          <a:ln/>
        </p:spPr>
        <p:txBody>
          <a:bodyPr wrap="square" lIns="0" tIns="0" rIns="0" bIns="0" rtlCol="0" anchor="ctr"/>
          <a:lstStyle/>
          <a:p>
            <a:pPr indent="0" marL="0">
              <a:buNone/>
            </a:pPr>
            <a:r>
              <a:rPr lang="en-US" sz="1200" b="1" dirty="0">
                <a:solidFill>
                  <a:srgbClr val="B3282D"/>
                </a:solidFill>
                <a:latin typeface="Calibri" pitchFamily="34" charset="0"/>
                <a:ea typeface="Calibri" pitchFamily="34" charset="-122"/>
                <a:cs typeface="Calibri" pitchFamily="34" charset="-120"/>
              </a:rPr>
              <a:t>6.1, 5.1.1, 4.1.b</a:t>
            </a:r>
            <a:endParaRPr lang="en-US" sz="1200" dirty="0"/>
          </a:p>
        </p:txBody>
      </p:sp>
      <p:sp>
        <p:nvSpPr>
          <p:cNvPr id="11" name="Text 9"/>
          <p:cNvSpPr/>
          <p:nvPr/>
        </p:nvSpPr>
        <p:spPr>
          <a:xfrm>
            <a:off x="4663440" y="2523744"/>
            <a:ext cx="6766560" cy="658368"/>
          </a:xfrm>
          <a:prstGeom prst="rect">
            <a:avLst/>
          </a:prstGeom>
          <a:noFill/>
          <a:ln/>
        </p:spPr>
        <p:txBody>
          <a:bodyPr wrap="square" lIns="0" tIns="0" rIns="0" bIns="0" rtlCol="0" anchor="ctr"/>
          <a:lstStyle/>
          <a:p>
            <a:pPr indent="0" marL="0">
              <a:buNone/>
            </a:pPr>
            <a:r>
              <a:rPr lang="en-US" sz="1200" dirty="0">
                <a:solidFill>
                  <a:srgbClr val="5C6E7D"/>
                </a:solidFill>
                <a:latin typeface="Calibri" pitchFamily="34" charset="0"/>
                <a:ea typeface="Calibri" pitchFamily="34" charset="-122"/>
                <a:cs typeface="Calibri" pitchFamily="34" charset="-120"/>
              </a:rPr>
              <a:t>Tailored contractual requirements permitted. Exceptions and their rationale, including risk assessments, must be documented in the program plan and approved by the PEO before SRR.</a:t>
            </a:r>
            <a:endParaRPr lang="en-US" sz="1200" dirty="0"/>
          </a:p>
        </p:txBody>
      </p:sp>
      <p:sp>
        <p:nvSpPr>
          <p:cNvPr id="12" name="Shape 10"/>
          <p:cNvSpPr/>
          <p:nvPr/>
        </p:nvSpPr>
        <p:spPr>
          <a:xfrm>
            <a:off x="548640" y="3337560"/>
            <a:ext cx="11091672" cy="758952"/>
          </a:xfrm>
          <a:prstGeom prst="roundRect">
            <a:avLst>
              <a:gd name="adj" fmla="val 7229"/>
            </a:avLst>
          </a:prstGeom>
          <a:solidFill>
            <a:srgbClr val="FFFFFF"/>
          </a:solidFill>
          <a:ln w="9525">
            <a:solidFill>
              <a:srgbClr val="D6DEE6"/>
            </a:solidFill>
            <a:prstDash val="solid"/>
          </a:ln>
        </p:spPr>
      </p:sp>
      <p:sp>
        <p:nvSpPr>
          <p:cNvPr id="13" name="Text 11"/>
          <p:cNvSpPr/>
          <p:nvPr/>
        </p:nvSpPr>
        <p:spPr>
          <a:xfrm>
            <a:off x="822960" y="3337560"/>
            <a:ext cx="2103120" cy="758952"/>
          </a:xfrm>
          <a:prstGeom prst="rect">
            <a:avLst/>
          </a:prstGeom>
          <a:noFill/>
          <a:ln/>
        </p:spPr>
        <p:txBody>
          <a:bodyPr wrap="square" lIns="0" tIns="0" rIns="0" bIns="0" rtlCol="0" anchor="ctr"/>
          <a:lstStyle/>
          <a:p>
            <a:pPr indent="0" marL="0">
              <a:buNone/>
            </a:pPr>
            <a:r>
              <a:rPr lang="en-US" sz="1400" b="1" dirty="0">
                <a:solidFill>
                  <a:srgbClr val="16232E"/>
                </a:solidFill>
                <a:latin typeface="Calibri" pitchFamily="34" charset="0"/>
                <a:ea typeface="Calibri" pitchFamily="34" charset="-122"/>
                <a:cs typeface="Calibri" pitchFamily="34" charset="-120"/>
              </a:rPr>
              <a:t>GEIA-STD-0009A</a:t>
            </a:r>
            <a:endParaRPr lang="en-US" sz="1400" dirty="0"/>
          </a:p>
        </p:txBody>
      </p:sp>
      <p:sp>
        <p:nvSpPr>
          <p:cNvPr id="14" name="Text 12"/>
          <p:cNvSpPr/>
          <p:nvPr/>
        </p:nvSpPr>
        <p:spPr>
          <a:xfrm>
            <a:off x="2971800" y="3337560"/>
            <a:ext cx="1600200" cy="758952"/>
          </a:xfrm>
          <a:prstGeom prst="rect">
            <a:avLst/>
          </a:prstGeom>
          <a:noFill/>
          <a:ln/>
        </p:spPr>
        <p:txBody>
          <a:bodyPr wrap="square" lIns="0" tIns="0" rIns="0" bIns="0" rtlCol="0" anchor="ctr"/>
          <a:lstStyle/>
          <a:p>
            <a:pPr indent="0" marL="0">
              <a:buNone/>
            </a:pPr>
            <a:r>
              <a:rPr lang="en-US" sz="1200" b="1" dirty="0">
                <a:solidFill>
                  <a:srgbClr val="B3282D"/>
                </a:solidFill>
                <a:latin typeface="Calibri" pitchFamily="34" charset="0"/>
                <a:ea typeface="Calibri" pitchFamily="34" charset="-122"/>
                <a:cs typeface="Calibri" pitchFamily="34" charset="-120"/>
              </a:rPr>
              <a:t>1.3, 4.5.1.1</a:t>
            </a:r>
            <a:endParaRPr lang="en-US" sz="1200" dirty="0"/>
          </a:p>
        </p:txBody>
      </p:sp>
      <p:sp>
        <p:nvSpPr>
          <p:cNvPr id="15" name="Text 13"/>
          <p:cNvSpPr/>
          <p:nvPr/>
        </p:nvSpPr>
        <p:spPr>
          <a:xfrm>
            <a:off x="4663440" y="3392424"/>
            <a:ext cx="6766560" cy="658368"/>
          </a:xfrm>
          <a:prstGeom prst="rect">
            <a:avLst/>
          </a:prstGeom>
          <a:noFill/>
          <a:ln/>
        </p:spPr>
        <p:txBody>
          <a:bodyPr wrap="square" lIns="0" tIns="0" rIns="0" bIns="0" rtlCol="0" anchor="ctr"/>
          <a:lstStyle/>
          <a:p>
            <a:pPr indent="0" marL="0">
              <a:buNone/>
            </a:pPr>
            <a:r>
              <a:rPr lang="en-US" sz="1200" dirty="0">
                <a:solidFill>
                  <a:srgbClr val="5C6E7D"/>
                </a:solidFill>
                <a:latin typeface="Calibri" pitchFamily="34" charset="0"/>
                <a:ea typeface="Calibri" pitchFamily="34" charset="-122"/>
                <a:cs typeface="Calibri" pitchFamily="34" charset="-120"/>
              </a:rPr>
              <a:t>Tailoring permitted. All normative activities across all four objectives must be considered in preparing the Reliability Program Plan.</a:t>
            </a:r>
            <a:endParaRPr lang="en-US" sz="1200" dirty="0"/>
          </a:p>
        </p:txBody>
      </p:sp>
      <p:sp>
        <p:nvSpPr>
          <p:cNvPr id="16" name="Shape 14"/>
          <p:cNvSpPr/>
          <p:nvPr/>
        </p:nvSpPr>
        <p:spPr>
          <a:xfrm>
            <a:off x="548640" y="4206240"/>
            <a:ext cx="11091672" cy="758952"/>
          </a:xfrm>
          <a:prstGeom prst="roundRect">
            <a:avLst>
              <a:gd name="adj" fmla="val 7229"/>
            </a:avLst>
          </a:prstGeom>
          <a:solidFill>
            <a:srgbClr val="FFFFFF"/>
          </a:solidFill>
          <a:ln w="9525">
            <a:solidFill>
              <a:srgbClr val="D6DEE6"/>
            </a:solidFill>
            <a:prstDash val="solid"/>
          </a:ln>
        </p:spPr>
      </p:sp>
      <p:sp>
        <p:nvSpPr>
          <p:cNvPr id="17" name="Text 15"/>
          <p:cNvSpPr/>
          <p:nvPr/>
        </p:nvSpPr>
        <p:spPr>
          <a:xfrm>
            <a:off x="822960" y="4206240"/>
            <a:ext cx="2103120" cy="758952"/>
          </a:xfrm>
          <a:prstGeom prst="rect">
            <a:avLst/>
          </a:prstGeom>
          <a:noFill/>
          <a:ln/>
        </p:spPr>
        <p:txBody>
          <a:bodyPr wrap="square" lIns="0" tIns="0" rIns="0" bIns="0" rtlCol="0" anchor="ctr"/>
          <a:lstStyle/>
          <a:p>
            <a:pPr indent="0" marL="0">
              <a:buNone/>
            </a:pPr>
            <a:r>
              <a:rPr lang="en-US" sz="1400" b="1" dirty="0">
                <a:solidFill>
                  <a:srgbClr val="16232E"/>
                </a:solidFill>
                <a:latin typeface="Calibri" pitchFamily="34" charset="0"/>
                <a:ea typeface="Calibri" pitchFamily="34" charset="-122"/>
                <a:cs typeface="Calibri" pitchFamily="34" charset="-120"/>
              </a:rPr>
              <a:t>MIL-STD-1530D</a:t>
            </a:r>
            <a:endParaRPr lang="en-US" sz="1400" dirty="0"/>
          </a:p>
        </p:txBody>
      </p:sp>
      <p:sp>
        <p:nvSpPr>
          <p:cNvPr id="18" name="Text 16"/>
          <p:cNvSpPr/>
          <p:nvPr/>
        </p:nvSpPr>
        <p:spPr>
          <a:xfrm>
            <a:off x="2971800" y="4206240"/>
            <a:ext cx="1600200" cy="758952"/>
          </a:xfrm>
          <a:prstGeom prst="rect">
            <a:avLst/>
          </a:prstGeom>
          <a:noFill/>
          <a:ln/>
        </p:spPr>
        <p:txBody>
          <a:bodyPr wrap="square" lIns="0" tIns="0" rIns="0" bIns="0" rtlCol="0" anchor="ctr"/>
          <a:lstStyle/>
          <a:p>
            <a:pPr indent="0" marL="0">
              <a:buNone/>
            </a:pPr>
            <a:r>
              <a:rPr lang="en-US" sz="1200" b="1" dirty="0">
                <a:solidFill>
                  <a:srgbClr val="B3282D"/>
                </a:solidFill>
                <a:latin typeface="Calibri" pitchFamily="34" charset="0"/>
                <a:ea typeface="Calibri" pitchFamily="34" charset="-122"/>
                <a:cs typeface="Calibri" pitchFamily="34" charset="-120"/>
              </a:rPr>
              <a:t>4.1.e, 4.2</a:t>
            </a:r>
            <a:endParaRPr lang="en-US" sz="1200" dirty="0"/>
          </a:p>
        </p:txBody>
      </p:sp>
      <p:sp>
        <p:nvSpPr>
          <p:cNvPr id="19" name="Text 17"/>
          <p:cNvSpPr/>
          <p:nvPr/>
        </p:nvSpPr>
        <p:spPr>
          <a:xfrm>
            <a:off x="4663440" y="4261104"/>
            <a:ext cx="6766560" cy="658368"/>
          </a:xfrm>
          <a:prstGeom prst="rect">
            <a:avLst/>
          </a:prstGeom>
          <a:noFill/>
          <a:ln/>
        </p:spPr>
        <p:txBody>
          <a:bodyPr wrap="square" lIns="0" tIns="0" rIns="0" bIns="0" rtlCol="0" anchor="ctr"/>
          <a:lstStyle/>
          <a:p>
            <a:pPr indent="0" marL="0">
              <a:buNone/>
            </a:pPr>
            <a:r>
              <a:rPr lang="en-US" sz="1200" dirty="0">
                <a:solidFill>
                  <a:srgbClr val="5C6E7D"/>
                </a:solidFill>
                <a:latin typeface="Calibri" pitchFamily="34" charset="0"/>
                <a:ea typeface="Calibri" pitchFamily="34" charset="-122"/>
                <a:cs typeface="Calibri" pitchFamily="34" charset="-120"/>
              </a:rPr>
              <a:t>A revised plan and approval are required before modification, before a new mission, and before operating beyond the certified service life.</a:t>
            </a:r>
            <a:endParaRPr lang="en-US" sz="1200" dirty="0"/>
          </a:p>
        </p:txBody>
      </p:sp>
      <p:sp>
        <p:nvSpPr>
          <p:cNvPr id="20" name="Shape 18"/>
          <p:cNvSpPr/>
          <p:nvPr/>
        </p:nvSpPr>
        <p:spPr>
          <a:xfrm>
            <a:off x="548640" y="5074920"/>
            <a:ext cx="11091672" cy="758952"/>
          </a:xfrm>
          <a:prstGeom prst="roundRect">
            <a:avLst>
              <a:gd name="adj" fmla="val 7229"/>
            </a:avLst>
          </a:prstGeom>
          <a:solidFill>
            <a:srgbClr val="FFFFFF"/>
          </a:solidFill>
          <a:ln w="9525">
            <a:solidFill>
              <a:srgbClr val="D6DEE6"/>
            </a:solidFill>
            <a:prstDash val="solid"/>
          </a:ln>
        </p:spPr>
      </p:sp>
      <p:sp>
        <p:nvSpPr>
          <p:cNvPr id="21" name="Text 19"/>
          <p:cNvSpPr/>
          <p:nvPr/>
        </p:nvSpPr>
        <p:spPr>
          <a:xfrm>
            <a:off x="822960" y="5074920"/>
            <a:ext cx="2103120" cy="758952"/>
          </a:xfrm>
          <a:prstGeom prst="rect">
            <a:avLst/>
          </a:prstGeom>
          <a:noFill/>
          <a:ln/>
        </p:spPr>
        <p:txBody>
          <a:bodyPr wrap="square" lIns="0" tIns="0" rIns="0" bIns="0" rtlCol="0" anchor="ctr"/>
          <a:lstStyle/>
          <a:p>
            <a:pPr indent="0" marL="0">
              <a:buNone/>
            </a:pPr>
            <a:r>
              <a:rPr lang="en-US" sz="1400" b="1" dirty="0">
                <a:solidFill>
                  <a:srgbClr val="16232E"/>
                </a:solidFill>
                <a:latin typeface="Calibri" pitchFamily="34" charset="0"/>
                <a:ea typeface="Calibri" pitchFamily="34" charset="-122"/>
                <a:cs typeface="Calibri" pitchFamily="34" charset="-120"/>
              </a:rPr>
              <a:t>SAE JA1010</a:t>
            </a:r>
            <a:endParaRPr lang="en-US" sz="1400" dirty="0"/>
          </a:p>
        </p:txBody>
      </p:sp>
      <p:sp>
        <p:nvSpPr>
          <p:cNvPr id="22" name="Text 20"/>
          <p:cNvSpPr/>
          <p:nvPr/>
        </p:nvSpPr>
        <p:spPr>
          <a:xfrm>
            <a:off x="2971800" y="5074920"/>
            <a:ext cx="1600200" cy="758952"/>
          </a:xfrm>
          <a:prstGeom prst="rect">
            <a:avLst/>
          </a:prstGeom>
          <a:noFill/>
          <a:ln/>
        </p:spPr>
        <p:txBody>
          <a:bodyPr wrap="square" lIns="0" tIns="0" rIns="0" bIns="0" rtlCol="0" anchor="ctr"/>
          <a:lstStyle/>
          <a:p>
            <a:pPr indent="0" marL="0">
              <a:buNone/>
            </a:pPr>
            <a:r>
              <a:rPr lang="en-US" sz="1200" b="1" dirty="0">
                <a:solidFill>
                  <a:srgbClr val="B3282D"/>
                </a:solidFill>
                <a:latin typeface="Calibri" pitchFamily="34" charset="0"/>
                <a:ea typeface="Calibri" pitchFamily="34" charset="-122"/>
                <a:cs typeface="Calibri" pitchFamily="34" charset="-120"/>
              </a:rPr>
              <a:t>1.3</a:t>
            </a:r>
            <a:endParaRPr lang="en-US" sz="1200" dirty="0"/>
          </a:p>
        </p:txBody>
      </p:sp>
      <p:sp>
        <p:nvSpPr>
          <p:cNvPr id="23" name="Text 21"/>
          <p:cNvSpPr/>
          <p:nvPr/>
        </p:nvSpPr>
        <p:spPr>
          <a:xfrm>
            <a:off x="4663440" y="5129784"/>
            <a:ext cx="6766560" cy="658368"/>
          </a:xfrm>
          <a:prstGeom prst="rect">
            <a:avLst/>
          </a:prstGeom>
          <a:noFill/>
          <a:ln/>
        </p:spPr>
        <p:txBody>
          <a:bodyPr wrap="square" lIns="0" tIns="0" rIns="0" bIns="0" rtlCol="0" anchor="ctr"/>
          <a:lstStyle/>
          <a:p>
            <a:pPr indent="0" marL="0">
              <a:buNone/>
            </a:pPr>
            <a:r>
              <a:rPr lang="en-US" sz="1200" dirty="0">
                <a:solidFill>
                  <a:srgbClr val="5C6E7D"/>
                </a:solidFill>
                <a:latin typeface="Calibri" pitchFamily="34" charset="0"/>
                <a:ea typeface="Calibri" pitchFamily="34" charset="-122"/>
                <a:cs typeface="Calibri" pitchFamily="34" charset="-120"/>
              </a:rPr>
              <a:t>Tailoring permitted, against a documented customer agreement.</a:t>
            </a:r>
            <a:endParaRPr lang="en-US" sz="1200" dirty="0"/>
          </a:p>
        </p:txBody>
      </p:sp>
      <p:sp>
        <p:nvSpPr>
          <p:cNvPr id="24" name="Text 22"/>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Contractual silence is not a tailoring decision. It is the absence of one, and the standards do not recognize it as an off-ramp.</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The Ask</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Three actions. Specific, executable, defensible.</a:t>
            </a:r>
            <a:endParaRPr lang="en-US" sz="1350" dirty="0"/>
          </a:p>
        </p:txBody>
      </p:sp>
      <p:sp>
        <p:nvSpPr>
          <p:cNvPr id="4" name="Shape 2"/>
          <p:cNvSpPr/>
          <p:nvPr/>
        </p:nvSpPr>
        <p:spPr>
          <a:xfrm>
            <a:off x="548640" y="1691640"/>
            <a:ext cx="3520440" cy="3383280"/>
          </a:xfrm>
          <a:prstGeom prst="roundRect">
            <a:avLst>
              <a:gd name="adj" fmla="val 1622"/>
            </a:avLst>
          </a:prstGeom>
          <a:solidFill>
            <a:srgbClr val="FFFFFF"/>
          </a:solidFill>
          <a:ln w="9525">
            <a:solidFill>
              <a:srgbClr val="D6DEE6"/>
            </a:solidFill>
            <a:prstDash val="solid"/>
          </a:ln>
        </p:spPr>
      </p:sp>
      <p:sp>
        <p:nvSpPr>
          <p:cNvPr id="5" name="Shape 3"/>
          <p:cNvSpPr/>
          <p:nvPr/>
        </p:nvSpPr>
        <p:spPr>
          <a:xfrm>
            <a:off x="822960" y="1938528"/>
            <a:ext cx="502920" cy="502920"/>
          </a:xfrm>
          <a:prstGeom prst="ellipse">
            <a:avLst/>
          </a:prstGeom>
          <a:solidFill>
            <a:srgbClr val="B3282D"/>
          </a:solidFill>
          <a:ln/>
        </p:spPr>
      </p:sp>
      <p:sp>
        <p:nvSpPr>
          <p:cNvPr id="6" name="Text 4"/>
          <p:cNvSpPr/>
          <p:nvPr/>
        </p:nvSpPr>
        <p:spPr>
          <a:xfrm>
            <a:off x="822960" y="193852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22960" y="2606040"/>
            <a:ext cx="2999232" cy="621792"/>
          </a:xfrm>
          <a:prstGeom prst="rect">
            <a:avLst/>
          </a:prstGeom>
          <a:noFill/>
          <a:ln/>
        </p:spPr>
        <p:txBody>
          <a:bodyPr wrap="square" lIns="0" tIns="0" rIns="0" bIns="0" rtlCol="0" anchor="ctr"/>
          <a:lstStyle/>
          <a:p>
            <a:pPr indent="0" marL="0">
              <a:buNone/>
            </a:pPr>
            <a:r>
              <a:rPr lang="en-US" sz="1900" b="1" dirty="0">
                <a:solidFill>
                  <a:srgbClr val="16232E"/>
                </a:solidFill>
                <a:latin typeface="Cambria" pitchFamily="34" charset="0"/>
                <a:ea typeface="Cambria" pitchFamily="34" charset="-122"/>
                <a:cs typeface="Cambria" pitchFamily="34" charset="-120"/>
              </a:rPr>
              <a:t>Establish SMS policy</a:t>
            </a:r>
            <a:endParaRPr lang="en-US" sz="1900" dirty="0"/>
          </a:p>
        </p:txBody>
      </p:sp>
      <p:sp>
        <p:nvSpPr>
          <p:cNvPr id="8" name="Text 6"/>
          <p:cNvSpPr/>
          <p:nvPr/>
        </p:nvSpPr>
        <p:spPr>
          <a:xfrm>
            <a:off x="822960" y="3291840"/>
            <a:ext cx="2999232" cy="1600200"/>
          </a:xfrm>
          <a:prstGeom prst="rect">
            <a:avLst/>
          </a:prstGeom>
          <a:noFill/>
          <a:ln/>
        </p:spPr>
        <p:txBody>
          <a:bodyPr wrap="square" lIns="0" tIns="0" rIns="0" bIns="0" rtlCol="0" anchor="ctr"/>
          <a:lstStyle/>
          <a:p>
            <a:pPr indent="0" marL="0">
              <a:buNone/>
            </a:pPr>
            <a:r>
              <a:rPr lang="en-US" sz="1250" dirty="0">
                <a:solidFill>
                  <a:srgbClr val="5C6E7D"/>
                </a:solidFill>
                <a:latin typeface="Calibri" pitchFamily="34" charset="0"/>
                <a:ea typeface="Calibri" pitchFamily="34" charset="-122"/>
                <a:cs typeface="Calibri" pitchFamily="34" charset="-120"/>
              </a:rPr>
              <a:t>State as SMS policy that the requirements underlying the sixty barriers, or documented equivalent controls, shall be performed on all safety-significant products regardless of contract flow-down.</a:t>
            </a:r>
            <a:endParaRPr lang="en-US" sz="1250" dirty="0"/>
          </a:p>
        </p:txBody>
      </p:sp>
      <p:sp>
        <p:nvSpPr>
          <p:cNvPr id="9" name="Shape 7"/>
          <p:cNvSpPr/>
          <p:nvPr/>
        </p:nvSpPr>
        <p:spPr>
          <a:xfrm>
            <a:off x="4306824" y="1691640"/>
            <a:ext cx="3520440" cy="3383280"/>
          </a:xfrm>
          <a:prstGeom prst="roundRect">
            <a:avLst>
              <a:gd name="adj" fmla="val 1622"/>
            </a:avLst>
          </a:prstGeom>
          <a:solidFill>
            <a:srgbClr val="FFFFFF"/>
          </a:solidFill>
          <a:ln w="9525">
            <a:solidFill>
              <a:srgbClr val="D6DEE6"/>
            </a:solidFill>
            <a:prstDash val="solid"/>
          </a:ln>
        </p:spPr>
      </p:sp>
      <p:sp>
        <p:nvSpPr>
          <p:cNvPr id="10" name="Shape 8"/>
          <p:cNvSpPr/>
          <p:nvPr/>
        </p:nvSpPr>
        <p:spPr>
          <a:xfrm>
            <a:off x="4581144" y="1938528"/>
            <a:ext cx="502920" cy="502920"/>
          </a:xfrm>
          <a:prstGeom prst="ellipse">
            <a:avLst/>
          </a:prstGeom>
          <a:solidFill>
            <a:srgbClr val="B3282D"/>
          </a:solidFill>
          <a:ln/>
        </p:spPr>
      </p:sp>
      <p:sp>
        <p:nvSpPr>
          <p:cNvPr id="11" name="Text 9"/>
          <p:cNvSpPr/>
          <p:nvPr/>
        </p:nvSpPr>
        <p:spPr>
          <a:xfrm>
            <a:off x="4581144" y="193852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581144" y="2606040"/>
            <a:ext cx="2999232" cy="621792"/>
          </a:xfrm>
          <a:prstGeom prst="rect">
            <a:avLst/>
          </a:prstGeom>
          <a:noFill/>
          <a:ln/>
        </p:spPr>
        <p:txBody>
          <a:bodyPr wrap="square" lIns="0" tIns="0" rIns="0" bIns="0" rtlCol="0" anchor="ctr"/>
          <a:lstStyle/>
          <a:p>
            <a:pPr indent="0" marL="0">
              <a:buNone/>
            </a:pPr>
            <a:r>
              <a:rPr lang="en-US" sz="1900" b="1" dirty="0">
                <a:solidFill>
                  <a:srgbClr val="16232E"/>
                </a:solidFill>
                <a:latin typeface="Cambria" pitchFamily="34" charset="0"/>
                <a:ea typeface="Cambria" pitchFamily="34" charset="-122"/>
                <a:cs typeface="Cambria" pitchFamily="34" charset="-120"/>
              </a:rPr>
              <a:t>Route exceptions correctly</a:t>
            </a:r>
            <a:endParaRPr lang="en-US" sz="1900" dirty="0"/>
          </a:p>
        </p:txBody>
      </p:sp>
      <p:sp>
        <p:nvSpPr>
          <p:cNvPr id="13" name="Text 11"/>
          <p:cNvSpPr/>
          <p:nvPr/>
        </p:nvSpPr>
        <p:spPr>
          <a:xfrm>
            <a:off x="4581144" y="3291840"/>
            <a:ext cx="2999232" cy="1600200"/>
          </a:xfrm>
          <a:prstGeom prst="rect">
            <a:avLst/>
          </a:prstGeom>
          <a:noFill/>
          <a:ln/>
        </p:spPr>
        <p:txBody>
          <a:bodyPr wrap="square" lIns="0" tIns="0" rIns="0" bIns="0" rtlCol="0" anchor="ctr"/>
          <a:lstStyle/>
          <a:p>
            <a:pPr indent="0" marL="0">
              <a:buNone/>
            </a:pPr>
            <a:r>
              <a:rPr lang="en-US" sz="1250" dirty="0">
                <a:solidFill>
                  <a:srgbClr val="5C6E7D"/>
                </a:solidFill>
                <a:latin typeface="Calibri" pitchFamily="34" charset="0"/>
                <a:ea typeface="Calibri" pitchFamily="34" charset="-122"/>
                <a:cs typeface="Calibri" pitchFamily="34" charset="-120"/>
              </a:rPr>
              <a:t>Where a program believes a barrier requirement is not warranted, route the determination through the SMS risk-acceptance process rather than the engineering tailoring process. Output is a signed risk-acceptance memo at the Severity 4 to 5 authority level.</a:t>
            </a:r>
            <a:endParaRPr lang="en-US" sz="1250" dirty="0"/>
          </a:p>
        </p:txBody>
      </p:sp>
      <p:sp>
        <p:nvSpPr>
          <p:cNvPr id="14" name="Shape 12"/>
          <p:cNvSpPr/>
          <p:nvPr/>
        </p:nvSpPr>
        <p:spPr>
          <a:xfrm>
            <a:off x="8065008" y="1691640"/>
            <a:ext cx="3520440" cy="3383280"/>
          </a:xfrm>
          <a:prstGeom prst="roundRect">
            <a:avLst>
              <a:gd name="adj" fmla="val 1622"/>
            </a:avLst>
          </a:prstGeom>
          <a:solidFill>
            <a:srgbClr val="FFFFFF"/>
          </a:solidFill>
          <a:ln w="9525">
            <a:solidFill>
              <a:srgbClr val="D6DEE6"/>
            </a:solidFill>
            <a:prstDash val="solid"/>
          </a:ln>
        </p:spPr>
      </p:sp>
      <p:sp>
        <p:nvSpPr>
          <p:cNvPr id="15" name="Shape 13"/>
          <p:cNvSpPr/>
          <p:nvPr/>
        </p:nvSpPr>
        <p:spPr>
          <a:xfrm>
            <a:off x="8339328" y="1938528"/>
            <a:ext cx="502920" cy="502920"/>
          </a:xfrm>
          <a:prstGeom prst="ellipse">
            <a:avLst/>
          </a:prstGeom>
          <a:solidFill>
            <a:srgbClr val="B3282D"/>
          </a:solidFill>
          <a:ln/>
        </p:spPr>
      </p:sp>
      <p:sp>
        <p:nvSpPr>
          <p:cNvPr id="16" name="Text 14"/>
          <p:cNvSpPr/>
          <p:nvPr/>
        </p:nvSpPr>
        <p:spPr>
          <a:xfrm>
            <a:off x="8339328" y="193852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339328" y="2606040"/>
            <a:ext cx="2999232" cy="621792"/>
          </a:xfrm>
          <a:prstGeom prst="rect">
            <a:avLst/>
          </a:prstGeom>
          <a:noFill/>
          <a:ln/>
        </p:spPr>
        <p:txBody>
          <a:bodyPr wrap="square" lIns="0" tIns="0" rIns="0" bIns="0" rtlCol="0" anchor="ctr"/>
          <a:lstStyle/>
          <a:p>
            <a:pPr indent="0" marL="0">
              <a:buNone/>
            </a:pPr>
            <a:r>
              <a:rPr lang="en-US" sz="1900" b="1" dirty="0">
                <a:solidFill>
                  <a:srgbClr val="16232E"/>
                </a:solidFill>
                <a:latin typeface="Cambria" pitchFamily="34" charset="0"/>
                <a:ea typeface="Cambria" pitchFamily="34" charset="-122"/>
                <a:cs typeface="Cambria" pitchFamily="34" charset="-120"/>
              </a:rPr>
              <a:t>Document equivalent controls</a:t>
            </a:r>
            <a:endParaRPr lang="en-US" sz="1900" dirty="0"/>
          </a:p>
        </p:txBody>
      </p:sp>
      <p:sp>
        <p:nvSpPr>
          <p:cNvPr id="18" name="Text 16"/>
          <p:cNvSpPr/>
          <p:nvPr/>
        </p:nvSpPr>
        <p:spPr>
          <a:xfrm>
            <a:off x="8339328" y="3291840"/>
            <a:ext cx="2999232" cy="1600200"/>
          </a:xfrm>
          <a:prstGeom prst="rect">
            <a:avLst/>
          </a:prstGeom>
          <a:noFill/>
          <a:ln/>
        </p:spPr>
        <p:txBody>
          <a:bodyPr wrap="square" lIns="0" tIns="0" rIns="0" bIns="0" rtlCol="0" anchor="ctr"/>
          <a:lstStyle/>
          <a:p>
            <a:pPr indent="0" marL="0">
              <a:buNone/>
            </a:pPr>
            <a:r>
              <a:rPr lang="en-US" sz="1250" dirty="0">
                <a:solidFill>
                  <a:srgbClr val="5C6E7D"/>
                </a:solidFill>
                <a:latin typeface="Calibri" pitchFamily="34" charset="0"/>
                <a:ea typeface="Calibri" pitchFamily="34" charset="-122"/>
                <a:cs typeface="Calibri" pitchFamily="34" charset="-120"/>
              </a:rPr>
              <a:t>Where a barrier is satisfied by an alternative process, record which alternative satisfies which SM-0001 hazard, with what evidence. This protects SMS conformance posture and engineering credibility at audit.</a:t>
            </a:r>
            <a:endParaRPr lang="en-US" sz="1250" dirty="0"/>
          </a:p>
        </p:txBody>
      </p:sp>
      <p:sp>
        <p:nvSpPr>
          <p:cNvPr id="19" name="Shape 17"/>
          <p:cNvSpPr/>
          <p:nvPr/>
        </p:nvSpPr>
        <p:spPr>
          <a:xfrm>
            <a:off x="548640" y="5230368"/>
            <a:ext cx="11091672" cy="841248"/>
          </a:xfrm>
          <a:prstGeom prst="roundRect">
            <a:avLst>
              <a:gd name="adj" fmla="val 6522"/>
            </a:avLst>
          </a:prstGeom>
          <a:solidFill>
            <a:srgbClr val="1E3A54"/>
          </a:solidFill>
          <a:ln/>
        </p:spPr>
      </p:sp>
      <p:sp>
        <p:nvSpPr>
          <p:cNvPr id="20" name="Text 18"/>
          <p:cNvSpPr/>
          <p:nvPr/>
        </p:nvSpPr>
        <p:spPr>
          <a:xfrm>
            <a:off x="868680" y="5358384"/>
            <a:ext cx="10469880" cy="60350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ask is structural, not adversarial. It does not require a single additional engineering activity to be performed. It requires that the decision not to perform one be made by the person authorized to make it.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16232E"/>
                </a:solidFill>
                <a:latin typeface="Cambria" pitchFamily="34" charset="0"/>
                <a:ea typeface="Cambria" pitchFamily="34" charset="-122"/>
                <a:cs typeface="Cambria" pitchFamily="34" charset="-120"/>
              </a:rPr>
              <a:t>Anticipated Objections, and the Responses</a:t>
            </a:r>
            <a:endParaRPr lang="en-US" sz="3400" dirty="0"/>
          </a:p>
        </p:txBody>
      </p:sp>
      <p:sp>
        <p:nvSpPr>
          <p:cNvPr id="3" name="Text 1"/>
          <p:cNvSpPr/>
          <p:nvPr/>
        </p:nvSpPr>
        <p:spPr>
          <a:xfrm>
            <a:off x="566928" y="1005840"/>
            <a:ext cx="11064240" cy="310896"/>
          </a:xfrm>
          <a:prstGeom prst="rect">
            <a:avLst/>
          </a:prstGeom>
          <a:noFill/>
          <a:ln/>
        </p:spPr>
        <p:txBody>
          <a:bodyPr wrap="square" lIns="0" tIns="0" rIns="0" bIns="0" rtlCol="0" anchor="ctr"/>
          <a:lstStyle/>
          <a:p>
            <a:pPr indent="0" marL="0">
              <a:buNone/>
            </a:pPr>
            <a:r>
              <a:rPr lang="en-US" sz="1350" i="1" dirty="0">
                <a:solidFill>
                  <a:srgbClr val="5C6E7D"/>
                </a:solidFill>
                <a:latin typeface="Calibri" pitchFamily="34" charset="0"/>
                <a:ea typeface="Calibri" pitchFamily="34" charset="-122"/>
                <a:cs typeface="Calibri" pitchFamily="34" charset="-120"/>
              </a:rPr>
              <a:t>Removing the off-ramps before they are taken</a:t>
            </a:r>
            <a:endParaRPr lang="en-US" sz="1350" dirty="0"/>
          </a:p>
        </p:txBody>
      </p:sp>
      <p:sp>
        <p:nvSpPr>
          <p:cNvPr id="4" name="Shape 2"/>
          <p:cNvSpPr/>
          <p:nvPr/>
        </p:nvSpPr>
        <p:spPr>
          <a:xfrm>
            <a:off x="548640" y="1572768"/>
            <a:ext cx="5440680" cy="1243584"/>
          </a:xfrm>
          <a:prstGeom prst="roundRect">
            <a:avLst>
              <a:gd name="adj" fmla="val 4412"/>
            </a:avLst>
          </a:prstGeom>
          <a:solidFill>
            <a:srgbClr val="FFFFFF"/>
          </a:solidFill>
          <a:ln w="9525">
            <a:solidFill>
              <a:srgbClr val="D6DEE6"/>
            </a:solidFill>
            <a:prstDash val="solid"/>
          </a:ln>
        </p:spPr>
      </p:sp>
      <p:sp>
        <p:nvSpPr>
          <p:cNvPr id="5" name="Text 3"/>
          <p:cNvSpPr/>
          <p:nvPr/>
        </p:nvSpPr>
        <p:spPr>
          <a:xfrm>
            <a:off x="804672" y="1700784"/>
            <a:ext cx="4937760" cy="329184"/>
          </a:xfrm>
          <a:prstGeom prst="rect">
            <a:avLst/>
          </a:prstGeom>
          <a:noFill/>
          <a:ln/>
        </p:spPr>
        <p:txBody>
          <a:bodyPr wrap="square" lIns="0" tIns="0" rIns="0" bIns="0" rtlCol="0" anchor="ctr"/>
          <a:lstStyle/>
          <a:p>
            <a:pPr indent="0" marL="0">
              <a:buNone/>
            </a:pPr>
            <a:r>
              <a:rPr lang="en-US" sz="1350" b="1" dirty="0">
                <a:solidFill>
                  <a:srgbClr val="B3282D"/>
                </a:solidFill>
                <a:latin typeface="Calibri" pitchFamily="34" charset="0"/>
                <a:ea typeface="Calibri" pitchFamily="34" charset="-122"/>
                <a:cs typeface="Calibri" pitchFamily="34" charset="-120"/>
              </a:rPr>
              <a:t>“The contract does not require it.”</a:t>
            </a:r>
            <a:endParaRPr lang="en-US" sz="1350" dirty="0"/>
          </a:p>
        </p:txBody>
      </p:sp>
      <p:sp>
        <p:nvSpPr>
          <p:cNvPr id="6" name="Text 4"/>
          <p:cNvSpPr/>
          <p:nvPr/>
        </p:nvSpPr>
        <p:spPr>
          <a:xfrm>
            <a:off x="804672" y="2066544"/>
            <a:ext cx="4937760" cy="640080"/>
          </a:xfrm>
          <a:prstGeom prst="rect">
            <a:avLst/>
          </a:prstGeom>
          <a:noFill/>
          <a:ln/>
        </p:spPr>
        <p:txBody>
          <a:bodyPr wrap="square" lIns="0" tIns="0" rIns="0" bIns="0" rtlCol="0" anchor="ctr"/>
          <a:lstStyle/>
          <a:p>
            <a:pPr indent="0" marL="0">
              <a:buNone/>
            </a:pPr>
            <a:r>
              <a:rPr lang="en-US" sz="1200" dirty="0">
                <a:solidFill>
                  <a:srgbClr val="16232E"/>
                </a:solidFill>
                <a:latin typeface="Calibri" pitchFamily="34" charset="0"/>
                <a:ea typeface="Calibri" pitchFamily="34" charset="-122"/>
                <a:cs typeface="Calibri" pitchFamily="34" charset="-120"/>
              </a:rPr>
              <a:t>True and irrelevant. The SMS binds the organization independently, and MIL-STD-882E 4.2.2.2 requires the discipline to obtain its own risk acceptance either way.</a:t>
            </a:r>
            <a:endParaRPr lang="en-US" sz="1200" dirty="0"/>
          </a:p>
        </p:txBody>
      </p:sp>
      <p:sp>
        <p:nvSpPr>
          <p:cNvPr id="7" name="Shape 5"/>
          <p:cNvSpPr/>
          <p:nvPr/>
        </p:nvSpPr>
        <p:spPr>
          <a:xfrm>
            <a:off x="6199632" y="1572768"/>
            <a:ext cx="5440680" cy="1243584"/>
          </a:xfrm>
          <a:prstGeom prst="roundRect">
            <a:avLst>
              <a:gd name="adj" fmla="val 4412"/>
            </a:avLst>
          </a:prstGeom>
          <a:solidFill>
            <a:srgbClr val="FFFFFF"/>
          </a:solidFill>
          <a:ln w="9525">
            <a:solidFill>
              <a:srgbClr val="D6DEE6"/>
            </a:solidFill>
            <a:prstDash val="solid"/>
          </a:ln>
        </p:spPr>
      </p:sp>
      <p:sp>
        <p:nvSpPr>
          <p:cNvPr id="8" name="Text 6"/>
          <p:cNvSpPr/>
          <p:nvPr/>
        </p:nvSpPr>
        <p:spPr>
          <a:xfrm>
            <a:off x="6455664" y="1700784"/>
            <a:ext cx="4937760" cy="329184"/>
          </a:xfrm>
          <a:prstGeom prst="rect">
            <a:avLst/>
          </a:prstGeom>
          <a:noFill/>
          <a:ln/>
        </p:spPr>
        <p:txBody>
          <a:bodyPr wrap="square" lIns="0" tIns="0" rIns="0" bIns="0" rtlCol="0" anchor="ctr"/>
          <a:lstStyle/>
          <a:p>
            <a:pPr indent="0" marL="0">
              <a:buNone/>
            </a:pPr>
            <a:r>
              <a:rPr lang="en-US" sz="1350" b="1" dirty="0">
                <a:solidFill>
                  <a:srgbClr val="B3282D"/>
                </a:solidFill>
                <a:latin typeface="Calibri" pitchFamily="34" charset="0"/>
                <a:ea typeface="Calibri" pitchFamily="34" charset="-122"/>
                <a:cs typeface="Calibri" pitchFamily="34" charset="-120"/>
              </a:rPr>
              <a:t>“Safety owns hazard management, not us.”</a:t>
            </a:r>
            <a:endParaRPr lang="en-US" sz="1350" dirty="0"/>
          </a:p>
        </p:txBody>
      </p:sp>
      <p:sp>
        <p:nvSpPr>
          <p:cNvPr id="9" name="Text 7"/>
          <p:cNvSpPr/>
          <p:nvPr/>
        </p:nvSpPr>
        <p:spPr>
          <a:xfrm>
            <a:off x="6455664" y="2066544"/>
            <a:ext cx="4937760" cy="640080"/>
          </a:xfrm>
          <a:prstGeom prst="rect">
            <a:avLst/>
          </a:prstGeom>
          <a:noFill/>
          <a:ln/>
        </p:spPr>
        <p:txBody>
          <a:bodyPr wrap="square" lIns="0" tIns="0" rIns="0" bIns="0" rtlCol="0" anchor="ctr"/>
          <a:lstStyle/>
          <a:p>
            <a:pPr indent="0" marL="0">
              <a:buNone/>
            </a:pPr>
            <a:r>
              <a:rPr lang="en-US" sz="1200" dirty="0">
                <a:solidFill>
                  <a:srgbClr val="16232E"/>
                </a:solidFill>
                <a:latin typeface="Calibri" pitchFamily="34" charset="0"/>
                <a:ea typeface="Calibri" pitchFamily="34" charset="-122"/>
                <a:cs typeface="Calibri" pitchFamily="34" charset="-120"/>
              </a:rPr>
              <a:t>MIL-STD-882E 4.2.2 says the opposite in terms. System safety personnel are not responsible for hazard management in other engineering disciplines.</a:t>
            </a:r>
            <a:endParaRPr lang="en-US" sz="1200" dirty="0"/>
          </a:p>
        </p:txBody>
      </p:sp>
      <p:sp>
        <p:nvSpPr>
          <p:cNvPr id="10" name="Shape 8"/>
          <p:cNvSpPr/>
          <p:nvPr/>
        </p:nvSpPr>
        <p:spPr>
          <a:xfrm>
            <a:off x="548640" y="2962656"/>
            <a:ext cx="5440680" cy="1243584"/>
          </a:xfrm>
          <a:prstGeom prst="roundRect">
            <a:avLst>
              <a:gd name="adj" fmla="val 4412"/>
            </a:avLst>
          </a:prstGeom>
          <a:solidFill>
            <a:srgbClr val="FFFFFF"/>
          </a:solidFill>
          <a:ln w="9525">
            <a:solidFill>
              <a:srgbClr val="D6DEE6"/>
            </a:solidFill>
            <a:prstDash val="solid"/>
          </a:ln>
        </p:spPr>
      </p:sp>
      <p:sp>
        <p:nvSpPr>
          <p:cNvPr id="11" name="Text 9"/>
          <p:cNvSpPr/>
          <p:nvPr/>
        </p:nvSpPr>
        <p:spPr>
          <a:xfrm>
            <a:off x="804672" y="3090672"/>
            <a:ext cx="4937760" cy="329184"/>
          </a:xfrm>
          <a:prstGeom prst="rect">
            <a:avLst/>
          </a:prstGeom>
          <a:noFill/>
          <a:ln/>
        </p:spPr>
        <p:txBody>
          <a:bodyPr wrap="square" lIns="0" tIns="0" rIns="0" bIns="0" rtlCol="0" anchor="ctr"/>
          <a:lstStyle/>
          <a:p>
            <a:pPr indent="0" marL="0">
              <a:buNone/>
            </a:pPr>
            <a:r>
              <a:rPr lang="en-US" sz="1350" b="1" dirty="0">
                <a:solidFill>
                  <a:srgbClr val="B3282D"/>
                </a:solidFill>
                <a:latin typeface="Calibri" pitchFamily="34" charset="0"/>
                <a:ea typeface="Calibri" pitchFamily="34" charset="-122"/>
                <a:cs typeface="Calibri" pitchFamily="34" charset="-120"/>
              </a:rPr>
              <a:t>“Reliability is a performance requirement, not a safety one.”</a:t>
            </a:r>
            <a:endParaRPr lang="en-US" sz="1350" dirty="0"/>
          </a:p>
        </p:txBody>
      </p:sp>
      <p:sp>
        <p:nvSpPr>
          <p:cNvPr id="12" name="Text 10"/>
          <p:cNvSpPr/>
          <p:nvPr/>
        </p:nvSpPr>
        <p:spPr>
          <a:xfrm>
            <a:off x="804672" y="3456432"/>
            <a:ext cx="4937760" cy="640080"/>
          </a:xfrm>
          <a:prstGeom prst="rect">
            <a:avLst/>
          </a:prstGeom>
          <a:noFill/>
          <a:ln/>
        </p:spPr>
        <p:txBody>
          <a:bodyPr wrap="square" lIns="0" tIns="0" rIns="0" bIns="0" rtlCol="0" anchor="ctr"/>
          <a:lstStyle/>
          <a:p>
            <a:pPr indent="0" marL="0">
              <a:buNone/>
            </a:pPr>
            <a:r>
              <a:rPr lang="en-US" sz="1200" dirty="0">
                <a:solidFill>
                  <a:srgbClr val="16232E"/>
                </a:solidFill>
                <a:latin typeface="Calibri" pitchFamily="34" charset="0"/>
                <a:ea typeface="Calibri" pitchFamily="34" charset="-122"/>
                <a:cs typeface="Calibri" pitchFamily="34" charset="-120"/>
              </a:rPr>
              <a:t>It is both. Alaska 261, Turøy and Cougar 91 were reliability failures with catastrophic outcomes. The discipline that owns the failure mode owns the barrier.</a:t>
            </a:r>
            <a:endParaRPr lang="en-US" sz="1200" dirty="0"/>
          </a:p>
        </p:txBody>
      </p:sp>
      <p:sp>
        <p:nvSpPr>
          <p:cNvPr id="13" name="Shape 11"/>
          <p:cNvSpPr/>
          <p:nvPr/>
        </p:nvSpPr>
        <p:spPr>
          <a:xfrm>
            <a:off x="6199632" y="2962656"/>
            <a:ext cx="5440680" cy="1243584"/>
          </a:xfrm>
          <a:prstGeom prst="roundRect">
            <a:avLst>
              <a:gd name="adj" fmla="val 4412"/>
            </a:avLst>
          </a:prstGeom>
          <a:solidFill>
            <a:srgbClr val="FFFFFF"/>
          </a:solidFill>
          <a:ln w="9525">
            <a:solidFill>
              <a:srgbClr val="D6DEE6"/>
            </a:solidFill>
            <a:prstDash val="solid"/>
          </a:ln>
        </p:spPr>
      </p:sp>
      <p:sp>
        <p:nvSpPr>
          <p:cNvPr id="14" name="Text 12"/>
          <p:cNvSpPr/>
          <p:nvPr/>
        </p:nvSpPr>
        <p:spPr>
          <a:xfrm>
            <a:off x="6455664" y="3090672"/>
            <a:ext cx="4937760" cy="329184"/>
          </a:xfrm>
          <a:prstGeom prst="rect">
            <a:avLst/>
          </a:prstGeom>
          <a:noFill/>
          <a:ln/>
        </p:spPr>
        <p:txBody>
          <a:bodyPr wrap="square" lIns="0" tIns="0" rIns="0" bIns="0" rtlCol="0" anchor="ctr"/>
          <a:lstStyle/>
          <a:p>
            <a:pPr indent="0" marL="0">
              <a:buNone/>
            </a:pPr>
            <a:r>
              <a:rPr lang="en-US" sz="1350" b="1" dirty="0">
                <a:solidFill>
                  <a:srgbClr val="B3282D"/>
                </a:solidFill>
                <a:latin typeface="Calibri" pitchFamily="34" charset="0"/>
                <a:ea typeface="Calibri" pitchFamily="34" charset="-122"/>
                <a:cs typeface="Calibri" pitchFamily="34" charset="-120"/>
              </a:rPr>
              <a:t>“We will just do something equivalent.”</a:t>
            </a:r>
            <a:endParaRPr lang="en-US" sz="1350" dirty="0"/>
          </a:p>
        </p:txBody>
      </p:sp>
      <p:sp>
        <p:nvSpPr>
          <p:cNvPr id="15" name="Text 13"/>
          <p:cNvSpPr/>
          <p:nvPr/>
        </p:nvSpPr>
        <p:spPr>
          <a:xfrm>
            <a:off x="6455664" y="3456432"/>
            <a:ext cx="4937760" cy="640080"/>
          </a:xfrm>
          <a:prstGeom prst="rect">
            <a:avLst/>
          </a:prstGeom>
          <a:noFill/>
          <a:ln/>
        </p:spPr>
        <p:txBody>
          <a:bodyPr wrap="square" lIns="0" tIns="0" rIns="0" bIns="0" rtlCol="0" anchor="ctr"/>
          <a:lstStyle/>
          <a:p>
            <a:pPr indent="0" marL="0">
              <a:buNone/>
            </a:pPr>
            <a:r>
              <a:rPr lang="en-US" sz="1200" dirty="0">
                <a:solidFill>
                  <a:srgbClr val="16232E"/>
                </a:solidFill>
                <a:latin typeface="Calibri" pitchFamily="34" charset="0"/>
                <a:ea typeface="Calibri" pitchFamily="34" charset="-122"/>
                <a:cs typeface="Calibri" pitchFamily="34" charset="-120"/>
              </a:rPr>
              <a:t>Acceptable. Document the equivalence as an SMS record, naming which alternative satisfies which hazard with what evidence. If you cannot, it is not equivalent.</a:t>
            </a:r>
            <a:endParaRPr lang="en-US" sz="1200" dirty="0"/>
          </a:p>
        </p:txBody>
      </p:sp>
      <p:sp>
        <p:nvSpPr>
          <p:cNvPr id="16" name="Shape 14"/>
          <p:cNvSpPr/>
          <p:nvPr/>
        </p:nvSpPr>
        <p:spPr>
          <a:xfrm>
            <a:off x="548640" y="4352544"/>
            <a:ext cx="5440680" cy="1243584"/>
          </a:xfrm>
          <a:prstGeom prst="roundRect">
            <a:avLst>
              <a:gd name="adj" fmla="val 4412"/>
            </a:avLst>
          </a:prstGeom>
          <a:solidFill>
            <a:srgbClr val="FFFFFF"/>
          </a:solidFill>
          <a:ln w="9525">
            <a:solidFill>
              <a:srgbClr val="D6DEE6"/>
            </a:solidFill>
            <a:prstDash val="solid"/>
          </a:ln>
        </p:spPr>
      </p:sp>
      <p:sp>
        <p:nvSpPr>
          <p:cNvPr id="17" name="Text 15"/>
          <p:cNvSpPr/>
          <p:nvPr/>
        </p:nvSpPr>
        <p:spPr>
          <a:xfrm>
            <a:off x="804672" y="4480560"/>
            <a:ext cx="4937760" cy="329184"/>
          </a:xfrm>
          <a:prstGeom prst="rect">
            <a:avLst/>
          </a:prstGeom>
          <a:noFill/>
          <a:ln/>
        </p:spPr>
        <p:txBody>
          <a:bodyPr wrap="square" lIns="0" tIns="0" rIns="0" bIns="0" rtlCol="0" anchor="ctr"/>
          <a:lstStyle/>
          <a:p>
            <a:pPr indent="0" marL="0">
              <a:buNone/>
            </a:pPr>
            <a:r>
              <a:rPr lang="en-US" sz="1350" b="1" dirty="0">
                <a:solidFill>
                  <a:srgbClr val="B3282D"/>
                </a:solidFill>
                <a:latin typeface="Calibri" pitchFamily="34" charset="0"/>
                <a:ea typeface="Calibri" pitchFamily="34" charset="-122"/>
                <a:cs typeface="Calibri" pitchFamily="34" charset="-120"/>
              </a:rPr>
              <a:t>“It is too expensive without contract reimbursement.”</a:t>
            </a:r>
            <a:endParaRPr lang="en-US" sz="1350" dirty="0"/>
          </a:p>
        </p:txBody>
      </p:sp>
      <p:sp>
        <p:nvSpPr>
          <p:cNvPr id="18" name="Text 16"/>
          <p:cNvSpPr/>
          <p:nvPr/>
        </p:nvSpPr>
        <p:spPr>
          <a:xfrm>
            <a:off x="804672" y="4846320"/>
            <a:ext cx="4937760" cy="640080"/>
          </a:xfrm>
          <a:prstGeom prst="rect">
            <a:avLst/>
          </a:prstGeom>
          <a:noFill/>
          <a:ln/>
        </p:spPr>
        <p:txBody>
          <a:bodyPr wrap="square" lIns="0" tIns="0" rIns="0" bIns="0" rtlCol="0" anchor="ctr"/>
          <a:lstStyle/>
          <a:p>
            <a:pPr indent="0" marL="0">
              <a:buNone/>
            </a:pPr>
            <a:r>
              <a:rPr lang="en-US" sz="1200" dirty="0">
                <a:solidFill>
                  <a:srgbClr val="16232E"/>
                </a:solidFill>
                <a:latin typeface="Calibri" pitchFamily="34" charset="0"/>
                <a:ea typeface="Calibri" pitchFamily="34" charset="-122"/>
                <a:cs typeface="Calibri" pitchFamily="34" charset="-120"/>
              </a:rPr>
              <a:t>Then route the cost against risk trade to the authority empowered to accept Severity 4 to 5 risk. Cost is a legitimate input. It does not change the altitude.</a:t>
            </a:r>
            <a:endParaRPr lang="en-US" sz="1200" dirty="0"/>
          </a:p>
        </p:txBody>
      </p:sp>
      <p:sp>
        <p:nvSpPr>
          <p:cNvPr id="19" name="Shape 17"/>
          <p:cNvSpPr/>
          <p:nvPr/>
        </p:nvSpPr>
        <p:spPr>
          <a:xfrm>
            <a:off x="6199632" y="4352544"/>
            <a:ext cx="5440680" cy="1243584"/>
          </a:xfrm>
          <a:prstGeom prst="roundRect">
            <a:avLst>
              <a:gd name="adj" fmla="val 4412"/>
            </a:avLst>
          </a:prstGeom>
          <a:solidFill>
            <a:srgbClr val="FFFFFF"/>
          </a:solidFill>
          <a:ln w="9525">
            <a:solidFill>
              <a:srgbClr val="D6DEE6"/>
            </a:solidFill>
            <a:prstDash val="solid"/>
          </a:ln>
        </p:spPr>
      </p:sp>
      <p:sp>
        <p:nvSpPr>
          <p:cNvPr id="20" name="Text 18"/>
          <p:cNvSpPr/>
          <p:nvPr/>
        </p:nvSpPr>
        <p:spPr>
          <a:xfrm>
            <a:off x="6455664" y="4480560"/>
            <a:ext cx="4937760" cy="329184"/>
          </a:xfrm>
          <a:prstGeom prst="rect">
            <a:avLst/>
          </a:prstGeom>
          <a:noFill/>
          <a:ln/>
        </p:spPr>
        <p:txBody>
          <a:bodyPr wrap="square" lIns="0" tIns="0" rIns="0" bIns="0" rtlCol="0" anchor="ctr"/>
          <a:lstStyle/>
          <a:p>
            <a:pPr indent="0" marL="0">
              <a:buNone/>
            </a:pPr>
            <a:r>
              <a:rPr lang="en-US" sz="1350" b="1" dirty="0">
                <a:solidFill>
                  <a:srgbClr val="B3282D"/>
                </a:solidFill>
                <a:latin typeface="Calibri" pitchFamily="34" charset="0"/>
                <a:ea typeface="Calibri" pitchFamily="34" charset="-122"/>
                <a:cs typeface="Calibri" pitchFamily="34" charset="-120"/>
              </a:rPr>
              <a:t>“We have never had an event because we omitted this.”</a:t>
            </a:r>
            <a:endParaRPr lang="en-US" sz="1350" dirty="0"/>
          </a:p>
        </p:txBody>
      </p:sp>
      <p:sp>
        <p:nvSpPr>
          <p:cNvPr id="21" name="Text 19"/>
          <p:cNvSpPr/>
          <p:nvPr/>
        </p:nvSpPr>
        <p:spPr>
          <a:xfrm>
            <a:off x="6455664" y="4846320"/>
            <a:ext cx="4937760" cy="640080"/>
          </a:xfrm>
          <a:prstGeom prst="rect">
            <a:avLst/>
          </a:prstGeom>
          <a:noFill/>
          <a:ln/>
        </p:spPr>
        <p:txBody>
          <a:bodyPr wrap="square" lIns="0" tIns="0" rIns="0" bIns="0" rtlCol="0" anchor="ctr"/>
          <a:lstStyle/>
          <a:p>
            <a:pPr indent="0" marL="0">
              <a:buNone/>
            </a:pPr>
            <a:r>
              <a:rPr lang="en-US" sz="1200" dirty="0">
                <a:solidFill>
                  <a:srgbClr val="16232E"/>
                </a:solidFill>
                <a:latin typeface="Calibri" pitchFamily="34" charset="0"/>
                <a:ea typeface="Calibri" pitchFamily="34" charset="-122"/>
                <a:cs typeface="Calibri" pitchFamily="34" charset="-120"/>
              </a:rPr>
              <a:t>Survivorship bias. Every cited case is an organization that made the same judgement and outlived it for a while.</a:t>
            </a:r>
            <a:endParaRPr lang="en-US" sz="1200" dirty="0"/>
          </a:p>
        </p:txBody>
      </p:sp>
      <p:sp>
        <p:nvSpPr>
          <p:cNvPr id="22" name="Text 20"/>
          <p:cNvSpPr/>
          <p:nvPr/>
        </p:nvSpPr>
        <p:spPr>
          <a:xfrm>
            <a:off x="548640" y="6016752"/>
            <a:ext cx="11064240" cy="50292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None of the standard rejoinders survives engagement with the actual framework. The ask remains.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F2E"/>
        </a:solidFill>
      </p:bgPr>
    </p:bg>
    <p:spTree>
      <p:nvGrpSpPr>
        <p:cNvPr id="1" name=""/>
        <p:cNvGrpSpPr/>
        <p:nvPr/>
      </p:nvGrpSpPr>
      <p:grpSpPr>
        <a:xfrm>
          <a:off x="0" y="0"/>
          <a:ext cx="0" cy="0"/>
          <a:chOff x="0" y="0"/>
          <a:chExt cx="0" cy="0"/>
        </a:xfrm>
      </p:grpSpPr>
      <p:sp>
        <p:nvSpPr>
          <p:cNvPr id="2" name="Text 0"/>
          <p:cNvSpPr/>
          <p:nvPr/>
        </p:nvSpPr>
        <p:spPr>
          <a:xfrm>
            <a:off x="548640" y="347472"/>
            <a:ext cx="1106424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Bottom Line</a:t>
            </a:r>
            <a:endParaRPr lang="en-US" sz="3400" dirty="0"/>
          </a:p>
        </p:txBody>
      </p:sp>
      <p:sp>
        <p:nvSpPr>
          <p:cNvPr id="3" name="Shape 1"/>
          <p:cNvSpPr/>
          <p:nvPr/>
        </p:nvSpPr>
        <p:spPr>
          <a:xfrm>
            <a:off x="566928" y="1444752"/>
            <a:ext cx="384048" cy="384048"/>
          </a:xfrm>
          <a:prstGeom prst="ellipse">
            <a:avLst/>
          </a:prstGeom>
          <a:solidFill>
            <a:srgbClr val="39586F"/>
          </a:solidFill>
          <a:ln/>
        </p:spPr>
      </p:sp>
      <p:sp>
        <p:nvSpPr>
          <p:cNvPr id="4" name="Text 2"/>
          <p:cNvSpPr/>
          <p:nvPr/>
        </p:nvSpPr>
        <p:spPr>
          <a:xfrm>
            <a:off x="566928" y="144475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5" name="Text 3"/>
          <p:cNvSpPr/>
          <p:nvPr/>
        </p:nvSpPr>
        <p:spPr>
          <a:xfrm>
            <a:off x="1143000" y="1371600"/>
            <a:ext cx="10515600" cy="53035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engineering organization is narrowly correct that these standards are contractually invoked.</a:t>
            </a:r>
            <a:endParaRPr lang="en-US" sz="1350" dirty="0"/>
          </a:p>
        </p:txBody>
      </p:sp>
      <p:sp>
        <p:nvSpPr>
          <p:cNvPr id="6" name="Shape 4"/>
          <p:cNvSpPr/>
          <p:nvPr/>
        </p:nvSpPr>
        <p:spPr>
          <a:xfrm>
            <a:off x="566928" y="2093976"/>
            <a:ext cx="384048" cy="384048"/>
          </a:xfrm>
          <a:prstGeom prst="ellipse">
            <a:avLst/>
          </a:prstGeom>
          <a:solidFill>
            <a:srgbClr val="39586F"/>
          </a:solidFill>
          <a:ln/>
        </p:spPr>
      </p:sp>
      <p:sp>
        <p:nvSpPr>
          <p:cNvPr id="7" name="Text 5"/>
          <p:cNvSpPr/>
          <p:nvPr/>
        </p:nvSpPr>
        <p:spPr>
          <a:xfrm>
            <a:off x="566928" y="20939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8" name="Text 6"/>
          <p:cNvSpPr/>
          <p:nvPr/>
        </p:nvSpPr>
        <p:spPr>
          <a:xfrm>
            <a:off x="1143000" y="2020824"/>
            <a:ext cx="10515600" cy="53035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But contractual silence is not SMS permission, and MIL-STD-882E 4.1.2 says tailoring can only add to the mandatory floor, never subtract from it.</a:t>
            </a:r>
            <a:endParaRPr lang="en-US" sz="1350" dirty="0"/>
          </a:p>
        </p:txBody>
      </p:sp>
      <p:sp>
        <p:nvSpPr>
          <p:cNvPr id="9" name="Shape 7"/>
          <p:cNvSpPr/>
          <p:nvPr/>
        </p:nvSpPr>
        <p:spPr>
          <a:xfrm>
            <a:off x="566928" y="2743200"/>
            <a:ext cx="384048" cy="384048"/>
          </a:xfrm>
          <a:prstGeom prst="ellipse">
            <a:avLst/>
          </a:prstGeom>
          <a:solidFill>
            <a:srgbClr val="39586F"/>
          </a:solidFill>
          <a:ln/>
        </p:spPr>
      </p:sp>
      <p:sp>
        <p:nvSpPr>
          <p:cNvPr id="10" name="Text 8"/>
          <p:cNvSpPr/>
          <p:nvPr/>
        </p:nvSpPr>
        <p:spPr>
          <a:xfrm>
            <a:off x="566928" y="274320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1" name="Text 9"/>
          <p:cNvSpPr/>
          <p:nvPr/>
        </p:nvSpPr>
        <p:spPr>
          <a:xfrm>
            <a:off x="1143000" y="2670048"/>
            <a:ext cx="10515600" cy="53035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Sixty barriers, each tied to a named SM-0001 hazard, sit in requirements across six standards. Twenty-three are obligated by more than one of them.</a:t>
            </a:r>
            <a:endParaRPr lang="en-US" sz="1350" dirty="0"/>
          </a:p>
        </p:txBody>
      </p:sp>
      <p:sp>
        <p:nvSpPr>
          <p:cNvPr id="12" name="Shape 10"/>
          <p:cNvSpPr/>
          <p:nvPr/>
        </p:nvSpPr>
        <p:spPr>
          <a:xfrm>
            <a:off x="566928" y="3392424"/>
            <a:ext cx="384048" cy="384048"/>
          </a:xfrm>
          <a:prstGeom prst="ellipse">
            <a:avLst/>
          </a:prstGeom>
          <a:solidFill>
            <a:srgbClr val="39586F"/>
          </a:solidFill>
          <a:ln/>
        </p:spPr>
      </p:sp>
      <p:sp>
        <p:nvSpPr>
          <p:cNvPr id="13" name="Text 11"/>
          <p:cNvSpPr/>
          <p:nvPr/>
        </p:nvSpPr>
        <p:spPr>
          <a:xfrm>
            <a:off x="566928" y="339242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4" name="Text 12"/>
          <p:cNvSpPr/>
          <p:nvPr/>
        </p:nvSpPr>
        <p:spPr>
          <a:xfrm>
            <a:off x="1143000" y="3319272"/>
            <a:ext cx="10515600" cy="53035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Roughly 1,900 documented fatalities across the cited events. The evidence is investigative-record grade, not theoretical.</a:t>
            </a:r>
            <a:endParaRPr lang="en-US" sz="1350" dirty="0"/>
          </a:p>
        </p:txBody>
      </p:sp>
      <p:sp>
        <p:nvSpPr>
          <p:cNvPr id="15" name="Shape 13"/>
          <p:cNvSpPr/>
          <p:nvPr/>
        </p:nvSpPr>
        <p:spPr>
          <a:xfrm>
            <a:off x="566928" y="4041648"/>
            <a:ext cx="384048" cy="384048"/>
          </a:xfrm>
          <a:prstGeom prst="ellipse">
            <a:avLst/>
          </a:prstGeom>
          <a:solidFill>
            <a:srgbClr val="39586F"/>
          </a:solidFill>
          <a:ln/>
        </p:spPr>
      </p:sp>
      <p:sp>
        <p:nvSpPr>
          <p:cNvPr id="16" name="Text 14"/>
          <p:cNvSpPr/>
          <p:nvPr/>
        </p:nvSpPr>
        <p:spPr>
          <a:xfrm>
            <a:off x="566928" y="404164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7" name="Text 15"/>
          <p:cNvSpPr/>
          <p:nvPr/>
        </p:nvSpPr>
        <p:spPr>
          <a:xfrm>
            <a:off x="1143000" y="3968496"/>
            <a:ext cx="10515600" cy="53035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Severity 4 to 5 risk-acceptance decisions are today being made at the wrong altitude, and MIL-STD-882E 4.2.2.2 places that obligation on the discipline itself.</a:t>
            </a:r>
            <a:endParaRPr lang="en-US" sz="1350" dirty="0"/>
          </a:p>
        </p:txBody>
      </p:sp>
      <p:sp>
        <p:nvSpPr>
          <p:cNvPr id="18" name="Shape 16"/>
          <p:cNvSpPr/>
          <p:nvPr/>
        </p:nvSpPr>
        <p:spPr>
          <a:xfrm>
            <a:off x="566928" y="4690872"/>
            <a:ext cx="384048" cy="384048"/>
          </a:xfrm>
          <a:prstGeom prst="ellipse">
            <a:avLst/>
          </a:prstGeom>
          <a:solidFill>
            <a:srgbClr val="39586F"/>
          </a:solidFill>
          <a:ln/>
        </p:spPr>
      </p:sp>
      <p:sp>
        <p:nvSpPr>
          <p:cNvPr id="19" name="Text 17"/>
          <p:cNvSpPr/>
          <p:nvPr/>
        </p:nvSpPr>
        <p:spPr>
          <a:xfrm>
            <a:off x="566928" y="469087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20" name="Text 18"/>
          <p:cNvSpPr/>
          <p:nvPr/>
        </p:nvSpPr>
        <p:spPr>
          <a:xfrm>
            <a:off x="1143000" y="4617720"/>
            <a:ext cx="10515600" cy="53035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SM-0001 6.2.2 and the organization's SMS command media specify who holds the authority. It is not engineering. It is not contracts.</a:t>
            </a:r>
            <a:endParaRPr lang="en-US" sz="1350" dirty="0"/>
          </a:p>
        </p:txBody>
      </p:sp>
      <p:sp>
        <p:nvSpPr>
          <p:cNvPr id="21" name="Shape 19"/>
          <p:cNvSpPr/>
          <p:nvPr/>
        </p:nvSpPr>
        <p:spPr>
          <a:xfrm>
            <a:off x="566928" y="5340096"/>
            <a:ext cx="384048" cy="384048"/>
          </a:xfrm>
          <a:prstGeom prst="ellipse">
            <a:avLst/>
          </a:prstGeom>
          <a:solidFill>
            <a:srgbClr val="B3282D"/>
          </a:solidFill>
          <a:ln/>
        </p:spPr>
      </p:sp>
      <p:sp>
        <p:nvSpPr>
          <p:cNvPr id="22" name="Text 20"/>
          <p:cNvSpPr/>
          <p:nvPr/>
        </p:nvSpPr>
        <p:spPr>
          <a:xfrm>
            <a:off x="566928" y="534009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23" name="Text 21"/>
          <p:cNvSpPr/>
          <p:nvPr/>
        </p:nvSpPr>
        <p:spPr>
          <a:xfrm>
            <a:off x="1143000" y="5266944"/>
            <a:ext cx="10515600" cy="53035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ask is structural. Establish SMS policy, route exceptions correctly, document equivalents.</a:t>
            </a:r>
            <a:endParaRPr lang="en-US" sz="1350" dirty="0"/>
          </a:p>
        </p:txBody>
      </p:sp>
      <p:sp>
        <p:nvSpPr>
          <p:cNvPr id="24" name="Shape 22"/>
          <p:cNvSpPr/>
          <p:nvPr/>
        </p:nvSpPr>
        <p:spPr>
          <a:xfrm>
            <a:off x="548640" y="5943600"/>
            <a:ext cx="11091672" cy="658368"/>
          </a:xfrm>
          <a:prstGeom prst="roundRect">
            <a:avLst>
              <a:gd name="adj" fmla="val 8333"/>
            </a:avLst>
          </a:prstGeom>
          <a:solidFill>
            <a:srgbClr val="B3282D"/>
          </a:solidFill>
          <a:ln/>
        </p:spPr>
      </p:sp>
      <p:sp>
        <p:nvSpPr>
          <p:cNvPr id="25" name="Text 23"/>
          <p:cNvSpPr/>
          <p:nvPr/>
        </p:nvSpPr>
        <p:spPr>
          <a:xfrm>
            <a:off x="868680" y="5943600"/>
            <a:ext cx="1046988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frame proposed here is more complete, more defensible, and more honest about the safety decisions actually being made.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2026-08-15T22:06:13Z</dcterms:created>
  <dcterms:modified xsi:type="dcterms:W3CDTF">2026-08-15T22:06:13Z</dcterms:modified>
</cp:coreProperties>
</file>