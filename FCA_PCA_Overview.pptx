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briefing on configuration audits for a general audience: engineering, program management, quality, manufacturing, and leadership. Companion to the configuration items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questions apart — nearly everything else follows from that. The bottom band is the point people miss: neither audit covers the other's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Consequence first. The three anchors map to three specific audit requirements. Close on the floor gate: silent omission is the failure the gate exists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answers the first question every audience asks: are we auditing everything? Both errors at the bottom come from treating one selection as if it were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does not end the assessment. Part C's single-factor rule matters: one factor is recorded so the second lands on top of a documented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not convention: the physical audit examines a validated item, and validation is what the functional audit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traceability matrix is what converts the audit from a meeting into evidence: anyone can pull a requirement two years later and walk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 set, grouped by what is being compared. The opening line is the whole argument: part number matching is an identity check, not a conformity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The third defect is the uncomfortable one: the traceability check was performed correctly and still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misreading is expensive in both directions — auditing the whole bill of materials, or sampling drawings. Both end with no designated item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outputs are what the standard requires. The three cards are the ones teams most often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audit as a check on the verification system. If a systematic finding does not change how the process runs, the next audit finds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754880" cy="4754880"/>
          </a:xfrm>
          <a:prstGeom prst="ellipse">
            <a:avLst/>
          </a:prstGeom>
          <a:solidFill>
            <a:srgbClr val="2A3A72"/>
          </a:solidFill>
          <a:ln/>
        </p:spPr>
      </p:sp>
      <p:sp>
        <p:nvSpPr>
          <p:cNvPr id="3" name="Shape 1"/>
          <p:cNvSpPr/>
          <p:nvPr/>
        </p:nvSpPr>
        <p:spPr>
          <a:xfrm>
            <a:off x="10881360" y="4206240"/>
            <a:ext cx="3108960" cy="3108960"/>
          </a:xfrm>
          <a:prstGeom prst="ellipse">
            <a:avLst/>
          </a:prstGeom>
          <a:solidFill>
            <a:srgbClr val="243268"/>
          </a:solidFill>
          <a:ln/>
        </p:spPr>
      </p:sp>
      <p:sp>
        <p:nvSpPr>
          <p:cNvPr id="4" name="Shape 2"/>
          <p:cNvSpPr/>
          <p:nvPr/>
        </p:nvSpPr>
        <p:spPr>
          <a:xfrm>
            <a:off x="566928" y="1170432"/>
            <a:ext cx="475488" cy="475488"/>
          </a:xfrm>
          <a:prstGeom prst="ellipse">
            <a:avLst/>
          </a:prstGeom>
          <a:solidFill>
            <a:srgbClr val="2A3A72"/>
          </a:solidFill>
          <a:ln w="12700">
            <a:solidFill>
              <a:srgbClr val="CADCFC"/>
            </a:solidFill>
            <a:prstDash val="solid"/>
          </a:ln>
        </p:spPr>
      </p:sp>
      <p:sp>
        <p:nvSpPr>
          <p:cNvPr id="5" name="Text 3"/>
          <p:cNvSpPr/>
          <p:nvPr/>
        </p:nvSpPr>
        <p:spPr>
          <a:xfrm>
            <a:off x="566928" y="1170432"/>
            <a:ext cx="475488" cy="475488"/>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566928" y="1874520"/>
            <a:ext cx="877824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Configuration Audits</a:t>
            </a:r>
            <a:endParaRPr lang="en-US" sz="4400" dirty="0"/>
          </a:p>
        </p:txBody>
      </p:sp>
      <p:sp>
        <p:nvSpPr>
          <p:cNvPr id="7" name="Text 5"/>
          <p:cNvSpPr/>
          <p:nvPr/>
        </p:nvSpPr>
        <p:spPr>
          <a:xfrm>
            <a:off x="566928" y="2788920"/>
            <a:ext cx="8138160" cy="822960"/>
          </a:xfrm>
          <a:prstGeom prst="rect">
            <a:avLst/>
          </a:prstGeom>
          <a:noFill/>
          <a:ln/>
        </p:spPr>
        <p:txBody>
          <a:bodyPr wrap="square" lIns="0" tIns="0" rIns="0" bIns="0" rtlCol="0" anchor="ctr"/>
          <a:lstStyle/>
          <a:p>
            <a:pPr indent="0" marL="0">
              <a:lnSpc>
                <a:spcPts val="2200"/>
              </a:lnSpc>
              <a:buNone/>
            </a:pPr>
            <a:r>
              <a:rPr lang="en-US" sz="1500" dirty="0">
                <a:solidFill>
                  <a:srgbClr val="CADCFC"/>
                </a:solidFill>
                <a:latin typeface="Calibri" pitchFamily="34" charset="0"/>
                <a:ea typeface="Calibri" pitchFamily="34" charset="-122"/>
                <a:cs typeface="Calibri" pitchFamily="34" charset="-120"/>
              </a:rPr>
              <a:t>The functional and physical audits — what each one asks, which items get them, and what the teams actually check</a:t>
            </a:r>
            <a:endParaRPr lang="en-US" sz="1500" dirty="0"/>
          </a:p>
        </p:txBody>
      </p:sp>
      <p:sp>
        <p:nvSpPr>
          <p:cNvPr id="8" name="Text 6"/>
          <p:cNvSpPr/>
          <p:nvPr/>
        </p:nvSpPr>
        <p:spPr>
          <a:xfrm>
            <a:off x="566928" y="5989320"/>
            <a:ext cx="7315200" cy="274320"/>
          </a:xfrm>
          <a:prstGeom prst="rect">
            <a:avLst/>
          </a:prstGeom>
          <a:noFill/>
          <a:ln/>
        </p:spPr>
        <p:txBody>
          <a:bodyPr wrap="square" lIns="0" tIns="0" rIns="0" bIns="0" rtlCol="0" anchor="ctr"/>
          <a:lstStyle/>
          <a:p>
            <a:pPr indent="0" marL="0">
              <a:buNone/>
            </a:pPr>
            <a:r>
              <a:rPr lang="en-US" sz="1100" dirty="0">
                <a:solidFill>
                  <a:srgbClr val="8FA0CC"/>
                </a:solidFill>
                <a:latin typeface="Calibri" pitchFamily="34" charset="0"/>
                <a:ea typeface="Calibri" pitchFamily="34" charset="-122"/>
                <a:cs typeface="Calibri" pitchFamily="34" charset="-120"/>
              </a:rPr>
              <a:t>Configuration Management  ·  Overview Briefing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Two audits, two questions</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Different evidence, different people, different moments. Neither covers the other's ground — which is why there are two.</a:t>
            </a:r>
            <a:endParaRPr lang="en-US" sz="1350" dirty="0"/>
          </a:p>
        </p:txBody>
      </p:sp>
      <p:sp>
        <p:nvSpPr>
          <p:cNvPr id="4" name="Shape 2"/>
          <p:cNvSpPr/>
          <p:nvPr/>
        </p:nvSpPr>
        <p:spPr>
          <a:xfrm>
            <a:off x="566928" y="1627632"/>
            <a:ext cx="5382616" cy="3246120"/>
          </a:xfrm>
          <a:prstGeom prst="roundRect">
            <a:avLst>
              <a:gd name="adj" fmla="val 1690"/>
            </a:avLst>
          </a:prstGeom>
          <a:solidFill>
            <a:srgbClr val="F0F4FB"/>
          </a:solidFill>
          <a:ln w="12700">
            <a:solidFill>
              <a:srgbClr val="CADCFC"/>
            </a:solidFill>
            <a:prstDash val="solid"/>
          </a:ln>
        </p:spPr>
      </p:sp>
      <p:sp>
        <p:nvSpPr>
          <p:cNvPr id="5" name="Text 3"/>
          <p:cNvSpPr/>
          <p:nvPr/>
        </p:nvSpPr>
        <p:spPr>
          <a:xfrm>
            <a:off x="877824" y="1828800"/>
            <a:ext cx="4760824"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Functional configuration audit</a:t>
            </a:r>
            <a:endParaRPr lang="en-US" sz="1700" dirty="0"/>
          </a:p>
        </p:txBody>
      </p:sp>
      <p:sp>
        <p:nvSpPr>
          <p:cNvPr id="6" name="Text 4"/>
          <p:cNvSpPr/>
          <p:nvPr/>
        </p:nvSpPr>
        <p:spPr>
          <a:xfrm>
            <a:off x="877824" y="2231136"/>
            <a:ext cx="4760824" cy="566928"/>
          </a:xfrm>
          <a:prstGeom prst="rect">
            <a:avLst/>
          </a:prstGeom>
          <a:noFill/>
          <a:ln/>
        </p:spPr>
        <p:txBody>
          <a:bodyPr wrap="square" lIns="0" tIns="0" rIns="0" bIns="0" rtlCol="0" anchor="ctr"/>
          <a:lstStyle/>
          <a:p>
            <a:pPr indent="0" marL="0">
              <a:lnSpc>
                <a:spcPts val="2000"/>
              </a:lnSpc>
              <a:buNone/>
            </a:pPr>
            <a:r>
              <a:rPr lang="en-US" sz="1450" b="1" dirty="0">
                <a:solidFill>
                  <a:srgbClr val="4A5A9E"/>
                </a:solidFill>
                <a:latin typeface="Calibri" pitchFamily="34" charset="0"/>
                <a:ea typeface="Calibri" pitchFamily="34" charset="-122"/>
                <a:cs typeface="Calibri" pitchFamily="34" charset="-120"/>
              </a:rPr>
              <a:t>Does it do what it was required to do — and can you prove it?</a:t>
            </a:r>
            <a:endParaRPr lang="en-US" sz="1450" dirty="0"/>
          </a:p>
        </p:txBody>
      </p:sp>
      <p:sp>
        <p:nvSpPr>
          <p:cNvPr id="7" name="Text 5"/>
          <p:cNvSpPr/>
          <p:nvPr/>
        </p:nvSpPr>
        <p:spPr>
          <a:xfrm>
            <a:off x="877824" y="2889504"/>
            <a:ext cx="4760824" cy="1371600"/>
          </a:xfrm>
          <a:prstGeom prst="rect">
            <a:avLst/>
          </a:prstGeom>
          <a:noFill/>
          <a:ln/>
        </p:spPr>
        <p:txBody>
          <a:bodyPr wrap="square" lIns="0" tIns="0" rIns="0" bIns="0" rtlCol="0" anchor="ctr"/>
          <a:lstStyle/>
          <a:p>
            <a:pPr indent="0" marL="0">
              <a:lnSpc>
                <a:spcPts val="1800"/>
              </a:lnSpc>
              <a:buNone/>
            </a:pPr>
            <a:r>
              <a:rPr lang="en-US" sz="1250" dirty="0">
                <a:solidFill>
                  <a:srgbClr val="2A2A2A"/>
                </a:solidFill>
                <a:latin typeface="Calibri" pitchFamily="34" charset="0"/>
                <a:ea typeface="Calibri" pitchFamily="34" charset="-122"/>
                <a:cs typeface="Calibri" pitchFamily="34" charset="-120"/>
              </a:rPr>
              <a:t>Verifies tested performance against the approved functional and allocated documentation. Also confirms specifications and interfaces are adequately defined, and that the change control system genuinely controls release.</a:t>
            </a:r>
            <a:endParaRPr lang="en-US" sz="1250" dirty="0"/>
          </a:p>
        </p:txBody>
      </p:sp>
      <p:sp>
        <p:nvSpPr>
          <p:cNvPr id="8" name="Text 6"/>
          <p:cNvSpPr/>
          <p:nvPr/>
        </p:nvSpPr>
        <p:spPr>
          <a:xfrm>
            <a:off x="877824" y="4315968"/>
            <a:ext cx="4760824"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Works from test evidence against requirements.</a:t>
            </a:r>
            <a:endParaRPr lang="en-US" sz="1200" dirty="0"/>
          </a:p>
        </p:txBody>
      </p:sp>
      <p:sp>
        <p:nvSpPr>
          <p:cNvPr id="9" name="Shape 7"/>
          <p:cNvSpPr/>
          <p:nvPr/>
        </p:nvSpPr>
        <p:spPr>
          <a:xfrm>
            <a:off x="6242152" y="1627632"/>
            <a:ext cx="5382616" cy="3246120"/>
          </a:xfrm>
          <a:prstGeom prst="roundRect">
            <a:avLst>
              <a:gd name="adj" fmla="val 1690"/>
            </a:avLst>
          </a:prstGeom>
          <a:solidFill>
            <a:srgbClr val="1E2761"/>
          </a:solidFill>
          <a:ln w="12700">
            <a:solidFill>
              <a:srgbClr val="1E2761"/>
            </a:solidFill>
            <a:prstDash val="solid"/>
          </a:ln>
        </p:spPr>
      </p:sp>
      <p:sp>
        <p:nvSpPr>
          <p:cNvPr id="10" name="Text 8"/>
          <p:cNvSpPr/>
          <p:nvPr/>
        </p:nvSpPr>
        <p:spPr>
          <a:xfrm>
            <a:off x="6553048" y="1828800"/>
            <a:ext cx="4760824"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Physical configuration audit</a:t>
            </a:r>
            <a:endParaRPr lang="en-US" sz="1700" dirty="0"/>
          </a:p>
        </p:txBody>
      </p:sp>
      <p:sp>
        <p:nvSpPr>
          <p:cNvPr id="11" name="Text 9"/>
          <p:cNvSpPr/>
          <p:nvPr/>
        </p:nvSpPr>
        <p:spPr>
          <a:xfrm>
            <a:off x="6553048" y="2231136"/>
            <a:ext cx="4760824" cy="566928"/>
          </a:xfrm>
          <a:prstGeom prst="rect">
            <a:avLst/>
          </a:prstGeom>
          <a:noFill/>
          <a:ln/>
        </p:spPr>
        <p:txBody>
          <a:bodyPr wrap="square" lIns="0" tIns="0" rIns="0" bIns="0" rtlCol="0" anchor="ctr"/>
          <a:lstStyle/>
          <a:p>
            <a:pPr indent="0" marL="0">
              <a:lnSpc>
                <a:spcPts val="2000"/>
              </a:lnSpc>
              <a:buNone/>
            </a:pPr>
            <a:r>
              <a:rPr lang="en-US" sz="1450" b="1" dirty="0">
                <a:solidFill>
                  <a:srgbClr val="CADCFC"/>
                </a:solidFill>
                <a:latin typeface="Calibri" pitchFamily="34" charset="0"/>
                <a:ea typeface="Calibri" pitchFamily="34" charset="-122"/>
                <a:cs typeface="Calibri" pitchFamily="34" charset="-120"/>
              </a:rPr>
              <a:t>Is the thing you built the thing the documentation describes?</a:t>
            </a:r>
            <a:endParaRPr lang="en-US" sz="1450" dirty="0"/>
          </a:p>
        </p:txBody>
      </p:sp>
      <p:sp>
        <p:nvSpPr>
          <p:cNvPr id="12" name="Text 10"/>
          <p:cNvSpPr/>
          <p:nvPr/>
        </p:nvSpPr>
        <p:spPr>
          <a:xfrm>
            <a:off x="6553048" y="2889504"/>
            <a:ext cx="4760824" cy="1371600"/>
          </a:xfrm>
          <a:prstGeom prst="rect">
            <a:avLst/>
          </a:prstGeom>
          <a:noFill/>
          <a:ln/>
        </p:spPr>
        <p:txBody>
          <a:bodyPr wrap="square" lIns="0" tIns="0" rIns="0" bIns="0" rtlCol="0" anchor="ctr"/>
          <a:lstStyle/>
          <a:p>
            <a:pPr indent="0" marL="0">
              <a:lnSpc>
                <a:spcPts val="1800"/>
              </a:lnSpc>
              <a:buNone/>
            </a:pPr>
            <a:r>
              <a:rPr lang="en-US" sz="1250" dirty="0">
                <a:solidFill>
                  <a:srgbClr val="E4EAF8"/>
                </a:solidFill>
                <a:latin typeface="Calibri" pitchFamily="34" charset="0"/>
                <a:ea typeface="Calibri" pitchFamily="34" charset="-122"/>
                <a:cs typeface="Calibri" pitchFamily="34" charset="-120"/>
              </a:rPr>
              <a:t>Examines the as-built — or as-coded — configuration of a validated item against its product documentation, confirming the documentation is a clear, complete and accurate representation of what was produced.</a:t>
            </a:r>
            <a:endParaRPr lang="en-US" sz="1250" dirty="0"/>
          </a:p>
        </p:txBody>
      </p:sp>
      <p:sp>
        <p:nvSpPr>
          <p:cNvPr id="13" name="Text 11"/>
          <p:cNvSpPr/>
          <p:nvPr/>
        </p:nvSpPr>
        <p:spPr>
          <a:xfrm>
            <a:off x="6553048" y="4315968"/>
            <a:ext cx="4760824"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Works from the article against the released design.</a:t>
            </a:r>
            <a:endParaRPr lang="en-US" sz="1200" dirty="0"/>
          </a:p>
        </p:txBody>
      </p:sp>
      <p:sp>
        <p:nvSpPr>
          <p:cNvPr id="14" name="Shape 12"/>
          <p:cNvSpPr/>
          <p:nvPr/>
        </p:nvSpPr>
        <p:spPr>
          <a:xfrm>
            <a:off x="566928" y="5074920"/>
            <a:ext cx="11057839" cy="868680"/>
          </a:xfrm>
          <a:prstGeom prst="roundRect">
            <a:avLst>
              <a:gd name="adj" fmla="val 5263"/>
            </a:avLst>
          </a:prstGeom>
          <a:solidFill>
            <a:srgbClr val="FFFFFF"/>
          </a:solidFill>
          <a:ln w="12700">
            <a:solidFill>
              <a:srgbClr val="CADCFC"/>
            </a:solidFill>
            <a:prstDash val="solid"/>
          </a:ln>
        </p:spPr>
      </p:sp>
      <p:sp>
        <p:nvSpPr>
          <p:cNvPr id="15" name="Text 13"/>
          <p:cNvSpPr/>
          <p:nvPr/>
        </p:nvSpPr>
        <p:spPr>
          <a:xfrm>
            <a:off x="841248" y="5193792"/>
            <a:ext cx="10509199" cy="640080"/>
          </a:xfrm>
          <a:prstGeom prst="rect">
            <a:avLst/>
          </a:prstGeom>
          <a:noFill/>
          <a:ln/>
        </p:spPr>
        <p:txBody>
          <a:bodyPr wrap="square" lIns="0" tIns="0" rIns="0" bIns="0" rtlCol="0" anchor="ctr"/>
          <a:lstStyle/>
          <a:p>
            <a:pPr indent="0" marL="0">
              <a:lnSpc>
                <a:spcPts val="1800"/>
              </a:lnSpc>
              <a:buNone/>
            </a:pPr>
            <a:r>
              <a:rPr lang="en-US" sz="1250" b="1" dirty="0">
                <a:solidFill>
                  <a:srgbClr val="1E2761"/>
                </a:solidFill>
                <a:latin typeface="Calibri" pitchFamily="34" charset="0"/>
                <a:ea typeface="Calibri" pitchFamily="34" charset="-122"/>
                <a:cs typeface="Calibri" pitchFamily="34" charset="-120"/>
              </a:rPr>
              <a:t>What each cannot tell you.  </a:t>
            </a:r>
            <a:pPr indent="0" marL="0">
              <a:lnSpc>
                <a:spcPts val="1800"/>
              </a:lnSpc>
              <a:buNone/>
            </a:pPr>
            <a:r>
              <a:rPr lang="en-US" sz="1250" dirty="0">
                <a:solidFill>
                  <a:srgbClr val="2A2A2A"/>
                </a:solidFill>
                <a:latin typeface="Calibri" pitchFamily="34" charset="0"/>
                <a:ea typeface="Calibri" pitchFamily="34" charset="-122"/>
                <a:cs typeface="Calibri" pitchFamily="34" charset="-120"/>
              </a:rPr>
              <a:t>A design can be fully proven and the article in front of you still wrong. A unit can match its documentation perfectly and the documentation still describe something that does not meet its requirements.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Why these audits are not optional</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Some requirements arrive twice — through the contract, and through the safety management system, because they act as barriers to severe events.</a:t>
            </a:r>
            <a:endParaRPr lang="en-US" sz="1350" dirty="0"/>
          </a:p>
        </p:txBody>
      </p:sp>
      <p:sp>
        <p:nvSpPr>
          <p:cNvPr id="4" name="Shape 2"/>
          <p:cNvSpPr/>
          <p:nvPr/>
        </p:nvSpPr>
        <p:spPr>
          <a:xfrm>
            <a:off x="566928" y="1783080"/>
            <a:ext cx="3521354" cy="3200400"/>
          </a:xfrm>
          <a:prstGeom prst="roundRect">
            <a:avLst>
              <a:gd name="adj" fmla="val 1714"/>
            </a:avLst>
          </a:prstGeom>
          <a:solidFill>
            <a:srgbClr val="2A3A72"/>
          </a:solidFill>
          <a:ln w="12700">
            <a:solidFill>
              <a:srgbClr val="4A5A9E"/>
            </a:solidFill>
            <a:prstDash val="solid"/>
          </a:ln>
        </p:spPr>
      </p:sp>
      <p:sp>
        <p:nvSpPr>
          <p:cNvPr id="5" name="Text 3"/>
          <p:cNvSpPr/>
          <p:nvPr/>
        </p:nvSpPr>
        <p:spPr>
          <a:xfrm>
            <a:off x="841248" y="1956816"/>
            <a:ext cx="2972714" cy="256032"/>
          </a:xfrm>
          <a:prstGeom prst="rect">
            <a:avLst/>
          </a:prstGeom>
          <a:noFill/>
          <a:ln/>
        </p:spPr>
        <p:txBody>
          <a:bodyPr wrap="square" lIns="0" tIns="0" rIns="0" bIns="0" rtlCol="0" anchor="ctr"/>
          <a:lstStyle/>
          <a:p>
            <a:pPr indent="0" marL="0">
              <a:buNone/>
            </a:pPr>
            <a:r>
              <a:rPr lang="en-US" sz="1150" b="1" dirty="0">
                <a:solidFill>
                  <a:srgbClr val="C8A24A"/>
                </a:solidFill>
                <a:latin typeface="Calibri" pitchFamily="34" charset="0"/>
                <a:ea typeface="Calibri" pitchFamily="34" charset="-122"/>
                <a:cs typeface="Calibri" pitchFamily="34" charset="-120"/>
              </a:rPr>
              <a:t>2024</a:t>
            </a:r>
            <a:endParaRPr lang="en-US" sz="1150" dirty="0"/>
          </a:p>
        </p:txBody>
      </p:sp>
      <p:sp>
        <p:nvSpPr>
          <p:cNvPr id="6" name="Text 4"/>
          <p:cNvSpPr/>
          <p:nvPr/>
        </p:nvSpPr>
        <p:spPr>
          <a:xfrm>
            <a:off x="841248" y="2249424"/>
            <a:ext cx="2972714"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Door plug departs in flight</a:t>
            </a:r>
            <a:endParaRPr lang="en-US" sz="1550" dirty="0"/>
          </a:p>
        </p:txBody>
      </p:sp>
      <p:sp>
        <p:nvSpPr>
          <p:cNvPr id="7" name="Text 5"/>
          <p:cNvSpPr/>
          <p:nvPr/>
        </p:nvSpPr>
        <p:spPr>
          <a:xfrm>
            <a:off x="841248" y="2889504"/>
            <a:ext cx="2972714" cy="1371600"/>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Installed without all four retention bolts. The as-built configuration diverged from the approved configuration and no record flagged it — every paper check agreed with every other paper check.</a:t>
            </a:r>
            <a:endParaRPr lang="en-US" sz="1200" dirty="0"/>
          </a:p>
        </p:txBody>
      </p:sp>
      <p:sp>
        <p:nvSpPr>
          <p:cNvPr id="8" name="Text 6"/>
          <p:cNvSpPr/>
          <p:nvPr/>
        </p:nvSpPr>
        <p:spPr>
          <a:xfrm>
            <a:off x="841248" y="4315968"/>
            <a:ext cx="2972714" cy="548640"/>
          </a:xfrm>
          <a:prstGeom prst="rect">
            <a:avLst/>
          </a:prstGeom>
          <a:noFill/>
          <a:ln/>
        </p:spPr>
        <p:txBody>
          <a:bodyPr wrap="square" lIns="0" tIns="0" rIns="0" bIns="0" rtlCol="0" anchor="ctr"/>
          <a:lstStyle/>
          <a:p>
            <a:pPr indent="0" marL="0">
              <a:lnSpc>
                <a:spcPts val="1600"/>
              </a:lnSpc>
              <a:buNone/>
            </a:pPr>
            <a:r>
              <a:rPr lang="en-US" sz="1150" i="1" dirty="0">
                <a:solidFill>
                  <a:srgbClr val="CADCFC"/>
                </a:solidFill>
                <a:latin typeface="Calibri" pitchFamily="34" charset="0"/>
                <a:ea typeface="Calibri" pitchFamily="34" charset="-122"/>
                <a:cs typeface="Calibri" pitchFamily="34" charset="-120"/>
              </a:rPr>
              <a:t>The physical examination is the step that is not reducible to a record.</a:t>
            </a:r>
            <a:endParaRPr lang="en-US" sz="1150" dirty="0"/>
          </a:p>
        </p:txBody>
      </p:sp>
      <p:sp>
        <p:nvSpPr>
          <p:cNvPr id="9" name="Shape 7"/>
          <p:cNvSpPr/>
          <p:nvPr/>
        </p:nvSpPr>
        <p:spPr>
          <a:xfrm>
            <a:off x="4371746" y="1783080"/>
            <a:ext cx="3521354" cy="3200400"/>
          </a:xfrm>
          <a:prstGeom prst="roundRect">
            <a:avLst>
              <a:gd name="adj" fmla="val 1714"/>
            </a:avLst>
          </a:prstGeom>
          <a:solidFill>
            <a:srgbClr val="2A3A72"/>
          </a:solidFill>
          <a:ln w="12700">
            <a:solidFill>
              <a:srgbClr val="4A5A9E"/>
            </a:solidFill>
            <a:prstDash val="solid"/>
          </a:ln>
        </p:spPr>
      </p:sp>
      <p:sp>
        <p:nvSpPr>
          <p:cNvPr id="10" name="Text 8"/>
          <p:cNvSpPr/>
          <p:nvPr/>
        </p:nvSpPr>
        <p:spPr>
          <a:xfrm>
            <a:off x="4646066" y="1956816"/>
            <a:ext cx="2972714" cy="256032"/>
          </a:xfrm>
          <a:prstGeom prst="rect">
            <a:avLst/>
          </a:prstGeom>
          <a:noFill/>
          <a:ln/>
        </p:spPr>
        <p:txBody>
          <a:bodyPr wrap="square" lIns="0" tIns="0" rIns="0" bIns="0" rtlCol="0" anchor="ctr"/>
          <a:lstStyle/>
          <a:p>
            <a:pPr indent="0" marL="0">
              <a:buNone/>
            </a:pPr>
            <a:r>
              <a:rPr lang="en-US" sz="1150" b="1" dirty="0">
                <a:solidFill>
                  <a:srgbClr val="C8A24A"/>
                </a:solidFill>
                <a:latin typeface="Calibri" pitchFamily="34" charset="0"/>
                <a:ea typeface="Calibri" pitchFamily="34" charset="-122"/>
                <a:cs typeface="Calibri" pitchFamily="34" charset="-120"/>
              </a:rPr>
              <a:t>2019–22</a:t>
            </a:r>
            <a:endParaRPr lang="en-US" sz="1150" dirty="0"/>
          </a:p>
        </p:txBody>
      </p:sp>
      <p:sp>
        <p:nvSpPr>
          <p:cNvPr id="11" name="Text 9"/>
          <p:cNvSpPr/>
          <p:nvPr/>
        </p:nvSpPr>
        <p:spPr>
          <a:xfrm>
            <a:off x="4646066" y="2249424"/>
            <a:ext cx="2972714"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Tanker delivery escapes</a:t>
            </a:r>
            <a:endParaRPr lang="en-US" sz="1550" dirty="0"/>
          </a:p>
        </p:txBody>
      </p:sp>
      <p:sp>
        <p:nvSpPr>
          <p:cNvPr id="12" name="Text 10"/>
          <p:cNvSpPr/>
          <p:nvPr/>
        </p:nvSpPr>
        <p:spPr>
          <a:xfrm>
            <a:off x="4646066" y="2889504"/>
            <a:ext cx="2972714" cy="1371600"/>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Tools and debris repeatedly found in delivered aircraft, and repeated escapes between development, early production and full-rate production articles. Deliveries halted more than once.</a:t>
            </a:r>
            <a:endParaRPr lang="en-US" sz="1200" dirty="0"/>
          </a:p>
        </p:txBody>
      </p:sp>
      <p:sp>
        <p:nvSpPr>
          <p:cNvPr id="13" name="Text 11"/>
          <p:cNvSpPr/>
          <p:nvPr/>
        </p:nvSpPr>
        <p:spPr>
          <a:xfrm>
            <a:off x="4646066" y="4315968"/>
            <a:ext cx="2972714" cy="548640"/>
          </a:xfrm>
          <a:prstGeom prst="rect">
            <a:avLst/>
          </a:prstGeom>
          <a:noFill/>
          <a:ln/>
        </p:spPr>
        <p:txBody>
          <a:bodyPr wrap="square" lIns="0" tIns="0" rIns="0" bIns="0" rtlCol="0" anchor="ctr"/>
          <a:lstStyle/>
          <a:p>
            <a:pPr indent="0" marL="0">
              <a:lnSpc>
                <a:spcPts val="1600"/>
              </a:lnSpc>
              <a:buNone/>
            </a:pPr>
            <a:r>
              <a:rPr lang="en-US" sz="1150" i="1" dirty="0">
                <a:solidFill>
                  <a:srgbClr val="CADCFC"/>
                </a:solidFill>
                <a:latin typeface="Calibri" pitchFamily="34" charset="0"/>
                <a:ea typeface="Calibri" pitchFamily="34" charset="-122"/>
                <a:cs typeface="Calibri" pitchFamily="34" charset="-120"/>
              </a:rPr>
              <a:t>Hence: identify the differences between the production unit and the functional audit unit.</a:t>
            </a:r>
            <a:endParaRPr lang="en-US" sz="1150" dirty="0"/>
          </a:p>
        </p:txBody>
      </p:sp>
      <p:sp>
        <p:nvSpPr>
          <p:cNvPr id="14" name="Shape 12"/>
          <p:cNvSpPr/>
          <p:nvPr/>
        </p:nvSpPr>
        <p:spPr>
          <a:xfrm>
            <a:off x="8176565" y="1783080"/>
            <a:ext cx="3521354" cy="3200400"/>
          </a:xfrm>
          <a:prstGeom prst="roundRect">
            <a:avLst>
              <a:gd name="adj" fmla="val 1714"/>
            </a:avLst>
          </a:prstGeom>
          <a:solidFill>
            <a:srgbClr val="2A3A72"/>
          </a:solidFill>
          <a:ln w="12700">
            <a:solidFill>
              <a:srgbClr val="4A5A9E"/>
            </a:solidFill>
            <a:prstDash val="solid"/>
          </a:ln>
        </p:spPr>
      </p:sp>
      <p:sp>
        <p:nvSpPr>
          <p:cNvPr id="15" name="Text 13"/>
          <p:cNvSpPr/>
          <p:nvPr/>
        </p:nvSpPr>
        <p:spPr>
          <a:xfrm>
            <a:off x="8450885" y="1956816"/>
            <a:ext cx="2972714" cy="256032"/>
          </a:xfrm>
          <a:prstGeom prst="rect">
            <a:avLst/>
          </a:prstGeom>
          <a:noFill/>
          <a:ln/>
        </p:spPr>
        <p:txBody>
          <a:bodyPr wrap="square" lIns="0" tIns="0" rIns="0" bIns="0" rtlCol="0" anchor="ctr"/>
          <a:lstStyle/>
          <a:p>
            <a:pPr indent="0" marL="0">
              <a:buNone/>
            </a:pPr>
            <a:r>
              <a:rPr lang="en-US" sz="1150" b="1" dirty="0">
                <a:solidFill>
                  <a:srgbClr val="C8A24A"/>
                </a:solidFill>
                <a:latin typeface="Calibri" pitchFamily="34" charset="0"/>
                <a:ea typeface="Calibri" pitchFamily="34" charset="-122"/>
                <a:cs typeface="Calibri" pitchFamily="34" charset="-120"/>
              </a:rPr>
              <a:t>2000</a:t>
            </a:r>
            <a:endParaRPr lang="en-US" sz="1150" dirty="0"/>
          </a:p>
        </p:txBody>
      </p:sp>
      <p:sp>
        <p:nvSpPr>
          <p:cNvPr id="16" name="Text 14"/>
          <p:cNvSpPr/>
          <p:nvPr/>
        </p:nvSpPr>
        <p:spPr>
          <a:xfrm>
            <a:off x="8450885" y="2249424"/>
            <a:ext cx="2972714" cy="548640"/>
          </a:xfrm>
          <a:prstGeom prst="rect">
            <a:avLst/>
          </a:prstGeom>
          <a:noFill/>
          <a:ln/>
        </p:spPr>
        <p:txBody>
          <a:bodyPr wrap="square" lIns="0" tIns="0" rIns="0" bIns="0" rtlCol="0" anchor="ctr"/>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Wear strip, wrong material</a:t>
            </a:r>
            <a:endParaRPr lang="en-US" sz="1550" dirty="0"/>
          </a:p>
        </p:txBody>
      </p:sp>
      <p:sp>
        <p:nvSpPr>
          <p:cNvPr id="17" name="Text 15"/>
          <p:cNvSpPr/>
          <p:nvPr/>
        </p:nvSpPr>
        <p:spPr>
          <a:xfrm>
            <a:off x="8450885" y="2889504"/>
            <a:ext cx="2972714" cy="1371600"/>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A replacement thrust reverser strip made of titanium alloy rather than the specified stainless steel. It fell onto a runway; the resulting tyre debris ruptured a fuel tank. 113 fatalities.</a:t>
            </a:r>
            <a:endParaRPr lang="en-US" sz="1200" dirty="0"/>
          </a:p>
        </p:txBody>
      </p:sp>
      <p:sp>
        <p:nvSpPr>
          <p:cNvPr id="18" name="Text 16"/>
          <p:cNvSpPr/>
          <p:nvPr/>
        </p:nvSpPr>
        <p:spPr>
          <a:xfrm>
            <a:off x="8450885" y="4315968"/>
            <a:ext cx="2972714" cy="548640"/>
          </a:xfrm>
          <a:prstGeom prst="rect">
            <a:avLst/>
          </a:prstGeom>
          <a:noFill/>
          <a:ln/>
        </p:spPr>
        <p:txBody>
          <a:bodyPr wrap="square" lIns="0" tIns="0" rIns="0" bIns="0" rtlCol="0" anchor="ctr"/>
          <a:lstStyle/>
          <a:p>
            <a:pPr indent="0" marL="0">
              <a:lnSpc>
                <a:spcPts val="1600"/>
              </a:lnSpc>
              <a:buNone/>
            </a:pPr>
            <a:r>
              <a:rPr lang="en-US" sz="1150" i="1" dirty="0">
                <a:solidFill>
                  <a:srgbClr val="CADCFC"/>
                </a:solidFill>
                <a:latin typeface="Calibri" pitchFamily="34" charset="0"/>
                <a:ea typeface="Calibri" pitchFamily="34" charset="-122"/>
                <a:cs typeface="Calibri" pitchFamily="34" charset="-120"/>
              </a:rPr>
              <a:t>Hence: material specification, to build record, to material certificate.</a:t>
            </a:r>
            <a:endParaRPr lang="en-US" sz="1150" dirty="0"/>
          </a:p>
        </p:txBody>
      </p:sp>
      <p:sp>
        <p:nvSpPr>
          <p:cNvPr id="19" name="Text 17"/>
          <p:cNvSpPr/>
          <p:nvPr/>
        </p:nvSpPr>
        <p:spPr>
          <a:xfrm>
            <a:off x="566928" y="6144768"/>
            <a:ext cx="11057839" cy="41148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On safety-significant product lines these are performed regardless of what the contract flows down. A proposal not to perform one has three doors: perform it, replace it with a validated equivalent control, or accept the risk formally at the authority matching its severity. There is no fourth door.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Only some items are audited</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Two separate narrowings sit between everything in the product and everything that gets an audit. People collapse them constantly.</a:t>
            </a:r>
            <a:endParaRPr lang="en-US" sz="1350" dirty="0"/>
          </a:p>
        </p:txBody>
      </p:sp>
      <p:sp>
        <p:nvSpPr>
          <p:cNvPr id="4" name="Shape 2"/>
          <p:cNvSpPr/>
          <p:nvPr/>
        </p:nvSpPr>
        <p:spPr>
          <a:xfrm>
            <a:off x="566928" y="1664208"/>
            <a:ext cx="11057839" cy="1060704"/>
          </a:xfrm>
          <a:prstGeom prst="roundRect">
            <a:avLst>
              <a:gd name="adj" fmla="val 5172"/>
            </a:avLst>
          </a:prstGeom>
          <a:solidFill>
            <a:srgbClr val="FFFFFF"/>
          </a:solidFill>
          <a:ln w="12700">
            <a:solidFill>
              <a:srgbClr val="CADCFC"/>
            </a:solidFill>
            <a:prstDash val="solid"/>
          </a:ln>
        </p:spPr>
      </p:sp>
      <p:sp>
        <p:nvSpPr>
          <p:cNvPr id="5" name="Text 3"/>
          <p:cNvSpPr/>
          <p:nvPr/>
        </p:nvSpPr>
        <p:spPr>
          <a:xfrm>
            <a:off x="841248" y="1792224"/>
            <a:ext cx="10509199" cy="29260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Everything in the product</a:t>
            </a:r>
            <a:endParaRPr lang="en-US" sz="1550" dirty="0"/>
          </a:p>
        </p:txBody>
      </p:sp>
      <p:sp>
        <p:nvSpPr>
          <p:cNvPr id="6" name="Text 4"/>
          <p:cNvSpPr/>
          <p:nvPr/>
        </p:nvSpPr>
        <p:spPr>
          <a:xfrm>
            <a:off x="841248" y="2121408"/>
            <a:ext cx="10509199" cy="512064"/>
          </a:xfrm>
          <a:prstGeom prst="rect">
            <a:avLst/>
          </a:prstGeom>
          <a:noFill/>
          <a:ln/>
        </p:spPr>
        <p:txBody>
          <a:bodyPr wrap="square" lIns="0" tIns="0" rIns="0" bIns="0" rtlCol="0" anchor="ctr"/>
          <a:lstStyle/>
          <a:p>
            <a:pPr indent="0" marL="0">
              <a:lnSpc>
                <a:spcPts val="1700"/>
              </a:lnSpc>
              <a:buNone/>
            </a:pPr>
            <a:r>
              <a:rPr lang="en-US" sz="1200" dirty="0">
                <a:solidFill>
                  <a:srgbClr val="2A2A2A"/>
                </a:solidFill>
                <a:latin typeface="Calibri" pitchFamily="34" charset="0"/>
                <a:ea typeface="Calibri" pitchFamily="34" charset="-122"/>
                <a:cs typeface="Calibri" pitchFamily="34" charset="-120"/>
              </a:rPr>
              <a:t>Parts, materials, processes, software, documentation. All of it made, inspected and controlled. Most of it not separately managed.</a:t>
            </a:r>
            <a:endParaRPr lang="en-US" sz="1200" dirty="0"/>
          </a:p>
        </p:txBody>
      </p:sp>
      <p:sp>
        <p:nvSpPr>
          <p:cNvPr id="7" name="Shape 5"/>
          <p:cNvSpPr/>
          <p:nvPr/>
        </p:nvSpPr>
        <p:spPr>
          <a:xfrm>
            <a:off x="2115025" y="2962656"/>
            <a:ext cx="7961644" cy="1060704"/>
          </a:xfrm>
          <a:prstGeom prst="roundRect">
            <a:avLst>
              <a:gd name="adj" fmla="val 5172"/>
            </a:avLst>
          </a:prstGeom>
          <a:solidFill>
            <a:srgbClr val="F0F4FB"/>
          </a:solidFill>
          <a:ln w="12700">
            <a:solidFill>
              <a:srgbClr val="CADCFC"/>
            </a:solidFill>
            <a:prstDash val="solid"/>
          </a:ln>
        </p:spPr>
      </p:sp>
      <p:sp>
        <p:nvSpPr>
          <p:cNvPr id="8" name="Text 6"/>
          <p:cNvSpPr/>
          <p:nvPr/>
        </p:nvSpPr>
        <p:spPr>
          <a:xfrm>
            <a:off x="2389345" y="3090672"/>
            <a:ext cx="7413004" cy="29260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Configuration items</a:t>
            </a:r>
            <a:endParaRPr lang="en-US" sz="1550" dirty="0"/>
          </a:p>
        </p:txBody>
      </p:sp>
      <p:sp>
        <p:nvSpPr>
          <p:cNvPr id="9" name="Text 7"/>
          <p:cNvSpPr/>
          <p:nvPr/>
        </p:nvSpPr>
        <p:spPr>
          <a:xfrm>
            <a:off x="2389345" y="3419856"/>
            <a:ext cx="7413004" cy="512064"/>
          </a:xfrm>
          <a:prstGeom prst="rect">
            <a:avLst/>
          </a:prstGeom>
          <a:noFill/>
          <a:ln/>
        </p:spPr>
        <p:txBody>
          <a:bodyPr wrap="square" lIns="0" tIns="0" rIns="0" bIns="0" rtlCol="0" anchor="ctr"/>
          <a:lstStyle/>
          <a:p>
            <a:pPr indent="0" marL="0">
              <a:lnSpc>
                <a:spcPts val="1700"/>
              </a:lnSpc>
              <a:buNone/>
            </a:pPr>
            <a:r>
              <a:rPr lang="en-US" sz="1200" dirty="0">
                <a:solidFill>
                  <a:srgbClr val="2A2A2A"/>
                </a:solidFill>
                <a:latin typeface="Calibri" pitchFamily="34" charset="0"/>
                <a:ea typeface="Calibri" pitchFamily="34" charset="-122"/>
                <a:cs typeface="Calibri" pitchFamily="34" charset="-120"/>
              </a:rPr>
              <a:t>Selected against the identification criteria. Each carries its own documentation, identifier, baselines and change control. A program may have hundreds.</a:t>
            </a:r>
            <a:endParaRPr lang="en-US" sz="1200" dirty="0"/>
          </a:p>
        </p:txBody>
      </p:sp>
      <p:sp>
        <p:nvSpPr>
          <p:cNvPr id="10" name="Shape 8"/>
          <p:cNvSpPr/>
          <p:nvPr/>
        </p:nvSpPr>
        <p:spPr>
          <a:xfrm>
            <a:off x="3663123" y="4261104"/>
            <a:ext cx="4865449" cy="1060704"/>
          </a:xfrm>
          <a:prstGeom prst="roundRect">
            <a:avLst>
              <a:gd name="adj" fmla="val 5172"/>
            </a:avLst>
          </a:prstGeom>
          <a:solidFill>
            <a:srgbClr val="1E2761"/>
          </a:solidFill>
          <a:ln w="12700">
            <a:solidFill>
              <a:srgbClr val="1E2761"/>
            </a:solidFill>
            <a:prstDash val="solid"/>
          </a:ln>
        </p:spPr>
      </p:sp>
      <p:sp>
        <p:nvSpPr>
          <p:cNvPr id="11" name="Text 9"/>
          <p:cNvSpPr/>
          <p:nvPr/>
        </p:nvSpPr>
        <p:spPr>
          <a:xfrm>
            <a:off x="3937443" y="4389120"/>
            <a:ext cx="4316809"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Designated for audit</a:t>
            </a:r>
            <a:endParaRPr lang="en-US" sz="1550" dirty="0"/>
          </a:p>
        </p:txBody>
      </p:sp>
      <p:sp>
        <p:nvSpPr>
          <p:cNvPr id="12" name="Text 10"/>
          <p:cNvSpPr/>
          <p:nvPr/>
        </p:nvSpPr>
        <p:spPr>
          <a:xfrm>
            <a:off x="3937443" y="4718304"/>
            <a:ext cx="4316809" cy="512064"/>
          </a:xfrm>
          <a:prstGeom prst="rect">
            <a:avLst/>
          </a:prstGeom>
          <a:noFill/>
          <a:ln/>
        </p:spPr>
        <p:txBody>
          <a:bodyPr wrap="square" lIns="0" tIns="0" rIns="0" bIns="0" rtlCol="0" anchor="ctr"/>
          <a:lstStyle/>
          <a:p>
            <a:pPr indent="0" marL="0">
              <a:lnSpc>
                <a:spcPts val="1700"/>
              </a:lnSpc>
              <a:buNone/>
            </a:pPr>
            <a:r>
              <a:rPr lang="en-US" sz="1200" dirty="0">
                <a:solidFill>
                  <a:srgbClr val="E4EAF8"/>
                </a:solidFill>
                <a:latin typeface="Calibri" pitchFamily="34" charset="0"/>
                <a:ea typeface="Calibri" pitchFamily="34" charset="-122"/>
                <a:cs typeface="Calibri" pitchFamily="34" charset="-120"/>
              </a:rPr>
              <a:t>A much smaller subset again, chosen by the designation assessment. A program with hundreds of configuration items may audit a handful.</a:t>
            </a:r>
            <a:endParaRPr lang="en-US" sz="1200" dirty="0"/>
          </a:p>
        </p:txBody>
      </p:sp>
      <p:sp>
        <p:nvSpPr>
          <p:cNvPr id="13" name="Shape 11"/>
          <p:cNvSpPr/>
          <p:nvPr/>
        </p:nvSpPr>
        <p:spPr>
          <a:xfrm>
            <a:off x="566928" y="5559552"/>
            <a:ext cx="5382616" cy="841248"/>
          </a:xfrm>
          <a:prstGeom prst="roundRect">
            <a:avLst>
              <a:gd name="adj" fmla="val 5435"/>
            </a:avLst>
          </a:prstGeom>
          <a:solidFill>
            <a:srgbClr val="FFFFFF"/>
          </a:solidFill>
          <a:ln w="12700">
            <a:solidFill>
              <a:srgbClr val="CADCFC"/>
            </a:solidFill>
            <a:prstDash val="solid"/>
          </a:ln>
        </p:spPr>
      </p:sp>
      <p:sp>
        <p:nvSpPr>
          <p:cNvPr id="14" name="Text 12"/>
          <p:cNvSpPr/>
          <p:nvPr/>
        </p:nvSpPr>
        <p:spPr>
          <a:xfrm>
            <a:off x="804672" y="5669280"/>
            <a:ext cx="4907128" cy="640080"/>
          </a:xfrm>
          <a:prstGeom prst="rect">
            <a:avLst/>
          </a:prstGeom>
          <a:noFill/>
          <a:ln/>
        </p:spPr>
        <p:txBody>
          <a:bodyPr wrap="square" lIns="0" tIns="0" rIns="0" bIns="0" rtlCol="0" anchor="ctr"/>
          <a:lstStyle/>
          <a:p>
            <a:pPr indent="0" marL="0">
              <a:lnSpc>
                <a:spcPts val="1600"/>
              </a:lnSpc>
              <a:buNone/>
            </a:pPr>
            <a:r>
              <a:rPr lang="en-US" sz="1150" b="1" dirty="0">
                <a:solidFill>
                  <a:srgbClr val="4A5A9E"/>
                </a:solidFill>
                <a:latin typeface="Calibri" pitchFamily="34" charset="0"/>
                <a:ea typeface="Calibri" pitchFamily="34" charset="-122"/>
                <a:cs typeface="Calibri" pitchFamily="34" charset="-120"/>
              </a:rPr>
              <a:t>“It is a configuration item, so it will be audited.”  </a:t>
            </a:r>
            <a:pPr indent="0" marL="0">
              <a:lnSpc>
                <a:spcPts val="1600"/>
              </a:lnSpc>
              <a:buNone/>
            </a:pPr>
            <a:r>
              <a:rPr lang="en-US" sz="1150" dirty="0">
                <a:solidFill>
                  <a:srgbClr val="2A2A2A"/>
                </a:solidFill>
                <a:latin typeface="Calibri" pitchFamily="34" charset="0"/>
                <a:ea typeface="Calibri" pitchFamily="34" charset="-122"/>
                <a:cs typeface="Calibri" pitchFamily="34" charset="-120"/>
              </a:rPr>
              <a:t>No. Most configuration items are never audited, and nothing is wrong with that.</a:t>
            </a:r>
            <a:endParaRPr lang="en-US" sz="1150" dirty="0"/>
          </a:p>
        </p:txBody>
      </p:sp>
      <p:sp>
        <p:nvSpPr>
          <p:cNvPr id="15" name="Shape 13"/>
          <p:cNvSpPr/>
          <p:nvPr/>
        </p:nvSpPr>
        <p:spPr>
          <a:xfrm>
            <a:off x="6242152" y="5559552"/>
            <a:ext cx="5382616" cy="841248"/>
          </a:xfrm>
          <a:prstGeom prst="roundRect">
            <a:avLst>
              <a:gd name="adj" fmla="val 5435"/>
            </a:avLst>
          </a:prstGeom>
          <a:solidFill>
            <a:srgbClr val="FFFFFF"/>
          </a:solidFill>
          <a:ln w="12700">
            <a:solidFill>
              <a:srgbClr val="CADCFC"/>
            </a:solidFill>
            <a:prstDash val="solid"/>
          </a:ln>
        </p:spPr>
      </p:sp>
      <p:sp>
        <p:nvSpPr>
          <p:cNvPr id="16" name="Text 14"/>
          <p:cNvSpPr/>
          <p:nvPr/>
        </p:nvSpPr>
        <p:spPr>
          <a:xfrm>
            <a:off x="6479896" y="5669280"/>
            <a:ext cx="4907128" cy="640080"/>
          </a:xfrm>
          <a:prstGeom prst="rect">
            <a:avLst/>
          </a:prstGeom>
          <a:noFill/>
          <a:ln/>
        </p:spPr>
        <p:txBody>
          <a:bodyPr wrap="square" lIns="0" tIns="0" rIns="0" bIns="0" rtlCol="0" anchor="ctr"/>
          <a:lstStyle/>
          <a:p>
            <a:pPr indent="0" marL="0">
              <a:lnSpc>
                <a:spcPts val="1600"/>
              </a:lnSpc>
              <a:buNone/>
            </a:pPr>
            <a:r>
              <a:rPr lang="en-US" sz="1150" b="1" dirty="0">
                <a:solidFill>
                  <a:srgbClr val="4A5A9E"/>
                </a:solidFill>
                <a:latin typeface="Calibri" pitchFamily="34" charset="0"/>
                <a:ea typeface="Calibri" pitchFamily="34" charset="-122"/>
                <a:cs typeface="Calibri" pitchFamily="34" charset="-120"/>
              </a:rPr>
              <a:t>“It is not audited, so it is not really controlled.”  </a:t>
            </a:r>
            <a:pPr indent="0" marL="0">
              <a:lnSpc>
                <a:spcPts val="1600"/>
              </a:lnSpc>
              <a:buNone/>
            </a:pPr>
            <a:r>
              <a:rPr lang="en-US" sz="1150" dirty="0">
                <a:solidFill>
                  <a:srgbClr val="2A2A2A"/>
                </a:solidFill>
                <a:latin typeface="Calibri" pitchFamily="34" charset="0"/>
                <a:ea typeface="Calibri" pitchFamily="34" charset="-122"/>
                <a:cs typeface="Calibri" pitchFamily="34" charset="-120"/>
              </a:rPr>
              <a:t>Also no. Being a configuration item is what confers documentation, identifiers, baselines and change control.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How an item earns an audit</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Four parts, completed at initial audit planning, at every plan revision, and on any trigger. Recorded for every item evaluated — designated or not.</a:t>
            </a:r>
            <a:endParaRPr lang="en-US" sz="1350" dirty="0"/>
          </a:p>
        </p:txBody>
      </p:sp>
      <p:sp>
        <p:nvSpPr>
          <p:cNvPr id="4" name="Shape 2"/>
          <p:cNvSpPr/>
          <p:nvPr/>
        </p:nvSpPr>
        <p:spPr>
          <a:xfrm>
            <a:off x="566928" y="1572768"/>
            <a:ext cx="5382616" cy="2011680"/>
          </a:xfrm>
          <a:prstGeom prst="roundRect">
            <a:avLst>
              <a:gd name="adj" fmla="val 2727"/>
            </a:avLst>
          </a:prstGeom>
          <a:solidFill>
            <a:srgbClr val="F0F4FB"/>
          </a:solidFill>
          <a:ln w="12700">
            <a:solidFill>
              <a:srgbClr val="CADCFC"/>
            </a:solidFill>
            <a:prstDash val="solid"/>
          </a:ln>
        </p:spPr>
      </p:sp>
      <p:sp>
        <p:nvSpPr>
          <p:cNvPr id="5" name="Text 3"/>
          <p:cNvSpPr/>
          <p:nvPr/>
        </p:nvSpPr>
        <p:spPr>
          <a:xfrm>
            <a:off x="841248" y="1719072"/>
            <a:ext cx="4833976" cy="219456"/>
          </a:xfrm>
          <a:prstGeom prst="rect">
            <a:avLst/>
          </a:prstGeom>
          <a:noFill/>
          <a:ln/>
        </p:spPr>
        <p:txBody>
          <a:bodyPr wrap="square" lIns="0" tIns="0" rIns="0" bIns="0" rtlCol="0" anchor="ctr"/>
          <a:lstStyle/>
          <a:p>
            <a:pPr indent="0" marL="0">
              <a:buNone/>
            </a:pPr>
            <a:r>
              <a:rPr lang="en-US" sz="1050" b="1" spc="100" kern="0" dirty="0">
                <a:solidFill>
                  <a:srgbClr val="4A5A9E"/>
                </a:solidFill>
                <a:latin typeface="Calibri" pitchFamily="34" charset="0"/>
                <a:ea typeface="Calibri" pitchFamily="34" charset="-122"/>
                <a:cs typeface="Calibri" pitchFamily="34" charset="-120"/>
              </a:rPr>
              <a:t>PART A</a:t>
            </a:r>
            <a:endParaRPr lang="en-US" sz="1050" dirty="0"/>
          </a:p>
        </p:txBody>
      </p:sp>
      <p:sp>
        <p:nvSpPr>
          <p:cNvPr id="6" name="Text 4"/>
          <p:cNvSpPr/>
          <p:nvPr/>
        </p:nvSpPr>
        <p:spPr>
          <a:xfrm>
            <a:off x="841248" y="1975104"/>
            <a:ext cx="4833976" cy="27432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Mandatory</a:t>
            </a:r>
            <a:endParaRPr lang="en-US" sz="1550" dirty="0"/>
          </a:p>
        </p:txBody>
      </p:sp>
      <p:sp>
        <p:nvSpPr>
          <p:cNvPr id="7" name="Text 5"/>
          <p:cNvSpPr/>
          <p:nvPr/>
        </p:nvSpPr>
        <p:spPr>
          <a:xfrm>
            <a:off x="841248" y="2304288"/>
            <a:ext cx="4833976" cy="786384"/>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Named in the contract, statement of work or plan? An item the customer controls and whose product baseline they will establish?</a:t>
            </a:r>
            <a:endParaRPr lang="en-US" sz="1150" dirty="0"/>
          </a:p>
        </p:txBody>
      </p:sp>
      <p:sp>
        <p:nvSpPr>
          <p:cNvPr id="8" name="Text 6"/>
          <p:cNvSpPr/>
          <p:nvPr/>
        </p:nvSpPr>
        <p:spPr>
          <a:xfrm>
            <a:off x="841248" y="3163824"/>
            <a:ext cx="4833976" cy="329184"/>
          </a:xfrm>
          <a:prstGeom prst="rect">
            <a:avLst/>
          </a:prstGeom>
          <a:noFill/>
          <a:ln/>
        </p:spPr>
        <p:txBody>
          <a:bodyPr wrap="square" lIns="0" tIns="0" rIns="0" bIns="0" rtlCol="0" anchor="ctr"/>
          <a:lstStyle/>
          <a:p>
            <a:pPr indent="0" marL="0">
              <a:lnSpc>
                <a:spcPts val="1600"/>
              </a:lnSpc>
              <a:buNone/>
            </a:pPr>
            <a:r>
              <a:rPr lang="en-US" sz="1150" b="1" dirty="0">
                <a:solidFill>
                  <a:srgbClr val="4A5A9E"/>
                </a:solidFill>
                <a:latin typeface="Calibri" pitchFamily="34" charset="0"/>
                <a:ea typeface="Calibri" pitchFamily="34" charset="-122"/>
                <a:cs typeface="Calibri" pitchFamily="34" charset="-120"/>
              </a:rPr>
              <a:t>Any yes designates — then keep going. Contract scope is a floor, not a ceiling.</a:t>
            </a:r>
            <a:endParaRPr lang="en-US" sz="1150" dirty="0"/>
          </a:p>
        </p:txBody>
      </p:sp>
      <p:sp>
        <p:nvSpPr>
          <p:cNvPr id="9" name="Shape 7"/>
          <p:cNvSpPr/>
          <p:nvPr/>
        </p:nvSpPr>
        <p:spPr>
          <a:xfrm>
            <a:off x="6242152" y="1572768"/>
            <a:ext cx="5382616" cy="2011680"/>
          </a:xfrm>
          <a:prstGeom prst="roundRect">
            <a:avLst>
              <a:gd name="adj" fmla="val 2727"/>
            </a:avLst>
          </a:prstGeom>
          <a:solidFill>
            <a:srgbClr val="1E2761"/>
          </a:solidFill>
          <a:ln w="12700">
            <a:solidFill>
              <a:srgbClr val="1E2761"/>
            </a:solidFill>
            <a:prstDash val="solid"/>
          </a:ln>
        </p:spPr>
      </p:sp>
      <p:sp>
        <p:nvSpPr>
          <p:cNvPr id="10" name="Text 8"/>
          <p:cNvSpPr/>
          <p:nvPr/>
        </p:nvSpPr>
        <p:spPr>
          <a:xfrm>
            <a:off x="6516472" y="1719072"/>
            <a:ext cx="4833976" cy="219456"/>
          </a:xfrm>
          <a:prstGeom prst="rect">
            <a:avLst/>
          </a:prstGeom>
          <a:noFill/>
          <a:ln/>
        </p:spPr>
        <p:txBody>
          <a:bodyPr wrap="square" lIns="0" tIns="0" rIns="0" bIns="0" rtlCol="0" anchor="ctr"/>
          <a:lstStyle/>
          <a:p>
            <a:pPr indent="0" marL="0">
              <a:buNone/>
            </a:pPr>
            <a:r>
              <a:rPr lang="en-US" sz="1050" b="1" spc="100" kern="0" dirty="0">
                <a:solidFill>
                  <a:srgbClr val="C8A24A"/>
                </a:solidFill>
                <a:latin typeface="Calibri" pitchFamily="34" charset="0"/>
                <a:ea typeface="Calibri" pitchFamily="34" charset="-122"/>
                <a:cs typeface="Calibri" pitchFamily="34" charset="-120"/>
              </a:rPr>
              <a:t>PART B</a:t>
            </a:r>
            <a:endParaRPr lang="en-US" sz="1050" dirty="0"/>
          </a:p>
        </p:txBody>
      </p:sp>
      <p:sp>
        <p:nvSpPr>
          <p:cNvPr id="11" name="Text 9"/>
          <p:cNvSpPr/>
          <p:nvPr/>
        </p:nvSpPr>
        <p:spPr>
          <a:xfrm>
            <a:off x="6516472" y="1975104"/>
            <a:ext cx="4833976" cy="27432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Safety criticality</a:t>
            </a:r>
            <a:endParaRPr lang="en-US" sz="1550" dirty="0"/>
          </a:p>
        </p:txBody>
      </p:sp>
      <p:sp>
        <p:nvSpPr>
          <p:cNvPr id="12" name="Text 10"/>
          <p:cNvSpPr/>
          <p:nvPr/>
        </p:nvSpPr>
        <p:spPr>
          <a:xfrm>
            <a:off x="6516472" y="2304288"/>
            <a:ext cx="4833976" cy="786384"/>
          </a:xfrm>
          <a:prstGeom prst="rect">
            <a:avLst/>
          </a:prstGeom>
          <a:noFill/>
          <a:ln/>
        </p:spPr>
        <p:txBody>
          <a:bodyPr wrap="square" lIns="0" tIns="0" rIns="0" bIns="0" rtlCol="0" anchor="ctr"/>
          <a:lstStyle/>
          <a:p>
            <a:pPr indent="0" marL="0">
              <a:lnSpc>
                <a:spcPts val="1600"/>
              </a:lnSpc>
              <a:buNone/>
            </a:pPr>
            <a:r>
              <a:rPr lang="en-US" sz="1150" dirty="0">
                <a:solidFill>
                  <a:srgbClr val="D8E0F4"/>
                </a:solidFill>
                <a:latin typeface="Calibri" pitchFamily="34" charset="0"/>
                <a:ea typeface="Calibri" pitchFamily="34" charset="-122"/>
                <a:cs typeface="Calibri" pitchFamily="34" charset="-120"/>
              </a:rPr>
              <a:t>Hosts a hazard risk control? Failure could cause serious injury or loss of primary capability? Top two severity bands? Safety-critical software or firmware? Single point of failure?</a:t>
            </a:r>
            <a:endParaRPr lang="en-US" sz="1150" dirty="0"/>
          </a:p>
        </p:txBody>
      </p:sp>
      <p:sp>
        <p:nvSpPr>
          <p:cNvPr id="13" name="Text 11"/>
          <p:cNvSpPr/>
          <p:nvPr/>
        </p:nvSpPr>
        <p:spPr>
          <a:xfrm>
            <a:off x="6516472" y="3163824"/>
            <a:ext cx="4833976" cy="329184"/>
          </a:xfrm>
          <a:prstGeom prst="rect">
            <a:avLst/>
          </a:prstGeom>
          <a:noFill/>
          <a:ln/>
        </p:spPr>
        <p:txBody>
          <a:bodyPr wrap="square" lIns="0" tIns="0" rIns="0" bIns="0" rtlCol="0" anchor="ctr"/>
          <a:lstStyle/>
          <a:p>
            <a:pPr indent="0" marL="0">
              <a:lnSpc>
                <a:spcPts val="1600"/>
              </a:lnSpc>
              <a:buNone/>
            </a:pPr>
            <a:r>
              <a:rPr lang="en-US" sz="1150" b="1" dirty="0">
                <a:solidFill>
                  <a:srgbClr val="CADCFC"/>
                </a:solidFill>
                <a:latin typeface="Calibri" pitchFamily="34" charset="0"/>
                <a:ea typeface="Calibri" pitchFamily="34" charset="-122"/>
                <a:cs typeface="Calibri" pitchFamily="34" charset="-120"/>
              </a:rPr>
              <a:t>Any yes creates presumptive designation. Omission needs documented System Safety concurrence.</a:t>
            </a:r>
            <a:endParaRPr lang="en-US" sz="1150" dirty="0"/>
          </a:p>
        </p:txBody>
      </p:sp>
      <p:sp>
        <p:nvSpPr>
          <p:cNvPr id="14" name="Shape 12"/>
          <p:cNvSpPr/>
          <p:nvPr/>
        </p:nvSpPr>
        <p:spPr>
          <a:xfrm>
            <a:off x="566928" y="3785616"/>
            <a:ext cx="5382616" cy="2011680"/>
          </a:xfrm>
          <a:prstGeom prst="roundRect">
            <a:avLst>
              <a:gd name="adj" fmla="val 2727"/>
            </a:avLst>
          </a:prstGeom>
          <a:solidFill>
            <a:srgbClr val="F0F4FB"/>
          </a:solidFill>
          <a:ln w="12700">
            <a:solidFill>
              <a:srgbClr val="CADCFC"/>
            </a:solidFill>
            <a:prstDash val="solid"/>
          </a:ln>
        </p:spPr>
      </p:sp>
      <p:sp>
        <p:nvSpPr>
          <p:cNvPr id="15" name="Text 13"/>
          <p:cNvSpPr/>
          <p:nvPr/>
        </p:nvSpPr>
        <p:spPr>
          <a:xfrm>
            <a:off x="841248" y="3931920"/>
            <a:ext cx="4833976" cy="219456"/>
          </a:xfrm>
          <a:prstGeom prst="rect">
            <a:avLst/>
          </a:prstGeom>
          <a:noFill/>
          <a:ln/>
        </p:spPr>
        <p:txBody>
          <a:bodyPr wrap="square" lIns="0" tIns="0" rIns="0" bIns="0" rtlCol="0" anchor="ctr"/>
          <a:lstStyle/>
          <a:p>
            <a:pPr indent="0" marL="0">
              <a:buNone/>
            </a:pPr>
            <a:r>
              <a:rPr lang="en-US" sz="1050" b="1" spc="100" kern="0" dirty="0">
                <a:solidFill>
                  <a:srgbClr val="4A5A9E"/>
                </a:solidFill>
                <a:latin typeface="Calibri" pitchFamily="34" charset="0"/>
                <a:ea typeface="Calibri" pitchFamily="34" charset="-122"/>
                <a:cs typeface="Calibri" pitchFamily="34" charset="-120"/>
              </a:rPr>
              <a:t>PART C</a:t>
            </a:r>
            <a:endParaRPr lang="en-US" sz="1050" dirty="0"/>
          </a:p>
        </p:txBody>
      </p:sp>
      <p:sp>
        <p:nvSpPr>
          <p:cNvPr id="16" name="Text 14"/>
          <p:cNvSpPr/>
          <p:nvPr/>
        </p:nvSpPr>
        <p:spPr>
          <a:xfrm>
            <a:off x="841248" y="4187952"/>
            <a:ext cx="4833976" cy="27432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Risk factors</a:t>
            </a:r>
            <a:endParaRPr lang="en-US" sz="1550" dirty="0"/>
          </a:p>
        </p:txBody>
      </p:sp>
      <p:sp>
        <p:nvSpPr>
          <p:cNvPr id="17" name="Text 15"/>
          <p:cNvSpPr/>
          <p:nvPr/>
        </p:nvSpPr>
        <p:spPr>
          <a:xfrm>
            <a:off x="841248" y="4517136"/>
            <a:ext cx="4833976" cy="786384"/>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New or novel design · substantive change since last audit · new source, process, facility or tooling · new sub-tier supplier · escape history · work not to approved data · reconciliation anomalies · never audited</a:t>
            </a:r>
            <a:endParaRPr lang="en-US" sz="1150" dirty="0"/>
          </a:p>
        </p:txBody>
      </p:sp>
      <p:sp>
        <p:nvSpPr>
          <p:cNvPr id="18" name="Text 16"/>
          <p:cNvSpPr/>
          <p:nvPr/>
        </p:nvSpPr>
        <p:spPr>
          <a:xfrm>
            <a:off x="841248" y="5376672"/>
            <a:ext cx="4833976" cy="329184"/>
          </a:xfrm>
          <a:prstGeom prst="rect">
            <a:avLst/>
          </a:prstGeom>
          <a:noFill/>
          <a:ln/>
        </p:spPr>
        <p:txBody>
          <a:bodyPr wrap="square" lIns="0" tIns="0" rIns="0" bIns="0" rtlCol="0" anchor="ctr"/>
          <a:lstStyle/>
          <a:p>
            <a:pPr indent="0" marL="0">
              <a:lnSpc>
                <a:spcPts val="1600"/>
              </a:lnSpc>
              <a:buNone/>
            </a:pPr>
            <a:r>
              <a:rPr lang="en-US" sz="1150" b="1" dirty="0">
                <a:solidFill>
                  <a:srgbClr val="4A5A9E"/>
                </a:solidFill>
                <a:latin typeface="Calibri" pitchFamily="34" charset="0"/>
                <a:ea typeface="Calibri" pitchFamily="34" charset="-122"/>
                <a:cs typeface="Calibri" pitchFamily="34" charset="-120"/>
              </a:rPr>
              <a:t>Two or more designate. Exactly one is recorded and monitored.</a:t>
            </a:r>
            <a:endParaRPr lang="en-US" sz="1150" dirty="0"/>
          </a:p>
        </p:txBody>
      </p:sp>
      <p:sp>
        <p:nvSpPr>
          <p:cNvPr id="19" name="Shape 17"/>
          <p:cNvSpPr/>
          <p:nvPr/>
        </p:nvSpPr>
        <p:spPr>
          <a:xfrm>
            <a:off x="6242152" y="3785616"/>
            <a:ext cx="5382616" cy="2011680"/>
          </a:xfrm>
          <a:prstGeom prst="roundRect">
            <a:avLst>
              <a:gd name="adj" fmla="val 2727"/>
            </a:avLst>
          </a:prstGeom>
          <a:solidFill>
            <a:srgbClr val="F0F4FB"/>
          </a:solidFill>
          <a:ln w="12700">
            <a:solidFill>
              <a:srgbClr val="CADCFC"/>
            </a:solidFill>
            <a:prstDash val="solid"/>
          </a:ln>
        </p:spPr>
      </p:sp>
      <p:sp>
        <p:nvSpPr>
          <p:cNvPr id="20" name="Text 18"/>
          <p:cNvSpPr/>
          <p:nvPr/>
        </p:nvSpPr>
        <p:spPr>
          <a:xfrm>
            <a:off x="6516472" y="3931920"/>
            <a:ext cx="4833976" cy="219456"/>
          </a:xfrm>
          <a:prstGeom prst="rect">
            <a:avLst/>
          </a:prstGeom>
          <a:noFill/>
          <a:ln/>
        </p:spPr>
        <p:txBody>
          <a:bodyPr wrap="square" lIns="0" tIns="0" rIns="0" bIns="0" rtlCol="0" anchor="ctr"/>
          <a:lstStyle/>
          <a:p>
            <a:pPr indent="0" marL="0">
              <a:buNone/>
            </a:pPr>
            <a:r>
              <a:rPr lang="en-US" sz="1050" b="1" spc="100" kern="0" dirty="0">
                <a:solidFill>
                  <a:srgbClr val="4A5A9E"/>
                </a:solidFill>
                <a:latin typeface="Calibri" pitchFamily="34" charset="0"/>
                <a:ea typeface="Calibri" pitchFamily="34" charset="-122"/>
                <a:cs typeface="Calibri" pitchFamily="34" charset="-120"/>
              </a:rPr>
              <a:t>PART D</a:t>
            </a:r>
            <a:endParaRPr lang="en-US" sz="1050" dirty="0"/>
          </a:p>
        </p:txBody>
      </p:sp>
      <p:sp>
        <p:nvSpPr>
          <p:cNvPr id="21" name="Text 19"/>
          <p:cNvSpPr/>
          <p:nvPr/>
        </p:nvSpPr>
        <p:spPr>
          <a:xfrm>
            <a:off x="6516472" y="4187952"/>
            <a:ext cx="4833976" cy="27432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Reassessment triggers</a:t>
            </a:r>
            <a:endParaRPr lang="en-US" sz="1550" dirty="0"/>
          </a:p>
        </p:txBody>
      </p:sp>
      <p:sp>
        <p:nvSpPr>
          <p:cNvPr id="22" name="Text 20"/>
          <p:cNvSpPr/>
          <p:nvPr/>
        </p:nvSpPr>
        <p:spPr>
          <a:xfrm>
            <a:off x="6516472" y="4517136"/>
            <a:ext cx="4833976" cy="786384"/>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Design, process, facility, tooling or supplier change · escape or safety event · reconciliation anomaly · hazard log revision adding a control · plan revision</a:t>
            </a:r>
            <a:endParaRPr lang="en-US" sz="1150" dirty="0"/>
          </a:p>
        </p:txBody>
      </p:sp>
      <p:sp>
        <p:nvSpPr>
          <p:cNvPr id="23" name="Text 21"/>
          <p:cNvSpPr/>
          <p:nvPr/>
        </p:nvSpPr>
        <p:spPr>
          <a:xfrm>
            <a:off x="6516472" y="5376672"/>
            <a:ext cx="4833976" cy="329184"/>
          </a:xfrm>
          <a:prstGeom prst="rect">
            <a:avLst/>
          </a:prstGeom>
          <a:noFill/>
          <a:ln/>
        </p:spPr>
        <p:txBody>
          <a:bodyPr wrap="square" lIns="0" tIns="0" rIns="0" bIns="0" rtlCol="0" anchor="ctr"/>
          <a:lstStyle/>
          <a:p>
            <a:pPr indent="0" marL="0">
              <a:lnSpc>
                <a:spcPts val="1600"/>
              </a:lnSpc>
              <a:buNone/>
            </a:pPr>
            <a:r>
              <a:rPr lang="en-US" sz="1150" b="1" dirty="0">
                <a:solidFill>
                  <a:srgbClr val="4A5A9E"/>
                </a:solidFill>
                <a:latin typeface="Calibri" pitchFamily="34" charset="0"/>
                <a:ea typeface="Calibri" pitchFamily="34" charset="-122"/>
                <a:cs typeface="Calibri" pitchFamily="34" charset="-120"/>
              </a:rPr>
              <a:t>Re-run the assessment. A program accumulates triggers for years.</a:t>
            </a:r>
            <a:endParaRPr lang="en-US" sz="1150" dirty="0"/>
          </a:p>
        </p:txBody>
      </p:sp>
      <p:sp>
        <p:nvSpPr>
          <p:cNvPr id="24" name="Text 22"/>
          <p:cNvSpPr/>
          <p:nvPr/>
        </p:nvSpPr>
        <p:spPr>
          <a:xfrm>
            <a:off x="566928" y="6144768"/>
            <a:ext cx="11057839" cy="41148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Every answer has a source — the hazard log, quality and safety data, procurement records, reconciliation indicators. A “no” that means nobody checked is indistinguishable on the form from one somebody established.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Order, and what has to be true first</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Each prerequisite is structural rather than administrative — the audit has nothing to work on without it.</a:t>
            </a:r>
            <a:endParaRPr lang="en-US" sz="1350" dirty="0"/>
          </a:p>
        </p:txBody>
      </p:sp>
      <p:sp>
        <p:nvSpPr>
          <p:cNvPr id="4" name="Shape 2"/>
          <p:cNvSpPr/>
          <p:nvPr/>
        </p:nvSpPr>
        <p:spPr>
          <a:xfrm>
            <a:off x="566928" y="1645920"/>
            <a:ext cx="2613584" cy="1874520"/>
          </a:xfrm>
          <a:prstGeom prst="roundRect">
            <a:avLst>
              <a:gd name="adj" fmla="val 2927"/>
            </a:avLst>
          </a:prstGeom>
          <a:solidFill>
            <a:srgbClr val="F0F4FB"/>
          </a:solidFill>
          <a:ln w="12700">
            <a:solidFill>
              <a:srgbClr val="CADCFC"/>
            </a:solidFill>
            <a:prstDash val="solid"/>
          </a:ln>
        </p:spPr>
      </p:sp>
      <p:sp>
        <p:nvSpPr>
          <p:cNvPr id="5" name="Text 3"/>
          <p:cNvSpPr/>
          <p:nvPr/>
        </p:nvSpPr>
        <p:spPr>
          <a:xfrm>
            <a:off x="804672" y="1792224"/>
            <a:ext cx="274320" cy="256032"/>
          </a:xfrm>
          <a:prstGeom prst="rect">
            <a:avLst/>
          </a:prstGeom>
          <a:noFill/>
          <a:ln/>
        </p:spPr>
        <p:txBody>
          <a:bodyPr wrap="square" lIns="0" tIns="0" rIns="0" bIns="0" rtlCol="0" anchor="ctr"/>
          <a:lstStyle/>
          <a:p>
            <a:pPr indent="0" marL="0">
              <a:buNone/>
            </a:pPr>
            <a:r>
              <a:rPr lang="en-US" sz="1500" b="1" dirty="0">
                <a:solidFill>
                  <a:srgbClr val="4A5A9E"/>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804672" y="2103120"/>
            <a:ext cx="2138096" cy="548640"/>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mbria" pitchFamily="34" charset="0"/>
                <a:ea typeface="Cambria" pitchFamily="34" charset="-122"/>
                <a:cs typeface="Cambria" pitchFamily="34" charset="-120"/>
              </a:rPr>
              <a:t>Approved baselines</a:t>
            </a:r>
            <a:endParaRPr lang="en-US" sz="1450" dirty="0"/>
          </a:p>
        </p:txBody>
      </p:sp>
      <p:sp>
        <p:nvSpPr>
          <p:cNvPr id="7" name="Text 5"/>
          <p:cNvSpPr/>
          <p:nvPr/>
        </p:nvSpPr>
        <p:spPr>
          <a:xfrm>
            <a:off x="804672" y="2670048"/>
            <a:ext cx="2138096" cy="7315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Functional and allocated documentation approved by the customer. Without it you audit against a draft that moves underneath the finding.</a:t>
            </a:r>
            <a:endParaRPr lang="en-US" sz="1150" dirty="0"/>
          </a:p>
        </p:txBody>
      </p:sp>
      <p:sp>
        <p:nvSpPr>
          <p:cNvPr id="8" name="Text 6"/>
          <p:cNvSpPr/>
          <p:nvPr/>
        </p:nvSpPr>
        <p:spPr>
          <a:xfrm>
            <a:off x="3189656" y="2377440"/>
            <a:ext cx="182880" cy="274320"/>
          </a:xfrm>
          <a:prstGeom prst="rect">
            <a:avLst/>
          </a:prstGeom>
          <a:noFill/>
          <a:ln/>
        </p:spPr>
        <p:txBody>
          <a:bodyPr wrap="square" lIns="0" tIns="0" rIns="0" bIns="0" rtlCol="0" anchor="ctr"/>
          <a:lstStyle/>
          <a:p>
            <a:pPr algn="ctr" indent="0" marL="0">
              <a:buNone/>
            </a:pPr>
            <a:r>
              <a:rPr lang="en-US" sz="1400" dirty="0">
                <a:solidFill>
                  <a:srgbClr val="4A5A9E"/>
                </a:solidFill>
              </a:rPr>
              <a:t>→</a:t>
            </a:r>
            <a:endParaRPr lang="en-US" sz="1400" dirty="0"/>
          </a:p>
        </p:txBody>
      </p:sp>
      <p:sp>
        <p:nvSpPr>
          <p:cNvPr id="9" name="Shape 7"/>
          <p:cNvSpPr/>
          <p:nvPr/>
        </p:nvSpPr>
        <p:spPr>
          <a:xfrm>
            <a:off x="3381680" y="1645920"/>
            <a:ext cx="2613584" cy="1874520"/>
          </a:xfrm>
          <a:prstGeom prst="roundRect">
            <a:avLst>
              <a:gd name="adj" fmla="val 2927"/>
            </a:avLst>
          </a:prstGeom>
          <a:solidFill>
            <a:srgbClr val="F0F4FB"/>
          </a:solidFill>
          <a:ln w="12700">
            <a:solidFill>
              <a:srgbClr val="CADCFC"/>
            </a:solidFill>
            <a:prstDash val="solid"/>
          </a:ln>
        </p:spPr>
      </p:sp>
      <p:sp>
        <p:nvSpPr>
          <p:cNvPr id="10" name="Text 8"/>
          <p:cNvSpPr/>
          <p:nvPr/>
        </p:nvSpPr>
        <p:spPr>
          <a:xfrm>
            <a:off x="3619424" y="1792224"/>
            <a:ext cx="274320" cy="256032"/>
          </a:xfrm>
          <a:prstGeom prst="rect">
            <a:avLst/>
          </a:prstGeom>
          <a:noFill/>
          <a:ln/>
        </p:spPr>
        <p:txBody>
          <a:bodyPr wrap="square" lIns="0" tIns="0" rIns="0" bIns="0" rtlCol="0" anchor="ctr"/>
          <a:lstStyle/>
          <a:p>
            <a:pPr indent="0" marL="0">
              <a:buNone/>
            </a:pPr>
            <a:r>
              <a:rPr lang="en-US" sz="1500" b="1" dirty="0">
                <a:solidFill>
                  <a:srgbClr val="4A5A9E"/>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3619424" y="2103120"/>
            <a:ext cx="2138096" cy="548640"/>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mbria" pitchFamily="34" charset="0"/>
                <a:ea typeface="Cambria" pitchFamily="34" charset="-122"/>
                <a:cs typeface="Cambria" pitchFamily="34" charset="-120"/>
              </a:rPr>
              <a:t>Functional audit</a:t>
            </a:r>
            <a:endParaRPr lang="en-US" sz="1450" dirty="0"/>
          </a:p>
        </p:txBody>
      </p:sp>
      <p:sp>
        <p:nvSpPr>
          <p:cNvPr id="12" name="Text 10"/>
          <p:cNvSpPr/>
          <p:nvPr/>
        </p:nvSpPr>
        <p:spPr>
          <a:xfrm>
            <a:off x="3619424" y="2670048"/>
            <a:ext cx="2138096" cy="7315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Tested performance against approved requirements. Produces the validated item.</a:t>
            </a:r>
            <a:endParaRPr lang="en-US" sz="1150" dirty="0"/>
          </a:p>
        </p:txBody>
      </p:sp>
      <p:sp>
        <p:nvSpPr>
          <p:cNvPr id="13" name="Text 11"/>
          <p:cNvSpPr/>
          <p:nvPr/>
        </p:nvSpPr>
        <p:spPr>
          <a:xfrm>
            <a:off x="6004408" y="2377440"/>
            <a:ext cx="182880" cy="274320"/>
          </a:xfrm>
          <a:prstGeom prst="rect">
            <a:avLst/>
          </a:prstGeom>
          <a:noFill/>
          <a:ln/>
        </p:spPr>
        <p:txBody>
          <a:bodyPr wrap="square" lIns="0" tIns="0" rIns="0" bIns="0" rtlCol="0" anchor="ctr"/>
          <a:lstStyle/>
          <a:p>
            <a:pPr algn="ctr" indent="0" marL="0">
              <a:buNone/>
            </a:pPr>
            <a:r>
              <a:rPr lang="en-US" sz="1400" dirty="0">
                <a:solidFill>
                  <a:srgbClr val="4A5A9E"/>
                </a:solidFill>
              </a:rPr>
              <a:t>→</a:t>
            </a:r>
            <a:endParaRPr lang="en-US" sz="1400" dirty="0"/>
          </a:p>
        </p:txBody>
      </p:sp>
      <p:sp>
        <p:nvSpPr>
          <p:cNvPr id="14" name="Shape 12"/>
          <p:cNvSpPr/>
          <p:nvPr/>
        </p:nvSpPr>
        <p:spPr>
          <a:xfrm>
            <a:off x="6196432" y="1645920"/>
            <a:ext cx="2613584" cy="1874520"/>
          </a:xfrm>
          <a:prstGeom prst="roundRect">
            <a:avLst>
              <a:gd name="adj" fmla="val 2927"/>
            </a:avLst>
          </a:prstGeom>
          <a:solidFill>
            <a:srgbClr val="F0F4FB"/>
          </a:solidFill>
          <a:ln w="12700">
            <a:solidFill>
              <a:srgbClr val="CADCFC"/>
            </a:solidFill>
            <a:prstDash val="solid"/>
          </a:ln>
        </p:spPr>
      </p:sp>
      <p:sp>
        <p:nvSpPr>
          <p:cNvPr id="15" name="Text 13"/>
          <p:cNvSpPr/>
          <p:nvPr/>
        </p:nvSpPr>
        <p:spPr>
          <a:xfrm>
            <a:off x="6434176" y="1792224"/>
            <a:ext cx="274320" cy="256032"/>
          </a:xfrm>
          <a:prstGeom prst="rect">
            <a:avLst/>
          </a:prstGeom>
          <a:noFill/>
          <a:ln/>
        </p:spPr>
        <p:txBody>
          <a:bodyPr wrap="square" lIns="0" tIns="0" rIns="0" bIns="0" rtlCol="0" anchor="ctr"/>
          <a:lstStyle/>
          <a:p>
            <a:pPr indent="0" marL="0">
              <a:buNone/>
            </a:pPr>
            <a:r>
              <a:rPr lang="en-US" sz="1500" b="1" dirty="0">
                <a:solidFill>
                  <a:srgbClr val="4A5A9E"/>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6434176" y="2103120"/>
            <a:ext cx="2138096" cy="548640"/>
          </a:xfrm>
          <a:prstGeom prst="rect">
            <a:avLst/>
          </a:prstGeom>
          <a:noFill/>
          <a:ln/>
        </p:spPr>
        <p:txBody>
          <a:bodyPr wrap="square" lIns="0" tIns="0" rIns="0" bIns="0" rtlCol="0" anchor="ctr"/>
          <a:lstStyle/>
          <a:p>
            <a:pPr indent="0" marL="0">
              <a:lnSpc>
                <a:spcPts val="1900"/>
              </a:lnSpc>
              <a:buNone/>
            </a:pPr>
            <a:r>
              <a:rPr lang="en-US" sz="1450" b="1" dirty="0">
                <a:solidFill>
                  <a:srgbClr val="1E2761"/>
                </a:solidFill>
                <a:latin typeface="Cambria" pitchFamily="34" charset="0"/>
                <a:ea typeface="Cambria" pitchFamily="34" charset="-122"/>
                <a:cs typeface="Cambria" pitchFamily="34" charset="-120"/>
              </a:rPr>
              <a:t>Physical audit</a:t>
            </a:r>
            <a:endParaRPr lang="en-US" sz="1450" dirty="0"/>
          </a:p>
        </p:txBody>
      </p:sp>
      <p:sp>
        <p:nvSpPr>
          <p:cNvPr id="17" name="Text 15"/>
          <p:cNvSpPr/>
          <p:nvPr/>
        </p:nvSpPr>
        <p:spPr>
          <a:xfrm>
            <a:off x="6434176" y="2670048"/>
            <a:ext cx="2138096" cy="7315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Examines the as-built configuration of a validated item. Cannot precede validation.</a:t>
            </a:r>
            <a:endParaRPr lang="en-US" sz="1150" dirty="0"/>
          </a:p>
        </p:txBody>
      </p:sp>
      <p:sp>
        <p:nvSpPr>
          <p:cNvPr id="18" name="Text 16"/>
          <p:cNvSpPr/>
          <p:nvPr/>
        </p:nvSpPr>
        <p:spPr>
          <a:xfrm>
            <a:off x="8819159" y="2377440"/>
            <a:ext cx="182880" cy="274320"/>
          </a:xfrm>
          <a:prstGeom prst="rect">
            <a:avLst/>
          </a:prstGeom>
          <a:noFill/>
          <a:ln/>
        </p:spPr>
        <p:txBody>
          <a:bodyPr wrap="square" lIns="0" tIns="0" rIns="0" bIns="0" rtlCol="0" anchor="ctr"/>
          <a:lstStyle/>
          <a:p>
            <a:pPr algn="ctr" indent="0" marL="0">
              <a:buNone/>
            </a:pPr>
            <a:r>
              <a:rPr lang="en-US" sz="1400" dirty="0">
                <a:solidFill>
                  <a:srgbClr val="4A5A9E"/>
                </a:solidFill>
              </a:rPr>
              <a:t>→</a:t>
            </a:r>
            <a:endParaRPr lang="en-US" sz="1400" dirty="0"/>
          </a:p>
        </p:txBody>
      </p:sp>
      <p:sp>
        <p:nvSpPr>
          <p:cNvPr id="19" name="Shape 17"/>
          <p:cNvSpPr/>
          <p:nvPr/>
        </p:nvSpPr>
        <p:spPr>
          <a:xfrm>
            <a:off x="9011183" y="1645920"/>
            <a:ext cx="2613584" cy="1874520"/>
          </a:xfrm>
          <a:prstGeom prst="roundRect">
            <a:avLst>
              <a:gd name="adj" fmla="val 2927"/>
            </a:avLst>
          </a:prstGeom>
          <a:solidFill>
            <a:srgbClr val="1E2761"/>
          </a:solidFill>
          <a:ln w="12700">
            <a:solidFill>
              <a:srgbClr val="1E2761"/>
            </a:solidFill>
            <a:prstDash val="solid"/>
          </a:ln>
        </p:spPr>
      </p:sp>
      <p:sp>
        <p:nvSpPr>
          <p:cNvPr id="20" name="Text 18"/>
          <p:cNvSpPr/>
          <p:nvPr/>
        </p:nvSpPr>
        <p:spPr>
          <a:xfrm>
            <a:off x="9248927" y="1792224"/>
            <a:ext cx="274320" cy="256032"/>
          </a:xfrm>
          <a:prstGeom prst="rect">
            <a:avLst/>
          </a:prstGeom>
          <a:noFill/>
          <a:ln/>
        </p:spPr>
        <p:txBody>
          <a:bodyPr wrap="square" lIns="0" tIns="0" rIns="0" bIns="0" rtlCol="0" anchor="ctr"/>
          <a:lstStyle/>
          <a:p>
            <a:pPr indent="0" marL="0">
              <a:buNone/>
            </a:pPr>
            <a:r>
              <a:rPr lang="en-US" sz="1500" b="1" dirty="0">
                <a:solidFill>
                  <a:srgbClr val="C8A24A"/>
                </a:solidFill>
                <a:latin typeface="Cambria" pitchFamily="34" charset="0"/>
                <a:ea typeface="Cambria" pitchFamily="34" charset="-122"/>
                <a:cs typeface="Cambria" pitchFamily="34" charset="-120"/>
              </a:rPr>
              <a:t>4</a:t>
            </a:r>
            <a:endParaRPr lang="en-US" sz="1500" dirty="0"/>
          </a:p>
        </p:txBody>
      </p:sp>
      <p:sp>
        <p:nvSpPr>
          <p:cNvPr id="21" name="Text 19"/>
          <p:cNvSpPr/>
          <p:nvPr/>
        </p:nvSpPr>
        <p:spPr>
          <a:xfrm>
            <a:off x="9248927" y="2103120"/>
            <a:ext cx="2138096" cy="548640"/>
          </a:xfrm>
          <a:prstGeom prst="rect">
            <a:avLst/>
          </a:prstGeom>
          <a:noFill/>
          <a:ln/>
        </p:spPr>
        <p:txBody>
          <a:bodyPr wrap="square" lIns="0" tIns="0" rIns="0" bIns="0" rtlCol="0" anchor="ctr"/>
          <a:lstStyle/>
          <a:p>
            <a:pPr indent="0" marL="0">
              <a:lnSpc>
                <a:spcPts val="1900"/>
              </a:lnSpc>
              <a:buNone/>
            </a:pPr>
            <a:r>
              <a:rPr lang="en-US" sz="1450" b="1" dirty="0">
                <a:solidFill>
                  <a:srgbClr val="FFFFFF"/>
                </a:solidFill>
                <a:latin typeface="Cambria" pitchFamily="34" charset="0"/>
                <a:ea typeface="Cambria" pitchFamily="34" charset="-122"/>
                <a:cs typeface="Cambria" pitchFamily="34" charset="-120"/>
              </a:rPr>
              <a:t>Product baseline</a:t>
            </a:r>
            <a:endParaRPr lang="en-US" sz="1450" dirty="0"/>
          </a:p>
        </p:txBody>
      </p:sp>
      <p:sp>
        <p:nvSpPr>
          <p:cNvPr id="22" name="Text 20"/>
          <p:cNvSpPr/>
          <p:nvPr/>
        </p:nvSpPr>
        <p:spPr>
          <a:xfrm>
            <a:off x="9248927" y="2670048"/>
            <a:ext cx="2138096" cy="731520"/>
          </a:xfrm>
          <a:prstGeom prst="rect">
            <a:avLst/>
          </a:prstGeom>
          <a:noFill/>
          <a:ln/>
        </p:spPr>
        <p:txBody>
          <a:bodyPr wrap="square" lIns="0" tIns="0" rIns="0" bIns="0" rtlCol="0" anchor="ctr"/>
          <a:lstStyle/>
          <a:p>
            <a:pPr indent="0" marL="0">
              <a:lnSpc>
                <a:spcPts val="1600"/>
              </a:lnSpc>
              <a:buNone/>
            </a:pPr>
            <a:r>
              <a:rPr lang="en-US" sz="1150" dirty="0">
                <a:solidFill>
                  <a:srgbClr val="D8E0F4"/>
                </a:solidFill>
                <a:latin typeface="Calibri" pitchFamily="34" charset="0"/>
                <a:ea typeface="Calibri" pitchFamily="34" charset="-122"/>
                <a:cs typeface="Calibri" pitchFamily="34" charset="-120"/>
              </a:rPr>
              <a:t>Established by the customer on successful completion and specification approval. Every later change is formal change action.</a:t>
            </a:r>
            <a:endParaRPr lang="en-US" sz="1150" dirty="0"/>
          </a:p>
        </p:txBody>
      </p:sp>
      <p:sp>
        <p:nvSpPr>
          <p:cNvPr id="23" name="Text 21"/>
          <p:cNvSpPr/>
          <p:nvPr/>
        </p:nvSpPr>
        <p:spPr>
          <a:xfrm>
            <a:off x="566928" y="3840480"/>
            <a:ext cx="11057839" cy="27432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Before the physical audit convenes, on the specific unit</a:t>
            </a:r>
            <a:endParaRPr lang="en-US" sz="1500" dirty="0"/>
          </a:p>
        </p:txBody>
      </p:sp>
      <p:sp>
        <p:nvSpPr>
          <p:cNvPr id="24" name="Shape 22"/>
          <p:cNvSpPr/>
          <p:nvPr/>
        </p:nvSpPr>
        <p:spPr>
          <a:xfrm>
            <a:off x="566928" y="4206240"/>
            <a:ext cx="3551834" cy="1737360"/>
          </a:xfrm>
          <a:prstGeom prst="roundRect">
            <a:avLst>
              <a:gd name="adj" fmla="val 3158"/>
            </a:avLst>
          </a:prstGeom>
          <a:solidFill>
            <a:srgbClr val="FFFFFF"/>
          </a:solidFill>
          <a:ln w="12700">
            <a:solidFill>
              <a:srgbClr val="CADCFC"/>
            </a:solidFill>
            <a:prstDash val="solid"/>
          </a:ln>
        </p:spPr>
      </p:sp>
      <p:sp>
        <p:nvSpPr>
          <p:cNvPr id="25" name="Text 23"/>
          <p:cNvSpPr/>
          <p:nvPr/>
        </p:nvSpPr>
        <p:spPr>
          <a:xfrm>
            <a:off x="804672" y="4352544"/>
            <a:ext cx="3076346" cy="274320"/>
          </a:xfrm>
          <a:prstGeom prst="rect">
            <a:avLst/>
          </a:prstGeom>
          <a:noFill/>
          <a:ln/>
        </p:spPr>
        <p:txBody>
          <a:bodyPr wrap="square" lIns="0" tIns="0" rIns="0" bIns="0" rtlCol="0" anchor="ctr"/>
          <a:lstStyle/>
          <a:p>
            <a:pPr indent="0" marL="0">
              <a:buNone/>
            </a:pPr>
            <a:r>
              <a:rPr lang="en-US" sz="1300" b="1" dirty="0">
                <a:solidFill>
                  <a:srgbClr val="4A5A9E"/>
                </a:solidFill>
                <a:latin typeface="Calibri" pitchFamily="34" charset="0"/>
                <a:ea typeface="Calibri" pitchFamily="34" charset="-122"/>
                <a:cs typeface="Calibri" pitchFamily="34" charset="-120"/>
              </a:rPr>
              <a:t>Build records closed</a:t>
            </a:r>
            <a:endParaRPr lang="en-US" sz="1300" dirty="0"/>
          </a:p>
        </p:txBody>
      </p:sp>
      <p:sp>
        <p:nvSpPr>
          <p:cNvPr id="26" name="Text 24"/>
          <p:cNvSpPr/>
          <p:nvPr/>
        </p:nvSpPr>
        <p:spPr>
          <a:xfrm>
            <a:off x="804672" y="4681728"/>
            <a:ext cx="3076346" cy="11887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Every work order closed and every non-conformance dispositioned and closed. Until they are, the as-built configuration is not final and the reconciliation is provisional.</a:t>
            </a:r>
            <a:endParaRPr lang="en-US" sz="1150" dirty="0"/>
          </a:p>
        </p:txBody>
      </p:sp>
      <p:sp>
        <p:nvSpPr>
          <p:cNvPr id="27" name="Shape 25"/>
          <p:cNvSpPr/>
          <p:nvPr/>
        </p:nvSpPr>
        <p:spPr>
          <a:xfrm>
            <a:off x="4319930" y="4206240"/>
            <a:ext cx="3551834" cy="1737360"/>
          </a:xfrm>
          <a:prstGeom prst="roundRect">
            <a:avLst>
              <a:gd name="adj" fmla="val 3158"/>
            </a:avLst>
          </a:prstGeom>
          <a:solidFill>
            <a:srgbClr val="FFFFFF"/>
          </a:solidFill>
          <a:ln w="12700">
            <a:solidFill>
              <a:srgbClr val="CADCFC"/>
            </a:solidFill>
            <a:prstDash val="solid"/>
          </a:ln>
        </p:spPr>
      </p:sp>
      <p:sp>
        <p:nvSpPr>
          <p:cNvPr id="28" name="Text 26"/>
          <p:cNvSpPr/>
          <p:nvPr/>
        </p:nvSpPr>
        <p:spPr>
          <a:xfrm>
            <a:off x="4557674" y="4352544"/>
            <a:ext cx="3076346" cy="274320"/>
          </a:xfrm>
          <a:prstGeom prst="rect">
            <a:avLst/>
          </a:prstGeom>
          <a:noFill/>
          <a:ln/>
        </p:spPr>
        <p:txBody>
          <a:bodyPr wrap="square" lIns="0" tIns="0" rIns="0" bIns="0" rtlCol="0" anchor="ctr"/>
          <a:lstStyle/>
          <a:p>
            <a:pPr indent="0" marL="0">
              <a:buNone/>
            </a:pPr>
            <a:r>
              <a:rPr lang="en-US" sz="1300" b="1" dirty="0">
                <a:solidFill>
                  <a:srgbClr val="4A5A9E"/>
                </a:solidFill>
                <a:latin typeface="Calibri" pitchFamily="34" charset="0"/>
                <a:ea typeface="Calibri" pitchFamily="34" charset="-122"/>
                <a:cs typeface="Calibri" pitchFamily="34" charset="-120"/>
              </a:rPr>
              <a:t>Unit jointly selected</a:t>
            </a:r>
            <a:endParaRPr lang="en-US" sz="1300" dirty="0"/>
          </a:p>
        </p:txBody>
      </p:sp>
      <p:sp>
        <p:nvSpPr>
          <p:cNvPr id="29" name="Text 27"/>
          <p:cNvSpPr/>
          <p:nvPr/>
        </p:nvSpPr>
        <p:spPr>
          <a:xfrm>
            <a:off x="4557674" y="4681728"/>
            <a:ext cx="3076346" cy="11887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Early production-representative, serial numbers identified. A unit chosen by the party being audited is an exhibit, not a sample.</a:t>
            </a:r>
            <a:endParaRPr lang="en-US" sz="1150" dirty="0"/>
          </a:p>
        </p:txBody>
      </p:sp>
      <p:sp>
        <p:nvSpPr>
          <p:cNvPr id="30" name="Shape 28"/>
          <p:cNvSpPr/>
          <p:nvPr/>
        </p:nvSpPr>
        <p:spPr>
          <a:xfrm>
            <a:off x="8072933" y="4206240"/>
            <a:ext cx="3551834" cy="1737360"/>
          </a:xfrm>
          <a:prstGeom prst="roundRect">
            <a:avLst>
              <a:gd name="adj" fmla="val 3158"/>
            </a:avLst>
          </a:prstGeom>
          <a:solidFill>
            <a:srgbClr val="FFFFFF"/>
          </a:solidFill>
          <a:ln w="12700">
            <a:solidFill>
              <a:srgbClr val="CADCFC"/>
            </a:solidFill>
            <a:prstDash val="solid"/>
          </a:ln>
        </p:spPr>
      </p:sp>
      <p:sp>
        <p:nvSpPr>
          <p:cNvPr id="31" name="Text 29"/>
          <p:cNvSpPr/>
          <p:nvPr/>
        </p:nvSpPr>
        <p:spPr>
          <a:xfrm>
            <a:off x="8310677" y="4352544"/>
            <a:ext cx="3076346" cy="274320"/>
          </a:xfrm>
          <a:prstGeom prst="rect">
            <a:avLst/>
          </a:prstGeom>
          <a:noFill/>
          <a:ln/>
        </p:spPr>
        <p:txBody>
          <a:bodyPr wrap="square" lIns="0" tIns="0" rIns="0" bIns="0" rtlCol="0" anchor="ctr"/>
          <a:lstStyle/>
          <a:p>
            <a:pPr indent="0" marL="0">
              <a:buNone/>
            </a:pPr>
            <a:r>
              <a:rPr lang="en-US" sz="1300" b="1" dirty="0">
                <a:solidFill>
                  <a:srgbClr val="4A5A9E"/>
                </a:solidFill>
                <a:latin typeface="Calibri" pitchFamily="34" charset="0"/>
                <a:ea typeface="Calibri" pitchFamily="34" charset="-122"/>
                <a:cs typeface="Calibri" pitchFamily="34" charset="-120"/>
              </a:rPr>
              <a:t>Access, wherever it sits</a:t>
            </a:r>
            <a:endParaRPr lang="en-US" sz="1300" dirty="0"/>
          </a:p>
        </p:txBody>
      </p:sp>
      <p:sp>
        <p:nvSpPr>
          <p:cNvPr id="32" name="Text 30"/>
          <p:cNvSpPr/>
          <p:nvPr/>
        </p:nvSpPr>
        <p:spPr>
          <a:xfrm>
            <a:off x="8310677" y="4681728"/>
            <a:ext cx="3076346" cy="118872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To the floor, the tooling and the instructions actually used. Embodiment is not a barrier: access extends to the installed item and its zone.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functional audit: walking the chain</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For every requirement, or an agreed sample, the audit walks one documentation flow from end to end.</a:t>
            </a:r>
            <a:endParaRPr lang="en-US" sz="1350" dirty="0"/>
          </a:p>
        </p:txBody>
      </p:sp>
      <p:sp>
        <p:nvSpPr>
          <p:cNvPr id="4" name="Shape 2"/>
          <p:cNvSpPr/>
          <p:nvPr/>
        </p:nvSpPr>
        <p:spPr>
          <a:xfrm>
            <a:off x="566928" y="1664208"/>
            <a:ext cx="2286000" cy="658368"/>
          </a:xfrm>
          <a:prstGeom prst="roundRect">
            <a:avLst>
              <a:gd name="adj" fmla="val 8333"/>
            </a:avLst>
          </a:prstGeom>
          <a:solidFill>
            <a:srgbClr val="F0F4FB"/>
          </a:solidFill>
          <a:ln w="12700">
            <a:solidFill>
              <a:srgbClr val="CADCFC"/>
            </a:solidFill>
            <a:prstDash val="solid"/>
          </a:ln>
        </p:spPr>
      </p:sp>
      <p:sp>
        <p:nvSpPr>
          <p:cNvPr id="5" name="Text 3"/>
          <p:cNvSpPr/>
          <p:nvPr/>
        </p:nvSpPr>
        <p:spPr>
          <a:xfrm>
            <a:off x="676656" y="1664208"/>
            <a:ext cx="2066544" cy="65836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Baseline requirement</a:t>
            </a:r>
            <a:endParaRPr lang="en-US" sz="1250" dirty="0"/>
          </a:p>
        </p:txBody>
      </p:sp>
      <p:sp>
        <p:nvSpPr>
          <p:cNvPr id="6" name="Text 4"/>
          <p:cNvSpPr/>
          <p:nvPr/>
        </p:nvSpPr>
        <p:spPr>
          <a:xfrm>
            <a:off x="2907792" y="1783080"/>
            <a:ext cx="274320" cy="365760"/>
          </a:xfrm>
          <a:prstGeom prst="rect">
            <a:avLst/>
          </a:prstGeom>
          <a:noFill/>
          <a:ln/>
        </p:spPr>
        <p:txBody>
          <a:bodyPr wrap="square" lIns="0" tIns="0" rIns="0" bIns="0" rtlCol="0" anchor="ctr"/>
          <a:lstStyle/>
          <a:p>
            <a:pPr algn="ctr" indent="0" marL="0">
              <a:buNone/>
            </a:pPr>
            <a:r>
              <a:rPr lang="en-US" sz="1600" dirty="0">
                <a:solidFill>
                  <a:srgbClr val="4A5A9E"/>
                </a:solidFill>
              </a:rPr>
              <a:t>→</a:t>
            </a:r>
            <a:endParaRPr lang="en-US" sz="1600" dirty="0"/>
          </a:p>
        </p:txBody>
      </p:sp>
      <p:sp>
        <p:nvSpPr>
          <p:cNvPr id="7" name="Shape 5"/>
          <p:cNvSpPr/>
          <p:nvPr/>
        </p:nvSpPr>
        <p:spPr>
          <a:xfrm>
            <a:off x="3236976" y="1664208"/>
            <a:ext cx="2286000" cy="658368"/>
          </a:xfrm>
          <a:prstGeom prst="roundRect">
            <a:avLst>
              <a:gd name="adj" fmla="val 8333"/>
            </a:avLst>
          </a:prstGeom>
          <a:solidFill>
            <a:srgbClr val="F0F4FB"/>
          </a:solidFill>
          <a:ln w="12700">
            <a:solidFill>
              <a:srgbClr val="CADCFC"/>
            </a:solidFill>
            <a:prstDash val="solid"/>
          </a:ln>
        </p:spPr>
      </p:sp>
      <p:sp>
        <p:nvSpPr>
          <p:cNvPr id="8" name="Text 6"/>
          <p:cNvSpPr/>
          <p:nvPr/>
        </p:nvSpPr>
        <p:spPr>
          <a:xfrm>
            <a:off x="3346704" y="1664208"/>
            <a:ext cx="2066544" cy="65836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Test plan</a:t>
            </a:r>
            <a:endParaRPr lang="en-US" sz="1250" dirty="0"/>
          </a:p>
        </p:txBody>
      </p:sp>
      <p:sp>
        <p:nvSpPr>
          <p:cNvPr id="9" name="Text 7"/>
          <p:cNvSpPr/>
          <p:nvPr/>
        </p:nvSpPr>
        <p:spPr>
          <a:xfrm>
            <a:off x="5577840" y="1783080"/>
            <a:ext cx="274320" cy="365760"/>
          </a:xfrm>
          <a:prstGeom prst="rect">
            <a:avLst/>
          </a:prstGeom>
          <a:noFill/>
          <a:ln/>
        </p:spPr>
        <p:txBody>
          <a:bodyPr wrap="square" lIns="0" tIns="0" rIns="0" bIns="0" rtlCol="0" anchor="ctr"/>
          <a:lstStyle/>
          <a:p>
            <a:pPr algn="ctr" indent="0" marL="0">
              <a:buNone/>
            </a:pPr>
            <a:r>
              <a:rPr lang="en-US" sz="1600" dirty="0">
                <a:solidFill>
                  <a:srgbClr val="4A5A9E"/>
                </a:solidFill>
              </a:rPr>
              <a:t>→</a:t>
            </a:r>
            <a:endParaRPr lang="en-US" sz="1600" dirty="0"/>
          </a:p>
        </p:txBody>
      </p:sp>
      <p:sp>
        <p:nvSpPr>
          <p:cNvPr id="10" name="Shape 8"/>
          <p:cNvSpPr/>
          <p:nvPr/>
        </p:nvSpPr>
        <p:spPr>
          <a:xfrm>
            <a:off x="5907024" y="1664208"/>
            <a:ext cx="2286000" cy="658368"/>
          </a:xfrm>
          <a:prstGeom prst="roundRect">
            <a:avLst>
              <a:gd name="adj" fmla="val 8333"/>
            </a:avLst>
          </a:prstGeom>
          <a:solidFill>
            <a:srgbClr val="F0F4FB"/>
          </a:solidFill>
          <a:ln w="12700">
            <a:solidFill>
              <a:srgbClr val="CADCFC"/>
            </a:solidFill>
            <a:prstDash val="solid"/>
          </a:ln>
        </p:spPr>
      </p:sp>
      <p:sp>
        <p:nvSpPr>
          <p:cNvPr id="11" name="Text 9"/>
          <p:cNvSpPr/>
          <p:nvPr/>
        </p:nvSpPr>
        <p:spPr>
          <a:xfrm>
            <a:off x="6016752" y="1664208"/>
            <a:ext cx="2066544" cy="65836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Test procedure</a:t>
            </a:r>
            <a:endParaRPr lang="en-US" sz="1250" dirty="0"/>
          </a:p>
        </p:txBody>
      </p:sp>
      <p:sp>
        <p:nvSpPr>
          <p:cNvPr id="12" name="Text 10"/>
          <p:cNvSpPr/>
          <p:nvPr/>
        </p:nvSpPr>
        <p:spPr>
          <a:xfrm>
            <a:off x="8247888" y="1783080"/>
            <a:ext cx="274320" cy="365760"/>
          </a:xfrm>
          <a:prstGeom prst="rect">
            <a:avLst/>
          </a:prstGeom>
          <a:noFill/>
          <a:ln/>
        </p:spPr>
        <p:txBody>
          <a:bodyPr wrap="square" lIns="0" tIns="0" rIns="0" bIns="0" rtlCol="0" anchor="ctr"/>
          <a:lstStyle/>
          <a:p>
            <a:pPr algn="ctr" indent="0" marL="0">
              <a:buNone/>
            </a:pPr>
            <a:r>
              <a:rPr lang="en-US" sz="1600" dirty="0">
                <a:solidFill>
                  <a:srgbClr val="4A5A9E"/>
                </a:solidFill>
              </a:rPr>
              <a:t>→</a:t>
            </a:r>
            <a:endParaRPr lang="en-US" sz="1600" dirty="0"/>
          </a:p>
        </p:txBody>
      </p:sp>
      <p:sp>
        <p:nvSpPr>
          <p:cNvPr id="13" name="Shape 11"/>
          <p:cNvSpPr/>
          <p:nvPr/>
        </p:nvSpPr>
        <p:spPr>
          <a:xfrm>
            <a:off x="8577072" y="1664208"/>
            <a:ext cx="2286000" cy="658368"/>
          </a:xfrm>
          <a:prstGeom prst="roundRect">
            <a:avLst>
              <a:gd name="adj" fmla="val 8333"/>
            </a:avLst>
          </a:prstGeom>
          <a:solidFill>
            <a:srgbClr val="F0F4FB"/>
          </a:solidFill>
          <a:ln w="12700">
            <a:solidFill>
              <a:srgbClr val="CADCFC"/>
            </a:solidFill>
            <a:prstDash val="solid"/>
          </a:ln>
        </p:spPr>
      </p:sp>
      <p:sp>
        <p:nvSpPr>
          <p:cNvPr id="14" name="Text 12"/>
          <p:cNvSpPr/>
          <p:nvPr/>
        </p:nvSpPr>
        <p:spPr>
          <a:xfrm>
            <a:off x="8686800" y="1664208"/>
            <a:ext cx="2066544" cy="658368"/>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Test report</a:t>
            </a:r>
            <a:endParaRPr lang="en-US" sz="1250" dirty="0"/>
          </a:p>
        </p:txBody>
      </p:sp>
      <p:sp>
        <p:nvSpPr>
          <p:cNvPr id="15" name="Text 13"/>
          <p:cNvSpPr/>
          <p:nvPr/>
        </p:nvSpPr>
        <p:spPr>
          <a:xfrm>
            <a:off x="566928" y="2432304"/>
            <a:ext cx="11057839" cy="329184"/>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Or the analysis, inspection or demonstration record standing in place of a test — an empty cell reads as an unverified requirement, and at the audit it will be treated as one.</a:t>
            </a:r>
            <a:endParaRPr lang="en-US" sz="1150" dirty="0"/>
          </a:p>
        </p:txBody>
      </p:sp>
      <p:sp>
        <p:nvSpPr>
          <p:cNvPr id="16" name="Shape 14"/>
          <p:cNvSpPr/>
          <p:nvPr/>
        </p:nvSpPr>
        <p:spPr>
          <a:xfrm>
            <a:off x="566928" y="2962656"/>
            <a:ext cx="3551834" cy="2286000"/>
          </a:xfrm>
          <a:prstGeom prst="roundRect">
            <a:avLst>
              <a:gd name="adj" fmla="val 2400"/>
            </a:avLst>
          </a:prstGeom>
          <a:solidFill>
            <a:srgbClr val="F0F4FB"/>
          </a:solidFill>
          <a:ln w="12700">
            <a:solidFill>
              <a:srgbClr val="CADCFC"/>
            </a:solidFill>
            <a:prstDash val="solid"/>
          </a:ln>
        </p:spPr>
      </p:sp>
      <p:sp>
        <p:nvSpPr>
          <p:cNvPr id="17" name="Text 15"/>
          <p:cNvSpPr/>
          <p:nvPr/>
        </p:nvSpPr>
        <p:spPr>
          <a:xfrm>
            <a:off x="822960" y="3145536"/>
            <a:ext cx="3039770" cy="512064"/>
          </a:xfrm>
          <a:prstGeom prst="rect">
            <a:avLst/>
          </a:prstGeom>
          <a:noFill/>
          <a:ln/>
        </p:spPr>
        <p:txBody>
          <a:bodyPr wrap="square" lIns="0" tIns="0" rIns="0" bIns="0" rtlCol="0" anchor="ctr"/>
          <a:lstStyle/>
          <a:p>
            <a:pPr indent="0" marL="0">
              <a:lnSpc>
                <a:spcPts val="1900"/>
              </a:lnSpc>
              <a:buNone/>
            </a:pPr>
            <a:r>
              <a:rPr lang="en-US" sz="1500" b="1" dirty="0">
                <a:solidFill>
                  <a:srgbClr val="1E2761"/>
                </a:solidFill>
                <a:latin typeface="Cambria" pitchFamily="34" charset="0"/>
                <a:ea typeface="Cambria" pitchFamily="34" charset="-122"/>
                <a:cs typeface="Cambria" pitchFamily="34" charset="-120"/>
              </a:rPr>
              <a:t>Open with what failed</a:t>
            </a:r>
            <a:endParaRPr lang="en-US" sz="1500" dirty="0"/>
          </a:p>
        </p:txBody>
      </p:sp>
      <p:sp>
        <p:nvSpPr>
          <p:cNvPr id="18" name="Text 16"/>
          <p:cNvSpPr/>
          <p:nvPr/>
        </p:nvSpPr>
        <p:spPr>
          <a:xfrm>
            <a:off x="822960" y="3712464"/>
            <a:ext cx="3039770" cy="137160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The design-team briefing has a required slot for requirements not met, with proposed remedies. A briefing that reaches it with nothing to say has either an unusually clean program or a briefing problem — and the audit establishes which.</a:t>
            </a:r>
            <a:endParaRPr lang="en-US" sz="1150" dirty="0"/>
          </a:p>
        </p:txBody>
      </p:sp>
      <p:sp>
        <p:nvSpPr>
          <p:cNvPr id="19" name="Shape 17"/>
          <p:cNvSpPr/>
          <p:nvPr/>
        </p:nvSpPr>
        <p:spPr>
          <a:xfrm>
            <a:off x="4319930" y="2962656"/>
            <a:ext cx="3551834" cy="2286000"/>
          </a:xfrm>
          <a:prstGeom prst="roundRect">
            <a:avLst>
              <a:gd name="adj" fmla="val 2400"/>
            </a:avLst>
          </a:prstGeom>
          <a:solidFill>
            <a:srgbClr val="1E2761"/>
          </a:solidFill>
          <a:ln w="12700">
            <a:solidFill>
              <a:srgbClr val="1E2761"/>
            </a:solidFill>
            <a:prstDash val="solid"/>
          </a:ln>
        </p:spPr>
      </p:sp>
      <p:sp>
        <p:nvSpPr>
          <p:cNvPr id="20" name="Text 18"/>
          <p:cNvSpPr/>
          <p:nvPr/>
        </p:nvSpPr>
        <p:spPr>
          <a:xfrm>
            <a:off x="4575962" y="3145536"/>
            <a:ext cx="3039770" cy="512064"/>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Sampling has one hard limit</a:t>
            </a:r>
            <a:endParaRPr lang="en-US" sz="1500" dirty="0"/>
          </a:p>
        </p:txBody>
      </p:sp>
      <p:sp>
        <p:nvSpPr>
          <p:cNvPr id="21" name="Text 19"/>
          <p:cNvSpPr/>
          <p:nvPr/>
        </p:nvSpPr>
        <p:spPr>
          <a:xfrm>
            <a:off x="4575962" y="3712464"/>
            <a:ext cx="3039770" cy="1371600"/>
          </a:xfrm>
          <a:prstGeom prst="rect">
            <a:avLst/>
          </a:prstGeom>
          <a:noFill/>
          <a:ln/>
        </p:spPr>
        <p:txBody>
          <a:bodyPr wrap="square" lIns="0" tIns="0" rIns="0" bIns="0" rtlCol="0" anchor="ctr"/>
          <a:lstStyle/>
          <a:p>
            <a:pPr indent="0" marL="0">
              <a:lnSpc>
                <a:spcPts val="1600"/>
              </a:lnSpc>
              <a:buNone/>
            </a:pPr>
            <a:r>
              <a:rPr lang="en-US" sz="1150" dirty="0">
                <a:solidFill>
                  <a:srgbClr val="D8E0F4"/>
                </a:solidFill>
                <a:latin typeface="Calibri" pitchFamily="34" charset="0"/>
                <a:ea typeface="Calibri" pitchFamily="34" charset="-122"/>
                <a:cs typeface="Calibri" pitchFamily="34" charset="-120"/>
              </a:rPr>
              <a:t>Where sampling is agreed, requirements verifying hazard risk controls and other safety-critical requirements are in the sample. They are not sampled out — and this is the rule a compressed schedule attacks first.</a:t>
            </a:r>
            <a:endParaRPr lang="en-US" sz="1150" dirty="0"/>
          </a:p>
        </p:txBody>
      </p:sp>
      <p:sp>
        <p:nvSpPr>
          <p:cNvPr id="22" name="Shape 20"/>
          <p:cNvSpPr/>
          <p:nvPr/>
        </p:nvSpPr>
        <p:spPr>
          <a:xfrm>
            <a:off x="8072933" y="2962656"/>
            <a:ext cx="3551834" cy="2286000"/>
          </a:xfrm>
          <a:prstGeom prst="roundRect">
            <a:avLst>
              <a:gd name="adj" fmla="val 2400"/>
            </a:avLst>
          </a:prstGeom>
          <a:solidFill>
            <a:srgbClr val="F0F4FB"/>
          </a:solidFill>
          <a:ln w="12700">
            <a:solidFill>
              <a:srgbClr val="CADCFC"/>
            </a:solidFill>
            <a:prstDash val="solid"/>
          </a:ln>
        </p:spPr>
      </p:sp>
      <p:sp>
        <p:nvSpPr>
          <p:cNvPr id="23" name="Text 21"/>
          <p:cNvSpPr/>
          <p:nvPr/>
        </p:nvSpPr>
        <p:spPr>
          <a:xfrm>
            <a:off x="8328965" y="3145536"/>
            <a:ext cx="3039770" cy="512064"/>
          </a:xfrm>
          <a:prstGeom prst="rect">
            <a:avLst/>
          </a:prstGeom>
          <a:noFill/>
          <a:ln/>
        </p:spPr>
        <p:txBody>
          <a:bodyPr wrap="square" lIns="0" tIns="0" rIns="0" bIns="0" rtlCol="0" anchor="ctr"/>
          <a:lstStyle/>
          <a:p>
            <a:pPr indent="0" marL="0">
              <a:lnSpc>
                <a:spcPts val="1900"/>
              </a:lnSpc>
              <a:buNone/>
            </a:pPr>
            <a:r>
              <a:rPr lang="en-US" sz="1500" b="1" dirty="0">
                <a:solidFill>
                  <a:srgbClr val="1E2761"/>
                </a:solidFill>
                <a:latin typeface="Cambria" pitchFamily="34" charset="0"/>
                <a:ea typeface="Cambria" pitchFamily="34" charset="-122"/>
                <a:cs typeface="Cambria" pitchFamily="34" charset="-120"/>
              </a:rPr>
              <a:t>Tell the truth about what is open</a:t>
            </a:r>
            <a:endParaRPr lang="en-US" sz="1500" dirty="0"/>
          </a:p>
        </p:txBody>
      </p:sp>
      <p:sp>
        <p:nvSpPr>
          <p:cNvPr id="24" name="Text 22"/>
          <p:cNvSpPr/>
          <p:nvPr/>
        </p:nvSpPr>
        <p:spPr>
          <a:xfrm>
            <a:off x="8328965" y="3712464"/>
            <a:ext cx="3039770" cy="1371600"/>
          </a:xfrm>
          <a:prstGeom prst="rect">
            <a:avLst/>
          </a:prstGeom>
          <a:noFill/>
          <a:ln/>
        </p:spPr>
        <p:txBody>
          <a:bodyPr wrap="square" lIns="0" tIns="0" rIns="0" bIns="0" rtlCol="0" anchor="ctr"/>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Where verification depends on integrated testing not yet performed, partial completion is acknowledged, open requirements become action items, and a delta audit closes them once the testing passes.</a:t>
            </a:r>
            <a:endParaRPr lang="en-US" sz="1150" dirty="0"/>
          </a:p>
        </p:txBody>
      </p:sp>
      <p:sp>
        <p:nvSpPr>
          <p:cNvPr id="25" name="Text 23"/>
          <p:cNvSpPr/>
          <p:nvPr/>
        </p:nvSpPr>
        <p:spPr>
          <a:xfrm>
            <a:off x="566928" y="6144768"/>
            <a:ext cx="11057839" cy="41148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Calibri" pitchFamily="34" charset="0"/>
                <a:ea typeface="Calibri" pitchFamily="34" charset="-122"/>
                <a:cs typeface="Calibri" pitchFamily="34" charset="-120"/>
              </a:rPr>
              <a:t>For a software item the standard is stated flatly: every requirement has a related test step, and that test passes. Not most requirements — and not the requirements that were testable within the schedule.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physical audit: what is actually checked</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Matching part numbers establishes identity. Every other check exists because identity is not conformity.</a:t>
            </a:r>
            <a:endParaRPr lang="en-US" sz="1350" dirty="0"/>
          </a:p>
        </p:txBody>
      </p:sp>
      <p:sp>
        <p:nvSpPr>
          <p:cNvPr id="4" name="Shape 2"/>
          <p:cNvSpPr/>
          <p:nvPr/>
        </p:nvSpPr>
        <p:spPr>
          <a:xfrm>
            <a:off x="566928" y="1645920"/>
            <a:ext cx="3564026" cy="3657600"/>
          </a:xfrm>
          <a:prstGeom prst="roundRect">
            <a:avLst>
              <a:gd name="adj" fmla="val 1539"/>
            </a:avLst>
          </a:prstGeom>
          <a:solidFill>
            <a:srgbClr val="F0F4FB"/>
          </a:solidFill>
          <a:ln w="12700">
            <a:solidFill>
              <a:srgbClr val="CADCFC"/>
            </a:solidFill>
            <a:prstDash val="solid"/>
          </a:ln>
        </p:spPr>
      </p:sp>
      <p:sp>
        <p:nvSpPr>
          <p:cNvPr id="5" name="Text 3"/>
          <p:cNvSpPr/>
          <p:nvPr/>
        </p:nvSpPr>
        <p:spPr>
          <a:xfrm>
            <a:off x="804672" y="1810512"/>
            <a:ext cx="3088538"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The article against its data</a:t>
            </a:r>
            <a:endParaRPr lang="en-US" sz="1450" dirty="0"/>
          </a:p>
        </p:txBody>
      </p:sp>
      <p:sp>
        <p:nvSpPr>
          <p:cNvPr id="6" name="Text 4"/>
          <p:cNvSpPr/>
          <p:nvPr/>
        </p:nvSpPr>
        <p:spPr>
          <a:xfrm>
            <a:off x="804672" y="2212848"/>
            <a:ext cx="3106826" cy="30175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Product definition data alignment, at the governing revision</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Approved changes and flight changes incorporated</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Approval, clearance and qualification of installed part types</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Certification and plan status</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Form, fit, interface and workmanship</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Nameplate, marking and unique identification</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Installed software load, version and checksum</a:t>
            </a:r>
            <a:endParaRPr lang="en-US" sz="1150" dirty="0"/>
          </a:p>
        </p:txBody>
      </p:sp>
      <p:sp>
        <p:nvSpPr>
          <p:cNvPr id="7" name="Shape 5"/>
          <p:cNvSpPr/>
          <p:nvPr/>
        </p:nvSpPr>
        <p:spPr>
          <a:xfrm>
            <a:off x="4313834" y="1645920"/>
            <a:ext cx="3564026" cy="3657600"/>
          </a:xfrm>
          <a:prstGeom prst="roundRect">
            <a:avLst>
              <a:gd name="adj" fmla="val 1539"/>
            </a:avLst>
          </a:prstGeom>
          <a:solidFill>
            <a:srgbClr val="F0F4FB"/>
          </a:solidFill>
          <a:ln w="12700">
            <a:solidFill>
              <a:srgbClr val="CADCFC"/>
            </a:solidFill>
            <a:prstDash val="solid"/>
          </a:ln>
        </p:spPr>
      </p:sp>
      <p:sp>
        <p:nvSpPr>
          <p:cNvPr id="8" name="Text 6"/>
          <p:cNvSpPr/>
          <p:nvPr/>
        </p:nvSpPr>
        <p:spPr>
          <a:xfrm>
            <a:off x="4551578" y="1810512"/>
            <a:ext cx="3088538" cy="310896"/>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The article against its records</a:t>
            </a:r>
            <a:endParaRPr lang="en-US" sz="1450" dirty="0"/>
          </a:p>
        </p:txBody>
      </p:sp>
      <p:sp>
        <p:nvSpPr>
          <p:cNvPr id="9" name="Text 7"/>
          <p:cNvSpPr/>
          <p:nvPr/>
        </p:nvSpPr>
        <p:spPr>
          <a:xfrm>
            <a:off x="4551578" y="2212848"/>
            <a:ext cx="3106826" cy="30175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Serial, lot and heat numbers — article, requirement and record</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Life-limited items: limit and life consumed at delivery</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As-designed child items in the closed build records</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Material and process conformance, in three links</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Traceability upward to the next higher assembly</a:t>
            </a:r>
            <a:endParaRPr lang="en-US" sz="1150" dirty="0"/>
          </a:p>
          <a:p>
            <a:pPr marL="342900" indent="-342900">
              <a:lnSpc>
                <a:spcPts val="1600"/>
              </a:lnSpc>
              <a:spcAft>
                <a:spcPts val="600"/>
              </a:spcAft>
              <a:buSzPct val="100000"/>
              <a:buChar char="•"/>
            </a:pPr>
            <a:r>
              <a:rPr lang="en-US" sz="1150" dirty="0">
                <a:solidFill>
                  <a:srgbClr val="2A2A2A"/>
                </a:solidFill>
                <a:latin typeface="Calibri" pitchFamily="34" charset="0"/>
                <a:ea typeface="Calibri" pitchFamily="34" charset="-122"/>
                <a:cs typeface="Calibri" pitchFamily="34" charset="-120"/>
              </a:rPr>
              <a:t>Foreign object debris in the embodied zone</a:t>
            </a:r>
            <a:endParaRPr lang="en-US" sz="1150" dirty="0"/>
          </a:p>
        </p:txBody>
      </p:sp>
      <p:sp>
        <p:nvSpPr>
          <p:cNvPr id="10" name="Shape 8"/>
          <p:cNvSpPr/>
          <p:nvPr/>
        </p:nvSpPr>
        <p:spPr>
          <a:xfrm>
            <a:off x="8060741" y="1645920"/>
            <a:ext cx="3564026" cy="3657600"/>
          </a:xfrm>
          <a:prstGeom prst="roundRect">
            <a:avLst>
              <a:gd name="adj" fmla="val 1539"/>
            </a:avLst>
          </a:prstGeom>
          <a:solidFill>
            <a:srgbClr val="1E2761"/>
          </a:solidFill>
          <a:ln w="12700">
            <a:solidFill>
              <a:srgbClr val="1E2761"/>
            </a:solidFill>
            <a:prstDash val="solid"/>
          </a:ln>
        </p:spPr>
      </p:sp>
      <p:sp>
        <p:nvSpPr>
          <p:cNvPr id="11" name="Text 9"/>
          <p:cNvSpPr/>
          <p:nvPr/>
        </p:nvSpPr>
        <p:spPr>
          <a:xfrm>
            <a:off x="8298485" y="1810512"/>
            <a:ext cx="3088538" cy="31089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Records against records</a:t>
            </a:r>
            <a:endParaRPr lang="en-US" sz="1450" dirty="0"/>
          </a:p>
        </p:txBody>
      </p:sp>
      <p:sp>
        <p:nvSpPr>
          <p:cNvPr id="12" name="Text 10"/>
          <p:cNvSpPr/>
          <p:nvPr/>
        </p:nvSpPr>
        <p:spPr>
          <a:xfrm>
            <a:off x="8298485" y="2212848"/>
            <a:ext cx="3106826" cy="30175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Build traveler, buy-off and calibration status</a:t>
            </a:r>
            <a:endParaRPr lang="en-US" sz="1150" dirty="0"/>
          </a:p>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Manufacturing instructions against the sampled design data</a:t>
            </a:r>
            <a:endParaRPr lang="en-US" sz="1150" dirty="0"/>
          </a:p>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Non-conformance and variance adjudication</a:t>
            </a:r>
            <a:endParaRPr lang="en-US" sz="1150" dirty="0"/>
          </a:p>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Sub-supplier end item inspection and test</a:t>
            </a:r>
            <a:endParaRPr lang="en-US" sz="1150" dirty="0"/>
          </a:p>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Spares released before the audit</a:t>
            </a:r>
            <a:endParaRPr lang="en-US" sz="1150" dirty="0"/>
          </a:p>
          <a:p>
            <a:pPr marL="342900" indent="-342900">
              <a:lnSpc>
                <a:spcPts val="1600"/>
              </a:lnSpc>
              <a:spcAft>
                <a:spcPts val="600"/>
              </a:spcAft>
              <a:buSzPct val="100000"/>
              <a:buChar char="•"/>
            </a:pPr>
            <a:r>
              <a:rPr lang="en-US" sz="1150" dirty="0">
                <a:solidFill>
                  <a:srgbClr val="D8E0F4"/>
                </a:solidFill>
                <a:latin typeface="Calibri" pitchFamily="34" charset="0"/>
                <a:ea typeface="Calibri" pitchFamily="34" charset="-122"/>
                <a:cs typeface="Calibri" pitchFamily="34" charset="-120"/>
              </a:rPr>
              <a:t>Differences from the functional audit unit, certified</a:t>
            </a:r>
            <a:endParaRPr lang="en-US" sz="1150" dirty="0"/>
          </a:p>
        </p:txBody>
      </p:sp>
      <p:sp>
        <p:nvSpPr>
          <p:cNvPr id="13" name="Shape 11"/>
          <p:cNvSpPr/>
          <p:nvPr/>
        </p:nvSpPr>
        <p:spPr>
          <a:xfrm>
            <a:off x="566928" y="5504688"/>
            <a:ext cx="11057839" cy="896112"/>
          </a:xfrm>
          <a:prstGeom prst="roundRect">
            <a:avLst>
              <a:gd name="adj" fmla="val 5102"/>
            </a:avLst>
          </a:prstGeom>
          <a:solidFill>
            <a:srgbClr val="FFFFFF"/>
          </a:solidFill>
          <a:ln w="12700">
            <a:solidFill>
              <a:srgbClr val="CADCFC"/>
            </a:solidFill>
            <a:prstDash val="solid"/>
          </a:ln>
        </p:spPr>
      </p:sp>
      <p:sp>
        <p:nvSpPr>
          <p:cNvPr id="14" name="Text 12"/>
          <p:cNvSpPr/>
          <p:nvPr/>
        </p:nvSpPr>
        <p:spPr>
          <a:xfrm>
            <a:off x="841248" y="5632704"/>
            <a:ext cx="10509199" cy="658368"/>
          </a:xfrm>
          <a:prstGeom prst="rect">
            <a:avLst/>
          </a:prstGeom>
          <a:noFill/>
          <a:ln/>
        </p:spPr>
        <p:txBody>
          <a:bodyPr wrap="square" lIns="0" tIns="0" rIns="0" bIns="0" rtlCol="0" anchor="ctr"/>
          <a:lstStyle/>
          <a:p>
            <a:pPr indent="0" marL="0">
              <a:lnSpc>
                <a:spcPts val="1800"/>
              </a:lnSpc>
              <a:buNone/>
            </a:pPr>
            <a:r>
              <a:rPr lang="en-US" sz="1200" b="1" dirty="0">
                <a:solidFill>
                  <a:srgbClr val="1E2761"/>
                </a:solidFill>
                <a:latin typeface="Calibri" pitchFamily="34" charset="0"/>
                <a:ea typeface="Calibri" pitchFamily="34" charset="-122"/>
                <a:cs typeface="Calibri" pitchFamily="34" charset="-120"/>
              </a:rPr>
              <a:t>Each check states what is compared against what, what evidence is acceptable, and what a finding looks like.  </a:t>
            </a:r>
            <a:pPr indent="0" marL="0">
              <a:lnSpc>
                <a:spcPts val="1800"/>
              </a:lnSpc>
              <a:buNone/>
            </a:pPr>
            <a:r>
              <a:rPr lang="en-US" sz="1200" dirty="0">
                <a:solidFill>
                  <a:srgbClr val="2A2A2A"/>
                </a:solidFill>
                <a:latin typeface="Calibri" pitchFamily="34" charset="0"/>
                <a:ea typeface="Calibri" pitchFamily="34" charset="-122"/>
                <a:cs typeface="Calibri" pitchFamily="34" charset="-120"/>
              </a:rPr>
              <a:t>Sampling sizes belong to the audit plan — with one fixed exception: features implementing or protecting hazard risk controls are never sampled out.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Each defect is caught by exactly one check</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unit, three defects. Every defect passed most of the check set — which is the argument for the whole of it, made without appealing to thoroughness.</a:t>
            </a:r>
            <a:endParaRPr lang="en-US" sz="1350" dirty="0"/>
          </a:p>
        </p:txBody>
      </p:sp>
      <p:sp>
        <p:nvSpPr>
          <p:cNvPr id="4" name="Shape 2"/>
          <p:cNvSpPr/>
          <p:nvPr/>
        </p:nvSpPr>
        <p:spPr>
          <a:xfrm>
            <a:off x="566928" y="1645920"/>
            <a:ext cx="11057839" cy="1225296"/>
          </a:xfrm>
          <a:prstGeom prst="roundRect">
            <a:avLst>
              <a:gd name="adj" fmla="val 4478"/>
            </a:avLst>
          </a:prstGeom>
          <a:solidFill>
            <a:srgbClr val="FFFFFF"/>
          </a:solidFill>
          <a:ln w="12700">
            <a:solidFill>
              <a:srgbClr val="CADCFC"/>
            </a:solidFill>
            <a:prstDash val="solid"/>
          </a:ln>
        </p:spPr>
      </p:sp>
      <p:sp>
        <p:nvSpPr>
          <p:cNvPr id="5" name="Shape 3"/>
          <p:cNvSpPr/>
          <p:nvPr/>
        </p:nvSpPr>
        <p:spPr>
          <a:xfrm>
            <a:off x="8385048" y="1792224"/>
            <a:ext cx="3063240" cy="932688"/>
          </a:xfrm>
          <a:prstGeom prst="roundRect">
            <a:avLst>
              <a:gd name="adj" fmla="val 4902"/>
            </a:avLst>
          </a:prstGeom>
          <a:solidFill>
            <a:srgbClr val="F0F4FB"/>
          </a:solidFill>
          <a:ln w="12700">
            <a:solidFill>
              <a:srgbClr val="CADCFC"/>
            </a:solidFill>
            <a:prstDash val="solid"/>
          </a:ln>
        </p:spPr>
      </p:sp>
      <p:sp>
        <p:nvSpPr>
          <p:cNvPr id="6" name="Text 4"/>
          <p:cNvSpPr/>
          <p:nvPr/>
        </p:nvSpPr>
        <p:spPr>
          <a:xfrm>
            <a:off x="841248" y="1792224"/>
            <a:ext cx="7360920" cy="566928"/>
          </a:xfrm>
          <a:prstGeom prst="rect">
            <a:avLst/>
          </a:prstGeom>
          <a:noFill/>
          <a:ln/>
        </p:spPr>
        <p:txBody>
          <a:bodyPr wrap="square" lIns="0" tIns="0" rIns="0" bIns="0" rtlCol="0" anchor="ctr"/>
          <a:lstStyle/>
          <a:p>
            <a:pPr indent="0" marL="0">
              <a:lnSpc>
                <a:spcPts val="1700"/>
              </a:lnSpc>
              <a:buNone/>
            </a:pPr>
            <a:r>
              <a:rPr lang="en-US" sz="1200" dirty="0">
                <a:solidFill>
                  <a:srgbClr val="2A2A2A"/>
                </a:solidFill>
                <a:latin typeface="Calibri" pitchFamily="34" charset="0"/>
                <a:ea typeface="Calibri" pitchFamily="34" charset="-122"/>
                <a:cs typeface="Calibri" pitchFamily="34" charset="-120"/>
              </a:rPr>
              <a:t>A washer stack and lockwire on the as-designed data have no entry in the closed work orders. The joint looks complete.</a:t>
            </a:r>
            <a:endParaRPr lang="en-US" sz="1200" dirty="0"/>
          </a:p>
        </p:txBody>
      </p:sp>
      <p:sp>
        <p:nvSpPr>
          <p:cNvPr id="7" name="Text 5"/>
          <p:cNvSpPr/>
          <p:nvPr/>
        </p:nvSpPr>
        <p:spPr>
          <a:xfrm>
            <a:off x="841248" y="2414016"/>
            <a:ext cx="7360920" cy="29260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Part numbers agree · workmanship passes · traveler stamped</a:t>
            </a:r>
            <a:endParaRPr lang="en-US" sz="1100" dirty="0"/>
          </a:p>
        </p:txBody>
      </p:sp>
      <p:sp>
        <p:nvSpPr>
          <p:cNvPr id="8" name="Text 6"/>
          <p:cNvSpPr/>
          <p:nvPr/>
        </p:nvSpPr>
        <p:spPr>
          <a:xfrm>
            <a:off x="8567928" y="1901952"/>
            <a:ext cx="2697480" cy="201168"/>
          </a:xfrm>
          <a:prstGeom prst="rect">
            <a:avLst/>
          </a:prstGeom>
          <a:noFill/>
          <a:ln/>
        </p:spPr>
        <p:txBody>
          <a:bodyPr wrap="square" lIns="0" tIns="0" rIns="0" bIns="0" rtlCol="0" anchor="ctr"/>
          <a:lstStyle/>
          <a:p>
            <a:pPr indent="0" marL="0">
              <a:buNone/>
            </a:pPr>
            <a:r>
              <a:rPr lang="en-US" sz="950" b="1" spc="100" kern="0" dirty="0">
                <a:solidFill>
                  <a:srgbClr val="4A5A9E"/>
                </a:solidFill>
                <a:latin typeface="Calibri" pitchFamily="34" charset="0"/>
                <a:ea typeface="Calibri" pitchFamily="34" charset="-122"/>
                <a:cs typeface="Calibri" pitchFamily="34" charset="-120"/>
              </a:rPr>
              <a:t>Found by</a:t>
            </a:r>
            <a:endParaRPr lang="en-US" sz="950" dirty="0"/>
          </a:p>
        </p:txBody>
      </p:sp>
      <p:sp>
        <p:nvSpPr>
          <p:cNvPr id="9" name="Text 7"/>
          <p:cNvSpPr/>
          <p:nvPr/>
        </p:nvSpPr>
        <p:spPr>
          <a:xfrm>
            <a:off x="8567928" y="2139696"/>
            <a:ext cx="2697480" cy="512064"/>
          </a:xfrm>
          <a:prstGeom prst="rect">
            <a:avLst/>
          </a:prstGeom>
          <a:noFill/>
          <a:ln/>
        </p:spPr>
        <p:txBody>
          <a:bodyPr wrap="square" lIns="0" tIns="0" rIns="0" bIns="0" rtlCol="0" anchor="ctr"/>
          <a:lstStyle/>
          <a:p>
            <a:pPr indent="0" marL="0">
              <a:lnSpc>
                <a:spcPts val="1600"/>
              </a:lnSpc>
              <a:buNone/>
            </a:pPr>
            <a:r>
              <a:rPr lang="en-US" sz="1250" b="1" dirty="0">
                <a:solidFill>
                  <a:srgbClr val="1E2761"/>
                </a:solidFill>
                <a:latin typeface="Calibri" pitchFamily="34" charset="0"/>
                <a:ea typeface="Calibri" pitchFamily="34" charset="-122"/>
                <a:cs typeface="Calibri" pitchFamily="34" charset="-120"/>
              </a:rPr>
              <a:t>Child item reconciliation</a:t>
            </a:r>
            <a:endParaRPr lang="en-US" sz="1250" dirty="0"/>
          </a:p>
        </p:txBody>
      </p:sp>
      <p:sp>
        <p:nvSpPr>
          <p:cNvPr id="10" name="Shape 8"/>
          <p:cNvSpPr/>
          <p:nvPr/>
        </p:nvSpPr>
        <p:spPr>
          <a:xfrm>
            <a:off x="566928" y="3017520"/>
            <a:ext cx="11057839" cy="1225296"/>
          </a:xfrm>
          <a:prstGeom prst="roundRect">
            <a:avLst>
              <a:gd name="adj" fmla="val 4478"/>
            </a:avLst>
          </a:prstGeom>
          <a:solidFill>
            <a:srgbClr val="FFFFFF"/>
          </a:solidFill>
          <a:ln w="12700">
            <a:solidFill>
              <a:srgbClr val="CADCFC"/>
            </a:solidFill>
            <a:prstDash val="solid"/>
          </a:ln>
        </p:spPr>
      </p:sp>
      <p:sp>
        <p:nvSpPr>
          <p:cNvPr id="11" name="Shape 9"/>
          <p:cNvSpPr/>
          <p:nvPr/>
        </p:nvSpPr>
        <p:spPr>
          <a:xfrm>
            <a:off x="8385048" y="3163824"/>
            <a:ext cx="3063240" cy="932688"/>
          </a:xfrm>
          <a:prstGeom prst="roundRect">
            <a:avLst>
              <a:gd name="adj" fmla="val 4902"/>
            </a:avLst>
          </a:prstGeom>
          <a:solidFill>
            <a:srgbClr val="F0F4FB"/>
          </a:solidFill>
          <a:ln w="12700">
            <a:solidFill>
              <a:srgbClr val="CADCFC"/>
            </a:solidFill>
            <a:prstDash val="solid"/>
          </a:ln>
        </p:spPr>
      </p:sp>
      <p:sp>
        <p:nvSpPr>
          <p:cNvPr id="12" name="Text 10"/>
          <p:cNvSpPr/>
          <p:nvPr/>
        </p:nvSpPr>
        <p:spPr>
          <a:xfrm>
            <a:off x="841248" y="3163824"/>
            <a:ext cx="7360920" cy="566928"/>
          </a:xfrm>
          <a:prstGeom prst="rect">
            <a:avLst/>
          </a:prstGeom>
          <a:noFill/>
          <a:ln/>
        </p:spPr>
        <p:txBody>
          <a:bodyPr wrap="square" lIns="0" tIns="0" rIns="0" bIns="0" rtlCol="0" anchor="ctr"/>
          <a:lstStyle/>
          <a:p>
            <a:pPr indent="0" marL="0">
              <a:lnSpc>
                <a:spcPts val="1700"/>
              </a:lnSpc>
              <a:buNone/>
            </a:pPr>
            <a:r>
              <a:rPr lang="en-US" sz="1200" dirty="0">
                <a:solidFill>
                  <a:srgbClr val="2A2A2A"/>
                </a:solidFill>
                <a:latin typeface="Calibri" pitchFamily="34" charset="0"/>
                <a:ea typeface="Calibri" pitchFamily="34" charset="-122"/>
                <a:cs typeface="Calibri" pitchFamily="34" charset="-120"/>
              </a:rPr>
              <a:t>The unit was built to a work instruction written against a superseded revision. The revision did not change the part number. Every operation is stamped.</a:t>
            </a:r>
            <a:endParaRPr lang="en-US" sz="1200" dirty="0"/>
          </a:p>
        </p:txBody>
      </p:sp>
      <p:sp>
        <p:nvSpPr>
          <p:cNvPr id="13" name="Text 11"/>
          <p:cNvSpPr/>
          <p:nvPr/>
        </p:nvSpPr>
        <p:spPr>
          <a:xfrm>
            <a:off x="841248" y="3785616"/>
            <a:ext cx="7360920" cy="29260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Data alignment passes · buy-off passes · nothing raised as a non-conformance</a:t>
            </a:r>
            <a:endParaRPr lang="en-US" sz="1100" dirty="0"/>
          </a:p>
        </p:txBody>
      </p:sp>
      <p:sp>
        <p:nvSpPr>
          <p:cNvPr id="14" name="Text 12"/>
          <p:cNvSpPr/>
          <p:nvPr/>
        </p:nvSpPr>
        <p:spPr>
          <a:xfrm>
            <a:off x="8567928" y="3273552"/>
            <a:ext cx="2697480" cy="201168"/>
          </a:xfrm>
          <a:prstGeom prst="rect">
            <a:avLst/>
          </a:prstGeom>
          <a:noFill/>
          <a:ln/>
        </p:spPr>
        <p:txBody>
          <a:bodyPr wrap="square" lIns="0" tIns="0" rIns="0" bIns="0" rtlCol="0" anchor="ctr"/>
          <a:lstStyle/>
          <a:p>
            <a:pPr indent="0" marL="0">
              <a:buNone/>
            </a:pPr>
            <a:r>
              <a:rPr lang="en-US" sz="950" b="1" spc="100" kern="0" dirty="0">
                <a:solidFill>
                  <a:srgbClr val="4A5A9E"/>
                </a:solidFill>
                <a:latin typeface="Calibri" pitchFamily="34" charset="0"/>
                <a:ea typeface="Calibri" pitchFamily="34" charset="-122"/>
                <a:cs typeface="Calibri" pitchFamily="34" charset="-120"/>
              </a:rPr>
              <a:t>Found by</a:t>
            </a:r>
            <a:endParaRPr lang="en-US" sz="950" dirty="0"/>
          </a:p>
        </p:txBody>
      </p:sp>
      <p:sp>
        <p:nvSpPr>
          <p:cNvPr id="15" name="Text 13"/>
          <p:cNvSpPr/>
          <p:nvPr/>
        </p:nvSpPr>
        <p:spPr>
          <a:xfrm>
            <a:off x="8567928" y="3511296"/>
            <a:ext cx="2697480" cy="512064"/>
          </a:xfrm>
          <a:prstGeom prst="rect">
            <a:avLst/>
          </a:prstGeom>
          <a:noFill/>
          <a:ln/>
        </p:spPr>
        <p:txBody>
          <a:bodyPr wrap="square" lIns="0" tIns="0" rIns="0" bIns="0" rtlCol="0" anchor="ctr"/>
          <a:lstStyle/>
          <a:p>
            <a:pPr indent="0" marL="0">
              <a:lnSpc>
                <a:spcPts val="1600"/>
              </a:lnSpc>
              <a:buNone/>
            </a:pPr>
            <a:r>
              <a:rPr lang="en-US" sz="1250" b="1" dirty="0">
                <a:solidFill>
                  <a:srgbClr val="1E2761"/>
                </a:solidFill>
                <a:latin typeface="Calibri" pitchFamily="34" charset="0"/>
                <a:ea typeface="Calibri" pitchFamily="34" charset="-122"/>
                <a:cs typeface="Calibri" pitchFamily="34" charset="-120"/>
              </a:rPr>
              <a:t>Instructions against design data</a:t>
            </a:r>
            <a:endParaRPr lang="en-US" sz="1250" dirty="0"/>
          </a:p>
        </p:txBody>
      </p:sp>
      <p:sp>
        <p:nvSpPr>
          <p:cNvPr id="16" name="Shape 14"/>
          <p:cNvSpPr/>
          <p:nvPr/>
        </p:nvSpPr>
        <p:spPr>
          <a:xfrm>
            <a:off x="566928" y="4389120"/>
            <a:ext cx="11057839" cy="1225296"/>
          </a:xfrm>
          <a:prstGeom prst="roundRect">
            <a:avLst>
              <a:gd name="adj" fmla="val 4478"/>
            </a:avLst>
          </a:prstGeom>
          <a:solidFill>
            <a:srgbClr val="FFFFFF"/>
          </a:solidFill>
          <a:ln w="12700">
            <a:solidFill>
              <a:srgbClr val="CADCFC"/>
            </a:solidFill>
            <a:prstDash val="solid"/>
          </a:ln>
        </p:spPr>
      </p:sp>
      <p:sp>
        <p:nvSpPr>
          <p:cNvPr id="17" name="Shape 15"/>
          <p:cNvSpPr/>
          <p:nvPr/>
        </p:nvSpPr>
        <p:spPr>
          <a:xfrm>
            <a:off x="8385048" y="4535424"/>
            <a:ext cx="3063240" cy="932688"/>
          </a:xfrm>
          <a:prstGeom prst="roundRect">
            <a:avLst>
              <a:gd name="adj" fmla="val 4902"/>
            </a:avLst>
          </a:prstGeom>
          <a:solidFill>
            <a:srgbClr val="1E2761"/>
          </a:solidFill>
          <a:ln w="12700">
            <a:solidFill>
              <a:srgbClr val="1E2761"/>
            </a:solidFill>
            <a:prstDash val="solid"/>
          </a:ln>
        </p:spPr>
      </p:sp>
      <p:sp>
        <p:nvSpPr>
          <p:cNvPr id="18" name="Text 16"/>
          <p:cNvSpPr/>
          <p:nvPr/>
        </p:nvSpPr>
        <p:spPr>
          <a:xfrm>
            <a:off x="841248" y="4535424"/>
            <a:ext cx="7360920" cy="566928"/>
          </a:xfrm>
          <a:prstGeom prst="rect">
            <a:avLst/>
          </a:prstGeom>
          <a:noFill/>
          <a:ln/>
        </p:spPr>
        <p:txBody>
          <a:bodyPr wrap="square" lIns="0" tIns="0" rIns="0" bIns="0" rtlCol="0" anchor="ctr"/>
          <a:lstStyle/>
          <a:p>
            <a:pPr indent="0" marL="0">
              <a:lnSpc>
                <a:spcPts val="1700"/>
              </a:lnSpc>
              <a:buNone/>
            </a:pPr>
            <a:r>
              <a:rPr lang="en-US" sz="1200" dirty="0">
                <a:solidFill>
                  <a:srgbClr val="2A2A2A"/>
                </a:solidFill>
                <a:latin typeface="Calibri" pitchFamily="34" charset="0"/>
                <a:ea typeface="Calibri" pitchFamily="34" charset="-122"/>
                <a:cs typeface="Calibri" pitchFamily="34" charset="-120"/>
              </a:rPr>
              <a:t>A bracket's heat number on the article matches the heat number on the as-built record. The certificate for that heat is for a different alloy.</a:t>
            </a:r>
            <a:endParaRPr lang="en-US" sz="1200" dirty="0"/>
          </a:p>
        </p:txBody>
      </p:sp>
      <p:sp>
        <p:nvSpPr>
          <p:cNvPr id="19" name="Text 17"/>
          <p:cNvSpPr/>
          <p:nvPr/>
        </p:nvSpPr>
        <p:spPr>
          <a:xfrm>
            <a:off x="841248" y="5157216"/>
            <a:ext cx="7360920" cy="29260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Traceability passes — correctly. The numbers do agree.</a:t>
            </a:r>
            <a:endParaRPr lang="en-US" sz="1100" dirty="0"/>
          </a:p>
        </p:txBody>
      </p:sp>
      <p:sp>
        <p:nvSpPr>
          <p:cNvPr id="20" name="Text 18"/>
          <p:cNvSpPr/>
          <p:nvPr/>
        </p:nvSpPr>
        <p:spPr>
          <a:xfrm>
            <a:off x="8567928" y="4645152"/>
            <a:ext cx="2697480" cy="201168"/>
          </a:xfrm>
          <a:prstGeom prst="rect">
            <a:avLst/>
          </a:prstGeom>
          <a:noFill/>
          <a:ln/>
        </p:spPr>
        <p:txBody>
          <a:bodyPr wrap="square" lIns="0" tIns="0" rIns="0" bIns="0" rtlCol="0" anchor="ctr"/>
          <a:lstStyle/>
          <a:p>
            <a:pPr indent="0" marL="0">
              <a:buNone/>
            </a:pPr>
            <a:r>
              <a:rPr lang="en-US" sz="950" b="1" spc="100" kern="0" dirty="0">
                <a:solidFill>
                  <a:srgbClr val="C8A24A"/>
                </a:solidFill>
                <a:latin typeface="Calibri" pitchFamily="34" charset="0"/>
                <a:ea typeface="Calibri" pitchFamily="34" charset="-122"/>
                <a:cs typeface="Calibri" pitchFamily="34" charset="-120"/>
              </a:rPr>
              <a:t>Found by</a:t>
            </a:r>
            <a:endParaRPr lang="en-US" sz="950" dirty="0"/>
          </a:p>
        </p:txBody>
      </p:sp>
      <p:sp>
        <p:nvSpPr>
          <p:cNvPr id="21" name="Text 19"/>
          <p:cNvSpPr/>
          <p:nvPr/>
        </p:nvSpPr>
        <p:spPr>
          <a:xfrm>
            <a:off x="8567928" y="4882896"/>
            <a:ext cx="2697480" cy="512064"/>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Material and process conformance</a:t>
            </a:r>
            <a:endParaRPr lang="en-US" sz="1250" dirty="0"/>
          </a:p>
        </p:txBody>
      </p:sp>
      <p:sp>
        <p:nvSpPr>
          <p:cNvPr id="22" name="Shape 20"/>
          <p:cNvSpPr/>
          <p:nvPr/>
        </p:nvSpPr>
        <p:spPr>
          <a:xfrm>
            <a:off x="566928" y="5760720"/>
            <a:ext cx="11057839" cy="713232"/>
          </a:xfrm>
          <a:prstGeom prst="roundRect">
            <a:avLst>
              <a:gd name="adj" fmla="val 6410"/>
            </a:avLst>
          </a:prstGeom>
          <a:solidFill>
            <a:srgbClr val="F0F4FB"/>
          </a:solidFill>
          <a:ln w="12700">
            <a:solidFill>
              <a:srgbClr val="CADCFC"/>
            </a:solidFill>
            <a:prstDash val="solid"/>
          </a:ln>
        </p:spPr>
      </p:sp>
      <p:sp>
        <p:nvSpPr>
          <p:cNvPr id="23" name="Text 21"/>
          <p:cNvSpPr/>
          <p:nvPr/>
        </p:nvSpPr>
        <p:spPr>
          <a:xfrm>
            <a:off x="841248" y="5870448"/>
            <a:ext cx="10509199" cy="512064"/>
          </a:xfrm>
          <a:prstGeom prst="rect">
            <a:avLst/>
          </a:prstGeom>
          <a:noFill/>
          <a:ln/>
        </p:spPr>
        <p:txBody>
          <a:bodyPr wrap="square" lIns="0" tIns="0" rIns="0" bIns="0" rtlCol="0" anchor="ctr"/>
          <a:lstStyle/>
          <a:p>
            <a:pPr indent="0" marL="0">
              <a:lnSpc>
                <a:spcPts val="1700"/>
              </a:lnSpc>
              <a:buNone/>
            </a:pPr>
            <a:r>
              <a:rPr lang="en-US" sz="1200" b="1" dirty="0">
                <a:solidFill>
                  <a:srgbClr val="1E2761"/>
                </a:solidFill>
                <a:latin typeface="Calibri" pitchFamily="34" charset="0"/>
                <a:ea typeface="Calibri" pitchFamily="34" charset="-122"/>
                <a:cs typeface="Calibri" pitchFamily="34" charset="-120"/>
              </a:rPr>
              <a:t>A shortened check set is not a faster audit.  </a:t>
            </a:r>
            <a:pPr indent="0" marL="0">
              <a:lnSpc>
                <a:spcPts val="1700"/>
              </a:lnSpc>
              <a:buNone/>
            </a:pPr>
            <a:r>
              <a:rPr lang="en-US" sz="1200" dirty="0">
                <a:solidFill>
                  <a:srgbClr val="2A2A2A"/>
                </a:solidFill>
                <a:latin typeface="Calibri" pitchFamily="34" charset="0"/>
                <a:ea typeface="Calibri" pitchFamily="34" charset="-122"/>
                <a:cs typeface="Calibri" pitchFamily="34" charset="-120"/>
              </a:rPr>
              <a:t>It is a different audit, with defined blind spots. Note the third row: numbers matching numbers is the failure the set exists to break, reappearing inside a single check.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system-level audit is not an audit of everything</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Where audits run in increments, a final system-level audit confirms the system baseline is correct. It has two populations — and neither is the drawing set.</a:t>
            </a:r>
            <a:endParaRPr lang="en-US" sz="1350" dirty="0"/>
          </a:p>
        </p:txBody>
      </p:sp>
      <p:sp>
        <p:nvSpPr>
          <p:cNvPr id="4" name="Shape 2"/>
          <p:cNvSpPr/>
          <p:nvPr/>
        </p:nvSpPr>
        <p:spPr>
          <a:xfrm>
            <a:off x="566928" y="1828800"/>
            <a:ext cx="5382616" cy="2011680"/>
          </a:xfrm>
          <a:prstGeom prst="roundRect">
            <a:avLst>
              <a:gd name="adj" fmla="val 2727"/>
            </a:avLst>
          </a:prstGeom>
          <a:solidFill>
            <a:srgbClr val="2A3A72"/>
          </a:solidFill>
          <a:ln w="12700">
            <a:solidFill>
              <a:srgbClr val="4A5A9E"/>
            </a:solidFill>
            <a:prstDash val="solid"/>
          </a:ln>
        </p:spPr>
      </p:sp>
      <p:sp>
        <p:nvSpPr>
          <p:cNvPr id="5" name="Text 3"/>
          <p:cNvSpPr/>
          <p:nvPr/>
        </p:nvSpPr>
        <p:spPr>
          <a:xfrm>
            <a:off x="841248" y="2011680"/>
            <a:ext cx="4833976"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Child items not yet audited</a:t>
            </a:r>
            <a:endParaRPr lang="en-US" sz="1600" dirty="0"/>
          </a:p>
        </p:txBody>
      </p:sp>
      <p:sp>
        <p:nvSpPr>
          <p:cNvPr id="6" name="Text 4"/>
          <p:cNvSpPr/>
          <p:nvPr/>
        </p:nvSpPr>
        <p:spPr>
          <a:xfrm>
            <a:off x="841248" y="2377440"/>
            <a:ext cx="4833976" cy="131673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Swept against the designation criteria. Items that now designate are audited as items, with their own entry criteria, data package and lead time. A program accumulates triggers for years, so an item that failed designation at award may pass comfortably by the time the system is complete.</a:t>
            </a:r>
            <a:endParaRPr lang="en-US" sz="1200" dirty="0"/>
          </a:p>
        </p:txBody>
      </p:sp>
      <p:sp>
        <p:nvSpPr>
          <p:cNvPr id="7" name="Shape 5"/>
          <p:cNvSpPr/>
          <p:nvPr/>
        </p:nvSpPr>
        <p:spPr>
          <a:xfrm>
            <a:off x="6242152" y="1828800"/>
            <a:ext cx="5382616" cy="2011680"/>
          </a:xfrm>
          <a:prstGeom prst="roundRect">
            <a:avLst>
              <a:gd name="adj" fmla="val 2727"/>
            </a:avLst>
          </a:prstGeom>
          <a:solidFill>
            <a:srgbClr val="2A3A72"/>
          </a:solidFill>
          <a:ln w="12700">
            <a:solidFill>
              <a:srgbClr val="4A5A9E"/>
            </a:solidFill>
            <a:prstDash val="solid"/>
          </a:ln>
        </p:spPr>
      </p:sp>
      <p:sp>
        <p:nvSpPr>
          <p:cNvPr id="8" name="Text 6"/>
          <p:cNvSpPr/>
          <p:nvPr/>
        </p:nvSpPr>
        <p:spPr>
          <a:xfrm>
            <a:off x="6516472" y="2011680"/>
            <a:ext cx="4833976"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Interfaces between items</a:t>
            </a:r>
            <a:endParaRPr lang="en-US" sz="1600" dirty="0"/>
          </a:p>
        </p:txBody>
      </p:sp>
      <p:sp>
        <p:nvSpPr>
          <p:cNvPr id="9" name="Text 7"/>
          <p:cNvSpPr/>
          <p:nvPr/>
        </p:nvSpPr>
        <p:spPr>
          <a:xfrm>
            <a:off x="6516472" y="2377440"/>
            <a:ext cx="4833976" cy="131673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Verified against their interface control documents at a common effectivity, with both sides' as-built compared to the definition. Each item's own audit verified its side against its own data. No item-level audit establishes that two items meet correctly.</a:t>
            </a:r>
            <a:endParaRPr lang="en-US" sz="1200" dirty="0"/>
          </a:p>
        </p:txBody>
      </p:sp>
      <p:sp>
        <p:nvSpPr>
          <p:cNvPr id="10" name="Shape 8"/>
          <p:cNvSpPr/>
          <p:nvPr/>
        </p:nvSpPr>
        <p:spPr>
          <a:xfrm>
            <a:off x="566928" y="4041648"/>
            <a:ext cx="11057839" cy="1024128"/>
          </a:xfrm>
          <a:prstGeom prst="roundRect">
            <a:avLst>
              <a:gd name="adj" fmla="val 5357"/>
            </a:avLst>
          </a:prstGeom>
          <a:solidFill>
            <a:srgbClr val="C8A24A"/>
          </a:solidFill>
          <a:ln w="12700">
            <a:solidFill>
              <a:srgbClr val="C8A24A"/>
            </a:solidFill>
            <a:prstDash val="solid"/>
          </a:ln>
        </p:spPr>
      </p:sp>
      <p:sp>
        <p:nvSpPr>
          <p:cNvPr id="11" name="Text 9"/>
          <p:cNvSpPr/>
          <p:nvPr/>
        </p:nvSpPr>
        <p:spPr>
          <a:xfrm>
            <a:off x="859536" y="4169664"/>
            <a:ext cx="10472623" cy="786384"/>
          </a:xfrm>
          <a:prstGeom prst="rect">
            <a:avLst/>
          </a:prstGeom>
          <a:noFill/>
          <a:ln/>
        </p:spPr>
        <p:txBody>
          <a:bodyPr wrap="square" lIns="0" tIns="0" rIns="0" bIns="0" rtlCol="0" anchor="ctr"/>
          <a:lstStyle/>
          <a:p>
            <a:pPr indent="0" marL="0">
              <a:lnSpc>
                <a:spcPts val="1800"/>
              </a:lnSpc>
              <a:buNone/>
            </a:pPr>
            <a:r>
              <a:rPr lang="en-US" sz="1250" b="1" dirty="0">
                <a:solidFill>
                  <a:srgbClr val="3A2E08"/>
                </a:solidFill>
                <a:latin typeface="Calibri" pitchFamily="34" charset="0"/>
                <a:ea typeface="Calibri" pitchFamily="34" charset="-122"/>
                <a:cs typeface="Calibri" pitchFamily="34" charset="-120"/>
              </a:rPr>
              <a:t>The installation drawing set is not the audit population.  </a:t>
            </a:r>
            <a:pPr indent="0" marL="0">
              <a:lnSpc>
                <a:spcPts val="1800"/>
              </a:lnSpc>
              <a:buNone/>
            </a:pPr>
            <a:r>
              <a:rPr lang="en-US" sz="1250" dirty="0">
                <a:solidFill>
                  <a:srgbClr val="3A2E08"/>
                </a:solidFill>
                <a:latin typeface="Calibri" pitchFamily="34" charset="0"/>
                <a:ea typeface="Calibri" pitchFamily="34" charset="-122"/>
                <a:cs typeface="Calibri" pitchFamily="34" charset="-120"/>
              </a:rPr>
              <a:t>It is the means of locating what to examine. A sample drawn from drawings rather than from items and interfaces is mis-scoped regardless of the percentage — it concentrates in structure and wiring by drawing volume, while no designated item is audited at all.</a:t>
            </a:r>
            <a:endParaRPr lang="en-US" sz="1250" dirty="0"/>
          </a:p>
        </p:txBody>
      </p:sp>
      <p:sp>
        <p:nvSpPr>
          <p:cNvPr id="12" name="Text 10"/>
          <p:cNvSpPr/>
          <p:nvPr/>
        </p:nvSpPr>
        <p:spPr>
          <a:xfrm>
            <a:off x="566928" y="5230368"/>
            <a:ext cx="11057839" cy="822960"/>
          </a:xfrm>
          <a:prstGeom prst="rect">
            <a:avLst/>
          </a:prstGeom>
          <a:noFill/>
          <a:ln/>
        </p:spPr>
        <p:txBody>
          <a:bodyPr wrap="square" lIns="0" tIns="0" rIns="0" bIns="0" rtlCol="0" anchor="ctr"/>
          <a:lstStyle/>
          <a:p>
            <a:pPr indent="0" marL="0">
              <a:lnSpc>
                <a:spcPts val="1800"/>
              </a:lnSpc>
              <a:buNone/>
            </a:pPr>
            <a:r>
              <a:rPr lang="en-US" sz="1200" b="1" dirty="0">
                <a:solidFill>
                  <a:srgbClr val="CADCFC"/>
                </a:solidFill>
                <a:latin typeface="Calibri" pitchFamily="34" charset="0"/>
                <a:ea typeface="Calibri" pitchFamily="34" charset="-122"/>
                <a:cs typeface="Calibri" pitchFamily="34" charset="-120"/>
              </a:rPr>
              <a:t>Baseline coherence.  </a:t>
            </a:r>
            <a:pPr indent="0" marL="0">
              <a:lnSpc>
                <a:spcPts val="1800"/>
              </a:lnSpc>
              <a:buNone/>
            </a:pPr>
            <a:r>
              <a:rPr lang="en-US" sz="1200" dirty="0">
                <a:solidFill>
                  <a:srgbClr val="D8E0F4"/>
                </a:solidFill>
                <a:latin typeface="Calibri" pitchFamily="34" charset="0"/>
                <a:ea typeface="Calibri" pitchFamily="34" charset="-122"/>
                <a:cs typeface="Calibri" pitchFamily="34" charset="-120"/>
              </a:rPr>
              <a:t>Open items from earlier increments closed, and effectivity consistent across items audited years apart — two audits can each be correct and describe configurations never approved to sit in the same aircraft.    </a:t>
            </a:r>
            <a:pPr indent="0" marL="0">
              <a:lnSpc>
                <a:spcPts val="1800"/>
              </a:lnSpc>
              <a:buNone/>
            </a:pPr>
            <a:r>
              <a:rPr lang="en-US" sz="1200" b="1" dirty="0">
                <a:solidFill>
                  <a:srgbClr val="CADCFC"/>
                </a:solidFill>
                <a:latin typeface="Calibri" pitchFamily="34" charset="0"/>
                <a:ea typeface="Calibri" pitchFamily="34" charset="-122"/>
                <a:cs typeface="Calibri" pitchFamily="34" charset="-120"/>
              </a:rPr>
              <a:t>Timing.  </a:t>
            </a:r>
            <a:pPr indent="0" marL="0">
              <a:lnSpc>
                <a:spcPts val="1800"/>
              </a:lnSpc>
              <a:buNone/>
            </a:pPr>
            <a:r>
              <a:rPr lang="en-US" sz="1200" dirty="0">
                <a:solidFill>
                  <a:srgbClr val="D8E0F4"/>
                </a:solidFill>
                <a:latin typeface="Calibri" pitchFamily="34" charset="0"/>
                <a:ea typeface="Calibri" pitchFamily="34" charset="-122"/>
                <a:cs typeface="Calibri" pitchFamily="34" charset="-120"/>
              </a:rPr>
              <a:t>Run the sweep at the plan revision before the capstone, not at its door: a newly designating item needs its own lead time.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Findings, and what the audit produces</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checks are not the deliverable. What survives the audit is the record it leaves behind.</a:t>
            </a:r>
            <a:endParaRPr lang="en-US" sz="1350" dirty="0"/>
          </a:p>
        </p:txBody>
      </p:sp>
      <p:sp>
        <p:nvSpPr>
          <p:cNvPr id="4" name="Shape 2"/>
          <p:cNvSpPr/>
          <p:nvPr/>
        </p:nvSpPr>
        <p:spPr>
          <a:xfrm>
            <a:off x="566928" y="1627632"/>
            <a:ext cx="5086606" cy="2578608"/>
          </a:xfrm>
          <a:prstGeom prst="roundRect">
            <a:avLst>
              <a:gd name="adj" fmla="val 2128"/>
            </a:avLst>
          </a:prstGeom>
          <a:solidFill>
            <a:srgbClr val="F0F4FB"/>
          </a:solidFill>
          <a:ln w="12700">
            <a:solidFill>
              <a:srgbClr val="CADCFC"/>
            </a:solidFill>
            <a:prstDash val="solid"/>
          </a:ln>
        </p:spPr>
      </p:sp>
      <p:sp>
        <p:nvSpPr>
          <p:cNvPr id="5" name="Text 3"/>
          <p:cNvSpPr/>
          <p:nvPr/>
        </p:nvSpPr>
        <p:spPr>
          <a:xfrm>
            <a:off x="841248" y="1792224"/>
            <a:ext cx="4537966" cy="29260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Major or minor follows the mechanism</a:t>
            </a:r>
            <a:endParaRPr lang="en-US" sz="1500" dirty="0"/>
          </a:p>
        </p:txBody>
      </p:sp>
      <p:sp>
        <p:nvSpPr>
          <p:cNvPr id="6" name="Text 4"/>
          <p:cNvSpPr/>
          <p:nvPr/>
        </p:nvSpPr>
        <p:spPr>
          <a:xfrm>
            <a:off x="841248" y="2157984"/>
            <a:ext cx="4537966" cy="1280160"/>
          </a:xfrm>
          <a:prstGeom prst="rect">
            <a:avLst/>
          </a:prstGeom>
          <a:noFill/>
          <a:ln/>
        </p:spPr>
        <p:txBody>
          <a:bodyPr wrap="square" lIns="0" tIns="0" rIns="0" bIns="0" rtlCol="0" anchor="ctr"/>
          <a:lstStyle/>
          <a:p>
            <a:pPr indent="0" marL="0">
              <a:lnSpc>
                <a:spcPts val="1700"/>
              </a:lnSpc>
              <a:buNone/>
            </a:pPr>
            <a:r>
              <a:rPr lang="en-US" sz="1200" b="1" dirty="0">
                <a:solidFill>
                  <a:srgbClr val="2A2A2A"/>
                </a:solidFill>
                <a:latin typeface="Calibri" pitchFamily="34" charset="0"/>
                <a:ea typeface="Calibri" pitchFamily="34" charset="-122"/>
                <a:cs typeface="Calibri" pitchFamily="34" charset="-120"/>
              </a:rPr>
              <a:t>Not the instance count. </a:t>
            </a:r>
            <a:pPr indent="0" marL="0">
              <a:lnSpc>
                <a:spcPts val="1700"/>
              </a:lnSpc>
              <a:buNone/>
            </a:pPr>
            <a:r>
              <a:rPr lang="en-US" sz="1200" dirty="0">
                <a:solidFill>
                  <a:srgbClr val="2A2A2A"/>
                </a:solidFill>
                <a:latin typeface="Calibri" pitchFamily="34" charset="0"/>
                <a:ea typeface="Calibri" pitchFamily="34" charset="-122"/>
                <a:cs typeface="Calibri" pitchFamily="34" charset="-120"/>
              </a:rPr>
              <a:t>One instance produced by a systematic breakdown is major — that mechanism will produce more. Fifty independent transcription slips are fifty slips. When you cannot tell, ask what would have had to work for this not to happen, and whether that thing is working.</a:t>
            </a:r>
            <a:endParaRPr lang="en-US" sz="1200" dirty="0"/>
          </a:p>
        </p:txBody>
      </p:sp>
      <p:sp>
        <p:nvSpPr>
          <p:cNvPr id="7" name="Shape 5"/>
          <p:cNvSpPr/>
          <p:nvPr/>
        </p:nvSpPr>
        <p:spPr>
          <a:xfrm>
            <a:off x="5872990" y="1627632"/>
            <a:ext cx="5751777" cy="2578608"/>
          </a:xfrm>
          <a:prstGeom prst="roundRect">
            <a:avLst>
              <a:gd name="adj" fmla="val 2128"/>
            </a:avLst>
          </a:prstGeom>
          <a:solidFill>
            <a:srgbClr val="1E2761"/>
          </a:solidFill>
          <a:ln w="12700">
            <a:solidFill>
              <a:srgbClr val="1E2761"/>
            </a:solidFill>
            <a:prstDash val="solid"/>
          </a:ln>
        </p:spPr>
      </p:sp>
      <p:sp>
        <p:nvSpPr>
          <p:cNvPr id="8" name="Text 6"/>
          <p:cNvSpPr/>
          <p:nvPr/>
        </p:nvSpPr>
        <p:spPr>
          <a:xfrm>
            <a:off x="6147310" y="1792224"/>
            <a:ext cx="5203137"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Nine outputs, not four</a:t>
            </a:r>
            <a:endParaRPr lang="en-US" sz="1500" dirty="0"/>
          </a:p>
        </p:txBody>
      </p:sp>
      <p:sp>
        <p:nvSpPr>
          <p:cNvPr id="9" name="Text 7"/>
          <p:cNvSpPr/>
          <p:nvPr/>
        </p:nvSpPr>
        <p:spPr>
          <a:xfrm>
            <a:off x="6147310" y="2194560"/>
            <a:ext cx="5221425" cy="1883664"/>
          </a:xfrm>
          <a:prstGeom prst="rect">
            <a:avLst/>
          </a:prstGeom>
          <a:noFill/>
          <a:ln/>
        </p:spPr>
        <p:txBody>
          <a:bodyPr wrap="square" lIns="0" tIns="0" rIns="0" bIns="0" rtlCol="0" anchor="t"/>
          <a:lstStyle/>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Findings, documented and provided to the customer</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Action items — issue, plan, owner, suspense date</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Minutes, carrying evidence as well as proceedings</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Records that findings have been rectified</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A summary report of what was found</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A detailed report — only after verified closure</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An invitation to witness anything re-accomplished</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A final system-level audit where increments were used</a:t>
            </a:r>
            <a:endParaRPr lang="en-US" sz="1050" dirty="0"/>
          </a:p>
          <a:p>
            <a:pPr marL="342900" indent="-342900">
              <a:lnSpc>
                <a:spcPts val="1350"/>
              </a:lnSpc>
              <a:buSzPct val="100000"/>
              <a:buChar char="•"/>
            </a:pPr>
            <a:r>
              <a:rPr lang="en-US" sz="1050" dirty="0">
                <a:solidFill>
                  <a:srgbClr val="D8E0F4"/>
                </a:solidFill>
                <a:latin typeface="Calibri" pitchFamily="34" charset="0"/>
                <a:ea typeface="Calibri" pitchFamily="34" charset="-122"/>
                <a:cs typeface="Calibri" pitchFamily="34" charset="-120"/>
              </a:rPr>
              <a:t>The product baseline itself</a:t>
            </a:r>
            <a:endParaRPr lang="en-US" sz="1050" dirty="0"/>
          </a:p>
        </p:txBody>
      </p:sp>
      <p:sp>
        <p:nvSpPr>
          <p:cNvPr id="10" name="Shape 8"/>
          <p:cNvSpPr/>
          <p:nvPr/>
        </p:nvSpPr>
        <p:spPr>
          <a:xfrm>
            <a:off x="566928" y="4425696"/>
            <a:ext cx="3551834" cy="1828800"/>
          </a:xfrm>
          <a:prstGeom prst="roundRect">
            <a:avLst>
              <a:gd name="adj" fmla="val 3000"/>
            </a:avLst>
          </a:prstGeom>
          <a:solidFill>
            <a:srgbClr val="FFFFFF"/>
          </a:solidFill>
          <a:ln w="12700">
            <a:solidFill>
              <a:srgbClr val="CADCFC"/>
            </a:solidFill>
            <a:prstDash val="solid"/>
          </a:ln>
        </p:spPr>
      </p:sp>
      <p:sp>
        <p:nvSpPr>
          <p:cNvPr id="11" name="Text 9"/>
          <p:cNvSpPr/>
          <p:nvPr/>
        </p:nvSpPr>
        <p:spPr>
          <a:xfrm>
            <a:off x="822960" y="4553712"/>
            <a:ext cx="3039770" cy="31089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Two reports, sequenced</a:t>
            </a:r>
            <a:endParaRPr lang="en-US" sz="1400" dirty="0"/>
          </a:p>
        </p:txBody>
      </p:sp>
      <p:sp>
        <p:nvSpPr>
          <p:cNvPr id="12" name="Text 10"/>
          <p:cNvSpPr/>
          <p:nvPr/>
        </p:nvSpPr>
        <p:spPr>
          <a:xfrm>
            <a:off x="822960" y="4919472"/>
            <a:ext cx="3039770" cy="1207008"/>
          </a:xfrm>
          <a:prstGeom prst="rect">
            <a:avLst/>
          </a:prstGeom>
          <a:noFill/>
          <a:ln/>
        </p:spPr>
        <p:txBody>
          <a:bodyPr wrap="square" lIns="0" tIns="0" rIns="0" bIns="0" rtlCol="0" anchor="t"/>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The first states what was found. The second is prepared only after the customer verifies the completed items, and states what was verifiably closed. A single report issued on claimed closure collapses the distinction that matters.</a:t>
            </a:r>
            <a:endParaRPr lang="en-US" sz="1150" dirty="0"/>
          </a:p>
        </p:txBody>
      </p:sp>
      <p:sp>
        <p:nvSpPr>
          <p:cNvPr id="13" name="Shape 11"/>
          <p:cNvSpPr/>
          <p:nvPr/>
        </p:nvSpPr>
        <p:spPr>
          <a:xfrm>
            <a:off x="4319930" y="4425696"/>
            <a:ext cx="3551834" cy="1828800"/>
          </a:xfrm>
          <a:prstGeom prst="roundRect">
            <a:avLst>
              <a:gd name="adj" fmla="val 3000"/>
            </a:avLst>
          </a:prstGeom>
          <a:solidFill>
            <a:srgbClr val="FFFFFF"/>
          </a:solidFill>
          <a:ln w="12700">
            <a:solidFill>
              <a:srgbClr val="CADCFC"/>
            </a:solidFill>
            <a:prstDash val="solid"/>
          </a:ln>
        </p:spPr>
      </p:sp>
      <p:sp>
        <p:nvSpPr>
          <p:cNvPr id="14" name="Text 12"/>
          <p:cNvSpPr/>
          <p:nvPr/>
        </p:nvSpPr>
        <p:spPr>
          <a:xfrm>
            <a:off x="4575962" y="4553712"/>
            <a:ext cx="3039770" cy="31089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Minutes as an evidence package</a:t>
            </a:r>
            <a:endParaRPr lang="en-US" sz="1400" dirty="0"/>
          </a:p>
        </p:txBody>
      </p:sp>
      <p:sp>
        <p:nvSpPr>
          <p:cNvPr id="15" name="Text 13"/>
          <p:cNvSpPr/>
          <p:nvPr/>
        </p:nvSpPr>
        <p:spPr>
          <a:xfrm>
            <a:off x="4575962" y="4919472"/>
            <a:ext cx="3039770" cy="1207008"/>
          </a:xfrm>
          <a:prstGeom prst="rect">
            <a:avLst/>
          </a:prstGeom>
          <a:noFill/>
          <a:ln/>
        </p:spPr>
        <p:txBody>
          <a:bodyPr wrap="square" lIns="0" tIns="0" rIns="0" bIns="0" rtlCol="0" anchor="t"/>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The drawings package with its manufacturing instructions, completed inspection reports, baseline records including spares released before the audit, sub-supplier confirmations, and the parts selection list — all provided within the minutes.</a:t>
            </a:r>
            <a:endParaRPr lang="en-US" sz="1150" dirty="0"/>
          </a:p>
        </p:txBody>
      </p:sp>
      <p:sp>
        <p:nvSpPr>
          <p:cNvPr id="16" name="Shape 14"/>
          <p:cNvSpPr/>
          <p:nvPr/>
        </p:nvSpPr>
        <p:spPr>
          <a:xfrm>
            <a:off x="8072933" y="4425696"/>
            <a:ext cx="3551834" cy="1828800"/>
          </a:xfrm>
          <a:prstGeom prst="roundRect">
            <a:avLst>
              <a:gd name="adj" fmla="val 3000"/>
            </a:avLst>
          </a:prstGeom>
          <a:solidFill>
            <a:srgbClr val="FFFFFF"/>
          </a:solidFill>
          <a:ln w="12700">
            <a:solidFill>
              <a:srgbClr val="CADCFC"/>
            </a:solidFill>
            <a:prstDash val="solid"/>
          </a:ln>
        </p:spPr>
      </p:sp>
      <p:sp>
        <p:nvSpPr>
          <p:cNvPr id="17" name="Text 15"/>
          <p:cNvSpPr/>
          <p:nvPr/>
        </p:nvSpPr>
        <p:spPr>
          <a:xfrm>
            <a:off x="8328965" y="4553712"/>
            <a:ext cx="3039770" cy="310896"/>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There is no verbal finding</a:t>
            </a:r>
            <a:endParaRPr lang="en-US" sz="1400" dirty="0"/>
          </a:p>
        </p:txBody>
      </p:sp>
      <p:sp>
        <p:nvSpPr>
          <p:cNvPr id="18" name="Text 16"/>
          <p:cNvSpPr/>
          <p:nvPr/>
        </p:nvSpPr>
        <p:spPr>
          <a:xfrm>
            <a:off x="8328965" y="4919472"/>
            <a:ext cx="3039770" cy="1207008"/>
          </a:xfrm>
          <a:prstGeom prst="rect">
            <a:avLst/>
          </a:prstGeom>
          <a:noFill/>
          <a:ln/>
        </p:spPr>
        <p:txBody>
          <a:bodyPr wrap="square" lIns="0" tIns="0" rIns="0" bIns="0" rtlCol="0" anchor="t"/>
          <a:lstStyle/>
          <a:p>
            <a:pPr indent="0" marL="0">
              <a:lnSpc>
                <a:spcPts val="1600"/>
              </a:lnSpc>
              <a:buNone/>
            </a:pPr>
            <a:r>
              <a:rPr lang="en-US" sz="1150" dirty="0">
                <a:solidFill>
                  <a:srgbClr val="2A2A2A"/>
                </a:solidFill>
                <a:latin typeface="Calibri" pitchFamily="34" charset="0"/>
                <a:ea typeface="Calibri" pitchFamily="34" charset="-122"/>
                <a:cs typeface="Calibri" pitchFamily="34" charset="-120"/>
              </a:rPr>
              <a:t>A discrepancy both sides discussed and nobody wrote down did not happen, and will be re-argued as though it never did. Daily minutes are reviewed jointly at the start of the next session, for exactly that reason.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384048"/>
            <a:ext cx="11057839" cy="4754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What to remember</a:t>
            </a:r>
            <a:endParaRPr lang="en-US" sz="2700" dirty="0"/>
          </a:p>
        </p:txBody>
      </p:sp>
      <p:sp>
        <p:nvSpPr>
          <p:cNvPr id="3" name="Text 1"/>
          <p:cNvSpPr/>
          <p:nvPr/>
        </p:nvSpPr>
        <p:spPr>
          <a:xfrm>
            <a:off x="566928" y="932688"/>
            <a:ext cx="10874959" cy="457200"/>
          </a:xfrm>
          <a:prstGeom prst="rect">
            <a:avLst/>
          </a:prstGeom>
          <a:noFill/>
          <a:ln/>
        </p:spPr>
        <p:txBody>
          <a:bodyPr wrap="square" lIns="0" tIns="0" rIns="0" bIns="0" rtlCol="0" anchor="ctr"/>
          <a:lstStyle/>
          <a:p>
            <a:pPr indent="0" marL="0">
              <a:lnSpc>
                <a:spcPts val="1900"/>
              </a:lnSpc>
              <a:buNone/>
            </a:pPr>
            <a:r>
              <a:rPr lang="en-US" sz="1350" dirty="0">
                <a:solidFill>
                  <a:srgbClr val="CADCFC"/>
                </a:solidFill>
                <a:latin typeface="Calibri" pitchFamily="34" charset="0"/>
                <a:ea typeface="Calibri" pitchFamily="34" charset="-122"/>
                <a:cs typeface="Calibri" pitchFamily="34" charset="-120"/>
              </a:rPr>
              <a:t>An audit is a discrete validation of the machinery that runs continuously — not a substitute for it, and not a re-inspection of one article.</a:t>
            </a:r>
            <a:endParaRPr lang="en-US" sz="1350" dirty="0"/>
          </a:p>
        </p:txBody>
      </p:sp>
      <p:sp>
        <p:nvSpPr>
          <p:cNvPr id="4" name="Shape 2"/>
          <p:cNvSpPr/>
          <p:nvPr/>
        </p:nvSpPr>
        <p:spPr>
          <a:xfrm>
            <a:off x="566928" y="1938528"/>
            <a:ext cx="347472" cy="347472"/>
          </a:xfrm>
          <a:prstGeom prst="ellipse">
            <a:avLst/>
          </a:prstGeom>
          <a:solidFill>
            <a:srgbClr val="2A3A72"/>
          </a:solidFill>
          <a:ln w="12700">
            <a:solidFill>
              <a:srgbClr val="4A5A9E"/>
            </a:solidFill>
            <a:prstDash val="solid"/>
          </a:ln>
        </p:spPr>
      </p:sp>
      <p:sp>
        <p:nvSpPr>
          <p:cNvPr id="5" name="Text 3"/>
          <p:cNvSpPr/>
          <p:nvPr/>
        </p:nvSpPr>
        <p:spPr>
          <a:xfrm>
            <a:off x="566928" y="193852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078992" y="188366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The functional audit asks whether the design was proven. The physical audit asks whether this unit is that design. Neither covers the other's ground.</a:t>
            </a:r>
            <a:endParaRPr lang="en-US" sz="1200" dirty="0"/>
          </a:p>
        </p:txBody>
      </p:sp>
      <p:sp>
        <p:nvSpPr>
          <p:cNvPr id="7" name="Shape 5"/>
          <p:cNvSpPr/>
          <p:nvPr/>
        </p:nvSpPr>
        <p:spPr>
          <a:xfrm>
            <a:off x="6214720" y="1938528"/>
            <a:ext cx="347472" cy="347472"/>
          </a:xfrm>
          <a:prstGeom prst="ellipse">
            <a:avLst/>
          </a:prstGeom>
          <a:solidFill>
            <a:srgbClr val="2A3A72"/>
          </a:solidFill>
          <a:ln w="12700">
            <a:solidFill>
              <a:srgbClr val="4A5A9E"/>
            </a:solidFill>
            <a:prstDash val="solid"/>
          </a:ln>
        </p:spPr>
      </p:sp>
      <p:sp>
        <p:nvSpPr>
          <p:cNvPr id="8" name="Text 6"/>
          <p:cNvSpPr/>
          <p:nvPr/>
        </p:nvSpPr>
        <p:spPr>
          <a:xfrm>
            <a:off x="6214720" y="193852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2</a:t>
            </a:r>
            <a:endParaRPr lang="en-US" sz="1300" dirty="0"/>
          </a:p>
        </p:txBody>
      </p:sp>
      <p:sp>
        <p:nvSpPr>
          <p:cNvPr id="9" name="Text 7"/>
          <p:cNvSpPr/>
          <p:nvPr/>
        </p:nvSpPr>
        <p:spPr>
          <a:xfrm>
            <a:off x="6726784" y="188366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Being a configuration item decides what is managed separately; designation decides which of those get an audit. Two selections, two records.</a:t>
            </a:r>
            <a:endParaRPr lang="en-US" sz="1200" dirty="0"/>
          </a:p>
        </p:txBody>
      </p:sp>
      <p:sp>
        <p:nvSpPr>
          <p:cNvPr id="10" name="Shape 8"/>
          <p:cNvSpPr/>
          <p:nvPr/>
        </p:nvSpPr>
        <p:spPr>
          <a:xfrm>
            <a:off x="566928" y="3355848"/>
            <a:ext cx="347472" cy="347472"/>
          </a:xfrm>
          <a:prstGeom prst="ellipse">
            <a:avLst/>
          </a:prstGeom>
          <a:solidFill>
            <a:srgbClr val="2A3A72"/>
          </a:solidFill>
          <a:ln w="12700">
            <a:solidFill>
              <a:srgbClr val="4A5A9E"/>
            </a:solidFill>
            <a:prstDash val="solid"/>
          </a:ln>
        </p:spPr>
      </p:sp>
      <p:sp>
        <p:nvSpPr>
          <p:cNvPr id="11" name="Text 9"/>
          <p:cNvSpPr/>
          <p:nvPr/>
        </p:nvSpPr>
        <p:spPr>
          <a:xfrm>
            <a:off x="566928" y="335584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3</a:t>
            </a:r>
            <a:endParaRPr lang="en-US" sz="1300" dirty="0"/>
          </a:p>
        </p:txBody>
      </p:sp>
      <p:sp>
        <p:nvSpPr>
          <p:cNvPr id="12" name="Text 10"/>
          <p:cNvSpPr/>
          <p:nvPr/>
        </p:nvSpPr>
        <p:spPr>
          <a:xfrm>
            <a:off x="1078992" y="330098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Prerequisites are structural: approved baselines before the functional audit, validation before the physical one, and closed build records before either examines a unit.</a:t>
            </a:r>
            <a:endParaRPr lang="en-US" sz="1200" dirty="0"/>
          </a:p>
        </p:txBody>
      </p:sp>
      <p:sp>
        <p:nvSpPr>
          <p:cNvPr id="13" name="Shape 11"/>
          <p:cNvSpPr/>
          <p:nvPr/>
        </p:nvSpPr>
        <p:spPr>
          <a:xfrm>
            <a:off x="6214720" y="3355848"/>
            <a:ext cx="347472" cy="347472"/>
          </a:xfrm>
          <a:prstGeom prst="ellipse">
            <a:avLst/>
          </a:prstGeom>
          <a:solidFill>
            <a:srgbClr val="2A3A72"/>
          </a:solidFill>
          <a:ln w="12700">
            <a:solidFill>
              <a:srgbClr val="4A5A9E"/>
            </a:solidFill>
            <a:prstDash val="solid"/>
          </a:ln>
        </p:spPr>
      </p:sp>
      <p:sp>
        <p:nvSpPr>
          <p:cNvPr id="14" name="Text 12"/>
          <p:cNvSpPr/>
          <p:nvPr/>
        </p:nvSpPr>
        <p:spPr>
          <a:xfrm>
            <a:off x="6214720" y="335584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4</a:t>
            </a:r>
            <a:endParaRPr lang="en-US" sz="1300" dirty="0"/>
          </a:p>
        </p:txBody>
      </p:sp>
      <p:sp>
        <p:nvSpPr>
          <p:cNvPr id="15" name="Text 13"/>
          <p:cNvSpPr/>
          <p:nvPr/>
        </p:nvSpPr>
        <p:spPr>
          <a:xfrm>
            <a:off x="6726784" y="330098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Matching part numbers establishes identity, not conformity — and each defect in practice is caught by exactly one check, which is the argument for the whole set.</a:t>
            </a:r>
            <a:endParaRPr lang="en-US" sz="1200" dirty="0"/>
          </a:p>
        </p:txBody>
      </p:sp>
      <p:sp>
        <p:nvSpPr>
          <p:cNvPr id="16" name="Shape 14"/>
          <p:cNvSpPr/>
          <p:nvPr/>
        </p:nvSpPr>
        <p:spPr>
          <a:xfrm>
            <a:off x="566928" y="4773168"/>
            <a:ext cx="347472" cy="347472"/>
          </a:xfrm>
          <a:prstGeom prst="ellipse">
            <a:avLst/>
          </a:prstGeom>
          <a:solidFill>
            <a:srgbClr val="2A3A72"/>
          </a:solidFill>
          <a:ln w="12700">
            <a:solidFill>
              <a:srgbClr val="4A5A9E"/>
            </a:solidFill>
            <a:prstDash val="solid"/>
          </a:ln>
        </p:spPr>
      </p:sp>
      <p:sp>
        <p:nvSpPr>
          <p:cNvPr id="17" name="Text 15"/>
          <p:cNvSpPr/>
          <p:nvPr/>
        </p:nvSpPr>
        <p:spPr>
          <a:xfrm>
            <a:off x="566928" y="477316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5</a:t>
            </a:r>
            <a:endParaRPr lang="en-US" sz="1300" dirty="0"/>
          </a:p>
        </p:txBody>
      </p:sp>
      <p:sp>
        <p:nvSpPr>
          <p:cNvPr id="18" name="Text 16"/>
          <p:cNvSpPr/>
          <p:nvPr/>
        </p:nvSpPr>
        <p:spPr>
          <a:xfrm>
            <a:off x="1078992" y="471830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The system-level audit is scoped to items not yet audited and to interfaces between them. Drawings locate what to examine; they are not what is examined.</a:t>
            </a:r>
            <a:endParaRPr lang="en-US" sz="1200" dirty="0"/>
          </a:p>
        </p:txBody>
      </p:sp>
      <p:sp>
        <p:nvSpPr>
          <p:cNvPr id="19" name="Shape 17"/>
          <p:cNvSpPr/>
          <p:nvPr/>
        </p:nvSpPr>
        <p:spPr>
          <a:xfrm>
            <a:off x="6214720" y="4773168"/>
            <a:ext cx="347472" cy="347472"/>
          </a:xfrm>
          <a:prstGeom prst="ellipse">
            <a:avLst/>
          </a:prstGeom>
          <a:solidFill>
            <a:srgbClr val="2A3A72"/>
          </a:solidFill>
          <a:ln w="12700">
            <a:solidFill>
              <a:srgbClr val="4A5A9E"/>
            </a:solidFill>
            <a:prstDash val="solid"/>
          </a:ln>
        </p:spPr>
      </p:sp>
      <p:sp>
        <p:nvSpPr>
          <p:cNvPr id="20" name="Text 18"/>
          <p:cNvSpPr/>
          <p:nvPr/>
        </p:nvSpPr>
        <p:spPr>
          <a:xfrm>
            <a:off x="6214720" y="4773168"/>
            <a:ext cx="347472" cy="347472"/>
          </a:xfrm>
          <a:prstGeom prst="rect">
            <a:avLst/>
          </a:prstGeom>
          <a:noFill/>
          <a:ln/>
        </p:spPr>
        <p:txBody>
          <a:bodyPr wrap="square" lIns="0" tIns="0" rIns="0" bIns="0" rtlCol="0" anchor="ctr"/>
          <a:lstStyle/>
          <a:p>
            <a:pPr algn="ctr" indent="0" marL="0">
              <a:buNone/>
            </a:pPr>
            <a:r>
              <a:rPr lang="en-US" sz="1300" b="1" dirty="0">
                <a:solidFill>
                  <a:srgbClr val="C8A24A"/>
                </a:solidFill>
                <a:latin typeface="Cambria" pitchFamily="34" charset="0"/>
                <a:ea typeface="Cambria" pitchFamily="34" charset="-122"/>
                <a:cs typeface="Cambria" pitchFamily="34" charset="-120"/>
              </a:rPr>
              <a:t>6</a:t>
            </a:r>
            <a:endParaRPr lang="en-US" sz="1300" dirty="0"/>
          </a:p>
        </p:txBody>
      </p:sp>
      <p:sp>
        <p:nvSpPr>
          <p:cNvPr id="21" name="Text 19"/>
          <p:cNvSpPr/>
          <p:nvPr/>
        </p:nvSpPr>
        <p:spPr>
          <a:xfrm>
            <a:off x="6726784" y="4718304"/>
            <a:ext cx="4897984" cy="1225296"/>
          </a:xfrm>
          <a:prstGeom prst="rect">
            <a:avLst/>
          </a:prstGeom>
          <a:noFill/>
          <a:ln/>
        </p:spPr>
        <p:txBody>
          <a:bodyPr wrap="square" lIns="0" tIns="0" rIns="0" bIns="0" rtlCol="0" anchor="ctr"/>
          <a:lstStyle/>
          <a:p>
            <a:pPr indent="0" marL="0">
              <a:lnSpc>
                <a:spcPts val="1700"/>
              </a:lnSpc>
              <a:buNone/>
            </a:pPr>
            <a:r>
              <a:rPr lang="en-US" sz="1200" dirty="0">
                <a:solidFill>
                  <a:srgbClr val="D8E0F4"/>
                </a:solidFill>
                <a:latin typeface="Calibri" pitchFamily="34" charset="0"/>
                <a:ea typeface="Calibri" pitchFamily="34" charset="-122"/>
                <a:cs typeface="Calibri" pitchFamily="34" charset="-120"/>
              </a:rPr>
              <a:t>Findings classify by mechanism rather than count, and a finding is a measurement of the process — a repeat finding two years later is telling you about the organisation, not the item.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2026-08-15T01:21:58Z</dcterms:created>
  <dcterms:modified xsi:type="dcterms:W3CDTF">2026-08-15T01:21:58Z</dcterms:modified>
</cp:coreProperties>
</file>