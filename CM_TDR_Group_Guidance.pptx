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group uses the same two sheets. Filter the register on column I. The only thing that differs between groups is the clause range and the shape of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pulls first. Group 1 should finish ahead of the others because its findings are the root cause of much of what the other three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Who fills what</a:t>
            </a:r>
            <a:endParaRPr lang="en-US" sz="3000" dirty="0"/>
          </a:p>
        </p:txBody>
      </p:sp>
      <p:sp>
        <p:nvSpPr>
          <p:cNvPr id="3" name="Text 1"/>
          <p:cNvSpPr/>
          <p:nvPr/>
        </p:nvSpPr>
        <p:spPr>
          <a:xfrm>
            <a:off x="502920" y="841248"/>
            <a:ext cx="11155680" cy="310896"/>
          </a:xfrm>
          <a:prstGeom prst="rect">
            <a:avLst/>
          </a:prstGeom>
          <a:noFill/>
          <a:ln/>
        </p:spPr>
        <p:txBody>
          <a:bodyPr wrap="square" lIns="0" tIns="0" rIns="0" bIns="0" rtlCol="0" anchor="ctr"/>
          <a:lstStyle/>
          <a:p>
            <a:pPr indent="0" marL="0">
              <a:buNone/>
            </a:pPr>
            <a:r>
              <a:rPr lang="en-US" sz="1200" dirty="0">
                <a:solidFill>
                  <a:srgbClr val="6B6B6B"/>
                </a:solidFill>
                <a:latin typeface="Arial" pitchFamily="34" charset="0"/>
                <a:ea typeface="Arial" pitchFamily="34" charset="-122"/>
                <a:cs typeface="Arial" pitchFamily="34" charset="-120"/>
              </a:rPr>
              <a:t>274 requirements, four groups, two sheets. Row count is not workload: Group 3 has 110 rows but about the same pull count as Group 2. Staff to pulls.</a:t>
            </a:r>
            <a:endParaRPr lang="en-US" sz="1200" dirty="0"/>
          </a:p>
        </p:txBody>
      </p:sp>
      <p:sp>
        <p:nvSpPr>
          <p:cNvPr id="4" name="Shape 2"/>
          <p:cNvSpPr/>
          <p:nvPr/>
        </p:nvSpPr>
        <p:spPr>
          <a:xfrm>
            <a:off x="502920" y="1371600"/>
            <a:ext cx="4114800" cy="4251960"/>
          </a:xfrm>
          <a:prstGeom prst="rect">
            <a:avLst/>
          </a:prstGeom>
          <a:solidFill>
            <a:srgbClr val="F4F5F7"/>
          </a:solidFill>
          <a:ln w="9525">
            <a:solidFill>
              <a:srgbClr val="D0D0D0"/>
            </a:solidFill>
            <a:prstDash val="solid"/>
          </a:ln>
        </p:spPr>
      </p:sp>
      <p:sp>
        <p:nvSpPr>
          <p:cNvPr id="5" name="Text 3"/>
          <p:cNvSpPr/>
          <p:nvPr/>
        </p:nvSpPr>
        <p:spPr>
          <a:xfrm>
            <a:off x="731520" y="1536192"/>
            <a:ext cx="3657600" cy="274320"/>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Every group does this</a:t>
            </a:r>
            <a:endParaRPr lang="en-US" sz="1400" dirty="0"/>
          </a:p>
        </p:txBody>
      </p:sp>
      <p:sp>
        <p:nvSpPr>
          <p:cNvPr id="6" name="Shape 4"/>
          <p:cNvSpPr/>
          <p:nvPr/>
        </p:nvSpPr>
        <p:spPr>
          <a:xfrm>
            <a:off x="731520" y="1920240"/>
            <a:ext cx="3657600" cy="1417320"/>
          </a:xfrm>
          <a:prstGeom prst="roundRect">
            <a:avLst>
              <a:gd name="adj" fmla="val 3871"/>
            </a:avLst>
          </a:prstGeom>
          <a:solidFill>
            <a:srgbClr val="FFFFFF"/>
          </a:solidFill>
          <a:ln w="15875">
            <a:solidFill>
              <a:srgbClr val="2F5597"/>
            </a:solidFill>
            <a:prstDash val="solid"/>
          </a:ln>
        </p:spPr>
      </p:sp>
      <p:sp>
        <p:nvSpPr>
          <p:cNvPr id="7" name="Text 5"/>
          <p:cNvSpPr/>
          <p:nvPr/>
        </p:nvSpPr>
        <p:spPr>
          <a:xfrm>
            <a:off x="868680" y="2029968"/>
            <a:ext cx="274320" cy="274320"/>
          </a:xfrm>
          <a:prstGeom prst="rect">
            <a:avLst/>
          </a:prstGeom>
          <a:noFill/>
          <a:ln/>
        </p:spPr>
        <p:txBody>
          <a:bodyPr wrap="square" lIns="0" tIns="0" rIns="0" bIns="0" rtlCol="0" anchor="ctr"/>
          <a:lstStyle/>
          <a:p>
            <a:pPr indent="0" marL="0">
              <a:buNone/>
            </a:pPr>
            <a:r>
              <a:rPr lang="en-US" sz="1800" b="1" dirty="0">
                <a:solidFill>
                  <a:srgbClr val="2F5597"/>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207008" y="2048256"/>
            <a:ext cx="3017520" cy="237744"/>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Evidence Pulls sheet</a:t>
            </a:r>
            <a:endParaRPr lang="en-US" sz="1300" dirty="0"/>
          </a:p>
        </p:txBody>
      </p:sp>
      <p:sp>
        <p:nvSpPr>
          <p:cNvPr id="9" name="Text 7"/>
          <p:cNvSpPr/>
          <p:nvPr/>
        </p:nvSpPr>
        <p:spPr>
          <a:xfrm>
            <a:off x="1207008" y="2340864"/>
            <a:ext cx="3063240" cy="9144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One row per body of records.</a:t>
            </a:r>
            <a:endParaRPr lang="en-US" sz="1050" dirty="0"/>
          </a:p>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13 fields: process, tool, training, named executors, function, sample.</a:t>
            </a:r>
            <a:endParaRPr lang="en-US" sz="1050" dirty="0"/>
          </a:p>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50 starter pulls are pre-seeded by group. Split or delete freely.</a:t>
            </a:r>
            <a:endParaRPr lang="en-US" sz="1050" dirty="0"/>
          </a:p>
        </p:txBody>
      </p:sp>
      <p:sp>
        <p:nvSpPr>
          <p:cNvPr id="10" name="Shape 8"/>
          <p:cNvSpPr/>
          <p:nvPr/>
        </p:nvSpPr>
        <p:spPr>
          <a:xfrm>
            <a:off x="731520" y="3493008"/>
            <a:ext cx="3657600" cy="1298448"/>
          </a:xfrm>
          <a:prstGeom prst="roundRect">
            <a:avLst>
              <a:gd name="adj" fmla="val 4225"/>
            </a:avLst>
          </a:prstGeom>
          <a:solidFill>
            <a:srgbClr val="FFFFFF"/>
          </a:solidFill>
          <a:ln w="15875">
            <a:solidFill>
              <a:srgbClr val="2F5597"/>
            </a:solidFill>
            <a:prstDash val="solid"/>
          </a:ln>
        </p:spPr>
      </p:sp>
      <p:sp>
        <p:nvSpPr>
          <p:cNvPr id="11" name="Text 9"/>
          <p:cNvSpPr/>
          <p:nvPr/>
        </p:nvSpPr>
        <p:spPr>
          <a:xfrm>
            <a:off x="868680" y="3602736"/>
            <a:ext cx="274320" cy="274320"/>
          </a:xfrm>
          <a:prstGeom prst="rect">
            <a:avLst/>
          </a:prstGeom>
          <a:noFill/>
          <a:ln/>
        </p:spPr>
        <p:txBody>
          <a:bodyPr wrap="square" lIns="0" tIns="0" rIns="0" bIns="0" rtlCol="0" anchor="ctr"/>
          <a:lstStyle/>
          <a:p>
            <a:pPr indent="0" marL="0">
              <a:buNone/>
            </a:pPr>
            <a:r>
              <a:rPr lang="en-US" sz="1800" b="1" dirty="0">
                <a:solidFill>
                  <a:srgbClr val="2F5597"/>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207008" y="3621024"/>
            <a:ext cx="3017520" cy="237744"/>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Full Register sheet</a:t>
            </a:r>
            <a:endParaRPr lang="en-US" sz="1300" dirty="0"/>
          </a:p>
        </p:txBody>
      </p:sp>
      <p:sp>
        <p:nvSpPr>
          <p:cNvPr id="13" name="Text 11"/>
          <p:cNvSpPr/>
          <p:nvPr/>
        </p:nvSpPr>
        <p:spPr>
          <a:xfrm>
            <a:off x="1207008" y="3913632"/>
            <a:ext cx="3063240" cy="7772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Two columns per requirement, that is all.</a:t>
            </a:r>
            <a:endParaRPr lang="en-US" sz="1050" dirty="0"/>
          </a:p>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Col J: which Evidence Pull answers it.</a:t>
            </a:r>
            <a:endParaRPr lang="en-US" sz="1050" dirty="0"/>
          </a:p>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Col K: health rung. Disposition sets itself.</a:t>
            </a:r>
            <a:endParaRPr lang="en-US" sz="1050" dirty="0"/>
          </a:p>
        </p:txBody>
      </p:sp>
      <p:sp>
        <p:nvSpPr>
          <p:cNvPr id="14" name="Text 12"/>
          <p:cNvSpPr/>
          <p:nvPr/>
        </p:nvSpPr>
        <p:spPr>
          <a:xfrm>
            <a:off x="731520" y="4974336"/>
            <a:ext cx="3703320" cy="457200"/>
          </a:xfrm>
          <a:prstGeom prst="rect">
            <a:avLst/>
          </a:prstGeom>
          <a:noFill/>
          <a:ln/>
        </p:spPr>
        <p:txBody>
          <a:bodyPr wrap="square" lIns="0" tIns="0" rIns="0" bIns="0" rtlCol="0" anchor="ctr"/>
          <a:lstStyle/>
          <a:p>
            <a:pPr indent="0" marL="0">
              <a:buNone/>
            </a:pPr>
            <a:r>
              <a:rPr lang="en-US" sz="1050" i="1" dirty="0">
                <a:solidFill>
                  <a:srgbClr val="2F5597"/>
                </a:solidFill>
                <a:latin typeface="Arial" pitchFamily="34" charset="0"/>
                <a:ea typeface="Arial" pitchFamily="34" charset="-122"/>
                <a:cs typeface="Arial" pitchFamily="34" charset="-120"/>
              </a:rPr>
              <a:t>Filter the register on your group name in column I. Ignore every other row.</a:t>
            </a:r>
            <a:endParaRPr lang="en-US" sz="10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92040" y="1371600"/>
          <a:ext cx="6766560" cy="914400"/>
        </p:xfrm>
        <a:graphic>
          <a:graphicData uri="http://schemas.openxmlformats.org/drawingml/2006/table">
            <a:tbl>
              <a:tblPr/>
              <a:tblGrid>
                <a:gridCol w="2286000"/>
                <a:gridCol w="2148840"/>
                <a:gridCol w="658368"/>
                <a:gridCol w="941832"/>
                <a:gridCol w="731520"/>
              </a:tblGrid>
              <a:tr h="38404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Group</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Clauses</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Rows</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Mandatory</a:t>
                      </a:r>
                      <a:endParaRPr lang="en-US" sz="1050" dirty="0">
                        <a:latin typeface="Arial" charset="0"/>
                        <a:ea typeface="Arial" charset="0"/>
                        <a:cs typeface="Arial" charset="0"/>
                      </a:endParaRPr>
                    </a:p>
                    <a:p>
                      <a:pPr algn="l" indent="0" marL="0">
                        <a:buNone/>
                      </a:pPr>
                      <a:r>
                        <a:rPr lang="en-US" sz="1050" b="1" dirty="0">
                          <a:solidFill>
                            <a:srgbClr val="222222"/>
                          </a:solidFill>
                          <a:latin typeface="Arial" pitchFamily="34" charset="0"/>
                          <a:ea typeface="Arial" pitchFamily="34" charset="-122"/>
                          <a:cs typeface="Arial" pitchFamily="34" charset="-120"/>
                        </a:rPr>
                        <a:t>for safety</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Likely</a:t>
                      </a:r>
                      <a:endParaRPr lang="en-US" sz="1050" dirty="0">
                        <a:latin typeface="Arial" charset="0"/>
                        <a:ea typeface="Arial" charset="0"/>
                        <a:cs typeface="Arial" charset="0"/>
                      </a:endParaRPr>
                    </a:p>
                    <a:p>
                      <a:pPr algn="l" indent="0" marL="0">
                        <a:buNone/>
                      </a:pPr>
                      <a:r>
                        <a:rPr lang="en-US" sz="1050" b="1" dirty="0">
                          <a:solidFill>
                            <a:srgbClr val="222222"/>
                          </a:solidFill>
                          <a:latin typeface="Arial" pitchFamily="34" charset="0"/>
                          <a:ea typeface="Arial" pitchFamily="34" charset="-122"/>
                          <a:cs typeface="Arial" pitchFamily="34" charset="-120"/>
                        </a:rPr>
                        <a:t>pulls</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1. Planning and Management</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3.(1)–(4), 3.1 to 3.1.4</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5–7</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2. Identification</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3.2 to 3.2.5.2</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70</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15–20</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3. Change and Variance</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3.3 to 3.3.4</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110</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15–20</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4. CSA and Verification</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3.4 to 3.4.2, 3.5.1 to 3.5.5</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73</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12–15</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Total</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49 clauses</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274</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60–90</a:t>
                      </a:r>
                      <a:endParaRPr lang="en-US" sz="105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bl>
          </a:graphicData>
        </a:graphic>
      </p:graphicFrame>
      <p:sp>
        <p:nvSpPr>
          <p:cNvPr id="16" name="Shape 13"/>
          <p:cNvSpPr/>
          <p:nvPr/>
        </p:nvSpPr>
        <p:spPr>
          <a:xfrm>
            <a:off x="4892040" y="3977640"/>
            <a:ext cx="6766560" cy="1645920"/>
          </a:xfrm>
          <a:prstGeom prst="rect">
            <a:avLst/>
          </a:prstGeom>
          <a:solidFill>
            <a:srgbClr val="FDF1D8"/>
          </a:solidFill>
          <a:ln w="12700">
            <a:solidFill>
              <a:srgbClr val="C87A00"/>
            </a:solidFill>
            <a:prstDash val="solid"/>
          </a:ln>
        </p:spPr>
      </p:sp>
      <p:sp>
        <p:nvSpPr>
          <p:cNvPr id="17" name="Text 14"/>
          <p:cNvSpPr/>
          <p:nvPr/>
        </p:nvSpPr>
        <p:spPr>
          <a:xfrm>
            <a:off x="5120640" y="4114800"/>
            <a:ext cx="6309360" cy="256032"/>
          </a:xfrm>
          <a:prstGeom prst="rect">
            <a:avLst/>
          </a:prstGeom>
          <a:noFill/>
          <a:ln/>
        </p:spPr>
        <p:txBody>
          <a:bodyPr wrap="square" lIns="0" tIns="0" rIns="0" bIns="0" rtlCol="0" anchor="ctr"/>
          <a:lstStyle/>
          <a:p>
            <a:pPr indent="0" marL="0">
              <a:buNone/>
            </a:pPr>
            <a:r>
              <a:rPr lang="en-US" sz="1300" b="1" dirty="0">
                <a:solidFill>
                  <a:srgbClr val="C87A00"/>
                </a:solidFill>
                <a:latin typeface="Arial" pitchFamily="34" charset="0"/>
                <a:ea typeface="Arial" pitchFamily="34" charset="-122"/>
                <a:cs typeface="Arial" pitchFamily="34" charset="-120"/>
              </a:rPr>
              <a:t>Mandatory for safety</a:t>
            </a:r>
            <a:endParaRPr lang="en-US" sz="1300" dirty="0"/>
          </a:p>
        </p:txBody>
      </p:sp>
      <p:sp>
        <p:nvSpPr>
          <p:cNvPr id="18" name="Text 15"/>
          <p:cNvSpPr/>
          <p:nvPr/>
        </p:nvSpPr>
        <p:spPr>
          <a:xfrm>
            <a:off x="5120640" y="4425696"/>
            <a:ext cx="6355080" cy="10972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44 rows, shaded amber. These are obligated through the safety management system, not through contract flow-down.</a:t>
            </a:r>
            <a:endParaRPr lang="en-US" sz="1050" dirty="0"/>
          </a:p>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Not tailorable. Always Full depth: a record sample on transactional and event pulls, every row graded individually on artifact pulls.</a:t>
            </a:r>
            <a:endParaRPr lang="en-US" sz="1050" dirty="0"/>
          </a:p>
          <a:p>
            <a:pPr marL="342900" indent="-342900">
              <a:spcAft>
                <a:spcPts val="300"/>
              </a:spcAft>
              <a:buSzPct val="100000"/>
              <a:buChar char="•"/>
            </a:pPr>
            <a:r>
              <a:rPr lang="en-US" sz="1050" dirty="0">
                <a:solidFill>
                  <a:srgbClr val="222222"/>
                </a:solidFill>
                <a:latin typeface="Arial" pitchFamily="34" charset="0"/>
                <a:ea typeface="Arial" pitchFamily="34" charset="-122"/>
                <a:cs typeface="Arial" pitchFamily="34" charset="-120"/>
              </a:rPr>
              <a:t>No assessor may downgrade the flag. A safety-mandatory row below Operating trips a hard gate on the dashboard.</a:t>
            </a:r>
            <a:endParaRPr lang="en-US" sz="1050" dirty="0"/>
          </a:p>
        </p:txBody>
      </p:sp>
      <p:sp>
        <p:nvSpPr>
          <p:cNvPr id="19" name="Text 16"/>
          <p:cNvSpPr/>
          <p:nvPr/>
        </p:nvSpPr>
        <p:spPr>
          <a:xfrm>
            <a:off x="502920" y="5687568"/>
            <a:ext cx="11155680" cy="219456"/>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Sample rule: you do not choose a size, the evidence class chooses it</a:t>
            </a:r>
            <a:endParaRPr lang="en-US" sz="12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502920" y="5943600"/>
          <a:ext cx="11155680" cy="914400"/>
        </p:xfrm>
        <a:graphic>
          <a:graphicData uri="http://schemas.openxmlformats.org/drawingml/2006/table">
            <a:tbl>
              <a:tblPr/>
              <a:tblGrid>
                <a:gridCol w="1371600"/>
                <a:gridCol w="5486400"/>
                <a:gridCol w="4297680"/>
              </a:tblGrid>
              <a:tr h="228600">
                <a:tc>
                  <a:txBody>
                    <a:bodyPr/>
                    <a:lstStyle/>
                    <a:p>
                      <a:pPr algn="l" indent="0" marL="0">
                        <a:buNone/>
                      </a:pPr>
                      <a:r>
                        <a:rPr lang="en-US" sz="1000" b="1" dirty="0">
                          <a:solidFill>
                            <a:srgbClr val="222222"/>
                          </a:solidFill>
                          <a:latin typeface="Arial" pitchFamily="34" charset="0"/>
                          <a:ea typeface="Arial" pitchFamily="34" charset="-122"/>
                          <a:cs typeface="Arial" pitchFamily="34" charset="-120"/>
                        </a:rPr>
                        <a:t>Transactional</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ECPs, RFVs, NORs, release records, CSA entries. Trailing 12 months.</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22222"/>
                          </a:solidFill>
                          <a:latin typeface="Arial" pitchFamily="34" charset="0"/>
                          <a:ea typeface="Arial" pitchFamily="34" charset="-122"/>
                          <a:cs typeface="Arial" pitchFamily="34" charset="-120"/>
                        </a:rPr>
                        <a:t>10 records, or all if fewer</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228600">
                <a:tc>
                  <a:txBody>
                    <a:bodyPr/>
                    <a:lstStyle/>
                    <a:p>
                      <a:pPr algn="l" indent="0" marL="0">
                        <a:buNone/>
                      </a:pPr>
                      <a:r>
                        <a:rPr lang="en-US" sz="1000" b="1" dirty="0">
                          <a:solidFill>
                            <a:srgbClr val="222222"/>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Audits, technical reviews, ICWG meetings.</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22222"/>
                          </a:solidFill>
                          <a:latin typeface="Arial" pitchFamily="34" charset="0"/>
                          <a:ea typeface="Arial" pitchFamily="34" charset="-122"/>
                          <a:cs typeface="Arial" pitchFamily="34" charset="-120"/>
                        </a:rPr>
                        <a:t>Last 3 occurrences, or all if fewer</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228600">
                <a:tc>
                  <a:txBody>
                    <a:bodyPr/>
                    <a:lstStyle/>
                    <a:p>
                      <a:pPr algn="l" indent="0" marL="0">
                        <a:buNone/>
                      </a:pPr>
                      <a:r>
                        <a:rPr lang="en-US" sz="1000" b="1" dirty="0">
                          <a:solidFill>
                            <a:srgbClr val="222222"/>
                          </a:solidFill>
                          <a:latin typeface="Arial" pitchFamily="34" charset="0"/>
                          <a:ea typeface="Arial" pitchFamily="34" charset="-122"/>
                          <a:cs typeface="Arial" pitchFamily="34" charset="-120"/>
                        </a:rPr>
                        <a:t>Artifact</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A controlled document: the CM Plan, a baseline, an ICD, a procedure.</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22222"/>
                          </a:solidFill>
                          <a:latin typeface="Arial" pitchFamily="34" charset="0"/>
                          <a:ea typeface="Arial" pitchFamily="34" charset="-122"/>
                          <a:cs typeface="Arial" pitchFamily="34" charset="-120"/>
                        </a:rPr>
                        <a:t>No record sample. Grade the document against every register row on the pull.</a:t>
                      </a:r>
                      <a:endParaRPr lang="en-US" sz="10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What each group's evidence looks like</a:t>
            </a:r>
            <a:endParaRPr lang="en-US" sz="3000" dirty="0"/>
          </a:p>
        </p:txBody>
      </p:sp>
      <p:sp>
        <p:nvSpPr>
          <p:cNvPr id="3" name="Text 1"/>
          <p:cNvSpPr/>
          <p:nvPr/>
        </p:nvSpPr>
        <p:spPr>
          <a:xfrm>
            <a:off x="502920" y="841248"/>
            <a:ext cx="11155680" cy="310896"/>
          </a:xfrm>
          <a:prstGeom prst="rect">
            <a:avLst/>
          </a:prstGeom>
          <a:noFill/>
          <a:ln/>
        </p:spPr>
        <p:txBody>
          <a:bodyPr wrap="square" lIns="0" tIns="0" rIns="0" bIns="0" rtlCol="0" anchor="ctr"/>
          <a:lstStyle/>
          <a:p>
            <a:pPr indent="0" marL="0">
              <a:buNone/>
            </a:pPr>
            <a:r>
              <a:rPr lang="en-US" sz="1200" dirty="0">
                <a:solidFill>
                  <a:srgbClr val="6B6B6B"/>
                </a:solidFill>
                <a:latin typeface="Arial" pitchFamily="34" charset="0"/>
                <a:ea typeface="Arial" pitchFamily="34" charset="-122"/>
                <a:cs typeface="Arial" pitchFamily="34" charset="-120"/>
              </a:rPr>
              <a:t>Build the Evidence Pulls sheet first. Fifty starter pulls are already seeded. The register rows fill in quickly once the pulls exist.</a:t>
            </a:r>
            <a:endParaRPr lang="en-US" sz="1200" dirty="0"/>
          </a:p>
        </p:txBody>
      </p:sp>
      <p:sp>
        <p:nvSpPr>
          <p:cNvPr id="4" name="Shape 2"/>
          <p:cNvSpPr/>
          <p:nvPr/>
        </p:nvSpPr>
        <p:spPr>
          <a:xfrm>
            <a:off x="502920" y="1325880"/>
            <a:ext cx="2743200" cy="4069080"/>
          </a:xfrm>
          <a:prstGeom prst="rect">
            <a:avLst/>
          </a:prstGeom>
          <a:solidFill>
            <a:srgbClr val="FFFFFF"/>
          </a:solidFill>
          <a:ln w="9525">
            <a:solidFill>
              <a:srgbClr val="D0D0D0"/>
            </a:solidFill>
            <a:prstDash val="solid"/>
          </a:ln>
          <a:effectLst>
            <a:outerShdw sx="100000" sy="100000" kx="0" ky="0" algn="bl" rotWithShape="0" blurRad="76200" dist="12700" dir="5400000">
              <a:srgbClr val="AAAAAA">
                <a:alpha val="25000"/>
              </a:srgbClr>
            </a:outerShdw>
          </a:effectLst>
        </p:spPr>
      </p:sp>
      <p:sp>
        <p:nvSpPr>
          <p:cNvPr id="5" name="Shape 3"/>
          <p:cNvSpPr/>
          <p:nvPr/>
        </p:nvSpPr>
        <p:spPr>
          <a:xfrm>
            <a:off x="667512" y="1508760"/>
            <a:ext cx="384048" cy="384048"/>
          </a:xfrm>
          <a:prstGeom prst="ellipse">
            <a:avLst/>
          </a:prstGeom>
          <a:solidFill>
            <a:srgbClr val="1F3864"/>
          </a:solidFill>
          <a:ln w="12700">
            <a:solidFill>
              <a:srgbClr val="1F3864"/>
            </a:solidFill>
            <a:prstDash val="solid"/>
          </a:ln>
        </p:spPr>
      </p:sp>
      <p:sp>
        <p:nvSpPr>
          <p:cNvPr id="6" name="Text 4"/>
          <p:cNvSpPr/>
          <p:nvPr/>
        </p:nvSpPr>
        <p:spPr>
          <a:xfrm>
            <a:off x="667512" y="1545336"/>
            <a:ext cx="3840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124712" y="1508760"/>
            <a:ext cx="1956816" cy="420624"/>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Planning and Management</a:t>
            </a:r>
            <a:endParaRPr lang="en-US" sz="1300" dirty="0"/>
          </a:p>
        </p:txBody>
      </p:sp>
      <p:sp>
        <p:nvSpPr>
          <p:cNvPr id="8" name="Text 6"/>
          <p:cNvSpPr/>
          <p:nvPr/>
        </p:nvSpPr>
        <p:spPr>
          <a:xfrm>
            <a:off x="667512" y="2039112"/>
            <a:ext cx="2414016" cy="182880"/>
          </a:xfrm>
          <a:prstGeom prst="rect">
            <a:avLst/>
          </a:prstGeom>
          <a:noFill/>
          <a:ln/>
        </p:spPr>
        <p:txBody>
          <a:bodyPr wrap="square" lIns="0" tIns="0" rIns="0" bIns="0" rtlCol="0" anchor="ctr"/>
          <a:lstStyle/>
          <a:p>
            <a:pPr indent="0" marL="0">
              <a:buNone/>
            </a:pPr>
            <a:r>
              <a:rPr lang="en-US" sz="900" b="1" spc="100" kern="0" dirty="0">
                <a:solidFill>
                  <a:srgbClr val="2F5597"/>
                </a:solidFill>
                <a:latin typeface="Arial" pitchFamily="34" charset="0"/>
                <a:ea typeface="Arial" pitchFamily="34" charset="-122"/>
                <a:cs typeface="Arial" pitchFamily="34" charset="-120"/>
              </a:rPr>
              <a:t>EVIDENCE</a:t>
            </a:r>
            <a:endParaRPr lang="en-US" sz="900" dirty="0"/>
          </a:p>
        </p:txBody>
      </p:sp>
      <p:sp>
        <p:nvSpPr>
          <p:cNvPr id="9" name="Text 7"/>
          <p:cNvSpPr/>
          <p:nvPr/>
        </p:nvSpPr>
        <p:spPr>
          <a:xfrm>
            <a:off x="667512" y="2240280"/>
            <a:ext cx="2414016" cy="1051560"/>
          </a:xfrm>
          <a:prstGeom prst="rect">
            <a:avLst/>
          </a:prstGeom>
          <a:noFill/>
          <a:ln/>
        </p:spPr>
        <p:txBody>
          <a:bodyPr wrap="square" lIns="0" tIns="0" rIns="0" bIns="0" rtlCol="0" anchor="ctr"/>
          <a:lstStyle/>
          <a:p>
            <a:pPr indent="0" marL="0">
              <a:buNone/>
            </a:pPr>
            <a:r>
              <a:rPr lang="en-US" sz="1000" dirty="0">
                <a:solidFill>
                  <a:srgbClr val="222222"/>
                </a:solidFill>
                <a:latin typeface="Arial" pitchFamily="34" charset="0"/>
                <a:ea typeface="Arial" pitchFamily="34" charset="-122"/>
                <a:cs typeface="Arial" pitchFamily="34" charset="-120"/>
              </a:rPr>
              <a:t>The CM Plan itself, CM performance reporting, sub-tier flowdown records, technical review data packages, data handling procedures.</a:t>
            </a:r>
            <a:endParaRPr lang="en-US" sz="1000" dirty="0"/>
          </a:p>
        </p:txBody>
      </p:sp>
      <p:sp>
        <p:nvSpPr>
          <p:cNvPr id="10" name="Shape 8"/>
          <p:cNvSpPr/>
          <p:nvPr/>
        </p:nvSpPr>
        <p:spPr>
          <a:xfrm>
            <a:off x="612648" y="3300984"/>
            <a:ext cx="2523744" cy="1947672"/>
          </a:xfrm>
          <a:prstGeom prst="rect">
            <a:avLst/>
          </a:prstGeom>
          <a:solidFill>
            <a:srgbClr val="F4F5F7"/>
          </a:solidFill>
          <a:ln w="6350">
            <a:solidFill>
              <a:srgbClr val="D0D0D0"/>
            </a:solidFill>
            <a:prstDash val="solid"/>
          </a:ln>
        </p:spPr>
      </p:sp>
      <p:sp>
        <p:nvSpPr>
          <p:cNvPr id="11" name="Text 9"/>
          <p:cNvSpPr/>
          <p:nvPr/>
        </p:nvSpPr>
        <p:spPr>
          <a:xfrm>
            <a:off x="740664" y="3383280"/>
            <a:ext cx="2286000" cy="182880"/>
          </a:xfrm>
          <a:prstGeom prst="rect">
            <a:avLst/>
          </a:prstGeom>
          <a:noFill/>
          <a:ln/>
        </p:spPr>
        <p:txBody>
          <a:bodyPr wrap="square" lIns="0" tIns="0" rIns="0" bIns="0" rtlCol="0" anchor="ctr"/>
          <a:lstStyle/>
          <a:p>
            <a:pPr indent="0" marL="0">
              <a:buNone/>
            </a:pPr>
            <a:r>
              <a:rPr lang="en-US" sz="900" b="1" spc="100" kern="0" dirty="0">
                <a:solidFill>
                  <a:srgbClr val="C87A00"/>
                </a:solidFill>
                <a:latin typeface="Arial" pitchFamily="34" charset="0"/>
                <a:ea typeface="Arial" pitchFamily="34" charset="-122"/>
                <a:cs typeface="Arial" pitchFamily="34" charset="-120"/>
              </a:rPr>
              <a:t>THE TRAP</a:t>
            </a:r>
            <a:endParaRPr lang="en-US" sz="900" dirty="0"/>
          </a:p>
        </p:txBody>
      </p:sp>
      <p:sp>
        <p:nvSpPr>
          <p:cNvPr id="12" name="Text 10"/>
          <p:cNvSpPr/>
          <p:nvPr/>
        </p:nvSpPr>
        <p:spPr>
          <a:xfrm>
            <a:off x="740664" y="3584448"/>
            <a:ext cx="2286000" cy="1609344"/>
          </a:xfrm>
          <a:prstGeom prst="rect">
            <a:avLst/>
          </a:prstGeom>
          <a:noFill/>
          <a:ln/>
        </p:spPr>
        <p:txBody>
          <a:bodyPr wrap="square" lIns="0" tIns="0" rIns="0" bIns="0" rtlCol="0" anchor="ctr"/>
          <a:lstStyle/>
          <a:p>
            <a:pPr indent="0" marL="0">
              <a:buNone/>
            </a:pPr>
            <a:r>
              <a:rPr lang="en-US" sz="950" dirty="0">
                <a:solidFill>
                  <a:srgbClr val="222222"/>
                </a:solidFill>
                <a:latin typeface="Arial" pitchFamily="34" charset="0"/>
                <a:ea typeface="Arial" pitchFamily="34" charset="-122"/>
                <a:cs typeface="Arial" pitchFamily="34" charset="-120"/>
              </a:rPr>
              <a:t>Go first. 3.1(1)(e) requires the plan to define tools, techniques, training and methodologies, which is exactly what this review measures. If it does not, every other group's findings share that root cause. Grade the plan against records of it being executed, not against its text.</a:t>
            </a:r>
            <a:endParaRPr lang="en-US" sz="950" dirty="0"/>
          </a:p>
        </p:txBody>
      </p:sp>
      <p:sp>
        <p:nvSpPr>
          <p:cNvPr id="13" name="Shape 11"/>
          <p:cNvSpPr/>
          <p:nvPr/>
        </p:nvSpPr>
        <p:spPr>
          <a:xfrm>
            <a:off x="3456432" y="1325880"/>
            <a:ext cx="2743200" cy="4069080"/>
          </a:xfrm>
          <a:prstGeom prst="rect">
            <a:avLst/>
          </a:prstGeom>
          <a:solidFill>
            <a:srgbClr val="FFFFFF"/>
          </a:solidFill>
          <a:ln w="9525">
            <a:solidFill>
              <a:srgbClr val="D0D0D0"/>
            </a:solidFill>
            <a:prstDash val="solid"/>
          </a:ln>
          <a:effectLst>
            <a:outerShdw sx="100000" sy="100000" kx="0" ky="0" algn="bl" rotWithShape="0" blurRad="76200" dist="12700" dir="5400000">
              <a:srgbClr val="AAAAAA">
                <a:alpha val="25000"/>
              </a:srgbClr>
            </a:outerShdw>
          </a:effectLst>
        </p:spPr>
      </p:sp>
      <p:sp>
        <p:nvSpPr>
          <p:cNvPr id="14" name="Shape 12"/>
          <p:cNvSpPr/>
          <p:nvPr/>
        </p:nvSpPr>
        <p:spPr>
          <a:xfrm>
            <a:off x="3621024" y="1508760"/>
            <a:ext cx="384048" cy="384048"/>
          </a:xfrm>
          <a:prstGeom prst="ellipse">
            <a:avLst/>
          </a:prstGeom>
          <a:solidFill>
            <a:srgbClr val="1F3864"/>
          </a:solidFill>
          <a:ln w="12700">
            <a:solidFill>
              <a:srgbClr val="1F3864"/>
            </a:solidFill>
            <a:prstDash val="solid"/>
          </a:ln>
        </p:spPr>
      </p:sp>
      <p:sp>
        <p:nvSpPr>
          <p:cNvPr id="15" name="Text 13"/>
          <p:cNvSpPr/>
          <p:nvPr/>
        </p:nvSpPr>
        <p:spPr>
          <a:xfrm>
            <a:off x="3621024" y="1545336"/>
            <a:ext cx="3840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4"/>
          <p:cNvSpPr/>
          <p:nvPr/>
        </p:nvSpPr>
        <p:spPr>
          <a:xfrm>
            <a:off x="4078224" y="1508760"/>
            <a:ext cx="1956816" cy="420624"/>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Identification</a:t>
            </a:r>
            <a:endParaRPr lang="en-US" sz="1300" dirty="0"/>
          </a:p>
        </p:txBody>
      </p:sp>
      <p:sp>
        <p:nvSpPr>
          <p:cNvPr id="17" name="Text 15"/>
          <p:cNvSpPr/>
          <p:nvPr/>
        </p:nvSpPr>
        <p:spPr>
          <a:xfrm>
            <a:off x="3621024" y="2039112"/>
            <a:ext cx="2414016" cy="182880"/>
          </a:xfrm>
          <a:prstGeom prst="rect">
            <a:avLst/>
          </a:prstGeom>
          <a:noFill/>
          <a:ln/>
        </p:spPr>
        <p:txBody>
          <a:bodyPr wrap="square" lIns="0" tIns="0" rIns="0" bIns="0" rtlCol="0" anchor="ctr"/>
          <a:lstStyle/>
          <a:p>
            <a:pPr indent="0" marL="0">
              <a:buNone/>
            </a:pPr>
            <a:r>
              <a:rPr lang="en-US" sz="900" b="1" spc="100" kern="0" dirty="0">
                <a:solidFill>
                  <a:srgbClr val="2F5597"/>
                </a:solidFill>
                <a:latin typeface="Arial" pitchFamily="34" charset="0"/>
                <a:ea typeface="Arial" pitchFamily="34" charset="-122"/>
                <a:cs typeface="Arial" pitchFamily="34" charset="-120"/>
              </a:rPr>
              <a:t>EVIDENCE</a:t>
            </a:r>
            <a:endParaRPr lang="en-US" sz="900" dirty="0"/>
          </a:p>
        </p:txBody>
      </p:sp>
      <p:sp>
        <p:nvSpPr>
          <p:cNvPr id="18" name="Text 16"/>
          <p:cNvSpPr/>
          <p:nvPr/>
        </p:nvSpPr>
        <p:spPr>
          <a:xfrm>
            <a:off x="3621024" y="2240280"/>
            <a:ext cx="2414016" cy="1051560"/>
          </a:xfrm>
          <a:prstGeom prst="rect">
            <a:avLst/>
          </a:prstGeom>
          <a:noFill/>
          <a:ln/>
        </p:spPr>
        <p:txBody>
          <a:bodyPr wrap="square" lIns="0" tIns="0" rIns="0" bIns="0" rtlCol="0" anchor="ctr"/>
          <a:lstStyle/>
          <a:p>
            <a:pPr indent="0" marL="0">
              <a:buNone/>
            </a:pPr>
            <a:r>
              <a:rPr lang="en-US" sz="1000" dirty="0">
                <a:solidFill>
                  <a:srgbClr val="222222"/>
                </a:solidFill>
                <a:latin typeface="Arial" pitchFamily="34" charset="0"/>
                <a:ea typeface="Arial" pitchFamily="34" charset="-122"/>
                <a:cs typeface="Arial" pitchFamily="34" charset="-120"/>
              </a:rPr>
              <a:t>CI selection records, engineering release records, FCD/ACD/PCD baseline documents, part numbering and marking records, ICDs.</a:t>
            </a:r>
            <a:endParaRPr lang="en-US" sz="1000" dirty="0"/>
          </a:p>
        </p:txBody>
      </p:sp>
      <p:sp>
        <p:nvSpPr>
          <p:cNvPr id="19" name="Shape 17"/>
          <p:cNvSpPr/>
          <p:nvPr/>
        </p:nvSpPr>
        <p:spPr>
          <a:xfrm>
            <a:off x="3566160" y="3300984"/>
            <a:ext cx="2523744" cy="1947672"/>
          </a:xfrm>
          <a:prstGeom prst="rect">
            <a:avLst/>
          </a:prstGeom>
          <a:solidFill>
            <a:srgbClr val="F4F5F7"/>
          </a:solidFill>
          <a:ln w="6350">
            <a:solidFill>
              <a:srgbClr val="D0D0D0"/>
            </a:solidFill>
            <a:prstDash val="solid"/>
          </a:ln>
        </p:spPr>
      </p:sp>
      <p:sp>
        <p:nvSpPr>
          <p:cNvPr id="20" name="Text 18"/>
          <p:cNvSpPr/>
          <p:nvPr/>
        </p:nvSpPr>
        <p:spPr>
          <a:xfrm>
            <a:off x="3694176" y="3383280"/>
            <a:ext cx="2286000" cy="182880"/>
          </a:xfrm>
          <a:prstGeom prst="rect">
            <a:avLst/>
          </a:prstGeom>
          <a:noFill/>
          <a:ln/>
        </p:spPr>
        <p:txBody>
          <a:bodyPr wrap="square" lIns="0" tIns="0" rIns="0" bIns="0" rtlCol="0" anchor="ctr"/>
          <a:lstStyle/>
          <a:p>
            <a:pPr indent="0" marL="0">
              <a:buNone/>
            </a:pPr>
            <a:r>
              <a:rPr lang="en-US" sz="900" b="1" spc="100" kern="0" dirty="0">
                <a:solidFill>
                  <a:srgbClr val="C87A00"/>
                </a:solidFill>
                <a:latin typeface="Arial" pitchFamily="34" charset="0"/>
                <a:ea typeface="Arial" pitchFamily="34" charset="-122"/>
                <a:cs typeface="Arial" pitchFamily="34" charset="-120"/>
              </a:rPr>
              <a:t>THE TRAP</a:t>
            </a:r>
            <a:endParaRPr lang="en-US" sz="900" dirty="0"/>
          </a:p>
        </p:txBody>
      </p:sp>
      <p:sp>
        <p:nvSpPr>
          <p:cNvPr id="21" name="Text 19"/>
          <p:cNvSpPr/>
          <p:nvPr/>
        </p:nvSpPr>
        <p:spPr>
          <a:xfrm>
            <a:off x="3694176" y="3584448"/>
            <a:ext cx="2286000" cy="1609344"/>
          </a:xfrm>
          <a:prstGeom prst="rect">
            <a:avLst/>
          </a:prstGeom>
          <a:noFill/>
          <a:ln/>
        </p:spPr>
        <p:txBody>
          <a:bodyPr wrap="square" lIns="0" tIns="0" rIns="0" bIns="0" rtlCol="0" anchor="ctr"/>
          <a:lstStyle/>
          <a:p>
            <a:pPr indent="0" marL="0">
              <a:buNone/>
            </a:pPr>
            <a:r>
              <a:rPr lang="en-US" sz="950" dirty="0">
                <a:solidFill>
                  <a:srgbClr val="222222"/>
                </a:solidFill>
                <a:latin typeface="Arial" pitchFamily="34" charset="0"/>
                <a:ea typeface="Arial" pitchFamily="34" charset="-122"/>
                <a:cs typeface="Arial" pitchFamily="34" charset="-120"/>
              </a:rPr>
              <a:t>3.2(2)(a) to (k) looks like one clause but spans CI selection, hierarchy, baselines, interfaces, identifiers, marking and nomenclature. Do not put those on one pull. Sequence 3.2.2 engineering release early and share that pull with Group 3.</a:t>
            </a:r>
            <a:endParaRPr lang="en-US" sz="950" dirty="0"/>
          </a:p>
        </p:txBody>
      </p:sp>
      <p:sp>
        <p:nvSpPr>
          <p:cNvPr id="22" name="Shape 20"/>
          <p:cNvSpPr/>
          <p:nvPr/>
        </p:nvSpPr>
        <p:spPr>
          <a:xfrm>
            <a:off x="6409944" y="1325880"/>
            <a:ext cx="2743200" cy="4069080"/>
          </a:xfrm>
          <a:prstGeom prst="rect">
            <a:avLst/>
          </a:prstGeom>
          <a:solidFill>
            <a:srgbClr val="FFFFFF"/>
          </a:solidFill>
          <a:ln w="9525">
            <a:solidFill>
              <a:srgbClr val="D0D0D0"/>
            </a:solidFill>
            <a:prstDash val="solid"/>
          </a:ln>
          <a:effectLst>
            <a:outerShdw sx="100000" sy="100000" kx="0" ky="0" algn="bl" rotWithShape="0" blurRad="76200" dist="12700" dir="5400000">
              <a:srgbClr val="AAAAAA">
                <a:alpha val="25000"/>
              </a:srgbClr>
            </a:outerShdw>
          </a:effectLst>
        </p:spPr>
      </p:sp>
      <p:sp>
        <p:nvSpPr>
          <p:cNvPr id="23" name="Shape 21"/>
          <p:cNvSpPr/>
          <p:nvPr/>
        </p:nvSpPr>
        <p:spPr>
          <a:xfrm>
            <a:off x="6574536" y="1508760"/>
            <a:ext cx="384048" cy="384048"/>
          </a:xfrm>
          <a:prstGeom prst="ellipse">
            <a:avLst/>
          </a:prstGeom>
          <a:solidFill>
            <a:srgbClr val="1F3864"/>
          </a:solidFill>
          <a:ln w="12700">
            <a:solidFill>
              <a:srgbClr val="1F3864"/>
            </a:solidFill>
            <a:prstDash val="solid"/>
          </a:ln>
        </p:spPr>
      </p:sp>
      <p:sp>
        <p:nvSpPr>
          <p:cNvPr id="24" name="Text 22"/>
          <p:cNvSpPr/>
          <p:nvPr/>
        </p:nvSpPr>
        <p:spPr>
          <a:xfrm>
            <a:off x="6574536" y="1545336"/>
            <a:ext cx="3840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5" name="Text 23"/>
          <p:cNvSpPr/>
          <p:nvPr/>
        </p:nvSpPr>
        <p:spPr>
          <a:xfrm>
            <a:off x="7031736" y="1508760"/>
            <a:ext cx="1956816" cy="420624"/>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Change and Variance</a:t>
            </a:r>
            <a:endParaRPr lang="en-US" sz="1300" dirty="0"/>
          </a:p>
        </p:txBody>
      </p:sp>
      <p:sp>
        <p:nvSpPr>
          <p:cNvPr id="26" name="Text 24"/>
          <p:cNvSpPr/>
          <p:nvPr/>
        </p:nvSpPr>
        <p:spPr>
          <a:xfrm>
            <a:off x="6574536" y="2039112"/>
            <a:ext cx="2414016" cy="182880"/>
          </a:xfrm>
          <a:prstGeom prst="rect">
            <a:avLst/>
          </a:prstGeom>
          <a:noFill/>
          <a:ln/>
        </p:spPr>
        <p:txBody>
          <a:bodyPr wrap="square" lIns="0" tIns="0" rIns="0" bIns="0" rtlCol="0" anchor="ctr"/>
          <a:lstStyle/>
          <a:p>
            <a:pPr indent="0" marL="0">
              <a:buNone/>
            </a:pPr>
            <a:r>
              <a:rPr lang="en-US" sz="900" b="1" spc="100" kern="0" dirty="0">
                <a:solidFill>
                  <a:srgbClr val="2F5597"/>
                </a:solidFill>
                <a:latin typeface="Arial" pitchFamily="34" charset="0"/>
                <a:ea typeface="Arial" pitchFamily="34" charset="-122"/>
                <a:cs typeface="Arial" pitchFamily="34" charset="-120"/>
              </a:rPr>
              <a:t>EVIDENCE</a:t>
            </a:r>
            <a:endParaRPr lang="en-US" sz="900" dirty="0"/>
          </a:p>
        </p:txBody>
      </p:sp>
      <p:sp>
        <p:nvSpPr>
          <p:cNvPr id="27" name="Text 25"/>
          <p:cNvSpPr/>
          <p:nvPr/>
        </p:nvSpPr>
        <p:spPr>
          <a:xfrm>
            <a:off x="6574536" y="2240280"/>
            <a:ext cx="2414016" cy="1051560"/>
          </a:xfrm>
          <a:prstGeom prst="rect">
            <a:avLst/>
          </a:prstGeom>
          <a:noFill/>
          <a:ln/>
        </p:spPr>
        <p:txBody>
          <a:bodyPr wrap="square" lIns="0" tIns="0" rIns="0" bIns="0" rtlCol="0" anchor="ctr"/>
          <a:lstStyle/>
          <a:p>
            <a:pPr indent="0" marL="0">
              <a:buNone/>
            </a:pPr>
            <a:r>
              <a:rPr lang="en-US" sz="1000" dirty="0">
                <a:solidFill>
                  <a:srgbClr val="222222"/>
                </a:solidFill>
                <a:latin typeface="Arial" pitchFamily="34" charset="0"/>
                <a:ea typeface="Arial" pitchFamily="34" charset="-122"/>
                <a:cs typeface="Arial" pitchFamily="34" charset="-120"/>
              </a:rPr>
              <a:t>ECP records and classification rationale, RFV records, Notices of Revision, Specification Change Notices, CCB minutes.</a:t>
            </a:r>
            <a:endParaRPr lang="en-US" sz="1000" dirty="0"/>
          </a:p>
        </p:txBody>
      </p:sp>
      <p:sp>
        <p:nvSpPr>
          <p:cNvPr id="28" name="Shape 26"/>
          <p:cNvSpPr/>
          <p:nvPr/>
        </p:nvSpPr>
        <p:spPr>
          <a:xfrm>
            <a:off x="6519672" y="3300984"/>
            <a:ext cx="2523744" cy="1947672"/>
          </a:xfrm>
          <a:prstGeom prst="rect">
            <a:avLst/>
          </a:prstGeom>
          <a:solidFill>
            <a:srgbClr val="F4F5F7"/>
          </a:solidFill>
          <a:ln w="6350">
            <a:solidFill>
              <a:srgbClr val="D0D0D0"/>
            </a:solidFill>
            <a:prstDash val="solid"/>
          </a:ln>
        </p:spPr>
      </p:sp>
      <p:sp>
        <p:nvSpPr>
          <p:cNvPr id="29" name="Text 27"/>
          <p:cNvSpPr/>
          <p:nvPr/>
        </p:nvSpPr>
        <p:spPr>
          <a:xfrm>
            <a:off x="6647688" y="3383280"/>
            <a:ext cx="2286000" cy="182880"/>
          </a:xfrm>
          <a:prstGeom prst="rect">
            <a:avLst/>
          </a:prstGeom>
          <a:noFill/>
          <a:ln/>
        </p:spPr>
        <p:txBody>
          <a:bodyPr wrap="square" lIns="0" tIns="0" rIns="0" bIns="0" rtlCol="0" anchor="ctr"/>
          <a:lstStyle/>
          <a:p>
            <a:pPr indent="0" marL="0">
              <a:buNone/>
            </a:pPr>
            <a:r>
              <a:rPr lang="en-US" sz="900" b="1" spc="100" kern="0" dirty="0">
                <a:solidFill>
                  <a:srgbClr val="C87A00"/>
                </a:solidFill>
                <a:latin typeface="Arial" pitchFamily="34" charset="0"/>
                <a:ea typeface="Arial" pitchFamily="34" charset="-122"/>
                <a:cs typeface="Arial" pitchFamily="34" charset="-120"/>
              </a:rPr>
              <a:t>THE TRAP</a:t>
            </a:r>
            <a:endParaRPr lang="en-US" sz="900" dirty="0"/>
          </a:p>
        </p:txBody>
      </p:sp>
      <p:sp>
        <p:nvSpPr>
          <p:cNvPr id="30" name="Text 28"/>
          <p:cNvSpPr/>
          <p:nvPr/>
        </p:nvSpPr>
        <p:spPr>
          <a:xfrm>
            <a:off x="6647688" y="3584448"/>
            <a:ext cx="2286000" cy="1609344"/>
          </a:xfrm>
          <a:prstGeom prst="rect">
            <a:avLst/>
          </a:prstGeom>
          <a:noFill/>
          <a:ln/>
        </p:spPr>
        <p:txBody>
          <a:bodyPr wrap="square" lIns="0" tIns="0" rIns="0" bIns="0" rtlCol="0" anchor="ctr"/>
          <a:lstStyle/>
          <a:p>
            <a:pPr indent="0" marL="0">
              <a:buNone/>
            </a:pPr>
            <a:r>
              <a:rPr lang="en-US" sz="950" dirty="0">
                <a:solidFill>
                  <a:srgbClr val="222222"/>
                </a:solidFill>
                <a:latin typeface="Arial" pitchFamily="34" charset="0"/>
                <a:ea typeface="Arial" pitchFamily="34" charset="-122"/>
                <a:cs typeface="Arial" pitchFamily="34" charset="-120"/>
              </a:rPr>
              <a:t>43 of your 110 rows are the Major-change criteria under 3.3.1.2(2). One pull answers all of them, but only if the sample tests whether each classification rationale addresses the full criteria list. Sampling for 'was it classified' answers one row and misses 42.</a:t>
            </a:r>
            <a:endParaRPr lang="en-US" sz="950" dirty="0"/>
          </a:p>
        </p:txBody>
      </p:sp>
      <p:sp>
        <p:nvSpPr>
          <p:cNvPr id="31" name="Shape 29"/>
          <p:cNvSpPr/>
          <p:nvPr/>
        </p:nvSpPr>
        <p:spPr>
          <a:xfrm>
            <a:off x="9363456" y="1325880"/>
            <a:ext cx="2743200" cy="4069080"/>
          </a:xfrm>
          <a:prstGeom prst="rect">
            <a:avLst/>
          </a:prstGeom>
          <a:solidFill>
            <a:srgbClr val="FFFFFF"/>
          </a:solidFill>
          <a:ln w="9525">
            <a:solidFill>
              <a:srgbClr val="D0D0D0"/>
            </a:solidFill>
            <a:prstDash val="solid"/>
          </a:ln>
          <a:effectLst>
            <a:outerShdw sx="100000" sy="100000" kx="0" ky="0" algn="bl" rotWithShape="0" blurRad="76200" dist="12700" dir="5400000">
              <a:srgbClr val="AAAAAA">
                <a:alpha val="25000"/>
              </a:srgbClr>
            </a:outerShdw>
          </a:effectLst>
        </p:spPr>
      </p:sp>
      <p:sp>
        <p:nvSpPr>
          <p:cNvPr id="32" name="Shape 30"/>
          <p:cNvSpPr/>
          <p:nvPr/>
        </p:nvSpPr>
        <p:spPr>
          <a:xfrm>
            <a:off x="9528048" y="1508760"/>
            <a:ext cx="384048" cy="384048"/>
          </a:xfrm>
          <a:prstGeom prst="ellipse">
            <a:avLst/>
          </a:prstGeom>
          <a:solidFill>
            <a:srgbClr val="1F3864"/>
          </a:solidFill>
          <a:ln w="12700">
            <a:solidFill>
              <a:srgbClr val="1F3864"/>
            </a:solidFill>
            <a:prstDash val="solid"/>
          </a:ln>
        </p:spPr>
      </p:sp>
      <p:sp>
        <p:nvSpPr>
          <p:cNvPr id="33" name="Text 31"/>
          <p:cNvSpPr/>
          <p:nvPr/>
        </p:nvSpPr>
        <p:spPr>
          <a:xfrm>
            <a:off x="9528048" y="1545336"/>
            <a:ext cx="38404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34" name="Text 32"/>
          <p:cNvSpPr/>
          <p:nvPr/>
        </p:nvSpPr>
        <p:spPr>
          <a:xfrm>
            <a:off x="9985248" y="1508760"/>
            <a:ext cx="1956816" cy="420624"/>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CSA and Verification</a:t>
            </a:r>
            <a:endParaRPr lang="en-US" sz="1300" dirty="0"/>
          </a:p>
        </p:txBody>
      </p:sp>
      <p:sp>
        <p:nvSpPr>
          <p:cNvPr id="35" name="Text 33"/>
          <p:cNvSpPr/>
          <p:nvPr/>
        </p:nvSpPr>
        <p:spPr>
          <a:xfrm>
            <a:off x="9528048" y="2039112"/>
            <a:ext cx="2414016" cy="182880"/>
          </a:xfrm>
          <a:prstGeom prst="rect">
            <a:avLst/>
          </a:prstGeom>
          <a:noFill/>
          <a:ln/>
        </p:spPr>
        <p:txBody>
          <a:bodyPr wrap="square" lIns="0" tIns="0" rIns="0" bIns="0" rtlCol="0" anchor="ctr"/>
          <a:lstStyle/>
          <a:p>
            <a:pPr indent="0" marL="0">
              <a:buNone/>
            </a:pPr>
            <a:r>
              <a:rPr lang="en-US" sz="900" b="1" spc="100" kern="0" dirty="0">
                <a:solidFill>
                  <a:srgbClr val="2F5597"/>
                </a:solidFill>
                <a:latin typeface="Arial" pitchFamily="34" charset="0"/>
                <a:ea typeface="Arial" pitchFamily="34" charset="-122"/>
                <a:cs typeface="Arial" pitchFamily="34" charset="-120"/>
              </a:rPr>
              <a:t>EVIDENCE</a:t>
            </a:r>
            <a:endParaRPr lang="en-US" sz="900" dirty="0"/>
          </a:p>
        </p:txBody>
      </p:sp>
      <p:sp>
        <p:nvSpPr>
          <p:cNvPr id="36" name="Text 34"/>
          <p:cNvSpPr/>
          <p:nvPr/>
        </p:nvSpPr>
        <p:spPr>
          <a:xfrm>
            <a:off x="9528048" y="2240280"/>
            <a:ext cx="2414016" cy="1051560"/>
          </a:xfrm>
          <a:prstGeom prst="rect">
            <a:avLst/>
          </a:prstGeom>
          <a:noFill/>
          <a:ln/>
        </p:spPr>
        <p:txBody>
          <a:bodyPr wrap="square" lIns="0" tIns="0" rIns="0" bIns="0" rtlCol="0" anchor="ctr"/>
          <a:lstStyle/>
          <a:p>
            <a:pPr indent="0" marL="0">
              <a:buNone/>
            </a:pPr>
            <a:r>
              <a:rPr lang="en-US" sz="1000" dirty="0">
                <a:solidFill>
                  <a:srgbClr val="222222"/>
                </a:solidFill>
                <a:latin typeface="Arial" pitchFamily="34" charset="0"/>
                <a:ea typeface="Arial" pitchFamily="34" charset="-122"/>
                <a:cs typeface="Arial" pitchFamily="34" charset="-120"/>
              </a:rPr>
              <a:t>CSA system queries and records, audit plans, audit minutes, audit summary reports, RFA closure records, retrofit and installation records.</a:t>
            </a:r>
            <a:endParaRPr lang="en-US" sz="1000" dirty="0"/>
          </a:p>
        </p:txBody>
      </p:sp>
      <p:sp>
        <p:nvSpPr>
          <p:cNvPr id="37" name="Shape 35"/>
          <p:cNvSpPr/>
          <p:nvPr/>
        </p:nvSpPr>
        <p:spPr>
          <a:xfrm>
            <a:off x="9473184" y="3300984"/>
            <a:ext cx="2523744" cy="1947672"/>
          </a:xfrm>
          <a:prstGeom prst="rect">
            <a:avLst/>
          </a:prstGeom>
          <a:solidFill>
            <a:srgbClr val="F4F5F7"/>
          </a:solidFill>
          <a:ln w="6350">
            <a:solidFill>
              <a:srgbClr val="D0D0D0"/>
            </a:solidFill>
            <a:prstDash val="solid"/>
          </a:ln>
        </p:spPr>
      </p:sp>
      <p:sp>
        <p:nvSpPr>
          <p:cNvPr id="38" name="Text 36"/>
          <p:cNvSpPr/>
          <p:nvPr/>
        </p:nvSpPr>
        <p:spPr>
          <a:xfrm>
            <a:off x="9601200" y="3383280"/>
            <a:ext cx="2286000" cy="182880"/>
          </a:xfrm>
          <a:prstGeom prst="rect">
            <a:avLst/>
          </a:prstGeom>
          <a:noFill/>
          <a:ln/>
        </p:spPr>
        <p:txBody>
          <a:bodyPr wrap="square" lIns="0" tIns="0" rIns="0" bIns="0" rtlCol="0" anchor="ctr"/>
          <a:lstStyle/>
          <a:p>
            <a:pPr indent="0" marL="0">
              <a:buNone/>
            </a:pPr>
            <a:r>
              <a:rPr lang="en-US" sz="900" b="1" spc="100" kern="0" dirty="0">
                <a:solidFill>
                  <a:srgbClr val="C87A00"/>
                </a:solidFill>
                <a:latin typeface="Arial" pitchFamily="34" charset="0"/>
                <a:ea typeface="Arial" pitchFamily="34" charset="-122"/>
                <a:cs typeface="Arial" pitchFamily="34" charset="-120"/>
              </a:rPr>
              <a:t>THE TRAP</a:t>
            </a:r>
            <a:endParaRPr lang="en-US" sz="900" dirty="0"/>
          </a:p>
        </p:txBody>
      </p:sp>
      <p:sp>
        <p:nvSpPr>
          <p:cNvPr id="39" name="Text 37"/>
          <p:cNvSpPr/>
          <p:nvPr/>
        </p:nvSpPr>
        <p:spPr>
          <a:xfrm>
            <a:off x="9601200" y="3584448"/>
            <a:ext cx="2286000" cy="1609344"/>
          </a:xfrm>
          <a:prstGeom prst="rect">
            <a:avLst/>
          </a:prstGeom>
          <a:noFill/>
          <a:ln/>
        </p:spPr>
        <p:txBody>
          <a:bodyPr wrap="square" lIns="0" tIns="0" rIns="0" bIns="0" rtlCol="0" anchor="ctr"/>
          <a:lstStyle/>
          <a:p>
            <a:pPr indent="0" marL="0">
              <a:buNone/>
            </a:pPr>
            <a:r>
              <a:rPr lang="en-US" sz="950" dirty="0">
                <a:solidFill>
                  <a:srgbClr val="222222"/>
                </a:solidFill>
                <a:latin typeface="Arial" pitchFamily="34" charset="0"/>
                <a:ea typeface="Arial" pitchFamily="34" charset="-122"/>
                <a:cs typeface="Arial" pitchFamily="34" charset="-120"/>
              </a:rPr>
              <a:t>3.5 is 53 of your 73 rows and is largely one body of evidence. If audits have not been run on this program, most of the group grades at Documented or below very fast. Start there. 3.4.1(3)(f) is the as-designed to as-built record and Group 3 depends on it.</a:t>
            </a:r>
            <a:endParaRPr lang="en-US" sz="950" dirty="0"/>
          </a:p>
        </p:txBody>
      </p:sp>
      <p:sp>
        <p:nvSpPr>
          <p:cNvPr id="40" name="Shape 38"/>
          <p:cNvSpPr/>
          <p:nvPr/>
        </p:nvSpPr>
        <p:spPr>
          <a:xfrm>
            <a:off x="502920" y="5614416"/>
            <a:ext cx="5486400" cy="960120"/>
          </a:xfrm>
          <a:prstGeom prst="rect">
            <a:avLst/>
          </a:prstGeom>
          <a:solidFill>
            <a:srgbClr val="FDF1D8"/>
          </a:solidFill>
          <a:ln w="12700">
            <a:solidFill>
              <a:srgbClr val="C87A00"/>
            </a:solidFill>
            <a:prstDash val="solid"/>
          </a:ln>
        </p:spPr>
      </p:sp>
      <p:sp>
        <p:nvSpPr>
          <p:cNvPr id="41" name="Text 39"/>
          <p:cNvSpPr/>
          <p:nvPr/>
        </p:nvSpPr>
        <p:spPr>
          <a:xfrm>
            <a:off x="685800" y="5705856"/>
            <a:ext cx="5120640" cy="219456"/>
          </a:xfrm>
          <a:prstGeom prst="rect">
            <a:avLst/>
          </a:prstGeom>
          <a:noFill/>
          <a:ln/>
        </p:spPr>
        <p:txBody>
          <a:bodyPr wrap="square" lIns="0" tIns="0" rIns="0" bIns="0" rtlCol="0" anchor="ctr"/>
          <a:lstStyle/>
          <a:p>
            <a:pPr indent="0" marL="0">
              <a:buNone/>
            </a:pPr>
            <a:r>
              <a:rPr lang="en-US" sz="1150" b="1" dirty="0">
                <a:solidFill>
                  <a:srgbClr val="C87A00"/>
                </a:solidFill>
                <a:latin typeface="Arial" pitchFamily="34" charset="0"/>
                <a:ea typeface="Arial" pitchFamily="34" charset="-122"/>
                <a:cs typeface="Arial" pitchFamily="34" charset="-120"/>
              </a:rPr>
              <a:t>A pull is where you looked, not what you found</a:t>
            </a:r>
            <a:endParaRPr lang="en-US" sz="1150" dirty="0"/>
          </a:p>
        </p:txBody>
      </p:sp>
      <p:sp>
        <p:nvSpPr>
          <p:cNvPr id="42" name="Text 40"/>
          <p:cNvSpPr/>
          <p:nvPr/>
        </p:nvSpPr>
        <p:spPr>
          <a:xfrm>
            <a:off x="685800" y="5943600"/>
            <a:ext cx="5120640" cy="566928"/>
          </a:xfrm>
          <a:prstGeom prst="rect">
            <a:avLst/>
          </a:prstGeom>
          <a:noFill/>
          <a:ln/>
        </p:spPr>
        <p:txBody>
          <a:bodyPr wrap="square" lIns="0" tIns="0" rIns="0" bIns="0" rtlCol="0" anchor="ctr"/>
          <a:lstStyle/>
          <a:p>
            <a:pPr indent="0" marL="0">
              <a:buNone/>
            </a:pPr>
            <a:r>
              <a:rPr lang="en-US" sz="950" dirty="0">
                <a:solidFill>
                  <a:srgbClr val="222222"/>
                </a:solidFill>
                <a:latin typeface="Arial" pitchFamily="34" charset="0"/>
                <a:ea typeface="Arial" pitchFamily="34" charset="-122"/>
                <a:cs typeface="Arial" pitchFamily="34" charset="-120"/>
              </a:rPr>
              <a:t>If the CM Plan must address something and does not, the pull is still the CM Plan. Record the Pull ID and grade the rung Not demonstrated. A blank Pull ID makes a real finding look like unfinished work.</a:t>
            </a:r>
            <a:endParaRPr lang="en-US" sz="950" dirty="0"/>
          </a:p>
        </p:txBody>
      </p:sp>
      <p:sp>
        <p:nvSpPr>
          <p:cNvPr id="43" name="Shape 41"/>
          <p:cNvSpPr/>
          <p:nvPr/>
        </p:nvSpPr>
        <p:spPr>
          <a:xfrm>
            <a:off x="6172200" y="5614416"/>
            <a:ext cx="5486400" cy="960120"/>
          </a:xfrm>
          <a:prstGeom prst="rect">
            <a:avLst/>
          </a:prstGeom>
          <a:solidFill>
            <a:srgbClr val="F4F5F7"/>
          </a:solidFill>
          <a:ln w="12700">
            <a:solidFill>
              <a:srgbClr val="D0D0D0"/>
            </a:solidFill>
            <a:prstDash val="solid"/>
          </a:ln>
        </p:spPr>
      </p:sp>
      <p:sp>
        <p:nvSpPr>
          <p:cNvPr id="44" name="Text 42"/>
          <p:cNvSpPr/>
          <p:nvPr/>
        </p:nvSpPr>
        <p:spPr>
          <a:xfrm>
            <a:off x="6355080" y="5705856"/>
            <a:ext cx="5120640" cy="219456"/>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Two conformance numbers. The second is the honest one.</a:t>
            </a:r>
            <a:endParaRPr lang="en-US" sz="1150" dirty="0"/>
          </a:p>
        </p:txBody>
      </p:sp>
      <p:sp>
        <p:nvSpPr>
          <p:cNvPr id="45" name="Text 43"/>
          <p:cNvSpPr/>
          <p:nvPr/>
        </p:nvSpPr>
        <p:spPr>
          <a:xfrm>
            <a:off x="6355080" y="5943600"/>
            <a:ext cx="5120640" cy="566928"/>
          </a:xfrm>
          <a:prstGeom prst="rect">
            <a:avLst/>
          </a:prstGeom>
          <a:noFill/>
          <a:ln/>
        </p:spPr>
        <p:txBody>
          <a:bodyPr wrap="square" lIns="0" tIns="0" rIns="0" bIns="0" rtlCol="0" anchor="ctr"/>
          <a:lstStyle/>
          <a:p>
            <a:pPr indent="0" marL="0">
              <a:buNone/>
            </a:pPr>
            <a:r>
              <a:rPr lang="en-US" sz="950" dirty="0">
                <a:solidFill>
                  <a:srgbClr val="222222"/>
                </a:solidFill>
                <a:latin typeface="Arial" pitchFamily="34" charset="0"/>
                <a:ea typeface="Arial" pitchFamily="34" charset="-122"/>
                <a:cs typeface="Arial" pitchFamily="34" charset="-120"/>
              </a:rPr>
              <a:t>Record conformance asks how many pulled records followed the process. Requirement coverage asks how many of the requirements on that pull reached Operating. A current, controlled CM Plan can cover 1 of 11: coverage reads 9 percent. It is computed from your rungs.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2026-08-18T16:23:59Z</dcterms:created>
  <dcterms:modified xsi:type="dcterms:W3CDTF">2026-08-18T16:23:59Z</dcterms:modified>
</cp:coreProperties>
</file>