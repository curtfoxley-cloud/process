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7f05c8c9-98f8-f3ea-ff0d-bfc2a147a235}">
          <p14:sldIdLst>
            <p14:sldId id="256"/>
            <p14:sldId id="257"/>
            <p14:sldId id="258"/>
            <p14:sldId id="259"/>
          </p14:sldIdLst>
        </p14:section>
        <p14:section name="The method" id="{341437a0-7fd1-1263-baf0-0172bebcd68e}">
          <p14:sldIdLst>
            <p14:sldId id="260"/>
            <p14:sldId id="261"/>
            <p14:sldId id="262"/>
            <p14:sldId id="263"/>
            <p14:sldId id="264"/>
            <p14:sldId id="265"/>
          </p14:sldIdLst>
        </p14:section>
        <p14:section name="Examples" id="{883f287f-3743-e980-2a33-37980e9c2018}">
          <p14:sldIdLst>
            <p14:sldId id="266"/>
            <p14:sldId id="267"/>
          </p14:sldIdLst>
        </p14:section>
        <p14:section name="Scaling it" id="{1fd58067-1e93-a15d-4426-935f30de123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presents the method, not a discipline. CM and R&amp;M are the two worked examples, one slide each near the end. The method applies to any engineering discipline that works to industry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discipline hears the same argument: the standard is a contract instrument, so silence means no obligation. The method answers it with evidence, clause by clause. Severity here uses the organization's scale: 1 is catastrophic, 2 is severe.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pathway is real. Tailoring removes contract obligations. It cannot remove an SMS obligation, because the SMS binds through the organization's own conformance, not through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keep the floor short and defensible. Gate 1 ties the requirement to the SMS standard itself. Gate 2 removes requirements that are only good practice. Gate 3 demands evidence: an investigated accident, or a documented industry pattern flagged as such. Everything that fails stays a contract or good-practice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and 2 set the frame and the sources. Steps 3 and 4 find the barriers. Steps 5 and 6 assign owners and break each barrier into clause-level requirements. Step 7 checks the work and puts the floor under SMS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table is the first record. It says why each standard can or cannot anchor a floor requirement, and how it may be tailored. That second column matters later: a standard that allows only additions to its minimum cannot be tailored below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Cast wide first, then cut. A forced number invites the question of what was left out. A count that falls out of the barrier test can be defended clause by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barriers touch more than one discipline. The tiers keep the discipline's floor honest without losing the barriers that belong elsewhere. Governance barriers bind every discipline, so they should be written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floor register holds one row per clause-level requirement. A row that cannot answer all six questions is not finished. The artifact column is what an auditor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legitimate ways out. A documented equivalent that controls the same hazard, recorded as an SMS record. Or a signed risk acceptance at the authority the severity requires. Contract tailoring and a decision made inside the discipline are not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 was the first floor built this way: the Sixteen Barriers deck and the CM Floor Register. The CM deck rates its events on the old scale, where 5 was catastrophic. On the organization's scale those are Severity 1 and 2. Five CM barriers rest on a single clause, which is normal when one standard carries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R&amp;M needed more of the method than CM did: eight standards instead of one, and real overlap with Structures, System Safety, Human Engineering, Production Quality and Mechanical Systems. The ownership tiers came from that overlap. The 1,384 counts only events where an R&amp;M floor requirement traces to the failed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discipline does not start from zero. The handoff tier of each finished register seeds the next one. The reviewer role matters: every event claim must survive a reading of the investigation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came from a correction made during the CM and R&amp;M work. Rule 4 is recent: the Alaska 261 jackscrew had two independent load-bearing thread sets. NTSB found the dual-thread design gave no redundancy against wear. The barrier lesson is common-cause failure, not missing redundancy. That correction added R&amp;M barrier 66, which brought R&amp;M from 46 to 47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is ready to reuse. The governance layer is the piece every discipline shares, so it should be written once, at the SMS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1560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822960" y="2377440"/>
            <a:ext cx="10058400" cy="731520"/>
          </a:xfrm>
          <a:prstGeom prst="rect">
            <a:avLst/>
          </a:prstGeom>
          <a:noFill/>
          <a:ln/>
        </p:spPr>
        <p:txBody>
          <a:bodyPr wrap="square" rtlCol="0"/>
          <a:lstStyle>
            <a:lvl1pPr algn="l" indent="0" marL="0">
              <a:buNone/>
              <a:defRPr lang="en-US" sz="1900" dirty="0">
                <a:solidFill>
                  <a:schemeClr val="accent6"/>
                </a:solidFill>
              </a:defRPr>
            </a:lvl1pPr>
          </a:lstStyle>
          <a:p>
            <a:pPr algn="l"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rtlCol="0"/>
          <a:lstStyle>
            <a:lvl1pPr algn="l" indent="0" marL="0">
              <a:buNone/>
              <a:defRPr lang="en-US" sz="1400" i="1" dirty="0">
                <a:solidFill>
                  <a:schemeClr val="accent5"/>
                </a:solidFill>
              </a:defRPr>
            </a:lvl1pPr>
          </a:lstStyle>
          <a:p>
            <a:pPr algn="l" indent="0" marL="0">
              <a:buNone/>
            </a:pPr>
            <a:endParaRPr lang="en-US" sz="1400" dirty="0"/>
          </a:p>
        </p:txBody>
      </p:sp>
      <p:sp>
        <p:nvSpPr>
          <p:cNvPr id="4" name="Text 0"/>
          <p:cNvSpPr/>
          <p:nvPr/>
        </p:nvSpPr>
        <p:spPr>
          <a:xfrm>
            <a:off x="548640" y="6455664"/>
            <a:ext cx="5486400" cy="256032"/>
          </a:xfrm>
          <a:prstGeom prst="rect">
            <a:avLst/>
          </a:prstGeom>
          <a:noFill/>
          <a:ln/>
        </p:spPr>
        <p:txBody>
          <a:bodyPr wrap="square" lIns="0" tIns="0" rIns="0" bIns="0" rtlCol="0" anchor="ctr"/>
          <a:lstStyle/>
          <a:p>
            <a:pPr indent="0" marL="0">
              <a:buNone/>
            </a:pPr>
            <a:r>
              <a:rPr lang="en-US" sz="950" dirty="0">
                <a:solidFill>
                  <a:schemeClr val="accent5"/>
                </a:solidFill>
              </a:rPr>
              <a:t>Mandatory floor method</a:t>
            </a:r>
            <a:endParaRPr lang="en-US" sz="95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rtlCol="0"/>
          <a:lstStyle>
            <a:lvl1pPr algn="l" indent="0" marL="0">
              <a:buNone/>
              <a:defRPr lang="en-US" sz="1400" i="1" dirty="0">
                <a:solidFill>
                  <a:schemeClr val="accent6"/>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868680"/>
            <a:ext cx="10515600" cy="1371600"/>
          </a:xfrm>
          <a:prstGeom prst="rect">
            <a:avLst/>
          </a:prstGeom>
          <a:noFill/>
          <a:ln/>
        </p:spPr>
        <p:txBody>
          <a:bodyPr wrap="square" lIns="0" tIns="0" rIns="0" bIns="0" rtlCol="0" anchor="b"/>
          <a:lstStyle/>
          <a:p>
            <a:pPr algn="l" indent="0" marL="0">
              <a:buNone/>
            </a:pPr>
            <a:r>
              <a:rPr lang="en-US" sz="4200" b="1" dirty="0">
                <a:solidFill>
                  <a:schemeClr val="bg1"/>
                </a:solidFill>
              </a:rPr>
              <a:t>A Mandatory Floor for Engineering Requirements</a:t>
            </a:r>
            <a:endParaRPr lang="en-US" sz="4200" dirty="0"/>
          </a:p>
        </p:txBody>
      </p:sp>
      <p:sp>
        <p:nvSpPr>
          <p:cNvPr id="3" name="Text 0"/>
          <p:cNvSpPr/>
          <p:nvPr>
            <p:ph idx="101" type="body" hasCustomPrompt="1"/>
          </p:nvPr>
        </p:nvSpPr>
        <p:spPr>
          <a:xfrm>
            <a:off x="822960" y="2377440"/>
            <a:ext cx="10058400" cy="731520"/>
          </a:xfrm>
          <a:prstGeom prst="rect">
            <a:avLst/>
          </a:prstGeom>
          <a:noFill/>
          <a:ln/>
        </p:spPr>
        <p:txBody>
          <a:bodyPr wrap="square" lIns="0" tIns="0" rIns="0" bIns="0" rtlCol="0" anchor="t"/>
          <a:lstStyle/>
          <a:p>
            <a:pPr algn="l" indent="0" marL="0">
              <a:buNone/>
            </a:pPr>
            <a:r>
              <a:rPr lang="en-US" sz="1900" dirty="0">
                <a:solidFill>
                  <a:schemeClr val="accent6"/>
                </a:solidFill>
              </a:rPr>
              <a:t>A method to find the requirements the SMS obligates, in any engineering discipline</a:t>
            </a:r>
            <a:endParaRPr lang="en-US" sz="1900" dirty="0"/>
          </a:p>
        </p:txBody>
      </p:sp>
      <p:sp>
        <p:nvSpPr>
          <p:cNvPr id="4" name="Card 1"/>
          <p:cNvSpPr/>
          <p:nvPr/>
        </p:nvSpPr>
        <p:spPr>
          <a:xfrm>
            <a:off x="822960" y="3429000"/>
            <a:ext cx="10515600" cy="1600200"/>
          </a:xfrm>
          <a:prstGeom prst="roundRect">
            <a:avLst>
              <a:gd name="adj" fmla="val 3429"/>
            </a:avLst>
          </a:prstGeom>
          <a:solidFill>
            <a:schemeClr val="accent1"/>
          </a:solidFill>
          <a:ln/>
        </p:spPr>
      </p:sp>
      <p:sp>
        <p:nvSpPr>
          <p:cNvPr id="5" name="Text 2"/>
          <p:cNvSpPr txBox="1"/>
          <p:nvPr/>
        </p:nvSpPr>
        <p:spPr>
          <a:xfrm>
            <a:off x="1097280" y="3639312"/>
            <a:ext cx="3200400" cy="566928"/>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7 steps</a:t>
            </a:r>
            <a:endParaRPr lang="en-US" sz="3000" dirty="0"/>
          </a:p>
        </p:txBody>
      </p:sp>
      <p:sp>
        <p:nvSpPr>
          <p:cNvPr id="6" name="Text 3"/>
          <p:cNvSpPr txBox="1"/>
          <p:nvPr/>
        </p:nvSpPr>
        <p:spPr>
          <a:xfrm>
            <a:off x="1097280" y="4224528"/>
            <a:ext cx="3108960" cy="640080"/>
          </a:xfrm>
          <a:prstGeom prst="rect">
            <a:avLst/>
          </a:prstGeom>
          <a:noFill/>
          <a:ln/>
        </p:spPr>
        <p:txBody>
          <a:bodyPr wrap="square" lIns="0" tIns="0" rIns="0" bIns="0" rtlCol="0" anchor="t"/>
          <a:lstStyle/>
          <a:p>
            <a:pPr indent="0" marL="0">
              <a:buNone/>
            </a:pPr>
            <a:r>
              <a:rPr lang="en-US" sz="1350" dirty="0">
                <a:solidFill>
                  <a:schemeClr val="accent6"/>
                </a:solidFill>
              </a:rPr>
              <a:t>from standards to a governed floor</a:t>
            </a:r>
            <a:endParaRPr lang="en-US" sz="1350" dirty="0"/>
          </a:p>
        </p:txBody>
      </p:sp>
      <p:sp>
        <p:nvSpPr>
          <p:cNvPr id="7" name="Text 4"/>
          <p:cNvSpPr txBox="1"/>
          <p:nvPr/>
        </p:nvSpPr>
        <p:spPr>
          <a:xfrm>
            <a:off x="4526280" y="3639312"/>
            <a:ext cx="3200400" cy="566928"/>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3 gates</a:t>
            </a:r>
            <a:endParaRPr lang="en-US" sz="3000" dirty="0"/>
          </a:p>
        </p:txBody>
      </p:sp>
      <p:sp>
        <p:nvSpPr>
          <p:cNvPr id="8" name="Text 5"/>
          <p:cNvSpPr txBox="1"/>
          <p:nvPr/>
        </p:nvSpPr>
        <p:spPr>
          <a:xfrm>
            <a:off x="4526280" y="4224528"/>
            <a:ext cx="3108960" cy="640080"/>
          </a:xfrm>
          <a:prstGeom prst="rect">
            <a:avLst/>
          </a:prstGeom>
          <a:noFill/>
          <a:ln/>
        </p:spPr>
        <p:txBody>
          <a:bodyPr wrap="square" lIns="0" tIns="0" rIns="0" bIns="0" rtlCol="0" anchor="t"/>
          <a:lstStyle/>
          <a:p>
            <a:pPr indent="0" marL="0">
              <a:buNone/>
            </a:pPr>
            <a:r>
              <a:rPr lang="en-US" sz="1350" dirty="0">
                <a:solidFill>
                  <a:schemeClr val="accent6"/>
                </a:solidFill>
              </a:rPr>
              <a:t>decide what belongs in the floor</a:t>
            </a:r>
            <a:endParaRPr lang="en-US" sz="1350" dirty="0"/>
          </a:p>
        </p:txBody>
      </p:sp>
      <p:sp>
        <p:nvSpPr>
          <p:cNvPr id="9" name="Text 6"/>
          <p:cNvSpPr txBox="1"/>
          <p:nvPr/>
        </p:nvSpPr>
        <p:spPr>
          <a:xfrm>
            <a:off x="7955280" y="3639312"/>
            <a:ext cx="3200400" cy="566928"/>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2 disciplines</a:t>
            </a:r>
            <a:endParaRPr lang="en-US" sz="3000" dirty="0"/>
          </a:p>
        </p:txBody>
      </p:sp>
      <p:sp>
        <p:nvSpPr>
          <p:cNvPr id="10" name="Text 7"/>
          <p:cNvSpPr txBox="1"/>
          <p:nvPr/>
        </p:nvSpPr>
        <p:spPr>
          <a:xfrm>
            <a:off x="7955280" y="4224528"/>
            <a:ext cx="3108960" cy="640080"/>
          </a:xfrm>
          <a:prstGeom prst="rect">
            <a:avLst/>
          </a:prstGeom>
          <a:noFill/>
          <a:ln/>
        </p:spPr>
        <p:txBody>
          <a:bodyPr wrap="square" lIns="0" tIns="0" rIns="0" bIns="0" rtlCol="0" anchor="t"/>
          <a:lstStyle/>
          <a:p>
            <a:pPr indent="0" marL="0">
              <a:buNone/>
            </a:pPr>
            <a:r>
              <a:rPr lang="en-US" sz="1350" dirty="0">
                <a:solidFill>
                  <a:schemeClr val="accent6"/>
                </a:solidFill>
              </a:rPr>
              <a:t>already done: CM, and R&amp;M with System Health and Human Factors</a:t>
            </a:r>
            <a:endParaRPr lang="en-US" sz="1350" dirty="0"/>
          </a:p>
        </p:txBody>
      </p:sp>
      <p:sp>
        <p:nvSpPr>
          <p:cNvPr id="11" name="Text 8"/>
          <p:cNvSpPr txBox="1"/>
          <p:nvPr/>
        </p:nvSpPr>
        <p:spPr>
          <a:xfrm>
            <a:off x="822960" y="6035040"/>
            <a:ext cx="5486400" cy="310896"/>
          </a:xfrm>
          <a:prstGeom prst="rect">
            <a:avLst/>
          </a:prstGeom>
          <a:noFill/>
          <a:ln/>
        </p:spPr>
        <p:txBody>
          <a:bodyPr wrap="square" lIns="0" tIns="0" rIns="0" bIns="0" rtlCol="0" anchor="ctr"/>
          <a:lstStyle/>
          <a:p>
            <a:pPr indent="0" marL="0">
              <a:buNone/>
            </a:pPr>
            <a:r>
              <a:rPr lang="en-US" sz="1200" dirty="0">
                <a:solidFill>
                  <a:schemeClr val="accent4"/>
                </a:solidFill>
              </a:rPr>
              <a:t>Briefing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The Question Every Discipline Faces</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Which of our standard requirements must we perform when the contract does not ask?</a:t>
            </a:r>
            <a:endParaRPr lang="en-US" sz="1400" dirty="0"/>
          </a:p>
        </p:txBody>
      </p:sp>
      <p:sp>
        <p:nvSpPr>
          <p:cNvPr id="4" name="Card 9"/>
          <p:cNvSpPr/>
          <p:nvPr/>
        </p:nvSpPr>
        <p:spPr>
          <a:xfrm>
            <a:off x="548640" y="1600200"/>
            <a:ext cx="5440680" cy="2240280"/>
          </a:xfrm>
          <a:prstGeom prst="roundRect">
            <a:avLst>
              <a:gd name="adj" fmla="val 2449"/>
            </a:avLst>
          </a:prstGeom>
          <a:solidFill>
            <a:schemeClr val="bg1"/>
          </a:solidFill>
          <a:ln w="9525">
            <a:solidFill>
              <a:schemeClr val="accent6"/>
            </a:solidFill>
            <a:prstDash val="solid"/>
          </a:ln>
        </p:spPr>
      </p:sp>
      <p:sp>
        <p:nvSpPr>
          <p:cNvPr id="5" name="Text 10"/>
          <p:cNvSpPr txBox="1"/>
          <p:nvPr/>
        </p:nvSpPr>
        <p:spPr>
          <a:xfrm>
            <a:off x="868680" y="1801368"/>
            <a:ext cx="4846320" cy="310896"/>
          </a:xfrm>
          <a:prstGeom prst="rect">
            <a:avLst/>
          </a:prstGeom>
          <a:noFill/>
          <a:ln/>
        </p:spPr>
        <p:txBody>
          <a:bodyPr wrap="square" lIns="0" tIns="0" rIns="0" bIns="0" rtlCol="0" anchor="ctr"/>
          <a:lstStyle/>
          <a:p>
            <a:pPr indent="0" marL="0">
              <a:buNone/>
            </a:pPr>
            <a:r>
              <a:rPr lang="en-US" sz="1500" b="1" dirty="0">
                <a:solidFill>
                  <a:schemeClr val="accent5"/>
                </a:solidFill>
              </a:rPr>
              <a:t>The common position</a:t>
            </a:r>
            <a:endParaRPr lang="en-US" sz="1500" dirty="0"/>
          </a:p>
        </p:txBody>
      </p:sp>
      <p:sp>
        <p:nvSpPr>
          <p:cNvPr id="6" name="Text 11"/>
          <p:cNvSpPr txBox="1"/>
          <p:nvPr/>
        </p:nvSpPr>
        <p:spPr>
          <a:xfrm>
            <a:off x="868680" y="2194560"/>
            <a:ext cx="4846320" cy="1417320"/>
          </a:xfrm>
          <a:prstGeom prst="rect">
            <a:avLst/>
          </a:prstGeom>
          <a:noFill/>
          <a:ln/>
        </p:spPr>
        <p:txBody>
          <a:bodyPr wrap="square" lIns="0" tIns="0" rIns="0" bIns="0" rtlCol="0" anchor="t"/>
          <a:lstStyle/>
          <a:p>
            <a:pPr indent="0" marL="0">
              <a:buNone/>
            </a:pPr>
            <a:r>
              <a:rPr lang="en-US" sz="1600" i="1" dirty="0">
                <a:solidFill>
                  <a:schemeClr val="tx1"/>
                </a:solidFill>
              </a:rPr>
              <a:t>“This standard is invoked by contract. If the contract does not require a clause, we are not obligated to perform it.”</a:t>
            </a:r>
            <a:endParaRPr lang="en-US" sz="1600" dirty="0"/>
          </a:p>
        </p:txBody>
      </p:sp>
      <p:sp>
        <p:nvSpPr>
          <p:cNvPr id="7" name="Card 12"/>
          <p:cNvSpPr/>
          <p:nvPr/>
        </p:nvSpPr>
        <p:spPr>
          <a:xfrm>
            <a:off x="6199632" y="1600200"/>
            <a:ext cx="5440680" cy="2240280"/>
          </a:xfrm>
          <a:prstGeom prst="roundRect">
            <a:avLst>
              <a:gd name="adj" fmla="val 2449"/>
            </a:avLst>
          </a:prstGeom>
          <a:solidFill>
            <a:schemeClr val="accent1"/>
          </a:solidFill>
          <a:ln/>
        </p:spPr>
      </p:sp>
      <p:sp>
        <p:nvSpPr>
          <p:cNvPr id="8" name="Text 13"/>
          <p:cNvSpPr txBox="1"/>
          <p:nvPr/>
        </p:nvSpPr>
        <p:spPr>
          <a:xfrm>
            <a:off x="6519672" y="1801368"/>
            <a:ext cx="4846320" cy="310896"/>
          </a:xfrm>
          <a:prstGeom prst="rect">
            <a:avLst/>
          </a:prstGeom>
          <a:noFill/>
          <a:ln/>
        </p:spPr>
        <p:txBody>
          <a:bodyPr wrap="square" lIns="0" tIns="0" rIns="0" bIns="0" rtlCol="0" anchor="ctr"/>
          <a:lstStyle/>
          <a:p>
            <a:pPr indent="0" marL="0">
              <a:buNone/>
            </a:pPr>
            <a:r>
              <a:rPr lang="en-US" sz="1500" b="1" dirty="0">
                <a:solidFill>
                  <a:schemeClr val="accent3"/>
                </a:solidFill>
              </a:rPr>
              <a:t>The method's position</a:t>
            </a:r>
            <a:endParaRPr lang="en-US" sz="1500" dirty="0"/>
          </a:p>
        </p:txBody>
      </p:sp>
      <p:sp>
        <p:nvSpPr>
          <p:cNvPr id="9" name="Text 14"/>
          <p:cNvSpPr txBox="1"/>
          <p:nvPr/>
        </p:nvSpPr>
        <p:spPr>
          <a:xfrm>
            <a:off x="6519672" y="2194560"/>
            <a:ext cx="4846320" cy="1463040"/>
          </a:xfrm>
          <a:prstGeom prst="rect">
            <a:avLst/>
          </a:prstGeom>
          <a:noFill/>
          <a:ln/>
        </p:spPr>
        <p:txBody>
          <a:bodyPr wrap="square" lIns="0" tIns="0" rIns="0" bIns="0" rtlCol="0" anchor="t"/>
          <a:lstStyle/>
          <a:p>
            <a:pPr indent="0" marL="0">
              <a:buNone/>
            </a:pPr>
            <a:r>
              <a:rPr lang="en-US" sz="1600" dirty="0">
                <a:solidFill>
                  <a:schemeClr val="bg1"/>
                </a:solidFill>
              </a:rPr>
              <a:t>Some clauses control hazards our SMS names. Those clauses bind through the SMS, whether or not a contract names them. Skipping one is a Severity 1 to 2 risk-acceptance decision.</a:t>
            </a:r>
            <a:endParaRPr lang="en-US" sz="1600" dirty="0"/>
          </a:p>
        </p:txBody>
      </p:sp>
      <p:sp>
        <p:nvSpPr>
          <p:cNvPr id="10" name="Card 15"/>
          <p:cNvSpPr/>
          <p:nvPr/>
        </p:nvSpPr>
        <p:spPr>
          <a:xfrm>
            <a:off x="548640" y="4114800"/>
            <a:ext cx="11091672" cy="1920240"/>
          </a:xfrm>
          <a:prstGeom prst="roundRect">
            <a:avLst>
              <a:gd name="adj" fmla="val 2857"/>
            </a:avLst>
          </a:prstGeom>
          <a:solidFill>
            <a:schemeClr val="bg1"/>
          </a:solidFill>
          <a:ln w="9525">
            <a:solidFill>
              <a:schemeClr val="accent6"/>
            </a:solidFill>
            <a:prstDash val="solid"/>
          </a:ln>
        </p:spPr>
      </p:sp>
      <p:sp>
        <p:nvSpPr>
          <p:cNvPr id="11" name="Text 16"/>
          <p:cNvSpPr txBox="1"/>
          <p:nvPr/>
        </p:nvSpPr>
        <p:spPr>
          <a:xfrm>
            <a:off x="868680" y="4315968"/>
            <a:ext cx="10424160" cy="310896"/>
          </a:xfrm>
          <a:prstGeom prst="rect">
            <a:avLst/>
          </a:prstGeom>
          <a:noFill/>
          <a:ln/>
        </p:spPr>
        <p:txBody>
          <a:bodyPr wrap="square" lIns="0" tIns="0" rIns="0" bIns="0" rtlCol="0" anchor="ctr"/>
          <a:lstStyle/>
          <a:p>
            <a:pPr indent="0" marL="0">
              <a:buNone/>
            </a:pPr>
            <a:r>
              <a:rPr lang="en-US" sz="1500" b="1" dirty="0">
                <a:solidFill>
                  <a:schemeClr val="accent2"/>
                </a:solidFill>
              </a:rPr>
              <a:t>What the method delivers</a:t>
            </a:r>
            <a:endParaRPr lang="en-US" sz="1500" dirty="0"/>
          </a:p>
        </p:txBody>
      </p:sp>
      <p:sp>
        <p:nvSpPr>
          <p:cNvPr id="12" name="List 17"/>
          <p:cNvSpPr txBox="1"/>
          <p:nvPr/>
        </p:nvSpPr>
        <p:spPr>
          <a:xfrm>
            <a:off x="868680" y="4709160"/>
            <a:ext cx="10424160" cy="123444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A short list of floor requirements for the discipline, each tied to a clause, an SM-0001 hazard and a documented event.</a:t>
            </a:r>
            <a:endParaRPr lang="en-US" sz="1500" dirty="0"/>
          </a:p>
          <a:p>
            <a:pPr marL="177800" indent="-177800">
              <a:spcAft>
                <a:spcPts val="500"/>
              </a:spcAft>
              <a:buSzPct val="100000"/>
              <a:buChar char="•"/>
            </a:pPr>
            <a:r>
              <a:rPr lang="en-US" sz="1500" dirty="0">
                <a:solidFill>
                  <a:schemeClr val="tx1"/>
                </a:solidFill>
              </a:rPr>
              <a:t>An owner for every barrier, including the ones another discipline must perform.</a:t>
            </a:r>
            <a:endParaRPr lang="en-US" sz="1500" dirty="0"/>
          </a:p>
          <a:p>
            <a:pPr marL="177800" indent="-177800">
              <a:spcAft>
                <a:spcPts val="500"/>
              </a:spcAft>
              <a:buSzPct val="100000"/>
              <a:buChar char="•"/>
            </a:pPr>
            <a:r>
              <a:rPr lang="en-US" sz="1500" dirty="0">
                <a:solidFill>
                  <a:schemeClr val="tx1"/>
                </a:solidFill>
              </a:rPr>
              <a:t>One route for exceptions: SMS risk acceptance at the authority the severity requires.</a:t>
            </a:r>
            <a:endParaRPr lang="en-US" sz="15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Two Pathways Bind the Organization</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The contract may be silent. The SMS is not.</a:t>
            </a:r>
            <a:endParaRPr lang="en-US" sz="1400" dirty="0"/>
          </a:p>
        </p:txBody>
      </p:sp>
      <p:sp>
        <p:nvSpPr>
          <p:cNvPr id="4" name="Card 18"/>
          <p:cNvSpPr/>
          <p:nvPr/>
        </p:nvSpPr>
        <p:spPr>
          <a:xfrm>
            <a:off x="868172" y="1508760"/>
            <a:ext cx="10452608" cy="4791456"/>
          </a:xfrm>
          <a:prstGeom prst="roundRect">
            <a:avLst>
              <a:gd name="adj" fmla="val 1145"/>
            </a:avLst>
          </a:prstGeom>
          <a:solidFill>
            <a:schemeClr val="bg1"/>
          </a:solidFill>
          <a:ln w="9525">
            <a:solidFill>
              <a:schemeClr val="accent6"/>
            </a:solidFill>
            <a:prstDash val="solid"/>
          </a:ln>
        </p:spPr>
      </p:sp>
      <p:pic>
        <p:nvPicPr>
          <p:cNvPr id="5" name="Figure 19" descr="Diagram: the contract pathway and the SMS pathway both lead to the mandatory floor">    </p:cNvPr>
          <p:cNvPicPr>
            <a:picLocks noChangeAspect="1"/>
          </p:cNvPicPr>
          <p:nvPr/>
        </p:nvPicPr>
        <p:blipFill>
          <a:blip r:embed="rId1"/>
          <a:stretch>
            <a:fillRect/>
          </a:stretch>
        </p:blipFill>
        <p:spPr>
          <a:xfrm>
            <a:off x="1014476" y="1618488"/>
            <a:ext cx="10160000" cy="4572000"/>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What Makes a Requirement Part of the Floor</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Three gates. A requirement that passes all three is an SMS barrier.</a:t>
            </a:r>
            <a:endParaRPr lang="en-US" sz="1400" dirty="0"/>
          </a:p>
        </p:txBody>
      </p:sp>
      <p:sp>
        <p:nvSpPr>
          <p:cNvPr id="4" name="Card 20"/>
          <p:cNvSpPr/>
          <p:nvPr/>
        </p:nvSpPr>
        <p:spPr>
          <a:xfrm>
            <a:off x="507492" y="1651132"/>
            <a:ext cx="11173968" cy="4506712"/>
          </a:xfrm>
          <a:prstGeom prst="roundRect">
            <a:avLst>
              <a:gd name="adj" fmla="val 1217"/>
            </a:avLst>
          </a:prstGeom>
          <a:solidFill>
            <a:schemeClr val="bg1"/>
          </a:solidFill>
          <a:ln w="9525">
            <a:solidFill>
              <a:schemeClr val="accent6"/>
            </a:solidFill>
            <a:prstDash val="solid"/>
          </a:ln>
        </p:spPr>
      </p:sp>
      <p:pic>
        <p:nvPicPr>
          <p:cNvPr id="5" name="Figure 21" descr="Flow: a candidate requirement passes three gates (named hazard, direct link, event evidence) to become a floor barrier">    </p:cNvPr>
          <p:cNvPicPr>
            <a:picLocks noChangeAspect="1"/>
          </p:cNvPicPr>
          <p:nvPr/>
        </p:nvPicPr>
        <p:blipFill>
          <a:blip r:embed="rId1"/>
          <a:stretch>
            <a:fillRect/>
          </a:stretch>
        </p:blipFill>
        <p:spPr>
          <a:xfrm>
            <a:off x="653796" y="1760860"/>
            <a:ext cx="10881360" cy="4287256"/>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The Method in Seven Steps</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Each step produces a record the next step builds on</a:t>
            </a:r>
            <a:endParaRPr lang="en-US" sz="1400" dirty="0"/>
          </a:p>
        </p:txBody>
      </p:sp>
      <p:sp>
        <p:nvSpPr>
          <p:cNvPr id="4" name="Card 22"/>
          <p:cNvSpPr/>
          <p:nvPr/>
        </p:nvSpPr>
        <p:spPr>
          <a:xfrm>
            <a:off x="1730460" y="1508760"/>
            <a:ext cx="8728032" cy="4791456"/>
          </a:xfrm>
          <a:prstGeom prst="roundRect">
            <a:avLst>
              <a:gd name="adj" fmla="val 1145"/>
            </a:avLst>
          </a:prstGeom>
          <a:solidFill>
            <a:schemeClr val="bg1"/>
          </a:solidFill>
          <a:ln w="9525">
            <a:solidFill>
              <a:schemeClr val="accent6"/>
            </a:solidFill>
            <a:prstDash val="solid"/>
          </a:ln>
        </p:spPr>
      </p:sp>
      <p:pic>
        <p:nvPicPr>
          <p:cNvPr id="5" name="Figure 23" descr="Table of the seven steps of the method with what each step does and its output">    </p:cNvPr>
          <p:cNvPicPr>
            <a:picLocks noChangeAspect="1"/>
          </p:cNvPicPr>
          <p:nvPr/>
        </p:nvPicPr>
        <p:blipFill>
          <a:blip r:embed="rId1"/>
          <a:stretch>
            <a:fillRect/>
          </a:stretch>
        </p:blipFill>
        <p:spPr>
          <a:xfrm>
            <a:off x="1876764" y="1618488"/>
            <a:ext cx="8435424" cy="4572000"/>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Step 2: Choosing Anchor Standards</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A standard must obligate, not advise</a:t>
            </a:r>
            <a:endParaRPr lang="en-US" sz="1400" dirty="0"/>
          </a:p>
        </p:txBody>
      </p:sp>
      <p:sp>
        <p:nvSpPr>
          <p:cNvPr id="4" name="Card 24"/>
          <p:cNvSpPr/>
          <p:nvPr/>
        </p:nvSpPr>
        <p:spPr>
          <a:xfrm>
            <a:off x="548640" y="1600200"/>
            <a:ext cx="2606040" cy="2788920"/>
          </a:xfrm>
          <a:prstGeom prst="roundRect">
            <a:avLst>
              <a:gd name="adj" fmla="val 2105"/>
            </a:avLst>
          </a:prstGeom>
          <a:solidFill>
            <a:schemeClr val="bg1"/>
          </a:solidFill>
          <a:ln w="9525">
            <a:solidFill>
              <a:schemeClr val="accent6"/>
            </a:solidFill>
            <a:prstDash val="solid"/>
          </a:ln>
        </p:spPr>
      </p:sp>
      <p:sp>
        <p:nvSpPr>
          <p:cNvPr id="5" name="Chip 25"/>
          <p:cNvSpPr/>
          <p:nvPr/>
        </p:nvSpPr>
        <p:spPr>
          <a:xfrm>
            <a:off x="777240" y="1810512"/>
            <a:ext cx="420624" cy="420624"/>
          </a:xfrm>
          <a:prstGeom prst="ellipse">
            <a:avLst/>
          </a:prstGeom>
          <a:solidFill>
            <a:schemeClr val="accent2"/>
          </a:solidFill>
          <a:ln/>
        </p:spPr>
      </p:sp>
      <p:sp>
        <p:nvSpPr>
          <p:cNvPr id="6" name="Text 26"/>
          <p:cNvSpPr txBox="1"/>
          <p:nvPr/>
        </p:nvSpPr>
        <p:spPr>
          <a:xfrm>
            <a:off x="777240" y="18105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27"/>
          <p:cNvSpPr txBox="1"/>
          <p:nvPr/>
        </p:nvSpPr>
        <p:spPr>
          <a:xfrm>
            <a:off x="777240" y="2377440"/>
            <a:ext cx="2194560" cy="566928"/>
          </a:xfrm>
          <a:prstGeom prst="rect">
            <a:avLst/>
          </a:prstGeom>
          <a:noFill/>
          <a:ln/>
        </p:spPr>
        <p:txBody>
          <a:bodyPr wrap="square" lIns="0" tIns="0" rIns="0" bIns="0" rtlCol="0" anchor="t"/>
          <a:lstStyle/>
          <a:p>
            <a:pPr indent="0" marL="0">
              <a:buNone/>
            </a:pPr>
            <a:r>
              <a:rPr lang="en-US" sz="1600" b="1" dirty="0">
                <a:solidFill>
                  <a:schemeClr val="tx1"/>
                </a:solidFill>
              </a:rPr>
              <a:t>Normative shall language</a:t>
            </a:r>
            <a:endParaRPr lang="en-US" sz="1600" dirty="0"/>
          </a:p>
        </p:txBody>
      </p:sp>
      <p:sp>
        <p:nvSpPr>
          <p:cNvPr id="8" name="Text 28"/>
          <p:cNvSpPr txBox="1"/>
          <p:nvPr/>
        </p:nvSpPr>
        <p:spPr>
          <a:xfrm>
            <a:off x="777240" y="2971800"/>
            <a:ext cx="2194560" cy="1325880"/>
          </a:xfrm>
          <a:prstGeom prst="rect">
            <a:avLst/>
          </a:prstGeom>
          <a:noFill/>
          <a:ln/>
        </p:spPr>
        <p:txBody>
          <a:bodyPr wrap="square" lIns="0" tIns="0" rIns="0" bIns="0" rtlCol="0" anchor="t"/>
          <a:lstStyle/>
          <a:p>
            <a:pPr indent="0" marL="0">
              <a:buNone/>
            </a:pPr>
            <a:r>
              <a:rPr lang="en-US" sz="1250" dirty="0">
                <a:solidFill>
                  <a:schemeClr val="accent5"/>
                </a:solidFill>
              </a:rPr>
              <a:t>Shall statements in the body of the standard. A shall inside a worked example or an appendix does not count.</a:t>
            </a:r>
            <a:endParaRPr lang="en-US" sz="1250" dirty="0"/>
          </a:p>
        </p:txBody>
      </p:sp>
      <p:sp>
        <p:nvSpPr>
          <p:cNvPr id="9" name="Card 29"/>
          <p:cNvSpPr/>
          <p:nvPr/>
        </p:nvSpPr>
        <p:spPr>
          <a:xfrm>
            <a:off x="3355848" y="1600200"/>
            <a:ext cx="2606040" cy="2788920"/>
          </a:xfrm>
          <a:prstGeom prst="roundRect">
            <a:avLst>
              <a:gd name="adj" fmla="val 2105"/>
            </a:avLst>
          </a:prstGeom>
          <a:solidFill>
            <a:schemeClr val="bg1"/>
          </a:solidFill>
          <a:ln w="9525">
            <a:solidFill>
              <a:schemeClr val="accent6"/>
            </a:solidFill>
            <a:prstDash val="solid"/>
          </a:ln>
        </p:spPr>
      </p:sp>
      <p:sp>
        <p:nvSpPr>
          <p:cNvPr id="10" name="Chip 30"/>
          <p:cNvSpPr/>
          <p:nvPr/>
        </p:nvSpPr>
        <p:spPr>
          <a:xfrm>
            <a:off x="3584448" y="1810512"/>
            <a:ext cx="420624" cy="420624"/>
          </a:xfrm>
          <a:prstGeom prst="ellipse">
            <a:avLst/>
          </a:prstGeom>
          <a:solidFill>
            <a:schemeClr val="accent2"/>
          </a:solidFill>
          <a:ln/>
        </p:spPr>
      </p:sp>
      <p:sp>
        <p:nvSpPr>
          <p:cNvPr id="11" name="Text 31"/>
          <p:cNvSpPr txBox="1"/>
          <p:nvPr/>
        </p:nvSpPr>
        <p:spPr>
          <a:xfrm>
            <a:off x="3584448" y="18105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32"/>
          <p:cNvSpPr txBox="1"/>
          <p:nvPr/>
        </p:nvSpPr>
        <p:spPr>
          <a:xfrm>
            <a:off x="3584448" y="2377440"/>
            <a:ext cx="2194560" cy="566928"/>
          </a:xfrm>
          <a:prstGeom prst="rect">
            <a:avLst/>
          </a:prstGeom>
          <a:noFill/>
          <a:ln/>
        </p:spPr>
        <p:txBody>
          <a:bodyPr wrap="square" lIns="0" tIns="0" rIns="0" bIns="0" rtlCol="0" anchor="t"/>
          <a:lstStyle/>
          <a:p>
            <a:pPr indent="0" marL="0">
              <a:buNone/>
            </a:pPr>
            <a:r>
              <a:rPr lang="en-US" sz="1600" b="1" dirty="0">
                <a:solidFill>
                  <a:schemeClr val="tx1"/>
                </a:solidFill>
              </a:rPr>
              <a:t>Wide use</a:t>
            </a:r>
            <a:endParaRPr lang="en-US" sz="1600" dirty="0"/>
          </a:p>
        </p:txBody>
      </p:sp>
      <p:sp>
        <p:nvSpPr>
          <p:cNvPr id="13" name="Text 33"/>
          <p:cNvSpPr txBox="1"/>
          <p:nvPr/>
        </p:nvSpPr>
        <p:spPr>
          <a:xfrm>
            <a:off x="3584448" y="2971800"/>
            <a:ext cx="2194560" cy="1325880"/>
          </a:xfrm>
          <a:prstGeom prst="rect">
            <a:avLst/>
          </a:prstGeom>
          <a:noFill/>
          <a:ln/>
        </p:spPr>
        <p:txBody>
          <a:bodyPr wrap="square" lIns="0" tIns="0" rIns="0" bIns="0" rtlCol="0" anchor="t"/>
          <a:lstStyle/>
          <a:p>
            <a:pPr indent="0" marL="0">
              <a:buNone/>
            </a:pPr>
            <a:r>
              <a:rPr lang="en-US" sz="1250" dirty="0">
                <a:solidFill>
                  <a:schemeClr val="accent5"/>
                </a:solidFill>
              </a:rPr>
              <a:t>Standards that aerospace and defense programs have applied for decades carry more weight than new or niche ones.</a:t>
            </a:r>
            <a:endParaRPr lang="en-US" sz="1250" dirty="0"/>
          </a:p>
        </p:txBody>
      </p:sp>
      <p:sp>
        <p:nvSpPr>
          <p:cNvPr id="14" name="Card 34"/>
          <p:cNvSpPr/>
          <p:nvPr/>
        </p:nvSpPr>
        <p:spPr>
          <a:xfrm>
            <a:off x="6163056" y="1600200"/>
            <a:ext cx="2606040" cy="2788920"/>
          </a:xfrm>
          <a:prstGeom prst="roundRect">
            <a:avLst>
              <a:gd name="adj" fmla="val 2105"/>
            </a:avLst>
          </a:prstGeom>
          <a:solidFill>
            <a:schemeClr val="bg1"/>
          </a:solidFill>
          <a:ln w="9525">
            <a:solidFill>
              <a:schemeClr val="accent6"/>
            </a:solidFill>
            <a:prstDash val="solid"/>
          </a:ln>
        </p:spPr>
      </p:sp>
      <p:sp>
        <p:nvSpPr>
          <p:cNvPr id="15" name="Chip 35"/>
          <p:cNvSpPr/>
          <p:nvPr/>
        </p:nvSpPr>
        <p:spPr>
          <a:xfrm>
            <a:off x="6391656" y="1810512"/>
            <a:ext cx="420624" cy="420624"/>
          </a:xfrm>
          <a:prstGeom prst="ellipse">
            <a:avLst/>
          </a:prstGeom>
          <a:solidFill>
            <a:schemeClr val="accent2"/>
          </a:solidFill>
          <a:ln/>
        </p:spPr>
      </p:sp>
      <p:sp>
        <p:nvSpPr>
          <p:cNvPr id="16" name="Text 36"/>
          <p:cNvSpPr txBox="1"/>
          <p:nvPr/>
        </p:nvSpPr>
        <p:spPr>
          <a:xfrm>
            <a:off x="6391656" y="18105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37"/>
          <p:cNvSpPr txBox="1"/>
          <p:nvPr/>
        </p:nvSpPr>
        <p:spPr>
          <a:xfrm>
            <a:off x="6391656" y="2377440"/>
            <a:ext cx="2194560" cy="566928"/>
          </a:xfrm>
          <a:prstGeom prst="rect">
            <a:avLst/>
          </a:prstGeom>
          <a:noFill/>
          <a:ln/>
        </p:spPr>
        <p:txBody>
          <a:bodyPr wrap="square" lIns="0" tIns="0" rIns="0" bIns="0" rtlCol="0" anchor="t"/>
          <a:lstStyle/>
          <a:p>
            <a:pPr indent="0" marL="0">
              <a:buNone/>
            </a:pPr>
            <a:r>
              <a:rPr lang="en-US" sz="1600" b="1" dirty="0">
                <a:solidFill>
                  <a:schemeClr val="tx1"/>
                </a:solidFill>
              </a:rPr>
              <a:t>Current status</a:t>
            </a:r>
            <a:endParaRPr lang="en-US" sz="1600" dirty="0"/>
          </a:p>
        </p:txBody>
      </p:sp>
      <p:sp>
        <p:nvSpPr>
          <p:cNvPr id="18" name="Text 38"/>
          <p:cNvSpPr txBox="1"/>
          <p:nvPr/>
        </p:nvSpPr>
        <p:spPr>
          <a:xfrm>
            <a:off x="6391656" y="2971800"/>
            <a:ext cx="2194560" cy="1325880"/>
          </a:xfrm>
          <a:prstGeom prst="rect">
            <a:avLst/>
          </a:prstGeom>
          <a:noFill/>
          <a:ln/>
        </p:spPr>
        <p:txBody>
          <a:bodyPr wrap="square" lIns="0" tIns="0" rIns="0" bIns="0" rtlCol="0" anchor="t"/>
          <a:lstStyle/>
          <a:p>
            <a:pPr indent="0" marL="0">
              <a:buNone/>
            </a:pPr>
            <a:r>
              <a:rPr lang="en-US" sz="1250" dirty="0">
                <a:solidFill>
                  <a:schemeClr val="accent5"/>
                </a:solidFill>
              </a:rPr>
              <a:t>Active, reaffirmed, or replaced by a named successor. Cancelled and stabilized documents are history, not anchors.</a:t>
            </a:r>
            <a:endParaRPr lang="en-US" sz="1250" dirty="0"/>
          </a:p>
        </p:txBody>
      </p:sp>
      <p:sp>
        <p:nvSpPr>
          <p:cNvPr id="19" name="Card 39"/>
          <p:cNvSpPr/>
          <p:nvPr/>
        </p:nvSpPr>
        <p:spPr>
          <a:xfrm>
            <a:off x="8970264" y="1600200"/>
            <a:ext cx="2606040" cy="2788920"/>
          </a:xfrm>
          <a:prstGeom prst="roundRect">
            <a:avLst>
              <a:gd name="adj" fmla="val 2105"/>
            </a:avLst>
          </a:prstGeom>
          <a:solidFill>
            <a:schemeClr val="bg1"/>
          </a:solidFill>
          <a:ln w="9525">
            <a:solidFill>
              <a:schemeClr val="accent6"/>
            </a:solidFill>
            <a:prstDash val="solid"/>
          </a:ln>
        </p:spPr>
      </p:sp>
      <p:sp>
        <p:nvSpPr>
          <p:cNvPr id="20" name="Chip 40"/>
          <p:cNvSpPr/>
          <p:nvPr/>
        </p:nvSpPr>
        <p:spPr>
          <a:xfrm>
            <a:off x="9198864" y="1810512"/>
            <a:ext cx="420624" cy="420624"/>
          </a:xfrm>
          <a:prstGeom prst="ellipse">
            <a:avLst/>
          </a:prstGeom>
          <a:solidFill>
            <a:schemeClr val="accent2"/>
          </a:solidFill>
          <a:ln/>
        </p:spPr>
      </p:sp>
      <p:sp>
        <p:nvSpPr>
          <p:cNvPr id="21" name="Text 41"/>
          <p:cNvSpPr txBox="1"/>
          <p:nvPr/>
        </p:nvSpPr>
        <p:spPr>
          <a:xfrm>
            <a:off x="9198864" y="1810512"/>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42"/>
          <p:cNvSpPr txBox="1"/>
          <p:nvPr/>
        </p:nvSpPr>
        <p:spPr>
          <a:xfrm>
            <a:off x="9198864" y="2377440"/>
            <a:ext cx="2194560" cy="566928"/>
          </a:xfrm>
          <a:prstGeom prst="rect">
            <a:avLst/>
          </a:prstGeom>
          <a:noFill/>
          <a:ln/>
        </p:spPr>
        <p:txBody>
          <a:bodyPr wrap="square" lIns="0" tIns="0" rIns="0" bIns="0" rtlCol="0" anchor="t"/>
          <a:lstStyle/>
          <a:p>
            <a:pPr indent="0" marL="0">
              <a:buNone/>
            </a:pPr>
            <a:r>
              <a:rPr lang="en-US" sz="1600" b="1" dirty="0">
                <a:solidFill>
                  <a:schemeClr val="tx1"/>
                </a:solidFill>
              </a:rPr>
              <a:t>A known tailoring rule</a:t>
            </a:r>
            <a:endParaRPr lang="en-US" sz="1600" dirty="0"/>
          </a:p>
        </p:txBody>
      </p:sp>
      <p:sp>
        <p:nvSpPr>
          <p:cNvPr id="23" name="Text 43"/>
          <p:cNvSpPr txBox="1"/>
          <p:nvPr/>
        </p:nvSpPr>
        <p:spPr>
          <a:xfrm>
            <a:off x="9198864" y="2971800"/>
            <a:ext cx="2194560" cy="1325880"/>
          </a:xfrm>
          <a:prstGeom prst="rect">
            <a:avLst/>
          </a:prstGeom>
          <a:noFill/>
          <a:ln/>
        </p:spPr>
        <p:txBody>
          <a:bodyPr wrap="square" lIns="0" tIns="0" rIns="0" bIns="0" rtlCol="0" anchor="t"/>
          <a:lstStyle/>
          <a:p>
            <a:pPr indent="0" marL="0">
              <a:buNone/>
            </a:pPr>
            <a:r>
              <a:rPr lang="en-US" sz="1250" dirty="0">
                <a:solidFill>
                  <a:schemeClr val="accent5"/>
                </a:solidFill>
              </a:rPr>
              <a:t>Record how each standard may be tailored. Some allow only additions to a mandatory minimum. Some apply every shall unless an agreement excludes it.</a:t>
            </a:r>
            <a:endParaRPr lang="en-US" sz="1250" dirty="0"/>
          </a:p>
        </p:txBody>
      </p:sp>
      <p:sp>
        <p:nvSpPr>
          <p:cNvPr id="24" name="Card 44"/>
          <p:cNvSpPr/>
          <p:nvPr/>
        </p:nvSpPr>
        <p:spPr>
          <a:xfrm>
            <a:off x="548640" y="4617720"/>
            <a:ext cx="6949440" cy="1463040"/>
          </a:xfrm>
          <a:prstGeom prst="roundRect">
            <a:avLst>
              <a:gd name="adj" fmla="val 3750"/>
            </a:avLst>
          </a:prstGeom>
          <a:solidFill>
            <a:schemeClr val="bg1"/>
          </a:solidFill>
          <a:ln w="9525">
            <a:solidFill>
              <a:schemeClr val="accent6"/>
            </a:solidFill>
            <a:prstDash val="solid"/>
          </a:ln>
        </p:spPr>
      </p:sp>
      <p:sp>
        <p:nvSpPr>
          <p:cNvPr id="25" name="Text 45"/>
          <p:cNvSpPr txBox="1"/>
          <p:nvPr/>
        </p:nvSpPr>
        <p:spPr>
          <a:xfrm>
            <a:off x="822960" y="4773168"/>
            <a:ext cx="6400800" cy="310896"/>
          </a:xfrm>
          <a:prstGeom prst="rect">
            <a:avLst/>
          </a:prstGeom>
          <a:noFill/>
          <a:ln/>
        </p:spPr>
        <p:txBody>
          <a:bodyPr wrap="square" lIns="0" tIns="0" rIns="0" bIns="0" rtlCol="0" anchor="ctr"/>
          <a:lstStyle/>
          <a:p>
            <a:pPr indent="0" marL="0">
              <a:buNone/>
            </a:pPr>
            <a:r>
              <a:rPr lang="en-US" sz="1500" b="1" dirty="0">
                <a:solidFill>
                  <a:schemeClr val="accent2"/>
                </a:solidFill>
              </a:rPr>
              <a:t>Not anchors</a:t>
            </a:r>
            <a:endParaRPr lang="en-US" sz="1500" dirty="0"/>
          </a:p>
        </p:txBody>
      </p:sp>
      <p:sp>
        <p:nvSpPr>
          <p:cNvPr id="26" name="Text 46"/>
          <p:cNvSpPr txBox="1"/>
          <p:nvPr/>
        </p:nvSpPr>
        <p:spPr>
          <a:xfrm>
            <a:off x="822960" y="5120640"/>
            <a:ext cx="6446520" cy="868680"/>
          </a:xfrm>
          <a:prstGeom prst="rect">
            <a:avLst/>
          </a:prstGeom>
          <a:noFill/>
          <a:ln/>
        </p:spPr>
        <p:txBody>
          <a:bodyPr wrap="square" lIns="0" tIns="0" rIns="0" bIns="0" rtlCol="0" anchor="t"/>
          <a:lstStyle/>
          <a:p>
            <a:pPr indent="0" marL="0">
              <a:buNone/>
            </a:pPr>
            <a:r>
              <a:rPr lang="en-US" sz="1350" dirty="0">
                <a:solidFill>
                  <a:schemeClr val="tx1"/>
                </a:solidFill>
              </a:rPr>
              <a:t>Handbooks and guides. Data item descriptions, which are contract instruments. Case studies. Standards whose shall statements sit only in examples.</a:t>
            </a:r>
            <a:endParaRPr lang="en-US" sz="1350" dirty="0"/>
          </a:p>
        </p:txBody>
      </p:sp>
      <p:sp>
        <p:nvSpPr>
          <p:cNvPr id="27" name="Card 47"/>
          <p:cNvSpPr/>
          <p:nvPr/>
        </p:nvSpPr>
        <p:spPr>
          <a:xfrm>
            <a:off x="7708392" y="4617720"/>
            <a:ext cx="3931920" cy="1463040"/>
          </a:xfrm>
          <a:prstGeom prst="roundRect">
            <a:avLst>
              <a:gd name="adj" fmla="val 3750"/>
            </a:avLst>
          </a:prstGeom>
          <a:solidFill>
            <a:schemeClr val="accent1"/>
          </a:solidFill>
          <a:ln/>
        </p:spPr>
      </p:sp>
      <p:sp>
        <p:nvSpPr>
          <p:cNvPr id="28" name="Text 48"/>
          <p:cNvSpPr txBox="1"/>
          <p:nvPr/>
        </p:nvSpPr>
        <p:spPr>
          <a:xfrm>
            <a:off x="7982712" y="4773168"/>
            <a:ext cx="3474720" cy="310896"/>
          </a:xfrm>
          <a:prstGeom prst="rect">
            <a:avLst/>
          </a:prstGeom>
          <a:noFill/>
          <a:ln/>
        </p:spPr>
        <p:txBody>
          <a:bodyPr wrap="square" lIns="0" tIns="0" rIns="0" bIns="0" rtlCol="0" anchor="ctr"/>
          <a:lstStyle/>
          <a:p>
            <a:pPr indent="0" marL="0">
              <a:buNone/>
            </a:pPr>
            <a:r>
              <a:rPr lang="en-US" sz="1500" b="1" dirty="0">
                <a:solidFill>
                  <a:schemeClr val="accent3"/>
                </a:solidFill>
              </a:rPr>
              <a:t>R&amp;M result</a:t>
            </a:r>
            <a:endParaRPr lang="en-US" sz="1500" dirty="0"/>
          </a:p>
        </p:txBody>
      </p:sp>
      <p:sp>
        <p:nvSpPr>
          <p:cNvPr id="29" name="Text 49"/>
          <p:cNvSpPr txBox="1"/>
          <p:nvPr/>
        </p:nvSpPr>
        <p:spPr>
          <a:xfrm>
            <a:off x="7982712" y="5120640"/>
            <a:ext cx="3474720" cy="822960"/>
          </a:xfrm>
          <a:prstGeom prst="rect">
            <a:avLst/>
          </a:prstGeom>
          <a:noFill/>
          <a:ln/>
        </p:spPr>
        <p:txBody>
          <a:bodyPr wrap="square" lIns="0" tIns="0" rIns="0" bIns="0" rtlCol="0" anchor="t"/>
          <a:lstStyle/>
          <a:p>
            <a:pPr indent="0" marL="0">
              <a:buNone/>
            </a:pPr>
            <a:r>
              <a:rPr lang="en-US" sz="1400" dirty="0">
                <a:solidFill>
                  <a:schemeClr val="bg1"/>
                </a:solidFill>
              </a:rPr>
              <a:t>33 standards reviewed. 7 usable as anchors. 2 marginal.</a:t>
            </a:r>
            <a:endParaRPr lang="en-US" sz="14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Steps 3 and 4: A Wide Net, Then the Test</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Let the standards set the count. R&amp;M landed at 47 barriers. CM landed at 16.</a:t>
            </a:r>
            <a:endParaRPr lang="en-US" sz="1400" dirty="0"/>
          </a:p>
        </p:txBody>
      </p:sp>
      <p:sp>
        <p:nvSpPr>
          <p:cNvPr id="4" name="Card 50"/>
          <p:cNvSpPr/>
          <p:nvPr/>
        </p:nvSpPr>
        <p:spPr>
          <a:xfrm>
            <a:off x="507492" y="2108149"/>
            <a:ext cx="11173968" cy="3592678"/>
          </a:xfrm>
          <a:prstGeom prst="roundRect">
            <a:avLst>
              <a:gd name="adj" fmla="val 1527"/>
            </a:avLst>
          </a:prstGeom>
          <a:solidFill>
            <a:schemeClr val="bg1"/>
          </a:solidFill>
          <a:ln w="9525">
            <a:solidFill>
              <a:schemeClr val="accent6"/>
            </a:solidFill>
            <a:prstDash val="solid"/>
          </a:ln>
        </p:spPr>
      </p:sp>
      <p:pic>
        <p:nvPicPr>
          <p:cNvPr id="5" name="Figure 51" descr="Five stages of the R&amp;M example: 33 standards, 8 used, 66 barriers pass the test, 47 in scope, 186 floor requirements">    </p:cNvPr>
          <p:cNvPicPr>
            <a:picLocks noChangeAspect="1"/>
          </p:cNvPicPr>
          <p:nvPr/>
        </p:nvPicPr>
        <p:blipFill>
          <a:blip r:embed="rId1"/>
          <a:stretch>
            <a:fillRect/>
          </a:stretch>
        </p:blipFill>
        <p:spPr>
          <a:xfrm>
            <a:off x="653796" y="2217877"/>
            <a:ext cx="10881360" cy="3373222"/>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Step 5: Every Barrier Gets an Owner</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Overlap with other disciplines is normal. Route it; do not delete it.</a:t>
            </a:r>
            <a:endParaRPr lang="en-US" sz="1400" dirty="0"/>
          </a:p>
        </p:txBody>
      </p:sp>
      <p:sp>
        <p:nvSpPr>
          <p:cNvPr id="4" name="Card 52"/>
          <p:cNvSpPr/>
          <p:nvPr/>
        </p:nvSpPr>
        <p:spPr>
          <a:xfrm>
            <a:off x="507492" y="2042861"/>
            <a:ext cx="11173968" cy="3723254"/>
          </a:xfrm>
          <a:prstGeom prst="roundRect">
            <a:avLst>
              <a:gd name="adj" fmla="val 1474"/>
            </a:avLst>
          </a:prstGeom>
          <a:solidFill>
            <a:schemeClr val="bg1"/>
          </a:solidFill>
          <a:ln w="9525">
            <a:solidFill>
              <a:schemeClr val="accent6"/>
            </a:solidFill>
            <a:prstDash val="solid"/>
          </a:ln>
        </p:spPr>
      </p:sp>
      <p:pic>
        <p:nvPicPr>
          <p:cNvPr id="5" name="Figure 53" descr="Four ownership tiers: discipline primary, shared, handoff, governance">    </p:cNvPr>
          <p:cNvPicPr>
            <a:picLocks noChangeAspect="1"/>
          </p:cNvPicPr>
          <p:nvPr/>
        </p:nvPicPr>
        <p:blipFill>
          <a:blip r:embed="rId1"/>
          <a:stretch>
            <a:fillRect/>
          </a:stretch>
        </p:blipFill>
        <p:spPr>
          <a:xfrm>
            <a:off x="653796" y="2152589"/>
            <a:ext cx="10881360" cy="3503798"/>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Step 6: The Floor Requirement Record</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Each row answers six questions, from clause to proof</a:t>
            </a:r>
            <a:endParaRPr lang="en-US" sz="1400" dirty="0"/>
          </a:p>
        </p:txBody>
      </p:sp>
      <p:sp>
        <p:nvSpPr>
          <p:cNvPr id="4" name="Card 54"/>
          <p:cNvSpPr/>
          <p:nvPr/>
        </p:nvSpPr>
        <p:spPr>
          <a:xfrm>
            <a:off x="507492" y="2086386"/>
            <a:ext cx="11173968" cy="3636203"/>
          </a:xfrm>
          <a:prstGeom prst="roundRect">
            <a:avLst>
              <a:gd name="adj" fmla="val 1509"/>
            </a:avLst>
          </a:prstGeom>
          <a:solidFill>
            <a:schemeClr val="bg1"/>
          </a:solidFill>
          <a:ln w="9525">
            <a:solidFill>
              <a:schemeClr val="accent6"/>
            </a:solidFill>
            <a:prstDash val="solid"/>
          </a:ln>
        </p:spPr>
      </p:sp>
      <p:pic>
        <p:nvPicPr>
          <p:cNvPr id="5" name="Figure 55" descr="Traceability chain: standard clause, floor requirement, barrier, SM-0001 hazard, event, and the artifact that proves it">    </p:cNvPr>
          <p:cNvPicPr>
            <a:picLocks noChangeAspect="1"/>
          </p:cNvPicPr>
          <p:nvPr/>
        </p:nvPicPr>
        <p:blipFill>
          <a:blip r:embed="rId1"/>
          <a:stretch>
            <a:fillRect/>
          </a:stretch>
        </p:blipFill>
        <p:spPr>
          <a:xfrm>
            <a:off x="653796" y="2196114"/>
            <a:ext cx="10881360" cy="3416747"/>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Step 7: Exceptions Go Through SMS Risk Acceptance</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Contract tailoring cannot lower the floor</a:t>
            </a:r>
            <a:endParaRPr lang="en-US" sz="1400" dirty="0"/>
          </a:p>
        </p:txBody>
      </p:sp>
      <p:sp>
        <p:nvSpPr>
          <p:cNvPr id="4" name="Card 56"/>
          <p:cNvSpPr/>
          <p:nvPr/>
        </p:nvSpPr>
        <p:spPr>
          <a:xfrm>
            <a:off x="507492" y="1564081"/>
            <a:ext cx="11173968" cy="4680814"/>
          </a:xfrm>
          <a:prstGeom prst="roundRect">
            <a:avLst>
              <a:gd name="adj" fmla="val 1172"/>
            </a:avLst>
          </a:prstGeom>
          <a:solidFill>
            <a:schemeClr val="bg1"/>
          </a:solidFill>
          <a:ln w="9525">
            <a:solidFill>
              <a:schemeClr val="accent6"/>
            </a:solidFill>
            <a:prstDash val="solid"/>
          </a:ln>
        </p:spPr>
      </p:sp>
      <p:pic>
        <p:nvPicPr>
          <p:cNvPr id="5" name="Figure 57" descr="Decision flow for skipping a floor requirement: documented equivalent, or SMS risk acceptance by the Accountable Executive">    </p:cNvPr>
          <p:cNvPicPr>
            <a:picLocks noChangeAspect="1"/>
          </p:cNvPicPr>
          <p:nvPr/>
        </p:nvPicPr>
        <p:blipFill>
          <a:blip r:embed="rId1"/>
          <a:stretch>
            <a:fillRect/>
          </a:stretch>
        </p:blipFill>
        <p:spPr>
          <a:xfrm>
            <a:off x="653796" y="1673809"/>
            <a:ext cx="10881360" cy="4461358"/>
          </a:xfrm>
          <a:prstGeom prst="rect">
            <a:avLst/>
          </a:prstGeom>
        </p:spPr>
      </p:pic>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Example 1: Configuration Management</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EIA-649-1A: one anchor standard carries the whole floor</a:t>
            </a:r>
            <a:endParaRPr lang="en-US" sz="1400" dirty="0"/>
          </a:p>
        </p:txBody>
      </p:sp>
      <p:sp>
        <p:nvSpPr>
          <p:cNvPr id="4" name="Card 58"/>
          <p:cNvSpPr/>
          <p:nvPr/>
        </p:nvSpPr>
        <p:spPr>
          <a:xfrm>
            <a:off x="548640" y="1600200"/>
            <a:ext cx="2514600" cy="1664208"/>
          </a:xfrm>
          <a:prstGeom prst="roundRect">
            <a:avLst>
              <a:gd name="adj" fmla="val 3297"/>
            </a:avLst>
          </a:prstGeom>
          <a:solidFill>
            <a:schemeClr val="bg1"/>
          </a:solidFill>
          <a:ln w="9525">
            <a:solidFill>
              <a:schemeClr val="accent6"/>
            </a:solidFill>
            <a:prstDash val="solid"/>
          </a:ln>
        </p:spPr>
      </p:sp>
      <p:sp>
        <p:nvSpPr>
          <p:cNvPr id="5" name="Text 59"/>
          <p:cNvSpPr txBox="1"/>
          <p:nvPr/>
        </p:nvSpPr>
        <p:spPr>
          <a:xfrm>
            <a:off x="749808" y="17282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a:t>
            </a:r>
            <a:endParaRPr lang="en-US" sz="3600" dirty="0"/>
          </a:p>
        </p:txBody>
      </p:sp>
      <p:sp>
        <p:nvSpPr>
          <p:cNvPr id="6" name="Text 60"/>
          <p:cNvSpPr txBox="1"/>
          <p:nvPr/>
        </p:nvSpPr>
        <p:spPr>
          <a:xfrm>
            <a:off x="749808" y="24048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anchor standard</a:t>
            </a:r>
            <a:endParaRPr lang="en-US" sz="1400" dirty="0"/>
          </a:p>
        </p:txBody>
      </p:sp>
      <p:sp>
        <p:nvSpPr>
          <p:cNvPr id="7" name="Text 61"/>
          <p:cNvSpPr txBox="1"/>
          <p:nvPr/>
        </p:nvSpPr>
        <p:spPr>
          <a:xfrm>
            <a:off x="749808" y="27340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EIA-649-1A Rev. A</a:t>
            </a:r>
            <a:endParaRPr lang="en-US" sz="1150" dirty="0"/>
          </a:p>
        </p:txBody>
      </p:sp>
      <p:sp>
        <p:nvSpPr>
          <p:cNvPr id="8" name="Card 62"/>
          <p:cNvSpPr/>
          <p:nvPr/>
        </p:nvSpPr>
        <p:spPr>
          <a:xfrm>
            <a:off x="3218688" y="1600200"/>
            <a:ext cx="2514600" cy="1664208"/>
          </a:xfrm>
          <a:prstGeom prst="roundRect">
            <a:avLst>
              <a:gd name="adj" fmla="val 3297"/>
            </a:avLst>
          </a:prstGeom>
          <a:solidFill>
            <a:schemeClr val="accent1"/>
          </a:solidFill>
          <a:ln/>
        </p:spPr>
      </p:sp>
      <p:sp>
        <p:nvSpPr>
          <p:cNvPr id="9" name="Text 63"/>
          <p:cNvSpPr txBox="1"/>
          <p:nvPr/>
        </p:nvSpPr>
        <p:spPr>
          <a:xfrm>
            <a:off x="3419856" y="1728216"/>
            <a:ext cx="2148840" cy="658368"/>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16</a:t>
            </a:r>
            <a:endParaRPr lang="en-US" sz="3600" dirty="0"/>
          </a:p>
        </p:txBody>
      </p:sp>
      <p:sp>
        <p:nvSpPr>
          <p:cNvPr id="10" name="Text 64"/>
          <p:cNvSpPr txBox="1"/>
          <p:nvPr/>
        </p:nvSpPr>
        <p:spPr>
          <a:xfrm>
            <a:off x="3419856" y="2404872"/>
            <a:ext cx="2148840" cy="310896"/>
          </a:xfrm>
          <a:prstGeom prst="rect">
            <a:avLst/>
          </a:prstGeom>
          <a:noFill/>
          <a:ln/>
        </p:spPr>
        <p:txBody>
          <a:bodyPr wrap="square" lIns="0" tIns="0" rIns="0" bIns="0" rtlCol="0" anchor="ctr"/>
          <a:lstStyle/>
          <a:p>
            <a:pPr indent="0" marL="0">
              <a:buNone/>
            </a:pPr>
            <a:r>
              <a:rPr lang="en-US" sz="1400" b="1" dirty="0">
                <a:solidFill>
                  <a:schemeClr val="bg1"/>
                </a:solidFill>
              </a:rPr>
              <a:t>barriers in 4 clusters</a:t>
            </a:r>
            <a:endParaRPr lang="en-US" sz="1400" dirty="0"/>
          </a:p>
        </p:txBody>
      </p:sp>
      <p:sp>
        <p:nvSpPr>
          <p:cNvPr id="11" name="Text 65"/>
          <p:cNvSpPr txBox="1"/>
          <p:nvPr/>
        </p:nvSpPr>
        <p:spPr>
          <a:xfrm>
            <a:off x="3419856" y="2734056"/>
            <a:ext cx="2148840" cy="457200"/>
          </a:xfrm>
          <a:prstGeom prst="rect">
            <a:avLst/>
          </a:prstGeom>
          <a:noFill/>
          <a:ln/>
        </p:spPr>
        <p:txBody>
          <a:bodyPr wrap="square" lIns="0" tIns="0" rIns="0" bIns="0" rtlCol="0" anchor="t"/>
          <a:lstStyle/>
          <a:p>
            <a:pPr indent="0" marL="0">
              <a:buNone/>
            </a:pPr>
            <a:r>
              <a:rPr lang="en-US" sz="1150" dirty="0">
                <a:solidFill>
                  <a:schemeClr val="accent6"/>
                </a:solidFill>
              </a:rPr>
              <a:t>13 anchored in Severity 1 events</a:t>
            </a:r>
            <a:endParaRPr lang="en-US" sz="1150" dirty="0"/>
          </a:p>
        </p:txBody>
      </p:sp>
      <p:sp>
        <p:nvSpPr>
          <p:cNvPr id="12" name="Card 66"/>
          <p:cNvSpPr/>
          <p:nvPr/>
        </p:nvSpPr>
        <p:spPr>
          <a:xfrm>
            <a:off x="548640" y="3429000"/>
            <a:ext cx="2514600" cy="1664208"/>
          </a:xfrm>
          <a:prstGeom prst="roundRect">
            <a:avLst>
              <a:gd name="adj" fmla="val 3297"/>
            </a:avLst>
          </a:prstGeom>
          <a:solidFill>
            <a:schemeClr val="bg1"/>
          </a:solidFill>
          <a:ln w="9525">
            <a:solidFill>
              <a:schemeClr val="accent6"/>
            </a:solidFill>
            <a:prstDash val="solid"/>
          </a:ln>
        </p:spPr>
      </p:sp>
      <p:sp>
        <p:nvSpPr>
          <p:cNvPr id="13" name="Text 67"/>
          <p:cNvSpPr txBox="1"/>
          <p:nvPr/>
        </p:nvSpPr>
        <p:spPr>
          <a:xfrm>
            <a:off x="749808" y="35570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44</a:t>
            </a:r>
            <a:endParaRPr lang="en-US" sz="3600" dirty="0"/>
          </a:p>
        </p:txBody>
      </p:sp>
      <p:sp>
        <p:nvSpPr>
          <p:cNvPr id="14" name="Text 68"/>
          <p:cNvSpPr txBox="1"/>
          <p:nvPr/>
        </p:nvSpPr>
        <p:spPr>
          <a:xfrm>
            <a:off x="749808" y="42336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floor requirements</a:t>
            </a:r>
            <a:endParaRPr lang="en-US" sz="1400" dirty="0"/>
          </a:p>
        </p:txBody>
      </p:sp>
      <p:sp>
        <p:nvSpPr>
          <p:cNvPr id="15" name="Text 69"/>
          <p:cNvSpPr txBox="1"/>
          <p:nvPr/>
        </p:nvSpPr>
        <p:spPr>
          <a:xfrm>
            <a:off x="749808" y="45628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37 marked Clean for inclusion</a:t>
            </a:r>
            <a:endParaRPr lang="en-US" sz="1150" dirty="0"/>
          </a:p>
        </p:txBody>
      </p:sp>
      <p:sp>
        <p:nvSpPr>
          <p:cNvPr id="16" name="Card 70"/>
          <p:cNvSpPr/>
          <p:nvPr/>
        </p:nvSpPr>
        <p:spPr>
          <a:xfrm>
            <a:off x="3218688" y="3429000"/>
            <a:ext cx="2514600" cy="1664208"/>
          </a:xfrm>
          <a:prstGeom prst="roundRect">
            <a:avLst>
              <a:gd name="adj" fmla="val 3297"/>
            </a:avLst>
          </a:prstGeom>
          <a:solidFill>
            <a:schemeClr val="bg1"/>
          </a:solidFill>
          <a:ln w="9525">
            <a:solidFill>
              <a:schemeClr val="accent6"/>
            </a:solidFill>
            <a:prstDash val="solid"/>
          </a:ln>
        </p:spPr>
      </p:sp>
      <p:sp>
        <p:nvSpPr>
          <p:cNvPr id="17" name="Text 71"/>
          <p:cNvSpPr txBox="1"/>
          <p:nvPr/>
        </p:nvSpPr>
        <p:spPr>
          <a:xfrm>
            <a:off x="3419856" y="35570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880+</a:t>
            </a:r>
            <a:endParaRPr lang="en-US" sz="3600" dirty="0"/>
          </a:p>
        </p:txBody>
      </p:sp>
      <p:sp>
        <p:nvSpPr>
          <p:cNvPr id="18" name="Text 72"/>
          <p:cNvSpPr txBox="1"/>
          <p:nvPr/>
        </p:nvSpPr>
        <p:spPr>
          <a:xfrm>
            <a:off x="3419856" y="42336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fatalities</a:t>
            </a:r>
            <a:endParaRPr lang="en-US" sz="1400" dirty="0"/>
          </a:p>
        </p:txBody>
      </p:sp>
      <p:sp>
        <p:nvSpPr>
          <p:cNvPr id="19" name="Text 73"/>
          <p:cNvSpPr txBox="1"/>
          <p:nvPr/>
        </p:nvSpPr>
        <p:spPr>
          <a:xfrm>
            <a:off x="3419856" y="45628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Across the events the CM deck cites</a:t>
            </a:r>
            <a:endParaRPr lang="en-US" sz="1150" dirty="0"/>
          </a:p>
        </p:txBody>
      </p:sp>
      <p:sp>
        <p:nvSpPr>
          <p:cNvPr id="20" name="Card 74"/>
          <p:cNvSpPr/>
          <p:nvPr/>
        </p:nvSpPr>
        <p:spPr>
          <a:xfrm>
            <a:off x="6035040" y="1600200"/>
            <a:ext cx="5605272" cy="3493008"/>
          </a:xfrm>
          <a:prstGeom prst="roundRect">
            <a:avLst>
              <a:gd name="adj" fmla="val 1571"/>
            </a:avLst>
          </a:prstGeom>
          <a:solidFill>
            <a:schemeClr val="bg1"/>
          </a:solidFill>
          <a:ln w="9525">
            <a:solidFill>
              <a:schemeClr val="accent6"/>
            </a:solidFill>
            <a:prstDash val="solid"/>
          </a:ln>
        </p:spPr>
      </p:sp>
      <p:sp>
        <p:nvSpPr>
          <p:cNvPr id="21" name="Text 75"/>
          <p:cNvSpPr txBox="1"/>
          <p:nvPr/>
        </p:nvSpPr>
        <p:spPr>
          <a:xfrm>
            <a:off x="6309360" y="1755648"/>
            <a:ext cx="5120640" cy="310896"/>
          </a:xfrm>
          <a:prstGeom prst="rect">
            <a:avLst/>
          </a:prstGeom>
          <a:noFill/>
          <a:ln/>
        </p:spPr>
        <p:txBody>
          <a:bodyPr wrap="square" lIns="0" tIns="0" rIns="0" bIns="0" rtlCol="0" anchor="ctr"/>
          <a:lstStyle/>
          <a:p>
            <a:pPr indent="0" marL="0">
              <a:buNone/>
            </a:pPr>
            <a:r>
              <a:rPr lang="en-US" sz="1500" b="1" dirty="0">
                <a:solidFill>
                  <a:schemeClr val="accent2"/>
                </a:solidFill>
              </a:rPr>
              <a:t>Clusters and anchoring events</a:t>
            </a:r>
            <a:endParaRPr lang="en-US" sz="1500" dirty="0"/>
          </a:p>
        </p:txBody>
      </p:sp>
      <p:sp>
        <p:nvSpPr>
          <p:cNvPr id="22" name="Chip 76"/>
          <p:cNvSpPr/>
          <p:nvPr/>
        </p:nvSpPr>
        <p:spPr>
          <a:xfrm>
            <a:off x="6309360" y="2221992"/>
            <a:ext cx="365760" cy="365760"/>
          </a:xfrm>
          <a:prstGeom prst="ellipse">
            <a:avLst/>
          </a:prstGeom>
          <a:solidFill>
            <a:schemeClr val="accent1"/>
          </a:solidFill>
          <a:ln/>
        </p:spPr>
      </p:sp>
      <p:sp>
        <p:nvSpPr>
          <p:cNvPr id="23" name="Text 77"/>
          <p:cNvSpPr txBox="1"/>
          <p:nvPr/>
        </p:nvSpPr>
        <p:spPr>
          <a:xfrm>
            <a:off x="6309360" y="222199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Text 78"/>
          <p:cNvSpPr txBox="1"/>
          <p:nvPr/>
        </p:nvSpPr>
        <p:spPr>
          <a:xfrm>
            <a:off x="6812280" y="2194560"/>
            <a:ext cx="3657600" cy="274320"/>
          </a:xfrm>
          <a:prstGeom prst="rect">
            <a:avLst/>
          </a:prstGeom>
          <a:noFill/>
          <a:ln/>
        </p:spPr>
        <p:txBody>
          <a:bodyPr wrap="square" lIns="0" tIns="0" rIns="0" bIns="0" rtlCol="0" anchor="ctr"/>
          <a:lstStyle/>
          <a:p>
            <a:pPr indent="0" marL="0">
              <a:buNone/>
            </a:pPr>
            <a:r>
              <a:rPr lang="en-US" sz="1350" b="1" dirty="0">
                <a:solidFill>
                  <a:schemeClr val="tx1"/>
                </a:solidFill>
              </a:rPr>
              <a:t>Hazard ID and critical-item recognition</a:t>
            </a:r>
            <a:endParaRPr lang="en-US" sz="1350" dirty="0"/>
          </a:p>
        </p:txBody>
      </p:sp>
      <p:sp>
        <p:nvSpPr>
          <p:cNvPr id="25" name="Text 79"/>
          <p:cNvSpPr txBox="1"/>
          <p:nvPr/>
        </p:nvSpPr>
        <p:spPr>
          <a:xfrm>
            <a:off x="10469880" y="2194560"/>
            <a:ext cx="960120" cy="274320"/>
          </a:xfrm>
          <a:prstGeom prst="rect">
            <a:avLst/>
          </a:prstGeom>
          <a:noFill/>
          <a:ln/>
        </p:spPr>
        <p:txBody>
          <a:bodyPr wrap="square" lIns="0" tIns="0" rIns="0" bIns="0" rtlCol="0" anchor="ctr"/>
          <a:lstStyle/>
          <a:p>
            <a:pPr algn="r" indent="0" marL="0">
              <a:buNone/>
            </a:pPr>
            <a:r>
              <a:rPr lang="en-US" sz="1200" b="1" dirty="0">
                <a:solidFill>
                  <a:schemeClr val="accent4"/>
                </a:solidFill>
              </a:rPr>
              <a:t>B1 to B2</a:t>
            </a:r>
            <a:endParaRPr lang="en-US" sz="1200" dirty="0"/>
          </a:p>
        </p:txBody>
      </p:sp>
      <p:sp>
        <p:nvSpPr>
          <p:cNvPr id="26" name="Text 80"/>
          <p:cNvSpPr txBox="1"/>
          <p:nvPr/>
        </p:nvSpPr>
        <p:spPr>
          <a:xfrm>
            <a:off x="6812280" y="2468880"/>
            <a:ext cx="4617720" cy="365760"/>
          </a:xfrm>
          <a:prstGeom prst="rect">
            <a:avLst/>
          </a:prstGeom>
          <a:noFill/>
          <a:ln/>
        </p:spPr>
        <p:txBody>
          <a:bodyPr wrap="square" lIns="0" tIns="0" rIns="0" bIns="0" rtlCol="0" anchor="t"/>
          <a:lstStyle/>
          <a:p>
            <a:pPr indent="0" marL="0">
              <a:buNone/>
            </a:pPr>
            <a:r>
              <a:rPr lang="en-US" sz="1150" dirty="0">
                <a:solidFill>
                  <a:schemeClr val="accent5"/>
                </a:solidFill>
              </a:rPr>
              <a:t>Alaska 261, Challenger</a:t>
            </a:r>
            <a:endParaRPr lang="en-US" sz="1150" dirty="0"/>
          </a:p>
        </p:txBody>
      </p:sp>
      <p:sp>
        <p:nvSpPr>
          <p:cNvPr id="27" name="Chip 81"/>
          <p:cNvSpPr/>
          <p:nvPr/>
        </p:nvSpPr>
        <p:spPr>
          <a:xfrm>
            <a:off x="6309360" y="2935224"/>
            <a:ext cx="365760" cy="365760"/>
          </a:xfrm>
          <a:prstGeom prst="ellipse">
            <a:avLst/>
          </a:prstGeom>
          <a:solidFill>
            <a:schemeClr val="accent1"/>
          </a:solidFill>
          <a:ln/>
        </p:spPr>
      </p:sp>
      <p:sp>
        <p:nvSpPr>
          <p:cNvPr id="28" name="Text 82"/>
          <p:cNvSpPr txBox="1"/>
          <p:nvPr/>
        </p:nvSpPr>
        <p:spPr>
          <a:xfrm>
            <a:off x="6309360" y="293522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83"/>
          <p:cNvSpPr txBox="1"/>
          <p:nvPr/>
        </p:nvSpPr>
        <p:spPr>
          <a:xfrm>
            <a:off x="6812280" y="2907792"/>
            <a:ext cx="3657600" cy="274320"/>
          </a:xfrm>
          <a:prstGeom prst="rect">
            <a:avLst/>
          </a:prstGeom>
          <a:noFill/>
          <a:ln/>
        </p:spPr>
        <p:txBody>
          <a:bodyPr wrap="square" lIns="0" tIns="0" rIns="0" bIns="0" rtlCol="0" anchor="ctr"/>
          <a:lstStyle/>
          <a:p>
            <a:pPr indent="0" marL="0">
              <a:buNone/>
            </a:pPr>
            <a:r>
              <a:rPr lang="en-US" sz="1350" b="1" dirty="0">
                <a:solidFill>
                  <a:schemeClr val="tx1"/>
                </a:solidFill>
              </a:rPr>
              <a:t>Change discipline and impact assessment</a:t>
            </a:r>
            <a:endParaRPr lang="en-US" sz="1350" dirty="0"/>
          </a:p>
        </p:txBody>
      </p:sp>
      <p:sp>
        <p:nvSpPr>
          <p:cNvPr id="30" name="Text 84"/>
          <p:cNvSpPr txBox="1"/>
          <p:nvPr/>
        </p:nvSpPr>
        <p:spPr>
          <a:xfrm>
            <a:off x="10469880" y="2907792"/>
            <a:ext cx="960120" cy="274320"/>
          </a:xfrm>
          <a:prstGeom prst="rect">
            <a:avLst/>
          </a:prstGeom>
          <a:noFill/>
          <a:ln/>
        </p:spPr>
        <p:txBody>
          <a:bodyPr wrap="square" lIns="0" tIns="0" rIns="0" bIns="0" rtlCol="0" anchor="ctr"/>
          <a:lstStyle/>
          <a:p>
            <a:pPr algn="r" indent="0" marL="0">
              <a:buNone/>
            </a:pPr>
            <a:r>
              <a:rPr lang="en-US" sz="1200" b="1" dirty="0">
                <a:solidFill>
                  <a:schemeClr val="accent4"/>
                </a:solidFill>
              </a:rPr>
              <a:t>B3 to B7</a:t>
            </a:r>
            <a:endParaRPr lang="en-US" sz="1200" dirty="0"/>
          </a:p>
        </p:txBody>
      </p:sp>
      <p:sp>
        <p:nvSpPr>
          <p:cNvPr id="31" name="Text 85"/>
          <p:cNvSpPr txBox="1"/>
          <p:nvPr/>
        </p:nvSpPr>
        <p:spPr>
          <a:xfrm>
            <a:off x="6812280" y="3182112"/>
            <a:ext cx="4617720" cy="365760"/>
          </a:xfrm>
          <a:prstGeom prst="rect">
            <a:avLst/>
          </a:prstGeom>
          <a:noFill/>
          <a:ln/>
        </p:spPr>
        <p:txBody>
          <a:bodyPr wrap="square" lIns="0" tIns="0" rIns="0" bIns="0" rtlCol="0" anchor="t"/>
          <a:lstStyle/>
          <a:p>
            <a:pPr indent="0" marL="0">
              <a:buNone/>
            </a:pPr>
            <a:r>
              <a:rPr lang="en-US" sz="1150" dirty="0">
                <a:solidFill>
                  <a:schemeClr val="accent5"/>
                </a:solidFill>
              </a:rPr>
              <a:t>American 191, 737 MAX MCAS, Columbia, two industry patterns</a:t>
            </a:r>
            <a:endParaRPr lang="en-US" sz="1150" dirty="0"/>
          </a:p>
        </p:txBody>
      </p:sp>
      <p:sp>
        <p:nvSpPr>
          <p:cNvPr id="32" name="Chip 86"/>
          <p:cNvSpPr/>
          <p:nvPr/>
        </p:nvSpPr>
        <p:spPr>
          <a:xfrm>
            <a:off x="6309360" y="3648456"/>
            <a:ext cx="365760" cy="365760"/>
          </a:xfrm>
          <a:prstGeom prst="ellipse">
            <a:avLst/>
          </a:prstGeom>
          <a:solidFill>
            <a:schemeClr val="accent1"/>
          </a:solidFill>
          <a:ln/>
        </p:spPr>
      </p:sp>
      <p:sp>
        <p:nvSpPr>
          <p:cNvPr id="33" name="Text 87"/>
          <p:cNvSpPr txBox="1"/>
          <p:nvPr/>
        </p:nvSpPr>
        <p:spPr>
          <a:xfrm>
            <a:off x="6309360" y="364845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4" name="Text 88"/>
          <p:cNvSpPr txBox="1"/>
          <p:nvPr/>
        </p:nvSpPr>
        <p:spPr>
          <a:xfrm>
            <a:off x="6812280" y="3621024"/>
            <a:ext cx="3657600" cy="274320"/>
          </a:xfrm>
          <a:prstGeom prst="rect">
            <a:avLst/>
          </a:prstGeom>
          <a:noFill/>
          <a:ln/>
        </p:spPr>
        <p:txBody>
          <a:bodyPr wrap="square" lIns="0" tIns="0" rIns="0" bIns="0" rtlCol="0" anchor="ctr"/>
          <a:lstStyle/>
          <a:p>
            <a:pPr indent="0" marL="0">
              <a:buNone/>
            </a:pPr>
            <a:r>
              <a:rPr lang="en-US" sz="1350" b="1" dirty="0">
                <a:solidFill>
                  <a:schemeClr val="tx1"/>
                </a:solidFill>
              </a:rPr>
              <a:t>As-designed to as-built reconciliation</a:t>
            </a:r>
            <a:endParaRPr lang="en-US" sz="1350" dirty="0"/>
          </a:p>
        </p:txBody>
      </p:sp>
      <p:sp>
        <p:nvSpPr>
          <p:cNvPr id="35" name="Text 89"/>
          <p:cNvSpPr txBox="1"/>
          <p:nvPr/>
        </p:nvSpPr>
        <p:spPr>
          <a:xfrm>
            <a:off x="10469880" y="3621024"/>
            <a:ext cx="960120" cy="274320"/>
          </a:xfrm>
          <a:prstGeom prst="rect">
            <a:avLst/>
          </a:prstGeom>
          <a:noFill/>
          <a:ln/>
        </p:spPr>
        <p:txBody>
          <a:bodyPr wrap="square" lIns="0" tIns="0" rIns="0" bIns="0" rtlCol="0" anchor="ctr"/>
          <a:lstStyle/>
          <a:p>
            <a:pPr algn="r" indent="0" marL="0">
              <a:buNone/>
            </a:pPr>
            <a:r>
              <a:rPr lang="en-US" sz="1200" b="1" dirty="0">
                <a:solidFill>
                  <a:schemeClr val="accent4"/>
                </a:solidFill>
              </a:rPr>
              <a:t>B8 to B12</a:t>
            </a:r>
            <a:endParaRPr lang="en-US" sz="1200" dirty="0"/>
          </a:p>
        </p:txBody>
      </p:sp>
      <p:sp>
        <p:nvSpPr>
          <p:cNvPr id="36" name="Text 90"/>
          <p:cNvSpPr txBox="1"/>
          <p:nvPr/>
        </p:nvSpPr>
        <p:spPr>
          <a:xfrm>
            <a:off x="6812280" y="3895344"/>
            <a:ext cx="4617720" cy="365760"/>
          </a:xfrm>
          <a:prstGeom prst="rect">
            <a:avLst/>
          </a:prstGeom>
          <a:noFill/>
          <a:ln/>
        </p:spPr>
        <p:txBody>
          <a:bodyPr wrap="square" lIns="0" tIns="0" rIns="0" bIns="0" rtlCol="0" anchor="t"/>
          <a:lstStyle/>
          <a:p>
            <a:pPr indent="0" marL="0">
              <a:buNone/>
            </a:pPr>
            <a:r>
              <a:rPr lang="en-US" sz="1150" dirty="0">
                <a:solidFill>
                  <a:schemeClr val="accent5"/>
                </a:solidFill>
              </a:rPr>
              <a:t>Alaska 1282, KC-46, Air France 4590, Alaska 261</a:t>
            </a:r>
            <a:endParaRPr lang="en-US" sz="1150" dirty="0"/>
          </a:p>
        </p:txBody>
      </p:sp>
      <p:sp>
        <p:nvSpPr>
          <p:cNvPr id="37" name="Chip 91"/>
          <p:cNvSpPr/>
          <p:nvPr/>
        </p:nvSpPr>
        <p:spPr>
          <a:xfrm>
            <a:off x="6309360" y="4361688"/>
            <a:ext cx="365760" cy="365760"/>
          </a:xfrm>
          <a:prstGeom prst="ellipse">
            <a:avLst/>
          </a:prstGeom>
          <a:solidFill>
            <a:schemeClr val="accent1"/>
          </a:solidFill>
          <a:ln/>
        </p:spPr>
      </p:sp>
      <p:sp>
        <p:nvSpPr>
          <p:cNvPr id="38" name="Text 92"/>
          <p:cNvSpPr txBox="1"/>
          <p:nvPr/>
        </p:nvSpPr>
        <p:spPr>
          <a:xfrm>
            <a:off x="6309360" y="436168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9" name="Text 93"/>
          <p:cNvSpPr txBox="1"/>
          <p:nvPr/>
        </p:nvSpPr>
        <p:spPr>
          <a:xfrm>
            <a:off x="6812280" y="4334256"/>
            <a:ext cx="3657600" cy="274320"/>
          </a:xfrm>
          <a:prstGeom prst="rect">
            <a:avLst/>
          </a:prstGeom>
          <a:noFill/>
          <a:ln/>
        </p:spPr>
        <p:txBody>
          <a:bodyPr wrap="square" lIns="0" tIns="0" rIns="0" bIns="0" rtlCol="0" anchor="ctr"/>
          <a:lstStyle/>
          <a:p>
            <a:pPr indent="0" marL="0">
              <a:buNone/>
            </a:pPr>
            <a:r>
              <a:rPr lang="en-US" sz="1350" b="1" dirty="0">
                <a:solidFill>
                  <a:schemeClr val="tx1"/>
                </a:solidFill>
              </a:rPr>
              <a:t>Supply chain, interfaces and verification</a:t>
            </a:r>
            <a:endParaRPr lang="en-US" sz="1350" dirty="0"/>
          </a:p>
        </p:txBody>
      </p:sp>
      <p:sp>
        <p:nvSpPr>
          <p:cNvPr id="40" name="Text 94"/>
          <p:cNvSpPr txBox="1"/>
          <p:nvPr/>
        </p:nvSpPr>
        <p:spPr>
          <a:xfrm>
            <a:off x="10469880" y="4334256"/>
            <a:ext cx="960120" cy="274320"/>
          </a:xfrm>
          <a:prstGeom prst="rect">
            <a:avLst/>
          </a:prstGeom>
          <a:noFill/>
          <a:ln/>
        </p:spPr>
        <p:txBody>
          <a:bodyPr wrap="square" lIns="0" tIns="0" rIns="0" bIns="0" rtlCol="0" anchor="ctr"/>
          <a:lstStyle/>
          <a:p>
            <a:pPr algn="r" indent="0" marL="0">
              <a:buNone/>
            </a:pPr>
            <a:r>
              <a:rPr lang="en-US" sz="1200" b="1" dirty="0">
                <a:solidFill>
                  <a:schemeClr val="accent4"/>
                </a:solidFill>
              </a:rPr>
              <a:t>B13 to B16</a:t>
            </a:r>
            <a:endParaRPr lang="en-US" sz="1200" dirty="0"/>
          </a:p>
        </p:txBody>
      </p:sp>
      <p:sp>
        <p:nvSpPr>
          <p:cNvPr id="41" name="Text 95"/>
          <p:cNvSpPr txBox="1"/>
          <p:nvPr/>
        </p:nvSpPr>
        <p:spPr>
          <a:xfrm>
            <a:off x="6812280" y="4608576"/>
            <a:ext cx="4617720" cy="365760"/>
          </a:xfrm>
          <a:prstGeom prst="rect">
            <a:avLst/>
          </a:prstGeom>
          <a:noFill/>
          <a:ln/>
        </p:spPr>
        <p:txBody>
          <a:bodyPr wrap="square" lIns="0" tIns="0" rIns="0" bIns="0" rtlCol="0" anchor="t"/>
          <a:lstStyle/>
          <a:p>
            <a:pPr indent="0" marL="0">
              <a:buNone/>
            </a:pPr>
            <a:r>
              <a:rPr lang="en-US" sz="1150" dirty="0">
                <a:solidFill>
                  <a:schemeClr val="accent5"/>
                </a:solidFill>
              </a:rPr>
              <a:t>Mars Climate Orbiter, Partnair 394, two industry patterns</a:t>
            </a:r>
            <a:endParaRPr lang="en-US" sz="1150" dirty="0"/>
          </a:p>
        </p:txBody>
      </p:sp>
      <p:sp>
        <p:nvSpPr>
          <p:cNvPr id="42" name="Card 96"/>
          <p:cNvSpPr/>
          <p:nvPr/>
        </p:nvSpPr>
        <p:spPr>
          <a:xfrm>
            <a:off x="548640" y="5349240"/>
            <a:ext cx="11091672" cy="777240"/>
          </a:xfrm>
          <a:prstGeom prst="roundRect">
            <a:avLst>
              <a:gd name="adj" fmla="val 7059"/>
            </a:avLst>
          </a:prstGeom>
          <a:solidFill>
            <a:schemeClr val="accent2"/>
          </a:solidFill>
          <a:ln/>
        </p:spPr>
      </p:sp>
      <p:sp>
        <p:nvSpPr>
          <p:cNvPr id="43" name="Text 97"/>
          <p:cNvSpPr txBox="1"/>
          <p:nvPr/>
        </p:nvSpPr>
        <p:spPr>
          <a:xfrm>
            <a:off x="868680" y="5349240"/>
            <a:ext cx="10469880" cy="777240"/>
          </a:xfrm>
          <a:prstGeom prst="rect">
            <a:avLst/>
          </a:prstGeom>
          <a:noFill/>
          <a:ln/>
        </p:spPr>
        <p:txBody>
          <a:bodyPr wrap="square" lIns="0" tIns="0" rIns="0" bIns="0" rtlCol="0" anchor="ctr"/>
          <a:lstStyle/>
          <a:p>
            <a:pPr indent="0" marL="0">
              <a:buNone/>
            </a:pPr>
            <a:r>
              <a:rPr lang="en-US" sz="1500" b="1" dirty="0">
                <a:solidFill>
                  <a:schemeClr val="bg1"/>
                </a:solidFill>
              </a:rPr>
              <a:t>What CM taught the method: one standard can carry a floor. The barrier test, not the number of clauses, decides what belongs.</a:t>
            </a:r>
            <a:endParaRPr lang="en-US" sz="15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Example 2: R&amp;M, System Health and Human Factors</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Eight standards, six clusters, and overlap with five other disciplines</a:t>
            </a:r>
            <a:endParaRPr lang="en-US" sz="1400" dirty="0"/>
          </a:p>
        </p:txBody>
      </p:sp>
      <p:sp>
        <p:nvSpPr>
          <p:cNvPr id="4" name="Card 98"/>
          <p:cNvSpPr/>
          <p:nvPr/>
        </p:nvSpPr>
        <p:spPr>
          <a:xfrm>
            <a:off x="548640" y="1600200"/>
            <a:ext cx="2514600" cy="1664208"/>
          </a:xfrm>
          <a:prstGeom prst="roundRect">
            <a:avLst>
              <a:gd name="adj" fmla="val 3297"/>
            </a:avLst>
          </a:prstGeom>
          <a:solidFill>
            <a:schemeClr val="bg1"/>
          </a:solidFill>
          <a:ln w="9525">
            <a:solidFill>
              <a:schemeClr val="accent6"/>
            </a:solidFill>
            <a:prstDash val="solid"/>
          </a:ln>
        </p:spPr>
      </p:sp>
      <p:sp>
        <p:nvSpPr>
          <p:cNvPr id="5" name="Text 99"/>
          <p:cNvSpPr txBox="1"/>
          <p:nvPr/>
        </p:nvSpPr>
        <p:spPr>
          <a:xfrm>
            <a:off x="749808" y="17282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8</a:t>
            </a:r>
            <a:endParaRPr lang="en-US" sz="3600" dirty="0"/>
          </a:p>
        </p:txBody>
      </p:sp>
      <p:sp>
        <p:nvSpPr>
          <p:cNvPr id="6" name="Text 100"/>
          <p:cNvSpPr txBox="1"/>
          <p:nvPr/>
        </p:nvSpPr>
        <p:spPr>
          <a:xfrm>
            <a:off x="749808" y="24048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standards supply the floor</a:t>
            </a:r>
            <a:endParaRPr lang="en-US" sz="1400" dirty="0"/>
          </a:p>
        </p:txBody>
      </p:sp>
      <p:sp>
        <p:nvSpPr>
          <p:cNvPr id="7" name="Text 101"/>
          <p:cNvSpPr txBox="1"/>
          <p:nvPr/>
        </p:nvSpPr>
        <p:spPr>
          <a:xfrm>
            <a:off x="749808" y="27340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From 33 reviewed</a:t>
            </a:r>
            <a:endParaRPr lang="en-US" sz="1150" dirty="0"/>
          </a:p>
        </p:txBody>
      </p:sp>
      <p:sp>
        <p:nvSpPr>
          <p:cNvPr id="8" name="Card 102"/>
          <p:cNvSpPr/>
          <p:nvPr/>
        </p:nvSpPr>
        <p:spPr>
          <a:xfrm>
            <a:off x="3218688" y="1600200"/>
            <a:ext cx="2514600" cy="1664208"/>
          </a:xfrm>
          <a:prstGeom prst="roundRect">
            <a:avLst>
              <a:gd name="adj" fmla="val 3297"/>
            </a:avLst>
          </a:prstGeom>
          <a:solidFill>
            <a:schemeClr val="accent1"/>
          </a:solidFill>
          <a:ln/>
        </p:spPr>
      </p:sp>
      <p:sp>
        <p:nvSpPr>
          <p:cNvPr id="9" name="Text 103"/>
          <p:cNvSpPr txBox="1"/>
          <p:nvPr/>
        </p:nvSpPr>
        <p:spPr>
          <a:xfrm>
            <a:off x="3419856" y="1728216"/>
            <a:ext cx="2148840" cy="658368"/>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47</a:t>
            </a:r>
            <a:endParaRPr lang="en-US" sz="3600" dirty="0"/>
          </a:p>
        </p:txBody>
      </p:sp>
      <p:sp>
        <p:nvSpPr>
          <p:cNvPr id="10" name="Text 104"/>
          <p:cNvSpPr txBox="1"/>
          <p:nvPr/>
        </p:nvSpPr>
        <p:spPr>
          <a:xfrm>
            <a:off x="3419856" y="2404872"/>
            <a:ext cx="2148840" cy="310896"/>
          </a:xfrm>
          <a:prstGeom prst="rect">
            <a:avLst/>
          </a:prstGeom>
          <a:noFill/>
          <a:ln/>
        </p:spPr>
        <p:txBody>
          <a:bodyPr wrap="square" lIns="0" tIns="0" rIns="0" bIns="0" rtlCol="0" anchor="ctr"/>
          <a:lstStyle/>
          <a:p>
            <a:pPr indent="0" marL="0">
              <a:buNone/>
            </a:pPr>
            <a:r>
              <a:rPr lang="en-US" sz="1400" b="1" dirty="0">
                <a:solidFill>
                  <a:schemeClr val="bg1"/>
                </a:solidFill>
              </a:rPr>
              <a:t>barriers in 6 clusters</a:t>
            </a:r>
            <a:endParaRPr lang="en-US" sz="1400" dirty="0"/>
          </a:p>
        </p:txBody>
      </p:sp>
      <p:sp>
        <p:nvSpPr>
          <p:cNvPr id="11" name="Text 105"/>
          <p:cNvSpPr txBox="1"/>
          <p:nvPr/>
        </p:nvSpPr>
        <p:spPr>
          <a:xfrm>
            <a:off x="3419856" y="2734056"/>
            <a:ext cx="2148840" cy="457200"/>
          </a:xfrm>
          <a:prstGeom prst="rect">
            <a:avLst/>
          </a:prstGeom>
          <a:noFill/>
          <a:ln/>
        </p:spPr>
        <p:txBody>
          <a:bodyPr wrap="square" lIns="0" tIns="0" rIns="0" bIns="0" rtlCol="0" anchor="t"/>
          <a:lstStyle/>
          <a:p>
            <a:pPr indent="0" marL="0">
              <a:buNone/>
            </a:pPr>
            <a:r>
              <a:rPr lang="en-US" sz="1150" dirty="0">
                <a:solidFill>
                  <a:schemeClr val="accent6"/>
                </a:solidFill>
              </a:rPr>
              <a:t>35 primary, 12 shared</a:t>
            </a:r>
            <a:endParaRPr lang="en-US" sz="1150" dirty="0"/>
          </a:p>
        </p:txBody>
      </p:sp>
      <p:sp>
        <p:nvSpPr>
          <p:cNvPr id="12" name="Card 106"/>
          <p:cNvSpPr/>
          <p:nvPr/>
        </p:nvSpPr>
        <p:spPr>
          <a:xfrm>
            <a:off x="548640" y="3429000"/>
            <a:ext cx="2514600" cy="1664208"/>
          </a:xfrm>
          <a:prstGeom prst="roundRect">
            <a:avLst>
              <a:gd name="adj" fmla="val 3297"/>
            </a:avLst>
          </a:prstGeom>
          <a:solidFill>
            <a:schemeClr val="bg1"/>
          </a:solidFill>
          <a:ln w="9525">
            <a:solidFill>
              <a:schemeClr val="accent6"/>
            </a:solidFill>
            <a:prstDash val="solid"/>
          </a:ln>
        </p:spPr>
      </p:sp>
      <p:sp>
        <p:nvSpPr>
          <p:cNvPr id="13" name="Text 107"/>
          <p:cNvSpPr txBox="1"/>
          <p:nvPr/>
        </p:nvSpPr>
        <p:spPr>
          <a:xfrm>
            <a:off x="749808" y="35570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186</a:t>
            </a:r>
            <a:endParaRPr lang="en-US" sz="3600" dirty="0"/>
          </a:p>
        </p:txBody>
      </p:sp>
      <p:sp>
        <p:nvSpPr>
          <p:cNvPr id="14" name="Text 108"/>
          <p:cNvSpPr txBox="1"/>
          <p:nvPr/>
        </p:nvSpPr>
        <p:spPr>
          <a:xfrm>
            <a:off x="749808" y="42336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floor requirements</a:t>
            </a:r>
            <a:endParaRPr lang="en-US" sz="1400" dirty="0"/>
          </a:p>
        </p:txBody>
      </p:sp>
      <p:sp>
        <p:nvSpPr>
          <p:cNvPr id="15" name="Text 109"/>
          <p:cNvSpPr txBox="1"/>
          <p:nvPr/>
        </p:nvSpPr>
        <p:spPr>
          <a:xfrm>
            <a:off x="749808" y="45628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35 artifact types prove them</a:t>
            </a:r>
            <a:endParaRPr lang="en-US" sz="1150" dirty="0"/>
          </a:p>
        </p:txBody>
      </p:sp>
      <p:sp>
        <p:nvSpPr>
          <p:cNvPr id="16" name="Card 110"/>
          <p:cNvSpPr/>
          <p:nvPr/>
        </p:nvSpPr>
        <p:spPr>
          <a:xfrm>
            <a:off x="3218688" y="3429000"/>
            <a:ext cx="2514600" cy="1664208"/>
          </a:xfrm>
          <a:prstGeom prst="roundRect">
            <a:avLst>
              <a:gd name="adj" fmla="val 3297"/>
            </a:avLst>
          </a:prstGeom>
          <a:solidFill>
            <a:schemeClr val="bg1"/>
          </a:solidFill>
          <a:ln w="9525">
            <a:solidFill>
              <a:schemeClr val="accent6"/>
            </a:solidFill>
            <a:prstDash val="solid"/>
          </a:ln>
        </p:spPr>
      </p:sp>
      <p:sp>
        <p:nvSpPr>
          <p:cNvPr id="17" name="Text 111"/>
          <p:cNvSpPr txBox="1"/>
          <p:nvPr/>
        </p:nvSpPr>
        <p:spPr>
          <a:xfrm>
            <a:off x="3419856" y="3557016"/>
            <a:ext cx="2148840" cy="65836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1,384</a:t>
            </a:r>
            <a:endParaRPr lang="en-US" sz="3600" dirty="0"/>
          </a:p>
        </p:txBody>
      </p:sp>
      <p:sp>
        <p:nvSpPr>
          <p:cNvPr id="18" name="Text 112"/>
          <p:cNvSpPr txBox="1"/>
          <p:nvPr/>
        </p:nvSpPr>
        <p:spPr>
          <a:xfrm>
            <a:off x="3419856" y="4233672"/>
            <a:ext cx="2148840" cy="310896"/>
          </a:xfrm>
          <a:prstGeom prst="rect">
            <a:avLst/>
          </a:prstGeom>
          <a:noFill/>
          <a:ln/>
        </p:spPr>
        <p:txBody>
          <a:bodyPr wrap="square" lIns="0" tIns="0" rIns="0" bIns="0" rtlCol="0" anchor="ctr"/>
          <a:lstStyle/>
          <a:p>
            <a:pPr indent="0" marL="0">
              <a:buNone/>
            </a:pPr>
            <a:r>
              <a:rPr lang="en-US" sz="1400" b="1" dirty="0">
                <a:solidFill>
                  <a:schemeClr val="tx1"/>
                </a:solidFill>
              </a:rPr>
              <a:t>fatalities</a:t>
            </a:r>
            <a:endParaRPr lang="en-US" sz="1400" dirty="0"/>
          </a:p>
        </p:txBody>
      </p:sp>
      <p:sp>
        <p:nvSpPr>
          <p:cNvPr id="19" name="Text 113"/>
          <p:cNvSpPr txBox="1"/>
          <p:nvPr/>
        </p:nvSpPr>
        <p:spPr>
          <a:xfrm>
            <a:off x="3419856" y="4562856"/>
            <a:ext cx="2148840" cy="457200"/>
          </a:xfrm>
          <a:prstGeom prst="rect">
            <a:avLst/>
          </a:prstGeom>
          <a:noFill/>
          <a:ln/>
        </p:spPr>
        <p:txBody>
          <a:bodyPr wrap="square" lIns="0" tIns="0" rIns="0" bIns="0" rtlCol="0" anchor="t"/>
          <a:lstStyle/>
          <a:p>
            <a:pPr indent="0" marL="0">
              <a:buNone/>
            </a:pPr>
            <a:r>
              <a:rPr lang="en-US" sz="1150" dirty="0">
                <a:solidFill>
                  <a:schemeClr val="accent5"/>
                </a:solidFill>
              </a:rPr>
              <a:t>Across 17 events where an R&amp;M barrier failed</a:t>
            </a:r>
            <a:endParaRPr lang="en-US" sz="1150" dirty="0"/>
          </a:p>
        </p:txBody>
      </p:sp>
      <p:sp>
        <p:nvSpPr>
          <p:cNvPr id="20" name="Card 114"/>
          <p:cNvSpPr/>
          <p:nvPr/>
        </p:nvSpPr>
        <p:spPr>
          <a:xfrm>
            <a:off x="6035040" y="1600200"/>
            <a:ext cx="5605272" cy="3493008"/>
          </a:xfrm>
          <a:prstGeom prst="roundRect">
            <a:avLst>
              <a:gd name="adj" fmla="val 1571"/>
            </a:avLst>
          </a:prstGeom>
          <a:solidFill>
            <a:schemeClr val="bg1"/>
          </a:solidFill>
          <a:ln w="9525">
            <a:solidFill>
              <a:schemeClr val="accent6"/>
            </a:solidFill>
            <a:prstDash val="solid"/>
          </a:ln>
        </p:spPr>
      </p:sp>
      <p:sp>
        <p:nvSpPr>
          <p:cNvPr id="21" name="Text 115"/>
          <p:cNvSpPr txBox="1"/>
          <p:nvPr/>
        </p:nvSpPr>
        <p:spPr>
          <a:xfrm>
            <a:off x="6309360" y="1755648"/>
            <a:ext cx="2743200" cy="310896"/>
          </a:xfrm>
          <a:prstGeom prst="rect">
            <a:avLst/>
          </a:prstGeom>
          <a:noFill/>
          <a:ln/>
        </p:spPr>
        <p:txBody>
          <a:bodyPr wrap="square" lIns="0" tIns="0" rIns="0" bIns="0" rtlCol="0" anchor="ctr"/>
          <a:lstStyle/>
          <a:p>
            <a:pPr indent="0" marL="0">
              <a:buNone/>
            </a:pPr>
            <a:r>
              <a:rPr lang="en-US" sz="1500" b="1" dirty="0">
                <a:solidFill>
                  <a:schemeClr val="accent2"/>
                </a:solidFill>
              </a:rPr>
              <a:t>Clusters</a:t>
            </a:r>
            <a:endParaRPr lang="en-US" sz="1500" dirty="0"/>
          </a:p>
        </p:txBody>
      </p:sp>
      <p:sp>
        <p:nvSpPr>
          <p:cNvPr id="22" name="Text 116"/>
          <p:cNvSpPr txBox="1"/>
          <p:nvPr/>
        </p:nvSpPr>
        <p:spPr>
          <a:xfrm>
            <a:off x="9235440" y="1783080"/>
            <a:ext cx="1005840" cy="274320"/>
          </a:xfrm>
          <a:prstGeom prst="rect">
            <a:avLst/>
          </a:prstGeom>
          <a:noFill/>
          <a:ln/>
        </p:spPr>
        <p:txBody>
          <a:bodyPr wrap="square" lIns="0" tIns="0" rIns="0" bIns="0" rtlCol="0" anchor="ctr"/>
          <a:lstStyle/>
          <a:p>
            <a:pPr algn="r" indent="0" marL="0">
              <a:buNone/>
            </a:pPr>
            <a:r>
              <a:rPr lang="en-US" sz="1150" b="1" dirty="0">
                <a:solidFill>
                  <a:schemeClr val="accent5"/>
                </a:solidFill>
              </a:rPr>
              <a:t>Barriers</a:t>
            </a:r>
            <a:endParaRPr lang="en-US" sz="1150" dirty="0"/>
          </a:p>
        </p:txBody>
      </p:sp>
      <p:sp>
        <p:nvSpPr>
          <p:cNvPr id="23" name="Text 117"/>
          <p:cNvSpPr txBox="1"/>
          <p:nvPr/>
        </p:nvSpPr>
        <p:spPr>
          <a:xfrm>
            <a:off x="10241280" y="1783080"/>
            <a:ext cx="1188720" cy="274320"/>
          </a:xfrm>
          <a:prstGeom prst="rect">
            <a:avLst/>
          </a:prstGeom>
          <a:noFill/>
          <a:ln/>
        </p:spPr>
        <p:txBody>
          <a:bodyPr wrap="square" lIns="0" tIns="0" rIns="0" bIns="0" rtlCol="0" anchor="ctr"/>
          <a:lstStyle/>
          <a:p>
            <a:pPr algn="r" indent="0" marL="0">
              <a:buNone/>
            </a:pPr>
            <a:r>
              <a:rPr lang="en-US" sz="1150" b="1" dirty="0">
                <a:solidFill>
                  <a:schemeClr val="accent5"/>
                </a:solidFill>
              </a:rPr>
              <a:t>Requirements</a:t>
            </a:r>
            <a:endParaRPr lang="en-US" sz="1150" dirty="0"/>
          </a:p>
        </p:txBody>
      </p:sp>
      <p:sp>
        <p:nvSpPr>
          <p:cNvPr id="24" name="Chip 118"/>
          <p:cNvSpPr/>
          <p:nvPr/>
        </p:nvSpPr>
        <p:spPr>
          <a:xfrm>
            <a:off x="6309360" y="2212848"/>
            <a:ext cx="329184" cy="329184"/>
          </a:xfrm>
          <a:prstGeom prst="ellipse">
            <a:avLst/>
          </a:prstGeom>
          <a:solidFill>
            <a:schemeClr val="accent1"/>
          </a:solidFill>
          <a:ln/>
        </p:spPr>
      </p:sp>
      <p:sp>
        <p:nvSpPr>
          <p:cNvPr id="25" name="Text 119"/>
          <p:cNvSpPr txBox="1"/>
          <p:nvPr/>
        </p:nvSpPr>
        <p:spPr>
          <a:xfrm>
            <a:off x="6309360" y="2212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6" name="Text 120"/>
          <p:cNvSpPr txBox="1"/>
          <p:nvPr/>
        </p:nvSpPr>
        <p:spPr>
          <a:xfrm>
            <a:off x="6784848" y="2212848"/>
            <a:ext cx="2651760" cy="329184"/>
          </a:xfrm>
          <a:prstGeom prst="rect">
            <a:avLst/>
          </a:prstGeom>
          <a:noFill/>
          <a:ln/>
        </p:spPr>
        <p:txBody>
          <a:bodyPr wrap="square" lIns="0" tIns="0" rIns="0" bIns="0" rtlCol="0" anchor="ctr"/>
          <a:lstStyle/>
          <a:p>
            <a:pPr indent="0" marL="0">
              <a:buNone/>
            </a:pPr>
            <a:r>
              <a:rPr lang="en-US" sz="1300" dirty="0">
                <a:solidFill>
                  <a:schemeClr val="tx1"/>
                </a:solidFill>
              </a:rPr>
              <a:t>Hazard and failure mode identification</a:t>
            </a:r>
            <a:endParaRPr lang="en-US" sz="1300" dirty="0"/>
          </a:p>
        </p:txBody>
      </p:sp>
      <p:sp>
        <p:nvSpPr>
          <p:cNvPr id="27" name="Text 121"/>
          <p:cNvSpPr txBox="1"/>
          <p:nvPr/>
        </p:nvSpPr>
        <p:spPr>
          <a:xfrm>
            <a:off x="9235440" y="22128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10</a:t>
            </a:r>
            <a:endParaRPr lang="en-US" sz="1300" dirty="0"/>
          </a:p>
        </p:txBody>
      </p:sp>
      <p:sp>
        <p:nvSpPr>
          <p:cNvPr id="28" name="Text 122"/>
          <p:cNvSpPr txBox="1"/>
          <p:nvPr/>
        </p:nvSpPr>
        <p:spPr>
          <a:xfrm>
            <a:off x="10241280" y="22128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48</a:t>
            </a:r>
            <a:endParaRPr lang="en-US" sz="1300" dirty="0"/>
          </a:p>
        </p:txBody>
      </p:sp>
      <p:sp>
        <p:nvSpPr>
          <p:cNvPr id="29" name="Chip 123"/>
          <p:cNvSpPr/>
          <p:nvPr/>
        </p:nvSpPr>
        <p:spPr>
          <a:xfrm>
            <a:off x="6309360" y="2670048"/>
            <a:ext cx="329184" cy="329184"/>
          </a:xfrm>
          <a:prstGeom prst="ellipse">
            <a:avLst/>
          </a:prstGeom>
          <a:solidFill>
            <a:schemeClr val="accent1"/>
          </a:solidFill>
          <a:ln/>
        </p:spPr>
      </p:sp>
      <p:sp>
        <p:nvSpPr>
          <p:cNvPr id="30" name="Text 124"/>
          <p:cNvSpPr txBox="1"/>
          <p:nvPr/>
        </p:nvSpPr>
        <p:spPr>
          <a:xfrm>
            <a:off x="6309360" y="26700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1" name="Text 125"/>
          <p:cNvSpPr txBox="1"/>
          <p:nvPr/>
        </p:nvSpPr>
        <p:spPr>
          <a:xfrm>
            <a:off x="6784848" y="2670048"/>
            <a:ext cx="2651760" cy="329184"/>
          </a:xfrm>
          <a:prstGeom prst="rect">
            <a:avLst/>
          </a:prstGeom>
          <a:noFill/>
          <a:ln/>
        </p:spPr>
        <p:txBody>
          <a:bodyPr wrap="square" lIns="0" tIns="0" rIns="0" bIns="0" rtlCol="0" anchor="ctr"/>
          <a:lstStyle/>
          <a:p>
            <a:pPr indent="0" marL="0">
              <a:buNone/>
            </a:pPr>
            <a:r>
              <a:rPr lang="en-US" sz="1300" dirty="0">
                <a:solidFill>
                  <a:schemeClr val="tx1"/>
                </a:solidFill>
              </a:rPr>
              <a:t>Risk assessment and classification</a:t>
            </a:r>
            <a:endParaRPr lang="en-US" sz="1300" dirty="0"/>
          </a:p>
        </p:txBody>
      </p:sp>
      <p:sp>
        <p:nvSpPr>
          <p:cNvPr id="32" name="Text 126"/>
          <p:cNvSpPr txBox="1"/>
          <p:nvPr/>
        </p:nvSpPr>
        <p:spPr>
          <a:xfrm>
            <a:off x="9235440" y="26700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5</a:t>
            </a:r>
            <a:endParaRPr lang="en-US" sz="1300" dirty="0"/>
          </a:p>
        </p:txBody>
      </p:sp>
      <p:sp>
        <p:nvSpPr>
          <p:cNvPr id="33" name="Text 127"/>
          <p:cNvSpPr txBox="1"/>
          <p:nvPr/>
        </p:nvSpPr>
        <p:spPr>
          <a:xfrm>
            <a:off x="10241280" y="26700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15</a:t>
            </a:r>
            <a:endParaRPr lang="en-US" sz="1300" dirty="0"/>
          </a:p>
        </p:txBody>
      </p:sp>
      <p:sp>
        <p:nvSpPr>
          <p:cNvPr id="34" name="Chip 128"/>
          <p:cNvSpPr/>
          <p:nvPr/>
        </p:nvSpPr>
        <p:spPr>
          <a:xfrm>
            <a:off x="6309360" y="3127248"/>
            <a:ext cx="329184" cy="329184"/>
          </a:xfrm>
          <a:prstGeom prst="ellipse">
            <a:avLst/>
          </a:prstGeom>
          <a:solidFill>
            <a:schemeClr val="accent1"/>
          </a:solidFill>
          <a:ln/>
        </p:spPr>
      </p:sp>
      <p:sp>
        <p:nvSpPr>
          <p:cNvPr id="35" name="Text 129"/>
          <p:cNvSpPr txBox="1"/>
          <p:nvPr/>
        </p:nvSpPr>
        <p:spPr>
          <a:xfrm>
            <a:off x="6309360" y="31272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6" name="Text 130"/>
          <p:cNvSpPr txBox="1"/>
          <p:nvPr/>
        </p:nvSpPr>
        <p:spPr>
          <a:xfrm>
            <a:off x="6784848" y="3127248"/>
            <a:ext cx="2651760" cy="329184"/>
          </a:xfrm>
          <a:prstGeom prst="rect">
            <a:avLst/>
          </a:prstGeom>
          <a:noFill/>
          <a:ln/>
        </p:spPr>
        <p:txBody>
          <a:bodyPr wrap="square" lIns="0" tIns="0" rIns="0" bIns="0" rtlCol="0" anchor="ctr"/>
          <a:lstStyle/>
          <a:p>
            <a:pPr indent="0" marL="0">
              <a:buNone/>
            </a:pPr>
            <a:r>
              <a:rPr lang="en-US" sz="1300" dirty="0">
                <a:solidFill>
                  <a:schemeClr val="tx1"/>
                </a:solidFill>
              </a:rPr>
              <a:t>Mitigation and design</a:t>
            </a:r>
            <a:endParaRPr lang="en-US" sz="1300" dirty="0"/>
          </a:p>
        </p:txBody>
      </p:sp>
      <p:sp>
        <p:nvSpPr>
          <p:cNvPr id="37" name="Text 131"/>
          <p:cNvSpPr txBox="1"/>
          <p:nvPr/>
        </p:nvSpPr>
        <p:spPr>
          <a:xfrm>
            <a:off x="9235440" y="31272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10</a:t>
            </a:r>
            <a:endParaRPr lang="en-US" sz="1300" dirty="0"/>
          </a:p>
        </p:txBody>
      </p:sp>
      <p:sp>
        <p:nvSpPr>
          <p:cNvPr id="38" name="Text 132"/>
          <p:cNvSpPr txBox="1"/>
          <p:nvPr/>
        </p:nvSpPr>
        <p:spPr>
          <a:xfrm>
            <a:off x="10241280" y="31272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49</a:t>
            </a:r>
            <a:endParaRPr lang="en-US" sz="1300" dirty="0"/>
          </a:p>
        </p:txBody>
      </p:sp>
      <p:sp>
        <p:nvSpPr>
          <p:cNvPr id="39" name="Chip 133"/>
          <p:cNvSpPr/>
          <p:nvPr/>
        </p:nvSpPr>
        <p:spPr>
          <a:xfrm>
            <a:off x="6309360" y="3584448"/>
            <a:ext cx="329184" cy="329184"/>
          </a:xfrm>
          <a:prstGeom prst="ellipse">
            <a:avLst/>
          </a:prstGeom>
          <a:solidFill>
            <a:schemeClr val="accent1"/>
          </a:solidFill>
          <a:ln/>
        </p:spPr>
      </p:sp>
      <p:sp>
        <p:nvSpPr>
          <p:cNvPr id="40" name="Text 134"/>
          <p:cNvSpPr txBox="1"/>
          <p:nvPr/>
        </p:nvSpPr>
        <p:spPr>
          <a:xfrm>
            <a:off x="6309360" y="3584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1" name="Text 135"/>
          <p:cNvSpPr txBox="1"/>
          <p:nvPr/>
        </p:nvSpPr>
        <p:spPr>
          <a:xfrm>
            <a:off x="6784848" y="3584448"/>
            <a:ext cx="2651760" cy="329184"/>
          </a:xfrm>
          <a:prstGeom prst="rect">
            <a:avLst/>
          </a:prstGeom>
          <a:noFill/>
          <a:ln/>
        </p:spPr>
        <p:txBody>
          <a:bodyPr wrap="square" lIns="0" tIns="0" rIns="0" bIns="0" rtlCol="0" anchor="ctr"/>
          <a:lstStyle/>
          <a:p>
            <a:pPr indent="0" marL="0">
              <a:buNone/>
            </a:pPr>
            <a:r>
              <a:rPr lang="en-US" sz="1300" dirty="0">
                <a:solidFill>
                  <a:schemeClr val="tx1"/>
                </a:solidFill>
              </a:rPr>
              <a:t>Verification and test</a:t>
            </a:r>
            <a:endParaRPr lang="en-US" sz="1300" dirty="0"/>
          </a:p>
        </p:txBody>
      </p:sp>
      <p:sp>
        <p:nvSpPr>
          <p:cNvPr id="42" name="Text 136"/>
          <p:cNvSpPr txBox="1"/>
          <p:nvPr/>
        </p:nvSpPr>
        <p:spPr>
          <a:xfrm>
            <a:off x="9235440" y="35844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3</a:t>
            </a:r>
            <a:endParaRPr lang="en-US" sz="1300" dirty="0"/>
          </a:p>
        </p:txBody>
      </p:sp>
      <p:sp>
        <p:nvSpPr>
          <p:cNvPr id="43" name="Text 137"/>
          <p:cNvSpPr txBox="1"/>
          <p:nvPr/>
        </p:nvSpPr>
        <p:spPr>
          <a:xfrm>
            <a:off x="10241280" y="35844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16</a:t>
            </a:r>
            <a:endParaRPr lang="en-US" sz="1300" dirty="0"/>
          </a:p>
        </p:txBody>
      </p:sp>
      <p:sp>
        <p:nvSpPr>
          <p:cNvPr id="44" name="Chip 138"/>
          <p:cNvSpPr/>
          <p:nvPr/>
        </p:nvSpPr>
        <p:spPr>
          <a:xfrm>
            <a:off x="6309360" y="4041648"/>
            <a:ext cx="329184" cy="329184"/>
          </a:xfrm>
          <a:prstGeom prst="ellipse">
            <a:avLst/>
          </a:prstGeom>
          <a:solidFill>
            <a:schemeClr val="accent1"/>
          </a:solidFill>
          <a:ln/>
        </p:spPr>
      </p:sp>
      <p:sp>
        <p:nvSpPr>
          <p:cNvPr id="45" name="Text 139"/>
          <p:cNvSpPr txBox="1"/>
          <p:nvPr/>
        </p:nvSpPr>
        <p:spPr>
          <a:xfrm>
            <a:off x="6309360" y="40416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6" name="Text 140"/>
          <p:cNvSpPr txBox="1"/>
          <p:nvPr/>
        </p:nvSpPr>
        <p:spPr>
          <a:xfrm>
            <a:off x="6784848" y="4041648"/>
            <a:ext cx="2651760" cy="329184"/>
          </a:xfrm>
          <a:prstGeom prst="rect">
            <a:avLst/>
          </a:prstGeom>
          <a:noFill/>
          <a:ln/>
        </p:spPr>
        <p:txBody>
          <a:bodyPr wrap="square" lIns="0" tIns="0" rIns="0" bIns="0" rtlCol="0" anchor="ctr"/>
          <a:lstStyle/>
          <a:p>
            <a:pPr indent="0" marL="0">
              <a:buNone/>
            </a:pPr>
            <a:r>
              <a:rPr lang="en-US" sz="1300" dirty="0">
                <a:solidFill>
                  <a:schemeClr val="tx1"/>
                </a:solidFill>
              </a:rPr>
              <a:t>Maintenance program derivation</a:t>
            </a:r>
            <a:endParaRPr lang="en-US" sz="1300" dirty="0"/>
          </a:p>
        </p:txBody>
      </p:sp>
      <p:sp>
        <p:nvSpPr>
          <p:cNvPr id="47" name="Text 141"/>
          <p:cNvSpPr txBox="1"/>
          <p:nvPr/>
        </p:nvSpPr>
        <p:spPr>
          <a:xfrm>
            <a:off x="9235440" y="40416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11</a:t>
            </a:r>
            <a:endParaRPr lang="en-US" sz="1300" dirty="0"/>
          </a:p>
        </p:txBody>
      </p:sp>
      <p:sp>
        <p:nvSpPr>
          <p:cNvPr id="48" name="Text 142"/>
          <p:cNvSpPr txBox="1"/>
          <p:nvPr/>
        </p:nvSpPr>
        <p:spPr>
          <a:xfrm>
            <a:off x="10241280" y="40416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35</a:t>
            </a:r>
            <a:endParaRPr lang="en-US" sz="1300" dirty="0"/>
          </a:p>
        </p:txBody>
      </p:sp>
      <p:sp>
        <p:nvSpPr>
          <p:cNvPr id="49" name="Chip 143"/>
          <p:cNvSpPr/>
          <p:nvPr/>
        </p:nvSpPr>
        <p:spPr>
          <a:xfrm>
            <a:off x="6309360" y="4498848"/>
            <a:ext cx="329184" cy="329184"/>
          </a:xfrm>
          <a:prstGeom prst="ellipse">
            <a:avLst/>
          </a:prstGeom>
          <a:solidFill>
            <a:schemeClr val="accent1"/>
          </a:solidFill>
          <a:ln/>
        </p:spPr>
      </p:sp>
      <p:sp>
        <p:nvSpPr>
          <p:cNvPr id="50" name="Text 144"/>
          <p:cNvSpPr txBox="1"/>
          <p:nvPr/>
        </p:nvSpPr>
        <p:spPr>
          <a:xfrm>
            <a:off x="6309360" y="4498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51" name="Text 145"/>
          <p:cNvSpPr txBox="1"/>
          <p:nvPr/>
        </p:nvSpPr>
        <p:spPr>
          <a:xfrm>
            <a:off x="6784848" y="4498848"/>
            <a:ext cx="2651760" cy="329184"/>
          </a:xfrm>
          <a:prstGeom prst="rect">
            <a:avLst/>
          </a:prstGeom>
          <a:noFill/>
          <a:ln/>
        </p:spPr>
        <p:txBody>
          <a:bodyPr wrap="square" lIns="0" tIns="0" rIns="0" bIns="0" rtlCol="0" anchor="ctr"/>
          <a:lstStyle/>
          <a:p>
            <a:pPr indent="0" marL="0">
              <a:buNone/>
            </a:pPr>
            <a:r>
              <a:rPr lang="en-US" sz="1300" dirty="0">
                <a:solidFill>
                  <a:schemeClr val="tx1"/>
                </a:solidFill>
              </a:rPr>
              <a:t>In-service monitoring and closed loop</a:t>
            </a:r>
            <a:endParaRPr lang="en-US" sz="1300" dirty="0"/>
          </a:p>
        </p:txBody>
      </p:sp>
      <p:sp>
        <p:nvSpPr>
          <p:cNvPr id="52" name="Text 146"/>
          <p:cNvSpPr txBox="1"/>
          <p:nvPr/>
        </p:nvSpPr>
        <p:spPr>
          <a:xfrm>
            <a:off x="9235440" y="4498848"/>
            <a:ext cx="1005840" cy="329184"/>
          </a:xfrm>
          <a:prstGeom prst="rect">
            <a:avLst/>
          </a:prstGeom>
          <a:noFill/>
          <a:ln/>
        </p:spPr>
        <p:txBody>
          <a:bodyPr wrap="square" lIns="0" tIns="0" rIns="0" bIns="0" rtlCol="0" anchor="ctr"/>
          <a:lstStyle/>
          <a:p>
            <a:pPr algn="r" indent="0" marL="0">
              <a:buNone/>
            </a:pPr>
            <a:r>
              <a:rPr lang="en-US" sz="1300" b="1" dirty="0">
                <a:solidFill>
                  <a:schemeClr val="tx1"/>
                </a:solidFill>
              </a:rPr>
              <a:t>8</a:t>
            </a:r>
            <a:endParaRPr lang="en-US" sz="1300" dirty="0"/>
          </a:p>
        </p:txBody>
      </p:sp>
      <p:sp>
        <p:nvSpPr>
          <p:cNvPr id="53" name="Text 147"/>
          <p:cNvSpPr txBox="1"/>
          <p:nvPr/>
        </p:nvSpPr>
        <p:spPr>
          <a:xfrm>
            <a:off x="10241280" y="4498848"/>
            <a:ext cx="1188720" cy="329184"/>
          </a:xfrm>
          <a:prstGeom prst="rect">
            <a:avLst/>
          </a:prstGeom>
          <a:noFill/>
          <a:ln/>
        </p:spPr>
        <p:txBody>
          <a:bodyPr wrap="square" lIns="0" tIns="0" rIns="0" bIns="0" rtlCol="0" anchor="ctr"/>
          <a:lstStyle/>
          <a:p>
            <a:pPr algn="r" indent="0" marL="0">
              <a:buNone/>
            </a:pPr>
            <a:r>
              <a:rPr lang="en-US" sz="1300" b="1" dirty="0">
                <a:solidFill>
                  <a:schemeClr val="tx1"/>
                </a:solidFill>
              </a:rPr>
              <a:t>23</a:t>
            </a:r>
            <a:endParaRPr lang="en-US" sz="1300" dirty="0"/>
          </a:p>
        </p:txBody>
      </p:sp>
      <p:sp>
        <p:nvSpPr>
          <p:cNvPr id="54" name="Card 148"/>
          <p:cNvSpPr/>
          <p:nvPr/>
        </p:nvSpPr>
        <p:spPr>
          <a:xfrm>
            <a:off x="548640" y="5349240"/>
            <a:ext cx="11091672" cy="777240"/>
          </a:xfrm>
          <a:prstGeom prst="roundRect">
            <a:avLst>
              <a:gd name="adj" fmla="val 7059"/>
            </a:avLst>
          </a:prstGeom>
          <a:solidFill>
            <a:schemeClr val="accent2"/>
          </a:solidFill>
          <a:ln/>
        </p:spPr>
      </p:sp>
      <p:sp>
        <p:nvSpPr>
          <p:cNvPr id="55" name="Text 149"/>
          <p:cNvSpPr txBox="1"/>
          <p:nvPr/>
        </p:nvSpPr>
        <p:spPr>
          <a:xfrm>
            <a:off x="868680" y="5349240"/>
            <a:ext cx="10469880" cy="777240"/>
          </a:xfrm>
          <a:prstGeom prst="rect">
            <a:avLst/>
          </a:prstGeom>
          <a:noFill/>
          <a:ln/>
        </p:spPr>
        <p:txBody>
          <a:bodyPr wrap="square" lIns="0" tIns="0" rIns="0" bIns="0" rtlCol="0" anchor="ctr"/>
          <a:lstStyle/>
          <a:p>
            <a:pPr indent="0" marL="0">
              <a:buNone/>
            </a:pPr>
            <a:r>
              <a:rPr lang="en-US" sz="1500" b="1" dirty="0">
                <a:solidFill>
                  <a:schemeClr val="bg1"/>
                </a:solidFill>
              </a:rPr>
              <a:t>What R&amp;M taught the method: overlap is normal. Ownership tiers route 12 handoffs and 7 governance barriers instead of deleting them.</a:t>
            </a:r>
            <a:endParaRPr lang="en-US" sz="15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Applying It to the Next Discipline</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The same seven steps, the same three gates, the same records</a:t>
            </a:r>
            <a:endParaRPr lang="en-US" sz="1400" dirty="0"/>
          </a:p>
        </p:txBody>
      </p:sp>
      <p:sp>
        <p:nvSpPr>
          <p:cNvPr id="4" name="Card 150"/>
          <p:cNvSpPr/>
          <p:nvPr/>
        </p:nvSpPr>
        <p:spPr>
          <a:xfrm>
            <a:off x="548640" y="1600200"/>
            <a:ext cx="3520440" cy="3017520"/>
          </a:xfrm>
          <a:prstGeom prst="roundRect">
            <a:avLst>
              <a:gd name="adj" fmla="val 1818"/>
            </a:avLst>
          </a:prstGeom>
          <a:solidFill>
            <a:schemeClr val="bg1"/>
          </a:solidFill>
          <a:ln w="9525">
            <a:solidFill>
              <a:schemeClr val="accent6"/>
            </a:solidFill>
            <a:prstDash val="solid"/>
          </a:ln>
        </p:spPr>
      </p:sp>
      <p:sp>
        <p:nvSpPr>
          <p:cNvPr id="5" name="Text 151"/>
          <p:cNvSpPr txBox="1"/>
          <p:nvPr/>
        </p:nvSpPr>
        <p:spPr>
          <a:xfrm>
            <a:off x="822960" y="1801368"/>
            <a:ext cx="301752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Inputs</a:t>
            </a:r>
            <a:endParaRPr lang="en-US" sz="1800" dirty="0"/>
          </a:p>
        </p:txBody>
      </p:sp>
      <p:sp>
        <p:nvSpPr>
          <p:cNvPr id="6" name="List 152"/>
          <p:cNvSpPr txBox="1"/>
          <p:nvPr/>
        </p:nvSpPr>
        <p:spPr>
          <a:xfrm>
            <a:off x="822960" y="2286000"/>
            <a:ext cx="3017520" cy="21945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The discipline's candidate standards</a:t>
            </a:r>
            <a:endParaRPr lang="en-US" sz="1350" dirty="0"/>
          </a:p>
          <a:p>
            <a:pPr marL="177800" indent="-177800">
              <a:spcAft>
                <a:spcPts val="500"/>
              </a:spcAft>
              <a:buSzPct val="100000"/>
              <a:buChar char="•"/>
            </a:pPr>
            <a:r>
              <a:rPr lang="en-US" sz="1350" dirty="0">
                <a:solidFill>
                  <a:schemeClr val="tx1"/>
                </a:solidFill>
              </a:rPr>
              <a:t>SM-0001 hazard lists in 6.2.1, 6.2.3, 6.3 and 7</a:t>
            </a:r>
            <a:endParaRPr lang="en-US" sz="1350" dirty="0"/>
          </a:p>
          <a:p>
            <a:pPr marL="177800" indent="-177800">
              <a:spcAft>
                <a:spcPts val="500"/>
              </a:spcAft>
              <a:buSzPct val="100000"/>
              <a:buChar char="•"/>
            </a:pPr>
            <a:r>
              <a:rPr lang="en-US" sz="1350" dirty="0">
                <a:solidFill>
                  <a:schemeClr val="tx1"/>
                </a:solidFill>
              </a:rPr>
              <a:t>Investigation reports for candidate events</a:t>
            </a:r>
            <a:endParaRPr lang="en-US" sz="1350" dirty="0"/>
          </a:p>
          <a:p>
            <a:pPr marL="177800" indent="-177800">
              <a:spcAft>
                <a:spcPts val="500"/>
              </a:spcAft>
              <a:buSzPct val="100000"/>
              <a:buChar char="•"/>
            </a:pPr>
            <a:r>
              <a:rPr lang="en-US" sz="1350" dirty="0">
                <a:solidFill>
                  <a:schemeClr val="tx1"/>
                </a:solidFill>
              </a:rPr>
              <a:t>Handoffs other registers already identified</a:t>
            </a:r>
            <a:endParaRPr lang="en-US" sz="1350" dirty="0"/>
          </a:p>
        </p:txBody>
      </p:sp>
      <p:sp>
        <p:nvSpPr>
          <p:cNvPr id="7" name="Card 153"/>
          <p:cNvSpPr/>
          <p:nvPr/>
        </p:nvSpPr>
        <p:spPr>
          <a:xfrm>
            <a:off x="4306824" y="1600200"/>
            <a:ext cx="3520440" cy="3017520"/>
          </a:xfrm>
          <a:prstGeom prst="roundRect">
            <a:avLst>
              <a:gd name="adj" fmla="val 1818"/>
            </a:avLst>
          </a:prstGeom>
          <a:solidFill>
            <a:schemeClr val="bg1"/>
          </a:solidFill>
          <a:ln w="9525">
            <a:solidFill>
              <a:schemeClr val="accent6"/>
            </a:solidFill>
            <a:prstDash val="solid"/>
          </a:ln>
        </p:spPr>
      </p:sp>
      <p:sp>
        <p:nvSpPr>
          <p:cNvPr id="8" name="Text 154"/>
          <p:cNvSpPr txBox="1"/>
          <p:nvPr/>
        </p:nvSpPr>
        <p:spPr>
          <a:xfrm>
            <a:off x="4581144" y="1801368"/>
            <a:ext cx="3017520" cy="36576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People</a:t>
            </a:r>
            <a:endParaRPr lang="en-US" sz="1800" dirty="0"/>
          </a:p>
        </p:txBody>
      </p:sp>
      <p:sp>
        <p:nvSpPr>
          <p:cNvPr id="9" name="List 155"/>
          <p:cNvSpPr txBox="1"/>
          <p:nvPr/>
        </p:nvSpPr>
        <p:spPr>
          <a:xfrm>
            <a:off x="4581144" y="2286000"/>
            <a:ext cx="3017520" cy="21945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A discipline lead who knows the standards</a:t>
            </a:r>
            <a:endParaRPr lang="en-US" sz="1350" dirty="0"/>
          </a:p>
          <a:p>
            <a:pPr marL="177800" indent="-177800">
              <a:spcAft>
                <a:spcPts val="500"/>
              </a:spcAft>
              <a:buSzPct val="100000"/>
              <a:buChar char="•"/>
            </a:pPr>
            <a:r>
              <a:rPr lang="en-US" sz="1350" dirty="0">
                <a:solidFill>
                  <a:schemeClr val="tx1"/>
                </a:solidFill>
              </a:rPr>
              <a:t>A system safety partner for hazards and severity</a:t>
            </a:r>
            <a:endParaRPr lang="en-US" sz="1350" dirty="0"/>
          </a:p>
          <a:p>
            <a:pPr marL="177800" indent="-177800">
              <a:spcAft>
                <a:spcPts val="500"/>
              </a:spcAft>
              <a:buSzPct val="100000"/>
              <a:buChar char="•"/>
            </a:pPr>
            <a:r>
              <a:rPr lang="en-US" sz="1350" dirty="0">
                <a:solidFill>
                  <a:schemeClr val="tx1"/>
                </a:solidFill>
              </a:rPr>
              <a:t>A reviewer who checks every event against its source</a:t>
            </a:r>
            <a:endParaRPr lang="en-US" sz="1350" dirty="0"/>
          </a:p>
          <a:p>
            <a:pPr marL="177800" indent="-177800">
              <a:spcAft>
                <a:spcPts val="500"/>
              </a:spcAft>
              <a:buSzPct val="100000"/>
              <a:buChar char="•"/>
            </a:pPr>
            <a:r>
              <a:rPr lang="en-US" sz="1350" dirty="0">
                <a:solidFill>
                  <a:schemeClr val="tx1"/>
                </a:solidFill>
              </a:rPr>
              <a:t>The SMS office, for the authority model</a:t>
            </a:r>
            <a:endParaRPr lang="en-US" sz="1350" dirty="0"/>
          </a:p>
        </p:txBody>
      </p:sp>
      <p:sp>
        <p:nvSpPr>
          <p:cNvPr id="10" name="Card 156"/>
          <p:cNvSpPr/>
          <p:nvPr/>
        </p:nvSpPr>
        <p:spPr>
          <a:xfrm>
            <a:off x="8065008" y="1600200"/>
            <a:ext cx="3520440" cy="3017520"/>
          </a:xfrm>
          <a:prstGeom prst="roundRect">
            <a:avLst>
              <a:gd name="adj" fmla="val 1818"/>
            </a:avLst>
          </a:prstGeom>
          <a:solidFill>
            <a:schemeClr val="accent1"/>
          </a:solidFill>
          <a:ln/>
        </p:spPr>
      </p:sp>
      <p:sp>
        <p:nvSpPr>
          <p:cNvPr id="11" name="Text 157"/>
          <p:cNvSpPr txBox="1"/>
          <p:nvPr/>
        </p:nvSpPr>
        <p:spPr>
          <a:xfrm>
            <a:off x="8339328" y="1801368"/>
            <a:ext cx="3017520" cy="365760"/>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Outputs</a:t>
            </a:r>
            <a:endParaRPr lang="en-US" sz="1800" dirty="0"/>
          </a:p>
        </p:txBody>
      </p:sp>
      <p:sp>
        <p:nvSpPr>
          <p:cNvPr id="12" name="List 158"/>
          <p:cNvSpPr txBox="1"/>
          <p:nvPr/>
        </p:nvSpPr>
        <p:spPr>
          <a:xfrm>
            <a:off x="8339328" y="2286000"/>
            <a:ext cx="3017520" cy="219456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bg1"/>
                </a:solidFill>
              </a:rPr>
              <a:t>Standards verdict</a:t>
            </a:r>
            <a:endParaRPr lang="en-US" sz="1350" dirty="0"/>
          </a:p>
          <a:p>
            <a:pPr marL="177800" indent="-177800">
              <a:spcAft>
                <a:spcPts val="500"/>
              </a:spcAft>
              <a:buSzPct val="100000"/>
              <a:buChar char="•"/>
            </a:pPr>
            <a:r>
              <a:rPr lang="en-US" sz="1350" dirty="0">
                <a:solidFill>
                  <a:schemeClr val="bg1"/>
                </a:solidFill>
              </a:rPr>
              <a:t>Barrier register and floor register</a:t>
            </a:r>
            <a:endParaRPr lang="en-US" sz="1350" dirty="0"/>
          </a:p>
          <a:p>
            <a:pPr marL="177800" indent="-177800">
              <a:spcAft>
                <a:spcPts val="500"/>
              </a:spcAft>
              <a:buSzPct val="100000"/>
              <a:buChar char="•"/>
            </a:pPr>
            <a:r>
              <a:rPr lang="en-US" sz="1350" dirty="0">
                <a:solidFill>
                  <a:schemeClr val="bg1"/>
                </a:solidFill>
              </a:rPr>
              <a:t>Traceability charts and worked traces</a:t>
            </a:r>
            <a:endParaRPr lang="en-US" sz="1350" dirty="0"/>
          </a:p>
          <a:p>
            <a:pPr marL="177800" indent="-177800">
              <a:spcAft>
                <a:spcPts val="500"/>
              </a:spcAft>
              <a:buSzPct val="100000"/>
              <a:buChar char="•"/>
            </a:pPr>
            <a:r>
              <a:rPr lang="en-US" sz="1350" dirty="0">
                <a:solidFill>
                  <a:schemeClr val="bg1"/>
                </a:solidFill>
              </a:rPr>
              <a:t>One summary slide for leadership</a:t>
            </a:r>
            <a:endParaRPr lang="en-US" sz="1350" dirty="0"/>
          </a:p>
        </p:txBody>
      </p:sp>
      <p:sp>
        <p:nvSpPr>
          <p:cNvPr id="13" name="Card 159"/>
          <p:cNvSpPr/>
          <p:nvPr/>
        </p:nvSpPr>
        <p:spPr>
          <a:xfrm>
            <a:off x="548640" y="4846320"/>
            <a:ext cx="11091672" cy="1234440"/>
          </a:xfrm>
          <a:prstGeom prst="roundRect">
            <a:avLst>
              <a:gd name="adj" fmla="val 4444"/>
            </a:avLst>
          </a:prstGeom>
          <a:solidFill>
            <a:schemeClr val="bg1"/>
          </a:solidFill>
          <a:ln w="9525">
            <a:solidFill>
              <a:schemeClr val="accent6"/>
            </a:solidFill>
            <a:prstDash val="solid"/>
          </a:ln>
        </p:spPr>
      </p:sp>
      <p:sp>
        <p:nvSpPr>
          <p:cNvPr id="14" name="Text 160"/>
          <p:cNvSpPr txBox="1"/>
          <p:nvPr/>
        </p:nvSpPr>
        <p:spPr>
          <a:xfrm>
            <a:off x="868680" y="4983480"/>
            <a:ext cx="10424160" cy="310896"/>
          </a:xfrm>
          <a:prstGeom prst="rect">
            <a:avLst/>
          </a:prstGeom>
          <a:noFill/>
          <a:ln/>
        </p:spPr>
        <p:txBody>
          <a:bodyPr wrap="square" lIns="0" tIns="0" rIns="0" bIns="0" rtlCol="0" anchor="ctr"/>
          <a:lstStyle/>
          <a:p>
            <a:pPr indent="0" marL="0">
              <a:buNone/>
            </a:pPr>
            <a:r>
              <a:rPr lang="en-US" sz="1500" b="1" dirty="0">
                <a:solidFill>
                  <a:schemeClr val="accent2"/>
                </a:solidFill>
              </a:rPr>
              <a:t>The next disciplines are already named</a:t>
            </a:r>
            <a:endParaRPr lang="en-US" sz="1500" dirty="0"/>
          </a:p>
        </p:txBody>
      </p:sp>
      <p:sp>
        <p:nvSpPr>
          <p:cNvPr id="15" name="Text 161"/>
          <p:cNvSpPr txBox="1"/>
          <p:nvPr/>
        </p:nvSpPr>
        <p:spPr>
          <a:xfrm>
            <a:off x="868680" y="5321808"/>
            <a:ext cx="10424160" cy="685800"/>
          </a:xfrm>
          <a:prstGeom prst="rect">
            <a:avLst/>
          </a:prstGeom>
          <a:noFill/>
          <a:ln/>
        </p:spPr>
        <p:txBody>
          <a:bodyPr wrap="square" lIns="0" tIns="0" rIns="0" bIns="0" rtlCol="0" anchor="t"/>
          <a:lstStyle/>
          <a:p>
            <a:pPr indent="0" marL="0">
              <a:buNone/>
            </a:pPr>
            <a:r>
              <a:rPr lang="en-US" sz="1350" dirty="0">
                <a:solidFill>
                  <a:schemeClr val="tx1"/>
                </a:solidFill>
              </a:rPr>
              <a:t>The R&amp;M handoffs point to Structures (6 barriers), System Safety (3), and Human Engineering, Production Quality and Mechanical Systems (1 each). Each handoff is a starting row for that discipline's register.</a:t>
            </a:r>
            <a:endParaRPr lang="en-US" sz="135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Guardrails From Two Disciplines</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5"/>
                </a:solidFill>
              </a:rPr>
              <a:t>Six rules that kept the work defensible</a:t>
            </a:r>
            <a:endParaRPr lang="en-US" sz="1400" dirty="0"/>
          </a:p>
        </p:txBody>
      </p:sp>
      <p:sp>
        <p:nvSpPr>
          <p:cNvPr id="4" name="Card 162"/>
          <p:cNvSpPr/>
          <p:nvPr/>
        </p:nvSpPr>
        <p:spPr>
          <a:xfrm>
            <a:off x="548640" y="1600200"/>
            <a:ext cx="3520440" cy="2011680"/>
          </a:xfrm>
          <a:prstGeom prst="roundRect">
            <a:avLst>
              <a:gd name="adj" fmla="val 2727"/>
            </a:avLst>
          </a:prstGeom>
          <a:solidFill>
            <a:schemeClr val="bg1"/>
          </a:solidFill>
          <a:ln w="9525">
            <a:solidFill>
              <a:schemeClr val="accent6"/>
            </a:solidFill>
            <a:prstDash val="solid"/>
          </a:ln>
        </p:spPr>
      </p:sp>
      <p:sp>
        <p:nvSpPr>
          <p:cNvPr id="5" name="Chip 163"/>
          <p:cNvSpPr/>
          <p:nvPr/>
        </p:nvSpPr>
        <p:spPr>
          <a:xfrm>
            <a:off x="777240" y="1801368"/>
            <a:ext cx="420624" cy="420624"/>
          </a:xfrm>
          <a:prstGeom prst="ellipse">
            <a:avLst/>
          </a:prstGeom>
          <a:solidFill>
            <a:schemeClr val="accent2"/>
          </a:solidFill>
          <a:ln/>
        </p:spPr>
      </p:sp>
      <p:sp>
        <p:nvSpPr>
          <p:cNvPr id="6" name="Text 164"/>
          <p:cNvSpPr txBox="1"/>
          <p:nvPr/>
        </p:nvSpPr>
        <p:spPr>
          <a:xfrm>
            <a:off x="777240" y="180136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165"/>
          <p:cNvSpPr txBox="1"/>
          <p:nvPr/>
        </p:nvSpPr>
        <p:spPr>
          <a:xfrm>
            <a:off x="1325880" y="178308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Let the standards set the count</a:t>
            </a:r>
            <a:endParaRPr lang="en-US" sz="1500" dirty="0"/>
          </a:p>
        </p:txBody>
      </p:sp>
      <p:sp>
        <p:nvSpPr>
          <p:cNvPr id="8" name="Text 166"/>
          <p:cNvSpPr txBox="1"/>
          <p:nvPr/>
        </p:nvSpPr>
        <p:spPr>
          <a:xfrm>
            <a:off x="777240" y="244144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CM has 16 barriers. R&amp;M has 47. Neither number was forced.</a:t>
            </a:r>
            <a:endParaRPr lang="en-US" sz="1400" dirty="0"/>
          </a:p>
        </p:txBody>
      </p:sp>
      <p:sp>
        <p:nvSpPr>
          <p:cNvPr id="9" name="Card 167"/>
          <p:cNvSpPr/>
          <p:nvPr/>
        </p:nvSpPr>
        <p:spPr>
          <a:xfrm>
            <a:off x="4306824" y="1600200"/>
            <a:ext cx="3520440" cy="2011680"/>
          </a:xfrm>
          <a:prstGeom prst="roundRect">
            <a:avLst>
              <a:gd name="adj" fmla="val 2727"/>
            </a:avLst>
          </a:prstGeom>
          <a:solidFill>
            <a:schemeClr val="bg1"/>
          </a:solidFill>
          <a:ln w="9525">
            <a:solidFill>
              <a:schemeClr val="accent6"/>
            </a:solidFill>
            <a:prstDash val="solid"/>
          </a:ln>
        </p:spPr>
      </p:sp>
      <p:sp>
        <p:nvSpPr>
          <p:cNvPr id="10" name="Chip 168"/>
          <p:cNvSpPr/>
          <p:nvPr/>
        </p:nvSpPr>
        <p:spPr>
          <a:xfrm>
            <a:off x="4535424" y="1801368"/>
            <a:ext cx="420624" cy="420624"/>
          </a:xfrm>
          <a:prstGeom prst="ellipse">
            <a:avLst/>
          </a:prstGeom>
          <a:solidFill>
            <a:schemeClr val="accent2"/>
          </a:solidFill>
          <a:ln/>
        </p:spPr>
      </p:sp>
      <p:sp>
        <p:nvSpPr>
          <p:cNvPr id="11" name="Text 169"/>
          <p:cNvSpPr txBox="1"/>
          <p:nvPr/>
        </p:nvSpPr>
        <p:spPr>
          <a:xfrm>
            <a:off x="4535424" y="180136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70"/>
          <p:cNvSpPr txBox="1"/>
          <p:nvPr/>
        </p:nvSpPr>
        <p:spPr>
          <a:xfrm>
            <a:off x="5084064" y="178308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Anchor only on normative shalls</a:t>
            </a:r>
            <a:endParaRPr lang="en-US" sz="1500" dirty="0"/>
          </a:p>
        </p:txBody>
      </p:sp>
      <p:sp>
        <p:nvSpPr>
          <p:cNvPr id="13" name="Text 171"/>
          <p:cNvSpPr txBox="1"/>
          <p:nvPr/>
        </p:nvSpPr>
        <p:spPr>
          <a:xfrm>
            <a:off x="4535424" y="244144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A shall in a worked example or an appendix is not an obligation.</a:t>
            </a:r>
            <a:endParaRPr lang="en-US" sz="1400" dirty="0"/>
          </a:p>
        </p:txBody>
      </p:sp>
      <p:sp>
        <p:nvSpPr>
          <p:cNvPr id="14" name="Card 172"/>
          <p:cNvSpPr/>
          <p:nvPr/>
        </p:nvSpPr>
        <p:spPr>
          <a:xfrm>
            <a:off x="8065008" y="1600200"/>
            <a:ext cx="3520440" cy="2011680"/>
          </a:xfrm>
          <a:prstGeom prst="roundRect">
            <a:avLst>
              <a:gd name="adj" fmla="val 2727"/>
            </a:avLst>
          </a:prstGeom>
          <a:solidFill>
            <a:schemeClr val="bg1"/>
          </a:solidFill>
          <a:ln w="9525">
            <a:solidFill>
              <a:schemeClr val="accent6"/>
            </a:solidFill>
            <a:prstDash val="solid"/>
          </a:ln>
        </p:spPr>
      </p:sp>
      <p:sp>
        <p:nvSpPr>
          <p:cNvPr id="15" name="Chip 173"/>
          <p:cNvSpPr/>
          <p:nvPr/>
        </p:nvSpPr>
        <p:spPr>
          <a:xfrm>
            <a:off x="8293608" y="1801368"/>
            <a:ext cx="420624" cy="420624"/>
          </a:xfrm>
          <a:prstGeom prst="ellipse">
            <a:avLst/>
          </a:prstGeom>
          <a:solidFill>
            <a:schemeClr val="accent2"/>
          </a:solidFill>
          <a:ln/>
        </p:spPr>
      </p:sp>
      <p:sp>
        <p:nvSpPr>
          <p:cNvPr id="16" name="Text 174"/>
          <p:cNvSpPr txBox="1"/>
          <p:nvPr/>
        </p:nvSpPr>
        <p:spPr>
          <a:xfrm>
            <a:off x="8293608" y="180136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75"/>
          <p:cNvSpPr txBox="1"/>
          <p:nvPr/>
        </p:nvSpPr>
        <p:spPr>
          <a:xfrm>
            <a:off x="8842248" y="178308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Paraphrase. The standard governs.</a:t>
            </a:r>
            <a:endParaRPr lang="en-US" sz="1500" dirty="0"/>
          </a:p>
        </p:txBody>
      </p:sp>
      <p:sp>
        <p:nvSpPr>
          <p:cNvPr id="18" name="Text 176"/>
          <p:cNvSpPr txBox="1"/>
          <p:nvPr/>
        </p:nvSpPr>
        <p:spPr>
          <a:xfrm>
            <a:off x="8293608" y="244144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Some standards' licenses bar reproduction or AI processing of their text.</a:t>
            </a:r>
            <a:endParaRPr lang="en-US" sz="1400" dirty="0"/>
          </a:p>
        </p:txBody>
      </p:sp>
      <p:sp>
        <p:nvSpPr>
          <p:cNvPr id="19" name="Card 177"/>
          <p:cNvSpPr/>
          <p:nvPr/>
        </p:nvSpPr>
        <p:spPr>
          <a:xfrm>
            <a:off x="548640" y="3840480"/>
            <a:ext cx="3520440" cy="2011680"/>
          </a:xfrm>
          <a:prstGeom prst="roundRect">
            <a:avLst>
              <a:gd name="adj" fmla="val 2727"/>
            </a:avLst>
          </a:prstGeom>
          <a:solidFill>
            <a:schemeClr val="bg1"/>
          </a:solidFill>
          <a:ln w="9525">
            <a:solidFill>
              <a:schemeClr val="accent6"/>
            </a:solidFill>
            <a:prstDash val="solid"/>
          </a:ln>
        </p:spPr>
      </p:sp>
      <p:sp>
        <p:nvSpPr>
          <p:cNvPr id="20" name="Chip 178"/>
          <p:cNvSpPr/>
          <p:nvPr/>
        </p:nvSpPr>
        <p:spPr>
          <a:xfrm>
            <a:off x="777240" y="4041648"/>
            <a:ext cx="420624" cy="420624"/>
          </a:xfrm>
          <a:prstGeom prst="ellipse">
            <a:avLst/>
          </a:prstGeom>
          <a:solidFill>
            <a:schemeClr val="accent2"/>
          </a:solidFill>
          <a:ln/>
        </p:spPr>
      </p:sp>
      <p:sp>
        <p:nvSpPr>
          <p:cNvPr id="21" name="Text 179"/>
          <p:cNvSpPr txBox="1"/>
          <p:nvPr/>
        </p:nvSpPr>
        <p:spPr>
          <a:xfrm>
            <a:off x="777240" y="404164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2" name="Text 180"/>
          <p:cNvSpPr txBox="1"/>
          <p:nvPr/>
        </p:nvSpPr>
        <p:spPr>
          <a:xfrm>
            <a:off x="1325880" y="402336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Check every event at the source</a:t>
            </a:r>
            <a:endParaRPr lang="en-US" sz="1500" dirty="0"/>
          </a:p>
        </p:txBody>
      </p:sp>
      <p:sp>
        <p:nvSpPr>
          <p:cNvPr id="23" name="Text 181"/>
          <p:cNvSpPr txBox="1"/>
          <p:nvPr/>
        </p:nvSpPr>
        <p:spPr>
          <a:xfrm>
            <a:off x="777240" y="468172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Alaska 261 had redundant threads. One common cause, inadequate lubrication, defeated both. That correction added an R&amp;M barrier.</a:t>
            </a:r>
            <a:endParaRPr lang="en-US" sz="1400" dirty="0"/>
          </a:p>
        </p:txBody>
      </p:sp>
      <p:sp>
        <p:nvSpPr>
          <p:cNvPr id="24" name="Card 182"/>
          <p:cNvSpPr/>
          <p:nvPr/>
        </p:nvSpPr>
        <p:spPr>
          <a:xfrm>
            <a:off x="4306824" y="3840480"/>
            <a:ext cx="3520440" cy="2011680"/>
          </a:xfrm>
          <a:prstGeom prst="roundRect">
            <a:avLst>
              <a:gd name="adj" fmla="val 2727"/>
            </a:avLst>
          </a:prstGeom>
          <a:solidFill>
            <a:schemeClr val="bg1"/>
          </a:solidFill>
          <a:ln w="9525">
            <a:solidFill>
              <a:schemeClr val="accent6"/>
            </a:solidFill>
            <a:prstDash val="solid"/>
          </a:ln>
        </p:spPr>
      </p:sp>
      <p:sp>
        <p:nvSpPr>
          <p:cNvPr id="25" name="Chip 183"/>
          <p:cNvSpPr/>
          <p:nvPr/>
        </p:nvSpPr>
        <p:spPr>
          <a:xfrm>
            <a:off x="4535424" y="4041648"/>
            <a:ext cx="420624" cy="420624"/>
          </a:xfrm>
          <a:prstGeom prst="ellipse">
            <a:avLst/>
          </a:prstGeom>
          <a:solidFill>
            <a:schemeClr val="accent2"/>
          </a:solidFill>
          <a:ln/>
        </p:spPr>
      </p:sp>
      <p:sp>
        <p:nvSpPr>
          <p:cNvPr id="26" name="Text 184"/>
          <p:cNvSpPr txBox="1"/>
          <p:nvPr/>
        </p:nvSpPr>
        <p:spPr>
          <a:xfrm>
            <a:off x="4535424" y="404164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7" name="Text 185"/>
          <p:cNvSpPr txBox="1"/>
          <p:nvPr/>
        </p:nvSpPr>
        <p:spPr>
          <a:xfrm>
            <a:off x="5084064" y="402336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Use one severity scale</a:t>
            </a:r>
            <a:endParaRPr lang="en-US" sz="1500" dirty="0"/>
          </a:p>
        </p:txBody>
      </p:sp>
      <p:sp>
        <p:nvSpPr>
          <p:cNvPr id="28" name="Text 186"/>
          <p:cNvSpPr txBox="1"/>
          <p:nvPr/>
        </p:nvSpPr>
        <p:spPr>
          <a:xfrm>
            <a:off x="4535424" y="468172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1 = catastrophic, 2 = severe. A mixed scale inverts the authority table.</a:t>
            </a:r>
            <a:endParaRPr lang="en-US" sz="1400" dirty="0"/>
          </a:p>
        </p:txBody>
      </p:sp>
      <p:sp>
        <p:nvSpPr>
          <p:cNvPr id="29" name="Card 187"/>
          <p:cNvSpPr/>
          <p:nvPr/>
        </p:nvSpPr>
        <p:spPr>
          <a:xfrm>
            <a:off x="8065008" y="3840480"/>
            <a:ext cx="3520440" cy="2011680"/>
          </a:xfrm>
          <a:prstGeom prst="roundRect">
            <a:avLst>
              <a:gd name="adj" fmla="val 2727"/>
            </a:avLst>
          </a:prstGeom>
          <a:solidFill>
            <a:schemeClr val="bg1"/>
          </a:solidFill>
          <a:ln w="9525">
            <a:solidFill>
              <a:schemeClr val="accent6"/>
            </a:solidFill>
            <a:prstDash val="solid"/>
          </a:ln>
        </p:spPr>
      </p:sp>
      <p:sp>
        <p:nvSpPr>
          <p:cNvPr id="30" name="Chip 188"/>
          <p:cNvSpPr/>
          <p:nvPr/>
        </p:nvSpPr>
        <p:spPr>
          <a:xfrm>
            <a:off x="8293608" y="4041648"/>
            <a:ext cx="420624" cy="420624"/>
          </a:xfrm>
          <a:prstGeom prst="ellipse">
            <a:avLst/>
          </a:prstGeom>
          <a:solidFill>
            <a:schemeClr val="accent2"/>
          </a:solidFill>
          <a:ln/>
        </p:spPr>
      </p:sp>
      <p:sp>
        <p:nvSpPr>
          <p:cNvPr id="31" name="Text 189"/>
          <p:cNvSpPr txBox="1"/>
          <p:nvPr/>
        </p:nvSpPr>
        <p:spPr>
          <a:xfrm>
            <a:off x="8293608" y="4041648"/>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2" name="Text 190"/>
          <p:cNvSpPr txBox="1"/>
          <p:nvPr/>
        </p:nvSpPr>
        <p:spPr>
          <a:xfrm>
            <a:off x="8842248" y="4023360"/>
            <a:ext cx="2560320" cy="502920"/>
          </a:xfrm>
          <a:prstGeom prst="rect">
            <a:avLst/>
          </a:prstGeom>
          <a:noFill/>
          <a:ln/>
        </p:spPr>
        <p:txBody>
          <a:bodyPr wrap="square" lIns="0" tIns="0" rIns="0" bIns="0" rtlCol="0" anchor="ctr"/>
          <a:lstStyle/>
          <a:p>
            <a:pPr indent="0" marL="0">
              <a:buNone/>
            </a:pPr>
            <a:r>
              <a:rPr lang="en-US" sz="1500" b="1" dirty="0">
                <a:solidFill>
                  <a:schemeClr val="tx1"/>
                </a:solidFill>
              </a:rPr>
              <a:t>Count from the register, by formula</a:t>
            </a:r>
            <a:endParaRPr lang="en-US" sz="1500" dirty="0"/>
          </a:p>
        </p:txBody>
      </p:sp>
      <p:sp>
        <p:nvSpPr>
          <p:cNvPr id="33" name="Text 191"/>
          <p:cNvSpPr txBox="1"/>
          <p:nvPr/>
        </p:nvSpPr>
        <p:spPr>
          <a:xfrm>
            <a:off x="8293608" y="4681728"/>
            <a:ext cx="3063240" cy="1051560"/>
          </a:xfrm>
          <a:prstGeom prst="rect">
            <a:avLst/>
          </a:prstGeom>
          <a:noFill/>
          <a:ln/>
        </p:spPr>
        <p:txBody>
          <a:bodyPr wrap="square" lIns="0" tIns="0" rIns="0" bIns="0" rtlCol="0" anchor="t"/>
          <a:lstStyle/>
          <a:p>
            <a:pPr indent="0" marL="0">
              <a:buNone/>
            </a:pPr>
            <a:r>
              <a:rPr lang="en-US" sz="1400" dirty="0">
                <a:solidFill>
                  <a:schemeClr val="accent5"/>
                </a:solidFill>
              </a:rPr>
              <a:t>Hand counts drifted more than once during this work.</a:t>
            </a:r>
            <a:endParaRPr lang="en-US" sz="14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9184"/>
            <a:ext cx="11064240" cy="658368"/>
          </a:xfrm>
          <a:prstGeom prst="rect">
            <a:avLst/>
          </a:prstGeom>
          <a:noFill/>
          <a:ln/>
        </p:spPr>
        <p:txBody>
          <a:bodyPr wrap="square" lIns="0" tIns="0" rIns="0" bIns="0" rtlCol="0" anchor="ctr"/>
          <a:lstStyle/>
          <a:p>
            <a:pPr algn="l" indent="0" marL="0">
              <a:buNone/>
            </a:pPr>
            <a:r>
              <a:rPr lang="en-US" sz="3000" b="1" dirty="0">
                <a:solidFill>
                  <a:schemeClr val="bg1"/>
                </a:solidFill>
              </a:rPr>
              <a:t>The Ask</a:t>
            </a:r>
            <a:endParaRPr lang="en-US" sz="3000" dirty="0"/>
          </a:p>
        </p:txBody>
      </p:sp>
      <p:sp>
        <p:nvSpPr>
          <p:cNvPr id="3" name="Text 0"/>
          <p:cNvSpPr/>
          <p:nvPr>
            <p:ph idx="101" type="body" hasCustomPrompt="1"/>
          </p:nvPr>
        </p:nvSpPr>
        <p:spPr>
          <a:xfrm>
            <a:off x="566928" y="987552"/>
            <a:ext cx="11064240" cy="347472"/>
          </a:xfrm>
          <a:prstGeom prst="rect">
            <a:avLst/>
          </a:prstGeom>
          <a:noFill/>
          <a:ln/>
        </p:spPr>
        <p:txBody>
          <a:bodyPr wrap="square" lIns="0" tIns="0" rIns="0" bIns="0" rtlCol="0" anchor="ctr"/>
          <a:lstStyle/>
          <a:p>
            <a:pPr algn="l" indent="0" marL="0">
              <a:buNone/>
            </a:pPr>
            <a:r>
              <a:rPr lang="en-US" sz="1400" i="1" dirty="0">
                <a:solidFill>
                  <a:schemeClr val="accent6"/>
                </a:solidFill>
              </a:rPr>
              <a:t>Three decisions for leadership</a:t>
            </a:r>
            <a:endParaRPr lang="en-US" sz="1400" dirty="0"/>
          </a:p>
        </p:txBody>
      </p:sp>
      <p:sp>
        <p:nvSpPr>
          <p:cNvPr id="4" name="Card 192"/>
          <p:cNvSpPr/>
          <p:nvPr/>
        </p:nvSpPr>
        <p:spPr>
          <a:xfrm>
            <a:off x="548640" y="1600200"/>
            <a:ext cx="11091672" cy="1097280"/>
          </a:xfrm>
          <a:prstGeom prst="roundRect">
            <a:avLst>
              <a:gd name="adj" fmla="val 5000"/>
            </a:avLst>
          </a:prstGeom>
          <a:solidFill>
            <a:schemeClr val="accent1"/>
          </a:solidFill>
          <a:ln/>
        </p:spPr>
      </p:sp>
      <p:sp>
        <p:nvSpPr>
          <p:cNvPr id="5" name="Chip 193"/>
          <p:cNvSpPr/>
          <p:nvPr/>
        </p:nvSpPr>
        <p:spPr>
          <a:xfrm>
            <a:off x="841248" y="1892808"/>
            <a:ext cx="512064" cy="512064"/>
          </a:xfrm>
          <a:prstGeom prst="ellipse">
            <a:avLst/>
          </a:prstGeom>
          <a:solidFill>
            <a:schemeClr val="accent2"/>
          </a:solidFill>
          <a:ln/>
        </p:spPr>
      </p:sp>
      <p:sp>
        <p:nvSpPr>
          <p:cNvPr id="6" name="Text 194"/>
          <p:cNvSpPr txBox="1"/>
          <p:nvPr/>
        </p:nvSpPr>
        <p:spPr>
          <a:xfrm>
            <a:off x="841248" y="189280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195"/>
          <p:cNvSpPr txBox="1"/>
          <p:nvPr/>
        </p:nvSpPr>
        <p:spPr>
          <a:xfrm>
            <a:off x="1600200" y="1728216"/>
            <a:ext cx="9784080" cy="38404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Adopt the method</a:t>
            </a:r>
            <a:endParaRPr lang="en-US" sz="1900" dirty="0"/>
          </a:p>
        </p:txBody>
      </p:sp>
      <p:sp>
        <p:nvSpPr>
          <p:cNvPr id="8" name="Text 196"/>
          <p:cNvSpPr txBox="1"/>
          <p:nvPr/>
        </p:nvSpPr>
        <p:spPr>
          <a:xfrm>
            <a:off x="1600200" y="2130552"/>
            <a:ext cx="9784080" cy="457200"/>
          </a:xfrm>
          <a:prstGeom prst="rect">
            <a:avLst/>
          </a:prstGeom>
          <a:noFill/>
          <a:ln/>
        </p:spPr>
        <p:txBody>
          <a:bodyPr wrap="square" lIns="0" tIns="0" rIns="0" bIns="0" rtlCol="0" anchor="ctr"/>
          <a:lstStyle/>
          <a:p>
            <a:pPr indent="0" marL="0">
              <a:buNone/>
            </a:pPr>
            <a:r>
              <a:rPr lang="en-US" sz="1400" dirty="0">
                <a:solidFill>
                  <a:schemeClr val="accent6"/>
                </a:solidFill>
              </a:rPr>
              <a:t>Use it as the standard way to set any discipline's mandatory floor.</a:t>
            </a:r>
            <a:endParaRPr lang="en-US" sz="1400" dirty="0"/>
          </a:p>
        </p:txBody>
      </p:sp>
      <p:sp>
        <p:nvSpPr>
          <p:cNvPr id="9" name="Card 197"/>
          <p:cNvSpPr/>
          <p:nvPr/>
        </p:nvSpPr>
        <p:spPr>
          <a:xfrm>
            <a:off x="548640" y="2880360"/>
            <a:ext cx="11091672" cy="1097280"/>
          </a:xfrm>
          <a:prstGeom prst="roundRect">
            <a:avLst>
              <a:gd name="adj" fmla="val 5000"/>
            </a:avLst>
          </a:prstGeom>
          <a:solidFill>
            <a:schemeClr val="accent1"/>
          </a:solidFill>
          <a:ln/>
        </p:spPr>
      </p:sp>
      <p:sp>
        <p:nvSpPr>
          <p:cNvPr id="10" name="Chip 198"/>
          <p:cNvSpPr/>
          <p:nvPr/>
        </p:nvSpPr>
        <p:spPr>
          <a:xfrm>
            <a:off x="841248" y="3172968"/>
            <a:ext cx="512064" cy="512064"/>
          </a:xfrm>
          <a:prstGeom prst="ellipse">
            <a:avLst/>
          </a:prstGeom>
          <a:solidFill>
            <a:schemeClr val="accent2"/>
          </a:solidFill>
          <a:ln/>
        </p:spPr>
      </p:sp>
      <p:sp>
        <p:nvSpPr>
          <p:cNvPr id="11" name="Text 199"/>
          <p:cNvSpPr txBox="1"/>
          <p:nvPr/>
        </p:nvSpPr>
        <p:spPr>
          <a:xfrm>
            <a:off x="841248" y="31729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200"/>
          <p:cNvSpPr txBox="1"/>
          <p:nvPr/>
        </p:nvSpPr>
        <p:spPr>
          <a:xfrm>
            <a:off x="1600200" y="3008376"/>
            <a:ext cx="9784080" cy="38404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Write one governance layer</a:t>
            </a:r>
            <a:endParaRPr lang="en-US" sz="1900" dirty="0"/>
          </a:p>
        </p:txBody>
      </p:sp>
      <p:sp>
        <p:nvSpPr>
          <p:cNvPr id="13" name="Text 201"/>
          <p:cNvSpPr txBox="1"/>
          <p:nvPr/>
        </p:nvSpPr>
        <p:spPr>
          <a:xfrm>
            <a:off x="1600200" y="3410712"/>
            <a:ext cx="9784080" cy="457200"/>
          </a:xfrm>
          <a:prstGeom prst="rect">
            <a:avLst/>
          </a:prstGeom>
          <a:noFill/>
          <a:ln/>
        </p:spPr>
        <p:txBody>
          <a:bodyPr wrap="square" lIns="0" tIns="0" rIns="0" bIns="0" rtlCol="0" anchor="ctr"/>
          <a:lstStyle/>
          <a:p>
            <a:pPr indent="0" marL="0">
              <a:buNone/>
            </a:pPr>
            <a:r>
              <a:rPr lang="en-US" sz="1400" dirty="0">
                <a:solidFill>
                  <a:schemeClr val="accent6"/>
                </a:solidFill>
              </a:rPr>
              <a:t>Risk acceptance, documented tailoring and escalation, written once for every discipline.</a:t>
            </a:r>
            <a:endParaRPr lang="en-US" sz="1400" dirty="0"/>
          </a:p>
        </p:txBody>
      </p:sp>
      <p:sp>
        <p:nvSpPr>
          <p:cNvPr id="14" name="Card 202"/>
          <p:cNvSpPr/>
          <p:nvPr/>
        </p:nvSpPr>
        <p:spPr>
          <a:xfrm>
            <a:off x="548640" y="4160520"/>
            <a:ext cx="11091672" cy="1097280"/>
          </a:xfrm>
          <a:prstGeom prst="roundRect">
            <a:avLst>
              <a:gd name="adj" fmla="val 5000"/>
            </a:avLst>
          </a:prstGeom>
          <a:solidFill>
            <a:schemeClr val="accent1"/>
          </a:solidFill>
          <a:ln/>
        </p:spPr>
      </p:sp>
      <p:sp>
        <p:nvSpPr>
          <p:cNvPr id="15" name="Chip 203"/>
          <p:cNvSpPr/>
          <p:nvPr/>
        </p:nvSpPr>
        <p:spPr>
          <a:xfrm>
            <a:off x="841248" y="4453128"/>
            <a:ext cx="512064" cy="512064"/>
          </a:xfrm>
          <a:prstGeom prst="ellipse">
            <a:avLst/>
          </a:prstGeom>
          <a:solidFill>
            <a:schemeClr val="accent2"/>
          </a:solidFill>
          <a:ln/>
        </p:spPr>
      </p:sp>
      <p:sp>
        <p:nvSpPr>
          <p:cNvPr id="16" name="Text 204"/>
          <p:cNvSpPr txBox="1"/>
          <p:nvPr/>
        </p:nvSpPr>
        <p:spPr>
          <a:xfrm>
            <a:off x="841248" y="44531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205"/>
          <p:cNvSpPr txBox="1"/>
          <p:nvPr/>
        </p:nvSpPr>
        <p:spPr>
          <a:xfrm>
            <a:off x="1600200" y="4288536"/>
            <a:ext cx="9784080" cy="38404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Run it for the next discipline</a:t>
            </a:r>
            <a:endParaRPr lang="en-US" sz="1900" dirty="0"/>
          </a:p>
        </p:txBody>
      </p:sp>
      <p:sp>
        <p:nvSpPr>
          <p:cNvPr id="18" name="Text 206"/>
          <p:cNvSpPr txBox="1"/>
          <p:nvPr/>
        </p:nvSpPr>
        <p:spPr>
          <a:xfrm>
            <a:off x="1600200" y="4690872"/>
            <a:ext cx="9784080" cy="457200"/>
          </a:xfrm>
          <a:prstGeom prst="rect">
            <a:avLst/>
          </a:prstGeom>
          <a:noFill/>
          <a:ln/>
        </p:spPr>
        <p:txBody>
          <a:bodyPr wrap="square" lIns="0" tIns="0" rIns="0" bIns="0" rtlCol="0" anchor="ctr"/>
          <a:lstStyle/>
          <a:p>
            <a:pPr indent="0" marL="0">
              <a:buNone/>
            </a:pPr>
            <a:r>
              <a:rPr lang="en-US" sz="1400" dirty="0">
                <a:solidFill>
                  <a:schemeClr val="accent6"/>
                </a:solidFill>
              </a:rPr>
              <a:t>Start with the R&amp;M handoffs: Structures and System Safety.</a:t>
            </a:r>
            <a:endParaRPr lang="en-US" sz="1400" dirty="0"/>
          </a:p>
        </p:txBody>
      </p:sp>
      <p:sp>
        <p:nvSpPr>
          <p:cNvPr id="19" name="Card 207"/>
          <p:cNvSpPr/>
          <p:nvPr/>
        </p:nvSpPr>
        <p:spPr>
          <a:xfrm>
            <a:off x="548640" y="5486400"/>
            <a:ext cx="11091672" cy="731520"/>
          </a:xfrm>
          <a:prstGeom prst="roundRect">
            <a:avLst>
              <a:gd name="adj" fmla="val 7500"/>
            </a:avLst>
          </a:prstGeom>
          <a:solidFill>
            <a:schemeClr val="accent2"/>
          </a:solidFill>
          <a:ln/>
        </p:spPr>
      </p:sp>
      <p:sp>
        <p:nvSpPr>
          <p:cNvPr id="20" name="Text 208"/>
          <p:cNvSpPr txBox="1"/>
          <p:nvPr/>
        </p:nvSpPr>
        <p:spPr>
          <a:xfrm>
            <a:off x="868680" y="5486400"/>
            <a:ext cx="10469880" cy="731520"/>
          </a:xfrm>
          <a:prstGeom prst="rect">
            <a:avLst/>
          </a:prstGeom>
          <a:noFill/>
          <a:ln/>
        </p:spPr>
        <p:txBody>
          <a:bodyPr wrap="square" lIns="0" tIns="0" rIns="0" bIns="0" rtlCol="0" anchor="ctr"/>
          <a:lstStyle/>
          <a:p>
            <a:pPr indent="0" marL="0">
              <a:buNone/>
            </a:pPr>
            <a:r>
              <a:rPr lang="en-US" sz="1600" b="1" dirty="0">
                <a:solidFill>
                  <a:schemeClr val="bg1"/>
                </a:solidFill>
              </a:rPr>
              <a:t>Cost is a fair input to any exception. It does not change who must decide.</a:t>
            </a:r>
            <a:endParaRPr lang="en-US" sz="1600" dirty="0"/>
          </a:p>
        </p:txBody>
      </p:sp>
      <p:sp>
        <p:nvSpPr>
          <p:cNvPr id="25" name="Slide Number Placeholder 0"/>
          <p:cNvSpPr>
            <a:spLocks noGrp="1"/>
          </p:cNvSpPr>
          <p:nvPr>
            <p:ph type="sldNum" sz="quarter" idx="4294967295"/>
          </p:nvPr>
        </p:nvSpPr>
        <p:spPr>
          <a:xfrm>
            <a:off x="11183112" y="6455664"/>
            <a:ext cx="457200" cy="256032"/>
          </a:xfrm>
          <a:prstGeom prst="rect">
            <a:avLst/>
          </a:prstGeom>
          <a:extLst>
            <a:ext uri="{C572A759-6A51-4108-AA02-DFA0A04FC94B}">
              <ma14:wrappingTextBoxFlag xmlns:ma14="http://schemas.microsoft.com/office/mac/drawingml/2011/main" val="0"/>
            </a:ext>
          </a:extLst>
        </p:spPr>
        <p:txBody>
          <a:bodyPr/>
          <a:lstStyle>
            <a:lvl1pPr>
              <a:defRPr sz="95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Mandatory Floor">
  <a:themeElements>
    <a:clrScheme name="Mandatory Floor">
      <a:dk1>
        <a:srgbClr val="16232E"/>
      </a:dk1>
      <a:lt1>
        <a:srgbClr val="FFFFFF"/>
      </a:lt1>
      <a:dk2>
        <a:srgbClr val="0F1F2E"/>
      </a:dk2>
      <a:lt2>
        <a:srgbClr val="F2F5F8"/>
      </a:lt2>
      <a:accent1>
        <a:srgbClr val="1E3A54"/>
      </a:accent1>
      <a:accent2>
        <a:srgbClr val="B3282D"/>
      </a:accent2>
      <a:accent3>
        <a:srgbClr val="D9A441"/>
      </a:accent3>
      <a:accent4>
        <a:srgbClr val="39586F"/>
      </a:accent4>
      <a:accent5>
        <a:srgbClr val="5C6E7D"/>
      </a:accent5>
      <a:accent6>
        <a:srgbClr val="A9BCCB"/>
      </a:accent6>
      <a:hlink>
        <a:srgbClr val="2A5CAA"/>
      </a:hlink>
      <a:folHlink>
        <a:srgbClr val="6B7689"/>
      </a:folHlink>
    </a:clrScheme>
    <a:fontScheme name="Mandatory Flo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Mandatory Floor for Engineering Requirements</dc:title>
  <dc:subject>PptxGenJS Presentation</dc:subject>
  <dc:creator>PptxGenJS</dc:creator>
  <cp:lastModifiedBy>PptxGenJS</cp:lastModifiedBy>
  <cp:revision>1</cp:revision>
  <dcterms:created xsi:type="dcterms:W3CDTF">2026-10-29T15:20:48Z</dcterms:created>
  <dcterms:modified xsi:type="dcterms:W3CDTF">2026-10-29T15:20:48Z</dcterms:modified>
</cp:coreProperties>
</file>