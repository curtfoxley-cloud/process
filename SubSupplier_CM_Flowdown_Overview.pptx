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sub-supplier CM flowdown for CM, subcontracts, supply chain, and program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directions and the classify-derive-record discipline that prevents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authority and build are the two axes; item type modifies. Mixed classification is the common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 work types as a card grid. Types combine for mixed engagements.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legend on the left, the three reading rules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conditionality principle, the post-award trap, and the standing clause 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PTR definition with authorship and retention, and the process-doc/report reconciliation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five-step statement-of-work discipline; sign step highlighted for the metric attestation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effectiveness half of the obligation: accrual, determination, and the feedback linkages.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takeaways closing on the effectiveness loop and the bad-week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4A5A9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4023360" cy="4023360"/>
          </a:xfrm>
          <a:prstGeom prst="ellipse">
            <a:avLst/>
          </a:prstGeom>
          <a:solidFill>
            <a:srgbClr val="4A5A9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051560"/>
            <a:ext cx="822960" cy="8229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94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Flowing CM Requirements to Sub-Suppliers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794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follow the work — and a barrier that stops at your tier is not a barrier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 ·  Overview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Flowdown fails in two directions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flow the same CM requirements imposed on the company — or suitable tailorings — to every tier that does the work. “Suitable” is where the judgment lives.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Over-imposition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CM program on a plating house: cost without control, no-bids from good shops — and a supply base taught that your requirements are negotiable boilerplate, including the ones that matter.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Under-imposition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control on a design agent, no variance discipline on a builder: control lost precisely where the design authority or the build actually lives.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that prevents both: classify the work, derive the requirements from the classification, record the classification. The recorded classification is the tailoring rationale the obligation requires — tailoring without a recorded basis is omission with better manners.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 drive everything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holds design authority?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4592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change control, release discipline, and specification ownership.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0" y="155448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performs the build?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variance control, identification, traceability, reconciliation, and first-article inspection.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item type as a modifier: hardware, software, commercial, service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418320" cy="1920240"/>
          </a:xfrm>
          <a:prstGeom prst="roundRect">
            <a:avLst>
              <a:gd name="adj" fmla="val 381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206240"/>
            <a:ext cx="8869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classify every procurement into one or more of eight work types. Mixed engagements combine — a supplier designing and building a unit with its own firmware is two types at once, and receives the union of both requirement sets. The recurring error is under-classifying mixed work, which silently drops a whole requirement family from the statement of work.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kinds of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1399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1248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Build-to-Print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design; they build to your released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234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75888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99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675888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Source-Controlled Design + Build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75888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design and build internals under your source control drawing.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234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10528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5087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1399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10528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Agent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510528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design to your spec; you build. The data package is the deliverable.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44000" y="1234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45168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15087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247120" y="1399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9345168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 Development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45168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develop a designated item to your spec — heaviest flowdown.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41248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02336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743200" y="39136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841248" y="4526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Catalog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841248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holds design; you control selection and get change notices.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47472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675888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40233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77840" y="39136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29"/>
          <p:cNvSpPr/>
          <p:nvPr/>
        </p:nvSpPr>
        <p:spPr>
          <a:xfrm>
            <a:off x="3675888" y="4526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Firmware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3675888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software CM: versions, libraries, reproducible builds.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30936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510528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023360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412480" y="39136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34"/>
          <p:cNvSpPr/>
          <p:nvPr/>
        </p:nvSpPr>
        <p:spPr>
          <a:xfrm>
            <a:off x="6510528" y="4526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/ Overhaul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6510528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maintain fielded configuration; life and serials survive.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9144000" y="3749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9345168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4023360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1247120" y="39136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9" name="Text 39"/>
          <p:cNvSpPr/>
          <p:nvPr/>
        </p:nvSpPr>
        <p:spPr>
          <a:xfrm>
            <a:off x="9345168" y="4526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Processes</a:t>
            </a:r>
            <a:endParaRPr lang="en-US" sz="1350" dirty="0"/>
          </a:p>
        </p:txBody>
      </p:sp>
      <p:sp>
        <p:nvSpPr>
          <p:cNvPr id="50" name="Text 40"/>
          <p:cNvSpPr/>
          <p:nvPr/>
        </p:nvSpPr>
        <p:spPr>
          <a:xfrm>
            <a:off x="9345168" y="5166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Process-only work; frozen planning and change notification.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matrix turns type into requirements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600200" y="1764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as written, with its data deliverable.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50008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50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368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0020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with documented tailoring — recorded, not assumed.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82696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826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300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0020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against a stated condition — and re-resolves when the condition changes.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15384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153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562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outside the work — not “skipped.”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rules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214884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demanding cell wins.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work types take the union — wherever either column says Required, it is Required.
</a:t>
            </a:r>
            <a:pPr indent="0" marL="0">
              <a:buNone/>
            </a:pPr>
            <a:r>
              <a:rPr lang="en-US" sz="135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rows never drop silently.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Safety-floor requirements may be tailored only through the floor gate, with the disposition recorded — at every tier.
</a:t>
            </a:r>
            <a:pPr indent="0" marL="0">
              <a:buNone/>
            </a:pPr>
            <a:r>
              <a:rPr lang="en-US" sz="135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means deliverable.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clause without its defined data item is unenforceable — citation includes the deliverable definition.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Audits follow designation, not the subcontract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audits attach to designated items. Work type sets the supplier’s role if designation happens — conduct, support, or data — never whether obligations exist.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4A5A9E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can arrive after award — and awarding to a new supplier is itself a designation trigger, because a source change is a risk event. Placing the subcontract can create the audit obligations on that same subcontract.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574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standing conditional clause in every statement of work where designation is possible: “if the item is or becomes designated, supplier shall perform or support the audit per its work-type role” — deliverables cited as triggered items, priced while the condition is still dormant.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audit applicability once at proposal time converts every post-award designation into a contract modification — negotiated from weakness, priced by the other side.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that makes it real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002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007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traceability record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2402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defined record, referenced everywhere identifiers matter: </a:t>
            </a:r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serials; lot/batch; life-limited designation with the limit and life consumed at delivery; safety-critical and special-handling designations; traceability to next higher assembly.
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 follows work type — builders to your data receive designations; developers propose them for your approval. Say which in the statement of work, or both sides wait.
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absolute: serials and consumed life survive part-number change and overhaul.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6002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7007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reconciliation flowdowns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37960" y="224028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documentation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capability evidence: how the supplier reconciles as-built to released design at scale, reviewed before you rely on it.
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report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per-delivery output: as-built vs. released revision, deltas with disposition, change effectivity, in traceability-record identifiers.
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without the other fails: a report with no documented method, or a method with no evidence stream. A certificate of conformance asserts; this pair demonstrates.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to a defensible statement of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84832" cy="3383280"/>
          </a:xfrm>
          <a:prstGeom prst="roundRect">
            <a:avLst>
              <a:gd name="adj" fmla="val 3509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classifies by work type at drafting; the recorded classification is the tailoring rationale.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24912" y="3429000"/>
            <a:ext cx="182880" cy="0"/>
          </a:xfrm>
          <a:prstGeom prst="line">
            <a:avLst/>
          </a:prstGeom>
          <a:noFill/>
          <a:ln w="25400">
            <a:solidFill>
              <a:srgbClr val="4A5A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07792" y="1737360"/>
            <a:ext cx="2084832" cy="3383280"/>
          </a:xfrm>
          <a:prstGeom prst="roundRect">
            <a:avLst>
              <a:gd name="adj" fmla="val 3509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90672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90672" y="29718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matrix columns; most demanding cell for mixed types; resolve every conditional cell.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92624" y="3429000"/>
            <a:ext cx="182880" cy="0"/>
          </a:xfrm>
          <a:prstGeom prst="line">
            <a:avLst/>
          </a:prstGeom>
          <a:noFill/>
          <a:ln w="25400">
            <a:solidFill>
              <a:srgbClr val="4A5A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75504" y="1737360"/>
            <a:ext cx="2084832" cy="3383280"/>
          </a:xfrm>
          <a:prstGeom prst="roundRect">
            <a:avLst>
              <a:gd name="adj" fmla="val 3509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58384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58384" y="29718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with their defined deliverables; the standing conditional audit clause; floor tailoring via the gate.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0336" y="3429000"/>
            <a:ext cx="182880" cy="0"/>
          </a:xfrm>
          <a:prstGeom prst="line">
            <a:avLst/>
          </a:prstGeom>
          <a:noFill/>
          <a:ln w="25400">
            <a:solidFill>
              <a:srgbClr val="4A5A9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43216" y="1737360"/>
            <a:ext cx="2084832" cy="338328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626096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26096" y="29718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signs before release — with the attestation scope (review occurred vs. content adequate) decided once, in writing.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8048" y="3429000"/>
            <a:ext cx="182880" cy="0"/>
          </a:xfrm>
          <a:prstGeom prst="line">
            <a:avLst/>
          </a:prstGeom>
          <a:noFill/>
          <a:ln w="25400">
            <a:solidFill>
              <a:srgbClr val="4A5A9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10928" y="1737360"/>
            <a:ext cx="2084832" cy="3383280"/>
          </a:xfrm>
          <a:prstGeom prst="roundRect">
            <a:avLst>
              <a:gd name="adj" fmla="val 3509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380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893808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893808" y="29718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Re-classify on scope, work-type, or designation change — including designations the award itself triggers.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are written for the bad week, not the good one: even a supplier who would volunteer everything is governed by what the words require when schedules press and people rotate.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obligation is checking it worked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6362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081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accrues continuously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deliverable scored at review; every escape and non-submittal logged as a finding. Effectiveness includes what suppliers fail to submit.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69748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7980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64261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Determinations are judgments over rolling data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971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/ conditionally effective / ineffective — refreshed on a tiered cadence as backstop and on triggers as drivers: rejection streaks, safety-relevant escapes, audit findings.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3931920"/>
            <a:ext cx="475488" cy="475488"/>
          </a:xfrm>
          <a:prstGeom prst="ellipse">
            <a:avLst/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0325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8770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is a verb, not a label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4206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launches the actions ladder, re-runs audit designation for that supplier’s items, feeds the safety data stream where relevant, and forces review of any floor equivalent-control leaning on that supplier.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1520" y="5349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Flowdown without effectiveness determination is a letter mailed with no return address — the obligation explicitly includes the methods for judging supplier CM and the actions taken when it fails.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4A5A9E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45389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requirements follow the work: classify by design authority and build, derive from the classification, and record it — the record is the tailoring rationale.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7685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work types take the union of their requirement sets; under-classifying mixed work silently drops whole requirement families.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obligations follow designation, never the subcontract — and because the award itself can trigger designation, the standing conditional clause goes in while it is still cheap.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92277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and reconciliation are the proof layer: the traceability record with life consumed at delivery, and the process-documentation/report pair that demonstrates rather than asserts.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74573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09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Flowdown recurses, and the safety floor holds at every tier — tailoring goes through the gate, at any depth, or it is omission.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56869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5321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 with effectiveness: score what arrives, log what escapes, judge on rolling evidence, and act — the clauses are written for the bad week.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2026-07-19T18:04:32Z</dcterms:created>
  <dcterms:modified xsi:type="dcterms:W3CDTF">2026-07-19T18:04:32Z</dcterms:modified>
</cp:coreProperties>
</file>