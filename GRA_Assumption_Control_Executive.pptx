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E"/>
        </a:solidFill>
      </p:bgPr>
    </p:bg>
    <p:spTree>
      <p:nvGrpSpPr>
        <p:cNvPr id="1" name=""/>
        <p:cNvGrpSpPr/>
        <p:nvPr/>
      </p:nvGrpSpPr>
      <p:grpSpPr>
        <a:xfrm>
          <a:off x="0" y="0"/>
          <a:ext cx="0" cy="0"/>
          <a:chOff x="0" y="0"/>
          <a:chExt cx="0" cy="0"/>
        </a:xfrm>
      </p:grpSpPr>
      <p:sp>
        <p:nvSpPr>
          <p:cNvPr id="2" name="Shape 0"/>
          <p:cNvSpPr/>
          <p:nvPr/>
        </p:nvSpPr>
        <p:spPr>
          <a:xfrm>
            <a:off x="8138160" y="-914400"/>
            <a:ext cx="6035040" cy="5029200"/>
          </a:xfrm>
          <a:prstGeom prst="roundRect">
            <a:avLst>
              <a:gd name="adj" fmla="val 364"/>
            </a:avLst>
          </a:prstGeom>
          <a:solidFill>
            <a:srgbClr val="1B3866"/>
          </a:solidFill>
          <a:ln w="12700">
            <a:solidFill>
              <a:srgbClr val="1B3866"/>
            </a:solidFill>
            <a:prstDash val="solid"/>
          </a:ln>
        </p:spPr>
      </p:sp>
      <p:sp>
        <p:nvSpPr>
          <p:cNvPr id="3" name="Shape 1"/>
          <p:cNvSpPr/>
          <p:nvPr/>
        </p:nvSpPr>
        <p:spPr>
          <a:xfrm>
            <a:off x="9601200" y="4279392"/>
            <a:ext cx="4572000" cy="3566160"/>
          </a:xfrm>
          <a:prstGeom prst="roundRect">
            <a:avLst>
              <a:gd name="adj" fmla="val 513"/>
            </a:avLst>
          </a:prstGeom>
          <a:solidFill>
            <a:srgbClr val="0E2545"/>
          </a:solidFill>
          <a:ln w="12700">
            <a:solidFill>
              <a:srgbClr val="0E2545"/>
            </a:solidFill>
            <a:prstDash val="solid"/>
          </a:ln>
        </p:spPr>
      </p:sp>
      <p:sp>
        <p:nvSpPr>
          <p:cNvPr id="4" name="Shape 2"/>
          <p:cNvSpPr/>
          <p:nvPr/>
        </p:nvSpPr>
        <p:spPr>
          <a:xfrm>
            <a:off x="8138160" y="4279392"/>
            <a:ext cx="1280160" cy="1280160"/>
          </a:xfrm>
          <a:prstGeom prst="roundRect">
            <a:avLst>
              <a:gd name="adj" fmla="val 1429"/>
            </a:avLst>
          </a:prstGeom>
          <a:solidFill>
            <a:srgbClr val="B4530C"/>
          </a:solidFill>
          <a:ln w="12700">
            <a:solidFill>
              <a:srgbClr val="B4530C"/>
            </a:solidFill>
            <a:prstDash val="solid"/>
          </a:ln>
        </p:spPr>
      </p:sp>
      <p:sp>
        <p:nvSpPr>
          <p:cNvPr id="5" name="Text 3"/>
          <p:cNvSpPr/>
          <p:nvPr/>
        </p:nvSpPr>
        <p:spPr>
          <a:xfrm>
            <a:off x="548640" y="1463040"/>
            <a:ext cx="7040880" cy="274320"/>
          </a:xfrm>
          <a:prstGeom prst="rect">
            <a:avLst/>
          </a:prstGeom>
          <a:noFill/>
          <a:ln/>
        </p:spPr>
        <p:txBody>
          <a:bodyPr wrap="square" lIns="0" tIns="0" rIns="0" bIns="0" rtlCol="0" anchor="ctr"/>
          <a:lstStyle/>
          <a:p>
            <a:pPr indent="0" marL="0">
              <a:buNone/>
            </a:pPr>
            <a:r>
              <a:rPr lang="en-US" sz="1100" b="1" spc="160" kern="0" dirty="0">
                <a:solidFill>
                  <a:srgbClr val="F0B37E"/>
                </a:solidFill>
                <a:latin typeface="Calibri" pitchFamily="34" charset="0"/>
                <a:ea typeface="Calibri" pitchFamily="34" charset="-122"/>
                <a:cs typeface="Calibri" pitchFamily="34" charset="-120"/>
              </a:rPr>
              <a:t>SAFETY MANAGEMENT  ·  CONFIGURATION MANAGEMENT</a:t>
            </a:r>
            <a:endParaRPr lang="en-US" sz="1100" dirty="0"/>
          </a:p>
        </p:txBody>
      </p:sp>
      <p:sp>
        <p:nvSpPr>
          <p:cNvPr id="6" name="Text 4"/>
          <p:cNvSpPr/>
          <p:nvPr/>
        </p:nvSpPr>
        <p:spPr>
          <a:xfrm>
            <a:off x="548640" y="1874520"/>
            <a:ext cx="7040880" cy="1737360"/>
          </a:xfrm>
          <a:prstGeom prst="rect">
            <a:avLst/>
          </a:prstGeom>
          <a:noFill/>
          <a:ln/>
        </p:spPr>
        <p:txBody>
          <a:bodyPr wrap="square" lIns="0" tIns="0" rIns="0" bIns="0" rtlCol="0" anchor="ctr"/>
          <a:lstStyle/>
          <a:p>
            <a:pPr indent="0" marL="0">
              <a:lnSpc>
                <a:spcPts val="4000"/>
              </a:lnSpc>
              <a:buNone/>
            </a:pPr>
            <a:r>
              <a:rPr lang="en-US" sz="3300" b="1" dirty="0">
                <a:solidFill>
                  <a:srgbClr val="FFFFFF"/>
                </a:solidFill>
                <a:latin typeface="Cambria" pitchFamily="34" charset="0"/>
                <a:ea typeface="Cambria" pitchFamily="34" charset="-122"/>
                <a:cs typeface="Cambria" pitchFamily="34" charset="-120"/>
              </a:rPr>
              <a:t>Inherited Assumptions: What Breaks When They Move Between Programs</a:t>
            </a:r>
            <a:endParaRPr lang="en-US" sz="3300" dirty="0"/>
          </a:p>
        </p:txBody>
      </p:sp>
      <p:sp>
        <p:nvSpPr>
          <p:cNvPr id="7" name="Text 5"/>
          <p:cNvSpPr/>
          <p:nvPr/>
        </p:nvSpPr>
        <p:spPr>
          <a:xfrm>
            <a:off x="548640" y="3840480"/>
            <a:ext cx="6858000" cy="1097280"/>
          </a:xfrm>
          <a:prstGeom prst="rect">
            <a:avLst/>
          </a:prstGeom>
          <a:noFill/>
          <a:ln/>
        </p:spPr>
        <p:txBody>
          <a:bodyPr wrap="square" lIns="0" tIns="0" rIns="0" bIns="0" rtlCol="0" anchor="ctr"/>
          <a:lstStyle/>
          <a:p>
            <a:pPr indent="0" marL="0">
              <a:lnSpc>
                <a:spcPts val="2200"/>
              </a:lnSpc>
              <a:buNone/>
            </a:pPr>
            <a:r>
              <a:rPr lang="en-US" sz="1400" dirty="0">
                <a:solidFill>
                  <a:srgbClr val="C9D6EC"/>
                </a:solidFill>
                <a:latin typeface="Calibri" pitchFamily="34" charset="0"/>
                <a:ea typeface="Calibri" pitchFamily="34" charset="-122"/>
                <a:cs typeface="Calibri" pitchFamily="34" charset="-120"/>
              </a:rPr>
              <a:t>Programs reuse ground rules and assumptions from earlier programs when the hardware looks similar. The conditions those assumptions depended on do not come with them, and nothing in our current process notices when they change.</a:t>
            </a:r>
            <a:endParaRPr lang="en-US" sz="1400" dirty="0"/>
          </a:p>
        </p:txBody>
      </p:sp>
      <p:sp>
        <p:nvSpPr>
          <p:cNvPr id="8" name="Text 6"/>
          <p:cNvSpPr/>
          <p:nvPr/>
        </p:nvSpPr>
        <p:spPr>
          <a:xfrm>
            <a:off x="548640" y="5212080"/>
            <a:ext cx="6858000" cy="457200"/>
          </a:xfrm>
          <a:prstGeom prst="rect">
            <a:avLst/>
          </a:prstGeom>
          <a:noFill/>
          <a:ln/>
        </p:spPr>
        <p:txBody>
          <a:bodyPr wrap="square" lIns="0" tIns="0" rIns="0" bIns="0" rtlCol="0" anchor="ctr"/>
          <a:lstStyle/>
          <a:p>
            <a:pPr indent="0" marL="0">
              <a:lnSpc>
                <a:spcPts val="1700"/>
              </a:lnSpc>
              <a:buNone/>
            </a:pPr>
            <a:r>
              <a:rPr lang="en-US" sz="1200" i="1" dirty="0">
                <a:solidFill>
                  <a:srgbClr val="9DB2D4"/>
                </a:solidFill>
                <a:latin typeface="Calibri" pitchFamily="34" charset="0"/>
                <a:ea typeface="Calibri" pitchFamily="34" charset="-122"/>
                <a:cs typeface="Calibri" pitchFamily="34" charset="-120"/>
              </a:rPr>
              <a:t>Five decisions requested. The control regimes involved are explained on slide 8, glossary at the back.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EXECUTIVE SUMMARY</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argument on one page</a:t>
            </a:r>
            <a:endParaRPr lang="en-US" sz="2900" dirty="0"/>
          </a:p>
        </p:txBody>
      </p:sp>
      <p:sp>
        <p:nvSpPr>
          <p:cNvPr id="4" name="Shape 2"/>
          <p:cNvSpPr/>
          <p:nvPr/>
        </p:nvSpPr>
        <p:spPr>
          <a:xfrm>
            <a:off x="548640" y="1243584"/>
            <a:ext cx="5394960" cy="1371600"/>
          </a:xfrm>
          <a:prstGeom prst="roundRect">
            <a:avLst>
              <a:gd name="adj" fmla="val 3333"/>
            </a:avLst>
          </a:prstGeom>
          <a:solidFill>
            <a:srgbClr val="E9EEF7"/>
          </a:solidFill>
          <a:ln w="12700">
            <a:solidFill>
              <a:srgbClr val="D3DEEF"/>
            </a:solidFill>
            <a:prstDash val="solid"/>
          </a:ln>
        </p:spPr>
      </p:sp>
      <p:sp>
        <p:nvSpPr>
          <p:cNvPr id="5" name="Text 3"/>
          <p:cNvSpPr/>
          <p:nvPr/>
        </p:nvSpPr>
        <p:spPr>
          <a:xfrm>
            <a:off x="786384"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1.  What we do today</a:t>
            </a:r>
            <a:endParaRPr lang="en-US" sz="1300" dirty="0"/>
          </a:p>
        </p:txBody>
      </p:sp>
      <p:sp>
        <p:nvSpPr>
          <p:cNvPr id="6" name="Text 4"/>
          <p:cNvSpPr/>
          <p:nvPr/>
        </p:nvSpPr>
        <p:spPr>
          <a:xfrm>
            <a:off x="786384" y="175564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 new program reusing hardware from an earlier program also reuses that program's assumptions. The sentence is copied. The conditions that made it true are not.</a:t>
            </a:r>
            <a:endParaRPr lang="en-US" sz="1200" dirty="0"/>
          </a:p>
        </p:txBody>
      </p:sp>
      <p:sp>
        <p:nvSpPr>
          <p:cNvPr id="7" name="Shape 5"/>
          <p:cNvSpPr/>
          <p:nvPr/>
        </p:nvSpPr>
        <p:spPr>
          <a:xfrm>
            <a:off x="6245352" y="1243584"/>
            <a:ext cx="5394960" cy="1371600"/>
          </a:xfrm>
          <a:prstGeom prst="roundRect">
            <a:avLst>
              <a:gd name="adj" fmla="val 3333"/>
            </a:avLst>
          </a:prstGeom>
          <a:solidFill>
            <a:srgbClr val="FFFFFF"/>
          </a:solidFill>
          <a:ln w="12700">
            <a:solidFill>
              <a:srgbClr val="D3DEEF"/>
            </a:solidFill>
            <a:prstDash val="solid"/>
          </a:ln>
        </p:spPr>
      </p:sp>
      <p:sp>
        <p:nvSpPr>
          <p:cNvPr id="8" name="Text 6"/>
          <p:cNvSpPr/>
          <p:nvPr/>
        </p:nvSpPr>
        <p:spPr>
          <a:xfrm>
            <a:off x="6483096"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2.  Why that is a safety problem</a:t>
            </a:r>
            <a:endParaRPr lang="en-US" sz="1300" dirty="0"/>
          </a:p>
        </p:txBody>
      </p:sp>
      <p:sp>
        <p:nvSpPr>
          <p:cNvPr id="9" name="Text 7"/>
          <p:cNvSpPr/>
          <p:nvPr/>
        </p:nvSpPr>
        <p:spPr>
          <a:xfrm>
            <a:off x="6483096" y="175564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An assumption is a promise that a risk is acceptable so long as certain things stay true. Without the conditions written down, nobody can tell when it has stopped being true.</a:t>
            </a:r>
            <a:endParaRPr lang="en-US" sz="1200" dirty="0"/>
          </a:p>
        </p:txBody>
      </p:sp>
      <p:sp>
        <p:nvSpPr>
          <p:cNvPr id="10" name="Shape 8"/>
          <p:cNvSpPr/>
          <p:nvPr/>
        </p:nvSpPr>
        <p:spPr>
          <a:xfrm>
            <a:off x="548640" y="2798064"/>
            <a:ext cx="5394960" cy="1371600"/>
          </a:xfrm>
          <a:prstGeom prst="roundRect">
            <a:avLst>
              <a:gd name="adj" fmla="val 3333"/>
            </a:avLst>
          </a:prstGeom>
          <a:solidFill>
            <a:srgbClr val="E9EEF7"/>
          </a:solidFill>
          <a:ln w="12700">
            <a:solidFill>
              <a:srgbClr val="D3DEEF"/>
            </a:solidFill>
            <a:prstDash val="solid"/>
          </a:ln>
        </p:spPr>
      </p:sp>
      <p:sp>
        <p:nvSpPr>
          <p:cNvPr id="11" name="Text 9"/>
          <p:cNvSpPr/>
          <p:nvPr/>
        </p:nvSpPr>
        <p:spPr>
          <a:xfrm>
            <a:off x="786384" y="294436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3.  Why programs do it anyway</a:t>
            </a:r>
            <a:endParaRPr lang="en-US" sz="1300" dirty="0"/>
          </a:p>
        </p:txBody>
      </p:sp>
      <p:sp>
        <p:nvSpPr>
          <p:cNvPr id="12" name="Text 10"/>
          <p:cNvSpPr/>
          <p:nvPr/>
        </p:nvSpPr>
        <p:spPr>
          <a:xfrm>
            <a:off x="786384" y="331012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Rebuilding assumptions costs senior engineering time in the most schedule-compressed phase. The cost is immediate and visible; the risk is deferred and invisible.</a:t>
            </a:r>
            <a:endParaRPr lang="en-US" sz="1200" dirty="0"/>
          </a:p>
        </p:txBody>
      </p:sp>
      <p:sp>
        <p:nvSpPr>
          <p:cNvPr id="13" name="Shape 11"/>
          <p:cNvSpPr/>
          <p:nvPr/>
        </p:nvSpPr>
        <p:spPr>
          <a:xfrm>
            <a:off x="6245352" y="2798064"/>
            <a:ext cx="5394960" cy="1371600"/>
          </a:xfrm>
          <a:prstGeom prst="roundRect">
            <a:avLst>
              <a:gd name="adj" fmla="val 3333"/>
            </a:avLst>
          </a:prstGeom>
          <a:solidFill>
            <a:srgbClr val="FFFFFF"/>
          </a:solidFill>
          <a:ln w="12700">
            <a:solidFill>
              <a:srgbClr val="D3DEEF"/>
            </a:solidFill>
            <a:prstDash val="solid"/>
          </a:ln>
        </p:spPr>
      </p:sp>
      <p:sp>
        <p:nvSpPr>
          <p:cNvPr id="14" name="Text 12"/>
          <p:cNvSpPr/>
          <p:nvPr/>
        </p:nvSpPr>
        <p:spPr>
          <a:xfrm>
            <a:off x="6483096" y="294436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4.  Where it shows up as exposure</a:t>
            </a:r>
            <a:endParaRPr lang="en-US" sz="1300" dirty="0"/>
          </a:p>
        </p:txBody>
      </p:sp>
      <p:sp>
        <p:nvSpPr>
          <p:cNvPr id="15" name="Text 13"/>
          <p:cNvSpPr/>
          <p:nvPr/>
        </p:nvSpPr>
        <p:spPr>
          <a:xfrm>
            <a:off x="6483096" y="3310128"/>
            <a:ext cx="4956048" cy="73152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SM-0001 requires a named person to accept residual risk. Inherited assumptions arrive with nobody named. That is a compliance gap, not just untidy engineering.</a:t>
            </a:r>
            <a:endParaRPr lang="en-US" sz="1200" dirty="0"/>
          </a:p>
        </p:txBody>
      </p:sp>
      <p:sp>
        <p:nvSpPr>
          <p:cNvPr id="16" name="Shape 14"/>
          <p:cNvSpPr/>
          <p:nvPr/>
        </p:nvSpPr>
        <p:spPr>
          <a:xfrm>
            <a:off x="548640" y="4224528"/>
            <a:ext cx="11091672" cy="1234440"/>
          </a:xfrm>
          <a:prstGeom prst="roundRect">
            <a:avLst>
              <a:gd name="adj" fmla="val 3704"/>
            </a:avLst>
          </a:prstGeom>
          <a:solidFill>
            <a:srgbClr val="132A4E"/>
          </a:solidFill>
          <a:ln w="12700">
            <a:solidFill>
              <a:srgbClr val="132A4E"/>
            </a:solidFill>
            <a:prstDash val="solid"/>
          </a:ln>
        </p:spPr>
      </p:sp>
      <p:sp>
        <p:nvSpPr>
          <p:cNvPr id="17" name="Text 15"/>
          <p:cNvSpPr/>
          <p:nvPr/>
        </p:nvSpPr>
        <p:spPr>
          <a:xfrm>
            <a:off x="841248" y="436168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The proposal</a:t>
            </a:r>
            <a:endParaRPr lang="en-US" sz="1200" dirty="0"/>
          </a:p>
        </p:txBody>
      </p:sp>
      <p:sp>
        <p:nvSpPr>
          <p:cNvPr id="18" name="Text 16"/>
          <p:cNvSpPr/>
          <p:nvPr/>
        </p:nvSpPr>
        <p:spPr>
          <a:xfrm>
            <a:off x="841248" y="4663440"/>
            <a:ext cx="10515600" cy="66751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Everything an assumption depends on is already controlled somewhere: engineering drawings and specifications, maintenance program documents, flight and maintenance procedures, training curricula. Each of those has an identifier and a revision. If an assumption records what it depends on and at which revision, we can detect later that it moved. That detection is the thing that does not exist today.</a:t>
            </a:r>
            <a:endParaRPr lang="en-US" sz="1300" dirty="0"/>
          </a:p>
        </p:txBody>
      </p:sp>
      <p:sp>
        <p:nvSpPr>
          <p:cNvPr id="19" name="Shape 17"/>
          <p:cNvSpPr/>
          <p:nvPr/>
        </p:nvSpPr>
        <p:spPr>
          <a:xfrm>
            <a:off x="548640" y="5669280"/>
            <a:ext cx="11091672" cy="749808"/>
          </a:xfrm>
          <a:prstGeom prst="roundRect">
            <a:avLst>
              <a:gd name="adj" fmla="val 6098"/>
            </a:avLst>
          </a:prstGeom>
          <a:solidFill>
            <a:srgbClr val="FBEBDC"/>
          </a:solidFill>
          <a:ln w="12700">
            <a:solidFill>
              <a:srgbClr val="ECC8AE"/>
            </a:solidFill>
            <a:prstDash val="solid"/>
          </a:ln>
        </p:spPr>
      </p:sp>
      <p:sp>
        <p:nvSpPr>
          <p:cNvPr id="20" name="Text 18"/>
          <p:cNvSpPr/>
          <p:nvPr/>
        </p:nvSpPr>
        <p:spPr>
          <a:xfrm>
            <a:off x="822960" y="5669280"/>
            <a:ext cx="10515600" cy="749808"/>
          </a:xfrm>
          <a:prstGeom prst="rect">
            <a:avLst/>
          </a:prstGeom>
          <a:noFill/>
          <a:ln/>
        </p:spPr>
        <p:txBody>
          <a:bodyPr wrap="square" lIns="0" tIns="0" rIns="0" bIns="0" rtlCol="0" anchor="ctr"/>
          <a:lstStyle/>
          <a:p>
            <a:pPr indent="0" marL="0">
              <a:buNone/>
            </a:pPr>
            <a:r>
              <a:rPr lang="en-US" sz="1350" b="1" dirty="0">
                <a:solidFill>
                  <a:srgbClr val="B4530C"/>
                </a:solidFill>
                <a:latin typeface="Calibri" pitchFamily="34" charset="0"/>
                <a:ea typeface="Calibri" pitchFamily="34" charset="-122"/>
                <a:cs typeface="Calibri" pitchFamily="34" charset="-120"/>
              </a:rPr>
              <a:t>We are not asking programs to slow down or stop reusing. We are asking that reuse leave a trace that can be checked later.</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WE ARE TALKING ABOUT</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An assumption is a conditional promise, not a fact</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In safety work an assumption is what lets an analysis stop somewhere. It says a hazard needs no further treatment because something else is taking care of it.</a:t>
            </a:r>
            <a:endParaRPr lang="en-US" sz="1400" dirty="0"/>
          </a:p>
        </p:txBody>
      </p:sp>
      <p:sp>
        <p:nvSpPr>
          <p:cNvPr id="5" name="Shape 3"/>
          <p:cNvSpPr/>
          <p:nvPr/>
        </p:nvSpPr>
        <p:spPr>
          <a:xfrm>
            <a:off x="548640" y="1828800"/>
            <a:ext cx="11091672" cy="1298448"/>
          </a:xfrm>
          <a:prstGeom prst="roundRect">
            <a:avLst>
              <a:gd name="adj" fmla="val 3521"/>
            </a:avLst>
          </a:prstGeom>
          <a:solidFill>
            <a:srgbClr val="FBEBDC"/>
          </a:solidFill>
          <a:ln w="12700">
            <a:solidFill>
              <a:srgbClr val="ECC8AE"/>
            </a:solidFill>
            <a:prstDash val="solid"/>
          </a:ln>
        </p:spPr>
      </p:sp>
      <p:sp>
        <p:nvSpPr>
          <p:cNvPr id="6" name="Text 4"/>
          <p:cNvSpPr/>
          <p:nvPr/>
        </p:nvSpPr>
        <p:spPr>
          <a:xfrm>
            <a:off x="859536" y="1828800"/>
            <a:ext cx="10469880" cy="1298448"/>
          </a:xfrm>
          <a:prstGeom prst="rect">
            <a:avLst/>
          </a:prstGeom>
          <a:noFill/>
          <a:ln/>
        </p:spPr>
        <p:txBody>
          <a:bodyPr wrap="square" lIns="0" tIns="0" rIns="0" bIns="0" rtlCol="0" anchor="ctr"/>
          <a:lstStyle/>
          <a:p>
            <a:pPr indent="0" marL="0">
              <a:lnSpc>
                <a:spcPts val="2400"/>
              </a:lnSpc>
              <a:buNone/>
            </a:pPr>
            <a:r>
              <a:rPr lang="en-US" sz="1550" i="1" dirty="0">
                <a:solidFill>
                  <a:srgbClr val="1A2333"/>
                </a:solidFill>
                <a:latin typeface="Cambria" pitchFamily="34" charset="0"/>
                <a:ea typeface="Cambria" pitchFamily="34" charset="-122"/>
                <a:cs typeface="Cambria" pitchFamily="34" charset="-120"/>
              </a:rPr>
              <a:t>"This hazard is acceptable without additional design mitigation, PROVIDED that the crew is alerted within one flight, the line is inspected every 400 flight hours, and the unit sits outside the icing-exposed bay."</a:t>
            </a:r>
            <a:endParaRPr lang="en-US" sz="1550" dirty="0"/>
          </a:p>
        </p:txBody>
      </p:sp>
      <p:sp>
        <p:nvSpPr>
          <p:cNvPr id="7" name="Shape 5"/>
          <p:cNvSpPr/>
          <p:nvPr/>
        </p:nvSpPr>
        <p:spPr>
          <a:xfrm>
            <a:off x="548640" y="3364992"/>
            <a:ext cx="3520440" cy="1463040"/>
          </a:xfrm>
          <a:prstGeom prst="roundRect">
            <a:avLst>
              <a:gd name="adj" fmla="val 3125"/>
            </a:avLst>
          </a:prstGeom>
          <a:solidFill>
            <a:srgbClr val="E9EEF7"/>
          </a:solidFill>
          <a:ln w="12700">
            <a:solidFill>
              <a:srgbClr val="D3DEEF"/>
            </a:solidFill>
            <a:prstDash val="solid"/>
          </a:ln>
        </p:spPr>
      </p:sp>
      <p:sp>
        <p:nvSpPr>
          <p:cNvPr id="8" name="Text 6"/>
          <p:cNvSpPr/>
          <p:nvPr/>
        </p:nvSpPr>
        <p:spPr>
          <a:xfrm>
            <a:off x="786384" y="3511296"/>
            <a:ext cx="306324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claim</a:t>
            </a:r>
            <a:endParaRPr lang="en-US" sz="1300" dirty="0"/>
          </a:p>
        </p:txBody>
      </p:sp>
      <p:sp>
        <p:nvSpPr>
          <p:cNvPr id="9" name="Text 7"/>
          <p:cNvSpPr/>
          <p:nvPr/>
        </p:nvSpPr>
        <p:spPr>
          <a:xfrm>
            <a:off x="786384" y="3877056"/>
            <a:ext cx="308152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Short, quotable, and easy to carry to another program. This is the part everyone reads and repeats.</a:t>
            </a:r>
            <a:endParaRPr lang="en-US" sz="1200" dirty="0"/>
          </a:p>
        </p:txBody>
      </p:sp>
      <p:sp>
        <p:nvSpPr>
          <p:cNvPr id="10" name="Shape 8"/>
          <p:cNvSpPr/>
          <p:nvPr/>
        </p:nvSpPr>
        <p:spPr>
          <a:xfrm>
            <a:off x="4334256" y="3364992"/>
            <a:ext cx="3520440" cy="1463040"/>
          </a:xfrm>
          <a:prstGeom prst="roundRect">
            <a:avLst>
              <a:gd name="adj" fmla="val 3125"/>
            </a:avLst>
          </a:prstGeom>
          <a:solidFill>
            <a:srgbClr val="FFFFFF"/>
          </a:solidFill>
          <a:ln w="12700">
            <a:solidFill>
              <a:srgbClr val="D3DEEF"/>
            </a:solidFill>
            <a:prstDash val="solid"/>
          </a:ln>
        </p:spPr>
      </p:sp>
      <p:sp>
        <p:nvSpPr>
          <p:cNvPr id="11" name="Text 9"/>
          <p:cNvSpPr/>
          <p:nvPr/>
        </p:nvSpPr>
        <p:spPr>
          <a:xfrm>
            <a:off x="4572000" y="3511296"/>
            <a:ext cx="306324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conditions</a:t>
            </a:r>
            <a:endParaRPr lang="en-US" sz="1300" dirty="0"/>
          </a:p>
        </p:txBody>
      </p:sp>
      <p:sp>
        <p:nvSpPr>
          <p:cNvPr id="12" name="Text 10"/>
          <p:cNvSpPr/>
          <p:nvPr/>
        </p:nvSpPr>
        <p:spPr>
          <a:xfrm>
            <a:off x="4572000" y="3877056"/>
            <a:ext cx="308152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Longer, less memorable, and the first thing lost in a copy across. They are what make the claim true.</a:t>
            </a:r>
            <a:endParaRPr lang="en-US" sz="1200" dirty="0"/>
          </a:p>
        </p:txBody>
      </p:sp>
      <p:sp>
        <p:nvSpPr>
          <p:cNvPr id="13" name="Shape 11"/>
          <p:cNvSpPr/>
          <p:nvPr/>
        </p:nvSpPr>
        <p:spPr>
          <a:xfrm>
            <a:off x="8119872" y="3364992"/>
            <a:ext cx="3520440" cy="1463040"/>
          </a:xfrm>
          <a:prstGeom prst="roundRect">
            <a:avLst>
              <a:gd name="adj" fmla="val 3125"/>
            </a:avLst>
          </a:prstGeom>
          <a:solidFill>
            <a:srgbClr val="E9EEF7"/>
          </a:solidFill>
          <a:ln w="12700">
            <a:solidFill>
              <a:srgbClr val="D3DEEF"/>
            </a:solidFill>
            <a:prstDash val="solid"/>
          </a:ln>
        </p:spPr>
      </p:sp>
      <p:sp>
        <p:nvSpPr>
          <p:cNvPr id="14" name="Text 12"/>
          <p:cNvSpPr/>
          <p:nvPr/>
        </p:nvSpPr>
        <p:spPr>
          <a:xfrm>
            <a:off x="8357616" y="3511296"/>
            <a:ext cx="306324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risk credit</a:t>
            </a:r>
            <a:endParaRPr lang="en-US" sz="1300" dirty="0"/>
          </a:p>
        </p:txBody>
      </p:sp>
      <p:sp>
        <p:nvSpPr>
          <p:cNvPr id="15" name="Text 13"/>
          <p:cNvSpPr/>
          <p:nvPr/>
        </p:nvSpPr>
        <p:spPr>
          <a:xfrm>
            <a:off x="8357616" y="3877056"/>
            <a:ext cx="3081528" cy="822960"/>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 hazard was closed without a design change because of this. That is a real safety decision, and someone accepted it.</a:t>
            </a:r>
            <a:endParaRPr lang="en-US" sz="1200" dirty="0"/>
          </a:p>
        </p:txBody>
      </p:sp>
      <p:sp>
        <p:nvSpPr>
          <p:cNvPr id="16" name="Shape 14"/>
          <p:cNvSpPr/>
          <p:nvPr/>
        </p:nvSpPr>
        <p:spPr>
          <a:xfrm>
            <a:off x="548640" y="5029200"/>
            <a:ext cx="11091672" cy="1371600"/>
          </a:xfrm>
          <a:prstGeom prst="roundRect">
            <a:avLst>
              <a:gd name="adj" fmla="val 3333"/>
            </a:avLst>
          </a:prstGeom>
          <a:solidFill>
            <a:srgbClr val="132A4E"/>
          </a:solidFill>
          <a:ln w="12700">
            <a:solidFill>
              <a:srgbClr val="132A4E"/>
            </a:solidFill>
            <a:prstDash val="solid"/>
          </a:ln>
        </p:spPr>
      </p:sp>
      <p:sp>
        <p:nvSpPr>
          <p:cNvPr id="17" name="Text 15"/>
          <p:cNvSpPr/>
          <p:nvPr/>
        </p:nvSpPr>
        <p:spPr>
          <a:xfrm>
            <a:off x="841248" y="5166360"/>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This is not a new idea</a:t>
            </a:r>
            <a:endParaRPr lang="en-US" sz="1200" dirty="0"/>
          </a:p>
        </p:txBody>
      </p:sp>
      <p:sp>
        <p:nvSpPr>
          <p:cNvPr id="18" name="Text 16"/>
          <p:cNvSpPr/>
          <p:nvPr/>
        </p:nvSpPr>
        <p:spPr>
          <a:xfrm>
            <a:off x="841248" y="5468112"/>
            <a:ext cx="10515600" cy="80467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SM-0001 already treats assumptions this way. Appendix 2 lists them among the contents of a hazard record, and the reason given is so they can be re-examined when they change, to check whether the risk assessment still stands. The standard therefore assumes we know when an assumption has changed. For inherited assumptions, we do not.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WORKED EXAMPLE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A real shape this takes</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A pressure sensor is qualified and in service on Program A. Program B is a derivative and reuses the same unit, same part number, same supplier. The assumption set is carried across on that basis.</a:t>
            </a:r>
            <a:endParaRPr lang="en-US" sz="1400" dirty="0"/>
          </a:p>
        </p:txBody>
      </p:sp>
      <p:sp>
        <p:nvSpPr>
          <p:cNvPr id="5" name="Shape 3"/>
          <p:cNvSpPr/>
          <p:nvPr/>
        </p:nvSpPr>
        <p:spPr>
          <a:xfrm>
            <a:off x="548640" y="1883664"/>
            <a:ext cx="5394960" cy="3566160"/>
          </a:xfrm>
          <a:prstGeom prst="roundRect">
            <a:avLst>
              <a:gd name="adj" fmla="val 1282"/>
            </a:avLst>
          </a:prstGeom>
          <a:solidFill>
            <a:srgbClr val="E9EEF7"/>
          </a:solidFill>
          <a:ln w="12700">
            <a:solidFill>
              <a:srgbClr val="D3DEEF"/>
            </a:solidFill>
            <a:prstDash val="solid"/>
          </a:ln>
        </p:spPr>
      </p:sp>
      <p:sp>
        <p:nvSpPr>
          <p:cNvPr id="6" name="Text 4"/>
          <p:cNvSpPr/>
          <p:nvPr/>
        </p:nvSpPr>
        <p:spPr>
          <a:xfrm>
            <a:off x="822960" y="2011680"/>
            <a:ext cx="4846320" cy="292608"/>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Program A  ·  what the assumption relied on</a:t>
            </a:r>
            <a:endParaRPr lang="en-US" sz="1250" dirty="0"/>
          </a:p>
        </p:txBody>
      </p:sp>
      <p:sp>
        <p:nvSpPr>
          <p:cNvPr id="7" name="Text 5"/>
          <p:cNvSpPr/>
          <p:nvPr/>
        </p:nvSpPr>
        <p:spPr>
          <a:xfrm>
            <a:off x="822960" y="2395728"/>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Alerting</a:t>
            </a:r>
            <a:endParaRPr lang="en-US" sz="1150" dirty="0"/>
          </a:p>
        </p:txBody>
      </p:sp>
      <p:sp>
        <p:nvSpPr>
          <p:cNvPr id="8" name="Text 6"/>
          <p:cNvSpPr/>
          <p:nvPr/>
        </p:nvSpPr>
        <p:spPr>
          <a:xfrm>
            <a:off x="1965960" y="2395728"/>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Crew is alerted to a blocked line within one flight.</a:t>
            </a:r>
            <a:endParaRPr lang="en-US" sz="1150" dirty="0"/>
          </a:p>
        </p:txBody>
      </p:sp>
      <p:sp>
        <p:nvSpPr>
          <p:cNvPr id="9" name="Text 7"/>
          <p:cNvSpPr/>
          <p:nvPr/>
        </p:nvSpPr>
        <p:spPr>
          <a:xfrm>
            <a:off x="822960" y="2999232"/>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Procedure</a:t>
            </a:r>
            <a:endParaRPr lang="en-US" sz="1150" dirty="0"/>
          </a:p>
        </p:txBody>
      </p:sp>
      <p:sp>
        <p:nvSpPr>
          <p:cNvPr id="10" name="Text 8"/>
          <p:cNvSpPr/>
          <p:nvPr/>
        </p:nvSpPr>
        <p:spPr>
          <a:xfrm>
            <a:off x="1965960" y="2999232"/>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Dispatch governed by a specific MEL condition.</a:t>
            </a:r>
            <a:endParaRPr lang="en-US" sz="1150" dirty="0"/>
          </a:p>
        </p:txBody>
      </p:sp>
      <p:sp>
        <p:nvSpPr>
          <p:cNvPr id="11" name="Text 9"/>
          <p:cNvSpPr/>
          <p:nvPr/>
        </p:nvSpPr>
        <p:spPr>
          <a:xfrm>
            <a:off x="822960" y="3602736"/>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Inspection</a:t>
            </a:r>
            <a:endParaRPr lang="en-US" sz="1150" dirty="0"/>
          </a:p>
        </p:txBody>
      </p:sp>
      <p:sp>
        <p:nvSpPr>
          <p:cNvPr id="12" name="Text 10"/>
          <p:cNvSpPr/>
          <p:nvPr/>
        </p:nvSpPr>
        <p:spPr>
          <a:xfrm>
            <a:off x="1965960" y="3602736"/>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Line inspected every 400 flight hours.</a:t>
            </a:r>
            <a:endParaRPr lang="en-US" sz="1150" dirty="0"/>
          </a:p>
        </p:txBody>
      </p:sp>
      <p:sp>
        <p:nvSpPr>
          <p:cNvPr id="13" name="Text 11"/>
          <p:cNvSpPr/>
          <p:nvPr/>
        </p:nvSpPr>
        <p:spPr>
          <a:xfrm>
            <a:off x="822960" y="4206240"/>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Installation</a:t>
            </a:r>
            <a:endParaRPr lang="en-US" sz="1150" dirty="0"/>
          </a:p>
        </p:txBody>
      </p:sp>
      <p:sp>
        <p:nvSpPr>
          <p:cNvPr id="14" name="Text 12"/>
          <p:cNvSpPr/>
          <p:nvPr/>
        </p:nvSpPr>
        <p:spPr>
          <a:xfrm>
            <a:off x="1965960" y="4206240"/>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Unit sits in a heated bay, outside the icing zone.</a:t>
            </a:r>
            <a:endParaRPr lang="en-US" sz="1150" dirty="0"/>
          </a:p>
        </p:txBody>
      </p:sp>
      <p:sp>
        <p:nvSpPr>
          <p:cNvPr id="15" name="Text 13"/>
          <p:cNvSpPr/>
          <p:nvPr/>
        </p:nvSpPr>
        <p:spPr>
          <a:xfrm>
            <a:off x="822960" y="4809744"/>
            <a:ext cx="1097280" cy="530352"/>
          </a:xfrm>
          <a:prstGeom prst="rect">
            <a:avLst/>
          </a:prstGeom>
          <a:noFill/>
          <a:ln/>
        </p:spPr>
        <p:txBody>
          <a:bodyPr wrap="square" lIns="0" tIns="0" rIns="0" bIns="0" rtlCol="0" anchor="t"/>
          <a:lstStyle/>
          <a:p>
            <a:pPr indent="0" marL="0">
              <a:buNone/>
            </a:pPr>
            <a:r>
              <a:rPr lang="en-US" sz="1150" b="1" dirty="0">
                <a:solidFill>
                  <a:srgbClr val="B4530C"/>
                </a:solidFill>
                <a:latin typeface="Calibri" pitchFamily="34" charset="0"/>
                <a:ea typeface="Calibri" pitchFamily="34" charset="-122"/>
                <a:cs typeface="Calibri" pitchFamily="34" charset="-120"/>
              </a:rPr>
              <a:t>So</a:t>
            </a:r>
            <a:endParaRPr lang="en-US" sz="1150" dirty="0"/>
          </a:p>
        </p:txBody>
      </p:sp>
      <p:sp>
        <p:nvSpPr>
          <p:cNvPr id="16" name="Text 14"/>
          <p:cNvSpPr/>
          <p:nvPr/>
        </p:nvSpPr>
        <p:spPr>
          <a:xfrm>
            <a:off x="1965960" y="4809744"/>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Undetected blockage needs no design mitigation. Hazard closed.</a:t>
            </a:r>
            <a:endParaRPr lang="en-US" sz="1150" dirty="0"/>
          </a:p>
        </p:txBody>
      </p:sp>
      <p:sp>
        <p:nvSpPr>
          <p:cNvPr id="17" name="Shape 15"/>
          <p:cNvSpPr/>
          <p:nvPr/>
        </p:nvSpPr>
        <p:spPr>
          <a:xfrm>
            <a:off x="6245352" y="1883664"/>
            <a:ext cx="5394960" cy="3566160"/>
          </a:xfrm>
          <a:prstGeom prst="roundRect">
            <a:avLst>
              <a:gd name="adj" fmla="val 1282"/>
            </a:avLst>
          </a:prstGeom>
          <a:solidFill>
            <a:srgbClr val="FBEBDC"/>
          </a:solidFill>
          <a:ln w="12700">
            <a:solidFill>
              <a:srgbClr val="ECC8AE"/>
            </a:solidFill>
            <a:prstDash val="solid"/>
          </a:ln>
        </p:spPr>
      </p:sp>
      <p:sp>
        <p:nvSpPr>
          <p:cNvPr id="18" name="Text 16"/>
          <p:cNvSpPr/>
          <p:nvPr/>
        </p:nvSpPr>
        <p:spPr>
          <a:xfrm>
            <a:off x="6519672" y="2011680"/>
            <a:ext cx="4846320" cy="292608"/>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Program B  ·  what is actually different</a:t>
            </a:r>
            <a:endParaRPr lang="en-US" sz="1250" dirty="0"/>
          </a:p>
        </p:txBody>
      </p:sp>
      <p:sp>
        <p:nvSpPr>
          <p:cNvPr id="19" name="Text 17"/>
          <p:cNvSpPr/>
          <p:nvPr/>
        </p:nvSpPr>
        <p:spPr>
          <a:xfrm>
            <a:off x="6519672" y="2395728"/>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Alerting</a:t>
            </a:r>
            <a:endParaRPr lang="en-US" sz="1150" dirty="0"/>
          </a:p>
        </p:txBody>
      </p:sp>
      <p:sp>
        <p:nvSpPr>
          <p:cNvPr id="20" name="Text 18"/>
          <p:cNvSpPr/>
          <p:nvPr/>
        </p:nvSpPr>
        <p:spPr>
          <a:xfrm>
            <a:off x="7662672" y="2395728"/>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Different avionics supplier, different detection threshold.</a:t>
            </a:r>
            <a:endParaRPr lang="en-US" sz="1150" dirty="0"/>
          </a:p>
        </p:txBody>
      </p:sp>
      <p:sp>
        <p:nvSpPr>
          <p:cNvPr id="21" name="Text 19"/>
          <p:cNvSpPr/>
          <p:nvPr/>
        </p:nvSpPr>
        <p:spPr>
          <a:xfrm>
            <a:off x="6519672" y="2999232"/>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Procedure</a:t>
            </a:r>
            <a:endParaRPr lang="en-US" sz="1150" dirty="0"/>
          </a:p>
        </p:txBody>
      </p:sp>
      <p:sp>
        <p:nvSpPr>
          <p:cNvPr id="22" name="Text 20"/>
          <p:cNvSpPr/>
          <p:nvPr/>
        </p:nvSpPr>
        <p:spPr>
          <a:xfrm>
            <a:off x="7662672" y="2999232"/>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Different operator, different MEL, rewritten procedure.</a:t>
            </a:r>
            <a:endParaRPr lang="en-US" sz="1150" dirty="0"/>
          </a:p>
        </p:txBody>
      </p:sp>
      <p:sp>
        <p:nvSpPr>
          <p:cNvPr id="23" name="Text 21"/>
          <p:cNvSpPr/>
          <p:nvPr/>
        </p:nvSpPr>
        <p:spPr>
          <a:xfrm>
            <a:off x="6519672" y="3602736"/>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Inspection</a:t>
            </a:r>
            <a:endParaRPr lang="en-US" sz="1150" dirty="0"/>
          </a:p>
        </p:txBody>
      </p:sp>
      <p:sp>
        <p:nvSpPr>
          <p:cNvPr id="24" name="Text 22"/>
          <p:cNvSpPr/>
          <p:nvPr/>
        </p:nvSpPr>
        <p:spPr>
          <a:xfrm>
            <a:off x="7662672" y="3602736"/>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Customer maintenance program uses 600 flight hours.</a:t>
            </a:r>
            <a:endParaRPr lang="en-US" sz="1150" dirty="0"/>
          </a:p>
        </p:txBody>
      </p:sp>
      <p:sp>
        <p:nvSpPr>
          <p:cNvPr id="25" name="Text 23"/>
          <p:cNvSpPr/>
          <p:nvPr/>
        </p:nvSpPr>
        <p:spPr>
          <a:xfrm>
            <a:off x="6519672" y="4206240"/>
            <a:ext cx="1097280" cy="530352"/>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Installation</a:t>
            </a:r>
            <a:endParaRPr lang="en-US" sz="1150" dirty="0"/>
          </a:p>
        </p:txBody>
      </p:sp>
      <p:sp>
        <p:nvSpPr>
          <p:cNvPr id="26" name="Text 24"/>
          <p:cNvSpPr/>
          <p:nvPr/>
        </p:nvSpPr>
        <p:spPr>
          <a:xfrm>
            <a:off x="7662672" y="4206240"/>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Bay layout changed. Unit now near the icing zone.</a:t>
            </a:r>
            <a:endParaRPr lang="en-US" sz="1150" dirty="0"/>
          </a:p>
        </p:txBody>
      </p:sp>
      <p:sp>
        <p:nvSpPr>
          <p:cNvPr id="27" name="Text 25"/>
          <p:cNvSpPr/>
          <p:nvPr/>
        </p:nvSpPr>
        <p:spPr>
          <a:xfrm>
            <a:off x="6519672" y="4809744"/>
            <a:ext cx="1097280" cy="530352"/>
          </a:xfrm>
          <a:prstGeom prst="rect">
            <a:avLst/>
          </a:prstGeom>
          <a:noFill/>
          <a:ln/>
        </p:spPr>
        <p:txBody>
          <a:bodyPr wrap="square" lIns="0" tIns="0" rIns="0" bIns="0" rtlCol="0" anchor="t"/>
          <a:lstStyle/>
          <a:p>
            <a:pPr indent="0" marL="0">
              <a:buNone/>
            </a:pPr>
            <a:r>
              <a:rPr lang="en-US" sz="1150" b="1" dirty="0">
                <a:solidFill>
                  <a:srgbClr val="B4530C"/>
                </a:solidFill>
                <a:latin typeface="Calibri" pitchFamily="34" charset="0"/>
                <a:ea typeface="Calibri" pitchFamily="34" charset="-122"/>
                <a:cs typeface="Calibri" pitchFamily="34" charset="-120"/>
              </a:rPr>
              <a:t>So</a:t>
            </a:r>
            <a:endParaRPr lang="en-US" sz="1150" dirty="0"/>
          </a:p>
        </p:txBody>
      </p:sp>
      <p:sp>
        <p:nvSpPr>
          <p:cNvPr id="28" name="Text 26"/>
          <p:cNvSpPr/>
          <p:nvPr/>
        </p:nvSpPr>
        <p:spPr>
          <a:xfrm>
            <a:off x="7662672" y="4809744"/>
            <a:ext cx="3749040" cy="530352"/>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part number is identical. Every condition has moved.</a:t>
            </a:r>
            <a:endParaRPr lang="en-US" sz="1150" dirty="0"/>
          </a:p>
        </p:txBody>
      </p:sp>
      <p:sp>
        <p:nvSpPr>
          <p:cNvPr id="29" name="Text 27"/>
          <p:cNvSpPr/>
          <p:nvPr/>
        </p:nvSpPr>
        <p:spPr>
          <a:xfrm>
            <a:off x="548640" y="5623560"/>
            <a:ext cx="11064240" cy="548640"/>
          </a:xfrm>
          <a:prstGeom prst="rect">
            <a:avLst/>
          </a:prstGeom>
          <a:noFill/>
          <a:ln/>
        </p:spPr>
        <p:txBody>
          <a:bodyPr wrap="square" lIns="0" tIns="0" rIns="0" bIns="0" rtlCol="0" anchor="ctr"/>
          <a:lstStyle/>
          <a:p>
            <a:pPr indent="0" marL="0">
              <a:lnSpc>
                <a:spcPts val="1900"/>
              </a:lnSpc>
              <a:buNone/>
            </a:pPr>
            <a:r>
              <a:rPr lang="en-US" sz="1300" i="1" dirty="0">
                <a:solidFill>
                  <a:srgbClr val="4A5568"/>
                </a:solidFill>
                <a:latin typeface="Calibri" pitchFamily="34" charset="0"/>
                <a:ea typeface="Calibri" pitchFamily="34" charset="-122"/>
                <a:cs typeface="Calibri" pitchFamily="34" charset="-120"/>
              </a:rPr>
              <a:t>Nobody made a mistake. Four teams made four reasonable changes at four different times. No single person ever saw them together next to the assumption they invalidate.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WHY PROGRAMS REUSE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This is an incentive problem, not a discipline problem</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Reuse of assumptions is a rational response to real schedule and cost pressure, and in most cases it produces the right answer. Any proposal that ignores that will be rejected, and should be.</a:t>
            </a:r>
            <a:endParaRPr lang="en-US" sz="1400" dirty="0"/>
          </a:p>
        </p:txBody>
      </p:sp>
      <p:sp>
        <p:nvSpPr>
          <p:cNvPr id="5" name="Shape 3"/>
          <p:cNvSpPr/>
          <p:nvPr/>
        </p:nvSpPr>
        <p:spPr>
          <a:xfrm>
            <a:off x="548640" y="1975104"/>
            <a:ext cx="5394960" cy="1444752"/>
          </a:xfrm>
          <a:prstGeom prst="roundRect">
            <a:avLst>
              <a:gd name="adj" fmla="val 3165"/>
            </a:avLst>
          </a:prstGeom>
          <a:solidFill>
            <a:srgbClr val="E9EEF7"/>
          </a:solidFill>
          <a:ln w="12700">
            <a:solidFill>
              <a:srgbClr val="D3DEEF"/>
            </a:solidFill>
            <a:prstDash val="solid"/>
          </a:ln>
        </p:spPr>
      </p:sp>
      <p:sp>
        <p:nvSpPr>
          <p:cNvPr id="6" name="Text 4"/>
          <p:cNvSpPr/>
          <p:nvPr/>
        </p:nvSpPr>
        <p:spPr>
          <a:xfrm>
            <a:off x="786384"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pressure is real</a:t>
            </a:r>
            <a:endParaRPr lang="en-US" sz="1300" dirty="0"/>
          </a:p>
        </p:txBody>
      </p:sp>
      <p:sp>
        <p:nvSpPr>
          <p:cNvPr id="7" name="Text 5"/>
          <p:cNvSpPr/>
          <p:nvPr/>
        </p:nvSpPr>
        <p:spPr>
          <a:xfrm>
            <a:off x="786384" y="2487168"/>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Assumption sets are written during proposal and early design, the most compressed phase of any program. Rebuilding one costs weeks of senior engineering time the bid does not have.</a:t>
            </a:r>
            <a:endParaRPr lang="en-US" sz="1200" dirty="0"/>
          </a:p>
        </p:txBody>
      </p:sp>
      <p:sp>
        <p:nvSpPr>
          <p:cNvPr id="8" name="Shape 6"/>
          <p:cNvSpPr/>
          <p:nvPr/>
        </p:nvSpPr>
        <p:spPr>
          <a:xfrm>
            <a:off x="6245352" y="1975104"/>
            <a:ext cx="5394960" cy="1444752"/>
          </a:xfrm>
          <a:prstGeom prst="roundRect">
            <a:avLst>
              <a:gd name="adj" fmla="val 3165"/>
            </a:avLst>
          </a:prstGeom>
          <a:solidFill>
            <a:srgbClr val="FFFFFF"/>
          </a:solidFill>
          <a:ln w="12700">
            <a:solidFill>
              <a:srgbClr val="D3DEEF"/>
            </a:solidFill>
            <a:prstDash val="solid"/>
          </a:ln>
        </p:spPr>
      </p:sp>
      <p:sp>
        <p:nvSpPr>
          <p:cNvPr id="9" name="Text 7"/>
          <p:cNvSpPr/>
          <p:nvPr/>
        </p:nvSpPr>
        <p:spPr>
          <a:xfrm>
            <a:off x="6483096"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incentives point one way</a:t>
            </a:r>
            <a:endParaRPr lang="en-US" sz="1300" dirty="0"/>
          </a:p>
        </p:txBody>
      </p:sp>
      <p:sp>
        <p:nvSpPr>
          <p:cNvPr id="10" name="Text 8"/>
          <p:cNvSpPr/>
          <p:nvPr/>
        </p:nvSpPr>
        <p:spPr>
          <a:xfrm>
            <a:off x="6483096" y="2487168"/>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Rebuilding costs the bid, now, visibly. Not rebuilding costs execution or the fleet, years later, invisibly. Every individual decision to reuse is locally sensible.</a:t>
            </a:r>
            <a:endParaRPr lang="en-US" sz="1200" dirty="0"/>
          </a:p>
        </p:txBody>
      </p:sp>
      <p:sp>
        <p:nvSpPr>
          <p:cNvPr id="11" name="Shape 9"/>
          <p:cNvSpPr/>
          <p:nvPr/>
        </p:nvSpPr>
        <p:spPr>
          <a:xfrm>
            <a:off x="548640" y="3602736"/>
            <a:ext cx="5394960" cy="1444752"/>
          </a:xfrm>
          <a:prstGeom prst="roundRect">
            <a:avLst>
              <a:gd name="adj" fmla="val 3165"/>
            </a:avLst>
          </a:prstGeom>
          <a:solidFill>
            <a:srgbClr val="E9EEF7"/>
          </a:solidFill>
          <a:ln w="12700">
            <a:solidFill>
              <a:srgbClr val="D3DEEF"/>
            </a:solidFill>
            <a:prstDash val="solid"/>
          </a:ln>
        </p:spPr>
      </p:sp>
      <p:sp>
        <p:nvSpPr>
          <p:cNvPr id="12" name="Text 10"/>
          <p:cNvSpPr/>
          <p:nvPr/>
        </p:nvSpPr>
        <p:spPr>
          <a:xfrm>
            <a:off x="786384" y="3749040"/>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Reuse is usually correct</a:t>
            </a:r>
            <a:endParaRPr lang="en-US" sz="1300" dirty="0"/>
          </a:p>
        </p:txBody>
      </p:sp>
      <p:sp>
        <p:nvSpPr>
          <p:cNvPr id="13" name="Text 11"/>
          <p:cNvSpPr/>
          <p:nvPr/>
        </p:nvSpPr>
        <p:spPr>
          <a:xfrm>
            <a:off x="786384" y="4114800"/>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When the part, the installation, the environment, the customer and the maintenance program are genuinely the same, the earlier assumption holds and rebuilding it wastes money.</a:t>
            </a:r>
            <a:endParaRPr lang="en-US" sz="1200" dirty="0"/>
          </a:p>
        </p:txBody>
      </p:sp>
      <p:sp>
        <p:nvSpPr>
          <p:cNvPr id="14" name="Shape 12"/>
          <p:cNvSpPr/>
          <p:nvPr/>
        </p:nvSpPr>
        <p:spPr>
          <a:xfrm>
            <a:off x="6245352" y="3602736"/>
            <a:ext cx="5394960" cy="1444752"/>
          </a:xfrm>
          <a:prstGeom prst="roundRect">
            <a:avLst>
              <a:gd name="adj" fmla="val 3165"/>
            </a:avLst>
          </a:prstGeom>
          <a:solidFill>
            <a:srgbClr val="FFFFFF"/>
          </a:solidFill>
          <a:ln w="12700">
            <a:solidFill>
              <a:srgbClr val="D3DEEF"/>
            </a:solidFill>
            <a:prstDash val="solid"/>
          </a:ln>
        </p:spPr>
      </p:sp>
      <p:sp>
        <p:nvSpPr>
          <p:cNvPr id="15" name="Text 13"/>
          <p:cNvSpPr/>
          <p:nvPr/>
        </p:nvSpPr>
        <p:spPr>
          <a:xfrm>
            <a:off x="6483096" y="3749040"/>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So the problem is not reuse</a:t>
            </a:r>
            <a:endParaRPr lang="en-US" sz="1300" dirty="0"/>
          </a:p>
        </p:txBody>
      </p:sp>
      <p:sp>
        <p:nvSpPr>
          <p:cNvPr id="16" name="Text 14"/>
          <p:cNvSpPr/>
          <p:nvPr/>
        </p:nvSpPr>
        <p:spPr>
          <a:xfrm>
            <a:off x="6483096" y="4114800"/>
            <a:ext cx="4956048" cy="804672"/>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The problem is reuse in a form nobody can check. If the conditions are not written down and not tied to anything, then when one changes there is no way to find out.</a:t>
            </a:r>
            <a:endParaRPr lang="en-US" sz="1200" dirty="0"/>
          </a:p>
        </p:txBody>
      </p:sp>
      <p:sp>
        <p:nvSpPr>
          <p:cNvPr id="17" name="Shape 15"/>
          <p:cNvSpPr/>
          <p:nvPr/>
        </p:nvSpPr>
        <p:spPr>
          <a:xfrm>
            <a:off x="548640" y="5230368"/>
            <a:ext cx="11091672" cy="1225296"/>
          </a:xfrm>
          <a:prstGeom prst="roundRect">
            <a:avLst>
              <a:gd name="adj" fmla="val 3731"/>
            </a:avLst>
          </a:prstGeom>
          <a:solidFill>
            <a:srgbClr val="132A4E"/>
          </a:solidFill>
          <a:ln w="12700">
            <a:solidFill>
              <a:srgbClr val="132A4E"/>
            </a:solidFill>
            <a:prstDash val="solid"/>
          </a:ln>
        </p:spPr>
      </p:sp>
      <p:sp>
        <p:nvSpPr>
          <p:cNvPr id="18" name="Text 16"/>
          <p:cNvSpPr/>
          <p:nvPr/>
        </p:nvSpPr>
        <p:spPr>
          <a:xfrm>
            <a:off x="841248" y="536752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What we are actually asking for</a:t>
            </a:r>
            <a:endParaRPr lang="en-US" sz="1200" dirty="0"/>
          </a:p>
        </p:txBody>
      </p:sp>
      <p:sp>
        <p:nvSpPr>
          <p:cNvPr id="19" name="Text 17"/>
          <p:cNvSpPr/>
          <p:nvPr/>
        </p:nvSpPr>
        <p:spPr>
          <a:xfrm>
            <a:off x="841248" y="5669280"/>
            <a:ext cx="10515600" cy="658368"/>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Writing the conditions down at the moment the assumption is made costs minutes, because the engineer making it already knows them. Reconstructing the same conditions three years later costs weeks, and often cannot be done at all. The expensive version of this work is the one we do today.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GOES WRONG</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conclusion travels. The conditions stay behind.</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What physically moves between programs is the sentence. The reasoning lives in the head of an engineer, in a review held years ago, and in another program's documents.</a:t>
            </a:r>
            <a:endParaRPr lang="en-US" sz="1400" dirty="0"/>
          </a:p>
        </p:txBody>
      </p:sp>
      <p:sp>
        <p:nvSpPr>
          <p:cNvPr id="5" name="Shape 3"/>
          <p:cNvSpPr/>
          <p:nvPr/>
        </p:nvSpPr>
        <p:spPr>
          <a:xfrm>
            <a:off x="548640" y="1883664"/>
            <a:ext cx="5394960" cy="1783080"/>
          </a:xfrm>
          <a:prstGeom prst="roundRect">
            <a:avLst>
              <a:gd name="adj" fmla="val 2564"/>
            </a:avLst>
          </a:prstGeom>
          <a:solidFill>
            <a:srgbClr val="DFF0ED"/>
          </a:solidFill>
          <a:ln w="12700">
            <a:solidFill>
              <a:srgbClr val="B9DBD5"/>
            </a:solidFill>
            <a:prstDash val="solid"/>
          </a:ln>
        </p:spPr>
      </p:sp>
      <p:sp>
        <p:nvSpPr>
          <p:cNvPr id="6" name="Text 4"/>
          <p:cNvSpPr/>
          <p:nvPr/>
        </p:nvSpPr>
        <p:spPr>
          <a:xfrm>
            <a:off x="822960" y="2011680"/>
            <a:ext cx="4846320" cy="274320"/>
          </a:xfrm>
          <a:prstGeom prst="rect">
            <a:avLst/>
          </a:prstGeom>
          <a:noFill/>
          <a:ln/>
        </p:spPr>
        <p:txBody>
          <a:bodyPr wrap="square" lIns="0" tIns="0" rIns="0" bIns="0" rtlCol="0" anchor="ctr"/>
          <a:lstStyle/>
          <a:p>
            <a:pPr indent="0" marL="0">
              <a:buNone/>
            </a:pPr>
            <a:r>
              <a:rPr lang="en-US" sz="1250" b="1" dirty="0">
                <a:solidFill>
                  <a:srgbClr val="0F6B62"/>
                </a:solidFill>
                <a:latin typeface="Calibri" pitchFamily="34" charset="0"/>
                <a:ea typeface="Calibri" pitchFamily="34" charset="-122"/>
                <a:cs typeface="Calibri" pitchFamily="34" charset="-120"/>
              </a:rPr>
              <a:t>What arrives</a:t>
            </a:r>
            <a:endParaRPr lang="en-US" sz="1250" dirty="0"/>
          </a:p>
        </p:txBody>
      </p:sp>
      <p:sp>
        <p:nvSpPr>
          <p:cNvPr id="7" name="Text 5"/>
          <p:cNvSpPr/>
          <p:nvPr/>
        </p:nvSpPr>
        <p:spPr>
          <a:xfrm>
            <a:off x="822960" y="2340864"/>
            <a:ext cx="4864608" cy="1207008"/>
          </a:xfrm>
          <a:prstGeom prst="rect">
            <a:avLst/>
          </a:prstGeom>
          <a:noFill/>
          <a:ln/>
        </p:spPr>
        <p:txBody>
          <a:bodyPr wrap="square" lIns="0" tIns="0" rIns="0" bIns="0" rtlCol="0" anchor="t"/>
          <a:lstStyle/>
          <a:p>
            <a:pPr indent="0" marL="0">
              <a:lnSpc>
                <a:spcPts val="1900"/>
              </a:lnSpc>
              <a:buNone/>
            </a:pPr>
            <a:r>
              <a:rPr lang="en-US" sz="1250" dirty="0">
                <a:solidFill>
                  <a:srgbClr val="1A2333"/>
                </a:solidFill>
                <a:latin typeface="Calibri" pitchFamily="34" charset="0"/>
                <a:ea typeface="Calibri" pitchFamily="34" charset="-122"/>
                <a:cs typeface="Calibri" pitchFamily="34" charset="-120"/>
              </a:rPr>
              <a:t>"Undetected blockage needs no design mitigation." One sentence, reviewed and approved, now part of how the new program understands the product.</a:t>
            </a:r>
            <a:endParaRPr lang="en-US" sz="1250" dirty="0"/>
          </a:p>
        </p:txBody>
      </p:sp>
      <p:sp>
        <p:nvSpPr>
          <p:cNvPr id="8" name="Shape 6"/>
          <p:cNvSpPr/>
          <p:nvPr/>
        </p:nvSpPr>
        <p:spPr>
          <a:xfrm>
            <a:off x="6245352" y="1883664"/>
            <a:ext cx="5394960" cy="1783080"/>
          </a:xfrm>
          <a:prstGeom prst="roundRect">
            <a:avLst>
              <a:gd name="adj" fmla="val 2564"/>
            </a:avLst>
          </a:prstGeom>
          <a:solidFill>
            <a:srgbClr val="FBEBDC"/>
          </a:solidFill>
          <a:ln w="12700">
            <a:solidFill>
              <a:srgbClr val="ECC8AE"/>
            </a:solidFill>
            <a:prstDash val="solid"/>
          </a:ln>
        </p:spPr>
      </p:sp>
      <p:sp>
        <p:nvSpPr>
          <p:cNvPr id="9" name="Text 7"/>
          <p:cNvSpPr/>
          <p:nvPr/>
        </p:nvSpPr>
        <p:spPr>
          <a:xfrm>
            <a:off x="6519672" y="2011680"/>
            <a:ext cx="4846320" cy="274320"/>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What stays behind</a:t>
            </a:r>
            <a:endParaRPr lang="en-US" sz="1250" dirty="0"/>
          </a:p>
        </p:txBody>
      </p:sp>
      <p:sp>
        <p:nvSpPr>
          <p:cNvPr id="10" name="Text 8"/>
          <p:cNvSpPr/>
          <p:nvPr/>
        </p:nvSpPr>
        <p:spPr>
          <a:xfrm>
            <a:off x="6519672" y="2340864"/>
            <a:ext cx="4864608" cy="1207008"/>
          </a:xfrm>
          <a:prstGeom prst="rect">
            <a:avLst/>
          </a:prstGeom>
          <a:noFill/>
          <a:ln/>
        </p:spPr>
        <p:txBody>
          <a:bodyPr wrap="square" lIns="0" tIns="0" rIns="0" bIns="0" rtlCol="0" anchor="t"/>
          <a:lstStyle/>
          <a:p>
            <a:pPr indent="0" marL="0">
              <a:lnSpc>
                <a:spcPts val="1900"/>
              </a:lnSpc>
              <a:buNone/>
            </a:pPr>
            <a:r>
              <a:rPr lang="en-US" sz="1250" dirty="0">
                <a:solidFill>
                  <a:srgbClr val="1A2333"/>
                </a:solidFill>
                <a:latin typeface="Calibri" pitchFamily="34" charset="0"/>
                <a:ea typeface="Calibri" pitchFamily="34" charset="-122"/>
                <a:cs typeface="Calibri" pitchFamily="34" charset="-120"/>
              </a:rPr>
              <a:t>The alerting threshold, the MEL condition, the inspection interval, the bay location, and the name of whoever accepted the residual risk.</a:t>
            </a:r>
            <a:endParaRPr lang="en-US" sz="1250" dirty="0"/>
          </a:p>
        </p:txBody>
      </p:sp>
      <p:sp>
        <p:nvSpPr>
          <p:cNvPr id="11" name="Text 9"/>
          <p:cNvSpPr/>
          <p:nvPr/>
        </p:nvSpPr>
        <p:spPr>
          <a:xfrm>
            <a:off x="548640" y="3840480"/>
            <a:ext cx="11064240" cy="274320"/>
          </a:xfrm>
          <a:prstGeom prst="rect">
            <a:avLst/>
          </a:prstGeom>
          <a:noFill/>
          <a:ln/>
        </p:spPr>
        <p:txBody>
          <a:bodyPr wrap="square" lIns="0" tIns="0" rIns="0" bIns="0" rtlCol="0" anchor="ctr"/>
          <a:lstStyle/>
          <a:p>
            <a:pPr indent="0" marL="0">
              <a:buNone/>
            </a:pPr>
            <a:r>
              <a:rPr lang="en-US" sz="1350" b="1" dirty="0">
                <a:solidFill>
                  <a:srgbClr val="132A4E"/>
                </a:solidFill>
                <a:latin typeface="Calibri" pitchFamily="34" charset="0"/>
                <a:ea typeface="Calibri" pitchFamily="34" charset="-122"/>
                <a:cs typeface="Calibri" pitchFamily="34" charset="-120"/>
              </a:rPr>
              <a:t>A part number answers only one of these questions</a:t>
            </a:r>
            <a:endParaRPr lang="en-US" sz="1350" dirty="0"/>
          </a:p>
        </p:txBody>
      </p:sp>
      <p:sp>
        <p:nvSpPr>
          <p:cNvPr id="12" name="Shape 10"/>
          <p:cNvSpPr/>
          <p:nvPr/>
        </p:nvSpPr>
        <p:spPr>
          <a:xfrm>
            <a:off x="548640" y="4224528"/>
            <a:ext cx="2606040" cy="585216"/>
          </a:xfrm>
          <a:prstGeom prst="roundRect">
            <a:avLst>
              <a:gd name="adj" fmla="val 7813"/>
            </a:avLst>
          </a:prstGeom>
          <a:solidFill>
            <a:srgbClr val="FFFFFF"/>
          </a:solidFill>
          <a:ln w="12700">
            <a:solidFill>
              <a:srgbClr val="D3DEEF"/>
            </a:solidFill>
            <a:prstDash val="solid"/>
          </a:ln>
        </p:spPr>
      </p:sp>
      <p:sp>
        <p:nvSpPr>
          <p:cNvPr id="13" name="Text 11"/>
          <p:cNvSpPr/>
          <p:nvPr/>
        </p:nvSpPr>
        <p:spPr>
          <a:xfrm>
            <a:off x="694944"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and where it is installed</a:t>
            </a:r>
            <a:endParaRPr lang="en-US" sz="1150" dirty="0"/>
          </a:p>
        </p:txBody>
      </p:sp>
      <p:sp>
        <p:nvSpPr>
          <p:cNvPr id="14" name="Shape 12"/>
          <p:cNvSpPr/>
          <p:nvPr/>
        </p:nvSpPr>
        <p:spPr>
          <a:xfrm>
            <a:off x="3346704" y="4224528"/>
            <a:ext cx="2606040" cy="585216"/>
          </a:xfrm>
          <a:prstGeom prst="roundRect">
            <a:avLst>
              <a:gd name="adj" fmla="val 7813"/>
            </a:avLst>
          </a:prstGeom>
          <a:solidFill>
            <a:srgbClr val="FFFFFF"/>
          </a:solidFill>
          <a:ln w="12700">
            <a:solidFill>
              <a:srgbClr val="D3DEEF"/>
            </a:solidFill>
            <a:prstDash val="solid"/>
          </a:ln>
        </p:spPr>
      </p:sp>
      <p:sp>
        <p:nvSpPr>
          <p:cNvPr id="15" name="Text 13"/>
          <p:cNvSpPr/>
          <p:nvPr/>
        </p:nvSpPr>
        <p:spPr>
          <a:xfrm>
            <a:off x="3493008"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hard it is worked</a:t>
            </a:r>
            <a:endParaRPr lang="en-US" sz="1150" dirty="0"/>
          </a:p>
        </p:txBody>
      </p:sp>
      <p:sp>
        <p:nvSpPr>
          <p:cNvPr id="16" name="Shape 14"/>
          <p:cNvSpPr/>
          <p:nvPr/>
        </p:nvSpPr>
        <p:spPr>
          <a:xfrm>
            <a:off x="6144768" y="4224528"/>
            <a:ext cx="2606040" cy="585216"/>
          </a:xfrm>
          <a:prstGeom prst="roundRect">
            <a:avLst>
              <a:gd name="adj" fmla="val 7813"/>
            </a:avLst>
          </a:prstGeom>
          <a:solidFill>
            <a:srgbClr val="FFFFFF"/>
          </a:solidFill>
          <a:ln w="12700">
            <a:solidFill>
              <a:srgbClr val="D3DEEF"/>
            </a:solidFill>
            <a:prstDash val="solid"/>
          </a:ln>
        </p:spPr>
      </p:sp>
      <p:sp>
        <p:nvSpPr>
          <p:cNvPr id="17" name="Text 15"/>
          <p:cNvSpPr/>
          <p:nvPr/>
        </p:nvSpPr>
        <p:spPr>
          <a:xfrm>
            <a:off x="6291072"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Temperature, vibration, icing</a:t>
            </a:r>
            <a:endParaRPr lang="en-US" sz="1150" dirty="0"/>
          </a:p>
        </p:txBody>
      </p:sp>
      <p:sp>
        <p:nvSpPr>
          <p:cNvPr id="18" name="Shape 16"/>
          <p:cNvSpPr/>
          <p:nvPr/>
        </p:nvSpPr>
        <p:spPr>
          <a:xfrm>
            <a:off x="8942832" y="4224528"/>
            <a:ext cx="2606040" cy="585216"/>
          </a:xfrm>
          <a:prstGeom prst="roundRect">
            <a:avLst>
              <a:gd name="adj" fmla="val 7813"/>
            </a:avLst>
          </a:prstGeom>
          <a:solidFill>
            <a:srgbClr val="FFFFFF"/>
          </a:solidFill>
          <a:ln w="12700">
            <a:solidFill>
              <a:srgbClr val="D3DEEF"/>
            </a:solidFill>
            <a:prstDash val="solid"/>
          </a:ln>
        </p:spPr>
      </p:sp>
      <p:sp>
        <p:nvSpPr>
          <p:cNvPr id="19" name="Text 17"/>
          <p:cNvSpPr/>
          <p:nvPr/>
        </p:nvSpPr>
        <p:spPr>
          <a:xfrm>
            <a:off x="9089136" y="4224528"/>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often it is inspected</a:t>
            </a:r>
            <a:endParaRPr lang="en-US" sz="1150" dirty="0"/>
          </a:p>
        </p:txBody>
      </p:sp>
      <p:sp>
        <p:nvSpPr>
          <p:cNvPr id="20" name="Shape 18"/>
          <p:cNvSpPr/>
          <p:nvPr/>
        </p:nvSpPr>
        <p:spPr>
          <a:xfrm>
            <a:off x="548640" y="4919472"/>
            <a:ext cx="2606040" cy="585216"/>
          </a:xfrm>
          <a:prstGeom prst="roundRect">
            <a:avLst>
              <a:gd name="adj" fmla="val 7813"/>
            </a:avLst>
          </a:prstGeom>
          <a:solidFill>
            <a:srgbClr val="FFFFFF"/>
          </a:solidFill>
          <a:ln w="12700">
            <a:solidFill>
              <a:srgbClr val="D3DEEF"/>
            </a:solidFill>
            <a:prstDash val="solid"/>
          </a:ln>
        </p:spPr>
      </p:sp>
      <p:sp>
        <p:nvSpPr>
          <p:cNvPr id="21" name="Text 19"/>
          <p:cNvSpPr/>
          <p:nvPr/>
        </p:nvSpPr>
        <p:spPr>
          <a:xfrm>
            <a:off x="694944"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What the crew is alerted to</a:t>
            </a:r>
            <a:endParaRPr lang="en-US" sz="1150" dirty="0"/>
          </a:p>
        </p:txBody>
      </p:sp>
      <p:sp>
        <p:nvSpPr>
          <p:cNvPr id="22" name="Shape 20"/>
          <p:cNvSpPr/>
          <p:nvPr/>
        </p:nvSpPr>
        <p:spPr>
          <a:xfrm>
            <a:off x="3346704" y="4919472"/>
            <a:ext cx="2606040" cy="585216"/>
          </a:xfrm>
          <a:prstGeom prst="roundRect">
            <a:avLst>
              <a:gd name="adj" fmla="val 7813"/>
            </a:avLst>
          </a:prstGeom>
          <a:solidFill>
            <a:srgbClr val="FFFFFF"/>
          </a:solidFill>
          <a:ln w="12700">
            <a:solidFill>
              <a:srgbClr val="D3DEEF"/>
            </a:solidFill>
            <a:prstDash val="solid"/>
          </a:ln>
        </p:spPr>
      </p:sp>
      <p:sp>
        <p:nvSpPr>
          <p:cNvPr id="23" name="Text 21"/>
          <p:cNvSpPr/>
          <p:nvPr/>
        </p:nvSpPr>
        <p:spPr>
          <a:xfrm>
            <a:off x="3493008"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What it is connected to</a:t>
            </a:r>
            <a:endParaRPr lang="en-US" sz="1150" dirty="0"/>
          </a:p>
        </p:txBody>
      </p:sp>
      <p:sp>
        <p:nvSpPr>
          <p:cNvPr id="24" name="Shape 22"/>
          <p:cNvSpPr/>
          <p:nvPr/>
        </p:nvSpPr>
        <p:spPr>
          <a:xfrm>
            <a:off x="6144768" y="4919472"/>
            <a:ext cx="2606040" cy="585216"/>
          </a:xfrm>
          <a:prstGeom prst="roundRect">
            <a:avLst>
              <a:gd name="adj" fmla="val 7813"/>
            </a:avLst>
          </a:prstGeom>
          <a:solidFill>
            <a:srgbClr val="FFFFFF"/>
          </a:solidFill>
          <a:ln w="12700">
            <a:solidFill>
              <a:srgbClr val="D3DEEF"/>
            </a:solidFill>
            <a:prstDash val="solid"/>
          </a:ln>
        </p:spPr>
      </p:sp>
      <p:sp>
        <p:nvSpPr>
          <p:cNvPr id="25" name="Text 23"/>
          <p:cNvSpPr/>
          <p:nvPr/>
        </p:nvSpPr>
        <p:spPr>
          <a:xfrm>
            <a:off x="6291072"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How the operator actually flies it</a:t>
            </a:r>
            <a:endParaRPr lang="en-US" sz="1150" dirty="0"/>
          </a:p>
        </p:txBody>
      </p:sp>
      <p:sp>
        <p:nvSpPr>
          <p:cNvPr id="26" name="Shape 24"/>
          <p:cNvSpPr/>
          <p:nvPr/>
        </p:nvSpPr>
        <p:spPr>
          <a:xfrm>
            <a:off x="8942832" y="4919472"/>
            <a:ext cx="2606040" cy="585216"/>
          </a:xfrm>
          <a:prstGeom prst="roundRect">
            <a:avLst>
              <a:gd name="adj" fmla="val 7813"/>
            </a:avLst>
          </a:prstGeom>
          <a:solidFill>
            <a:srgbClr val="FFFFFF"/>
          </a:solidFill>
          <a:ln w="12700">
            <a:solidFill>
              <a:srgbClr val="D3DEEF"/>
            </a:solidFill>
            <a:prstDash val="solid"/>
          </a:ln>
        </p:spPr>
      </p:sp>
      <p:sp>
        <p:nvSpPr>
          <p:cNvPr id="27" name="Text 25"/>
          <p:cNvSpPr/>
          <p:nvPr/>
        </p:nvSpPr>
        <p:spPr>
          <a:xfrm>
            <a:off x="9089136" y="4919472"/>
            <a:ext cx="2340864" cy="585216"/>
          </a:xfrm>
          <a:prstGeom prst="rect">
            <a:avLst/>
          </a:prstGeom>
          <a:noFill/>
          <a:ln/>
        </p:spPr>
        <p:txBody>
          <a:bodyPr wrap="square" lIns="0" tIns="0" rIns="0" bIns="0" rtlCol="0" anchor="ctr"/>
          <a:lstStyle/>
          <a:p>
            <a:pPr indent="0" marL="0">
              <a:lnSpc>
                <a:spcPts val="1500"/>
              </a:lnSpc>
              <a:buNone/>
            </a:pPr>
            <a:r>
              <a:rPr lang="en-US" sz="1150" dirty="0">
                <a:solidFill>
                  <a:srgbClr val="1A2333"/>
                </a:solidFill>
                <a:latin typeface="Calibri" pitchFamily="34" charset="0"/>
                <a:ea typeface="Calibri" pitchFamily="34" charset="-122"/>
                <a:cs typeface="Calibri" pitchFamily="34" charset="-120"/>
              </a:rPr>
              <a:t>What maintenance requires</a:t>
            </a:r>
            <a:endParaRPr lang="en-US" sz="1150" dirty="0"/>
          </a:p>
        </p:txBody>
      </p:sp>
      <p:sp>
        <p:nvSpPr>
          <p:cNvPr id="28" name="Text 26"/>
          <p:cNvSpPr/>
          <p:nvPr/>
        </p:nvSpPr>
        <p:spPr>
          <a:xfrm>
            <a:off x="548640" y="5742432"/>
            <a:ext cx="11064240" cy="45720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A part number is a claim about one box. An assumption is a claim about that box inside a whole aircraft, a whole operation and a whole organization.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EXPOSURE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Two consequences leadership should care about</a:t>
            </a:r>
            <a:endParaRPr lang="en-US" sz="2900" dirty="0"/>
          </a:p>
        </p:txBody>
      </p:sp>
      <p:sp>
        <p:nvSpPr>
          <p:cNvPr id="4" name="Shape 2"/>
          <p:cNvSpPr/>
          <p:nvPr/>
        </p:nvSpPr>
        <p:spPr>
          <a:xfrm>
            <a:off x="548640" y="1207008"/>
            <a:ext cx="5394960" cy="2395728"/>
          </a:xfrm>
          <a:prstGeom prst="roundRect">
            <a:avLst>
              <a:gd name="adj" fmla="val 1908"/>
            </a:avLst>
          </a:prstGeom>
          <a:solidFill>
            <a:srgbClr val="FBEBDC"/>
          </a:solidFill>
          <a:ln w="12700">
            <a:solidFill>
              <a:srgbClr val="ECC8AE"/>
            </a:solidFill>
            <a:prstDash val="solid"/>
          </a:ln>
        </p:spPr>
      </p:sp>
      <p:sp>
        <p:nvSpPr>
          <p:cNvPr id="5" name="Text 3"/>
          <p:cNvSpPr/>
          <p:nvPr/>
        </p:nvSpPr>
        <p:spPr>
          <a:xfrm>
            <a:off x="822960" y="1353312"/>
            <a:ext cx="4846320" cy="310896"/>
          </a:xfrm>
          <a:prstGeom prst="rect">
            <a:avLst/>
          </a:prstGeom>
          <a:noFill/>
          <a:ln/>
        </p:spPr>
        <p:txBody>
          <a:bodyPr wrap="square" lIns="0" tIns="0" rIns="0" bIns="0" rtlCol="0" anchor="ctr"/>
          <a:lstStyle/>
          <a:p>
            <a:pPr indent="0" marL="0">
              <a:buNone/>
            </a:pPr>
            <a:r>
              <a:rPr lang="en-US" sz="1700" b="1" dirty="0">
                <a:solidFill>
                  <a:srgbClr val="B4530C"/>
                </a:solidFill>
                <a:latin typeface="Cambria" pitchFamily="34" charset="0"/>
                <a:ea typeface="Cambria" pitchFamily="34" charset="-122"/>
                <a:cs typeface="Cambria" pitchFamily="34" charset="-120"/>
              </a:rPr>
              <a:t>1.  Risk accepted by nobody</a:t>
            </a:r>
            <a:endParaRPr lang="en-US" sz="1700" dirty="0"/>
          </a:p>
        </p:txBody>
      </p:sp>
      <p:sp>
        <p:nvSpPr>
          <p:cNvPr id="6" name="Text 4"/>
          <p:cNvSpPr/>
          <p:nvPr/>
        </p:nvSpPr>
        <p:spPr>
          <a:xfrm>
            <a:off x="822960" y="1719072"/>
            <a:ext cx="4864608" cy="1828800"/>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Behind every assumption that closes a hazard there is a person who accepted the residual risk. When the assumption is inherited, that acceptance does not come with it and no equivalent decision is made here.</a:t>
            </a:r>
            <a:endParaRPr lang="en-US" sz="1100" dirty="0"/>
          </a:p>
          <a:p>
            <a:pPr indent="0" marL="0">
              <a:lnSpc>
                <a:spcPts val="1700"/>
              </a:lnSpc>
              <a:buNone/>
            </a:pPr>
            <a:endParaRPr lang="en-US" sz="1100" dirty="0"/>
          </a:p>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SM-0001 requires acceptability criteria to be defined and responsibility for accepting risk to be clearly assigned. An inherited assumption still carrying risk credit at critical design review, with nobody named, does not meet that.</a:t>
            </a:r>
            <a:endParaRPr lang="en-US" sz="1100" dirty="0"/>
          </a:p>
        </p:txBody>
      </p:sp>
      <p:sp>
        <p:nvSpPr>
          <p:cNvPr id="7" name="Shape 5"/>
          <p:cNvSpPr/>
          <p:nvPr/>
        </p:nvSpPr>
        <p:spPr>
          <a:xfrm>
            <a:off x="6245352" y="1207008"/>
            <a:ext cx="5394960" cy="2395728"/>
          </a:xfrm>
          <a:prstGeom prst="roundRect">
            <a:avLst>
              <a:gd name="adj" fmla="val 1908"/>
            </a:avLst>
          </a:prstGeom>
          <a:solidFill>
            <a:srgbClr val="E9EEF7"/>
          </a:solidFill>
          <a:ln w="12700">
            <a:solidFill>
              <a:srgbClr val="D3DEEF"/>
            </a:solidFill>
            <a:prstDash val="solid"/>
          </a:ln>
        </p:spPr>
      </p:sp>
      <p:sp>
        <p:nvSpPr>
          <p:cNvPr id="8" name="Text 6"/>
          <p:cNvSpPr/>
          <p:nvPr/>
        </p:nvSpPr>
        <p:spPr>
          <a:xfrm>
            <a:off x="6519672" y="1353312"/>
            <a:ext cx="4846320" cy="310896"/>
          </a:xfrm>
          <a:prstGeom prst="rect">
            <a:avLst/>
          </a:prstGeom>
          <a:noFill/>
          <a:ln/>
        </p:spPr>
        <p:txBody>
          <a:bodyPr wrap="square" lIns="0" tIns="0" rIns="0" bIns="0" rtlCol="0" anchor="ctr"/>
          <a:lstStyle/>
          <a:p>
            <a:pPr indent="0" marL="0">
              <a:buNone/>
            </a:pPr>
            <a:r>
              <a:rPr lang="en-US" sz="1700" b="1" dirty="0">
                <a:solidFill>
                  <a:srgbClr val="132A4E"/>
                </a:solidFill>
                <a:latin typeface="Cambria" pitchFamily="34" charset="0"/>
                <a:ea typeface="Cambria" pitchFamily="34" charset="-122"/>
                <a:cs typeface="Cambria" pitchFamily="34" charset="-120"/>
              </a:rPr>
              <a:t>2.  Cost that compounds by stage</a:t>
            </a:r>
            <a:endParaRPr lang="en-US" sz="1700" dirty="0"/>
          </a:p>
        </p:txBody>
      </p:sp>
      <p:sp>
        <p:nvSpPr>
          <p:cNvPr id="9" name="Text 7"/>
          <p:cNvSpPr/>
          <p:nvPr/>
        </p:nvSpPr>
        <p:spPr>
          <a:xfrm>
            <a:off x="6519672" y="1719072"/>
            <a:ext cx="4864608" cy="1828800"/>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The objection to this work is that it costs time we do not have. That only holds if you compare it against zero rather than against the cost of finding out later.</a:t>
            </a:r>
            <a:endParaRPr lang="en-US" sz="1100" dirty="0"/>
          </a:p>
          <a:p>
            <a:pPr indent="0" marL="0">
              <a:lnSpc>
                <a:spcPts val="1700"/>
              </a:lnSpc>
              <a:buNone/>
            </a:pPr>
            <a:endParaRPr lang="en-US" sz="1100" dirty="0"/>
          </a:p>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The cheapest point in the whole lifecycle to capture an assumption is the one point where we currently capture nothing.</a:t>
            </a:r>
            <a:endParaRPr lang="en-US" sz="1100" dirty="0"/>
          </a:p>
        </p:txBody>
      </p:sp>
      <p:sp>
        <p:nvSpPr>
          <p:cNvPr id="10" name="Shape 8"/>
          <p:cNvSpPr/>
          <p:nvPr/>
        </p:nvSpPr>
        <p:spPr>
          <a:xfrm>
            <a:off x="548640" y="3785616"/>
            <a:ext cx="11091672" cy="438912"/>
          </a:xfrm>
          <a:prstGeom prst="roundRect">
            <a:avLst>
              <a:gd name="adj" fmla="val 10417"/>
            </a:avLst>
          </a:prstGeom>
          <a:solidFill>
            <a:srgbClr val="E9EEF7"/>
          </a:solidFill>
          <a:ln w="12700">
            <a:solidFill>
              <a:srgbClr val="D3DEEF"/>
            </a:solidFill>
            <a:prstDash val="solid"/>
          </a:ln>
        </p:spPr>
      </p:sp>
      <p:sp>
        <p:nvSpPr>
          <p:cNvPr id="11" name="Shape 9"/>
          <p:cNvSpPr/>
          <p:nvPr/>
        </p:nvSpPr>
        <p:spPr>
          <a:xfrm>
            <a:off x="694944" y="3831336"/>
            <a:ext cx="2011680" cy="347472"/>
          </a:xfrm>
          <a:prstGeom prst="roundRect">
            <a:avLst>
              <a:gd name="adj" fmla="val 13158"/>
            </a:avLst>
          </a:prstGeom>
          <a:solidFill>
            <a:srgbClr val="B4530C"/>
          </a:solidFill>
          <a:ln w="12700">
            <a:solidFill>
              <a:srgbClr val="B4530C"/>
            </a:solidFill>
            <a:prstDash val="solid"/>
          </a:ln>
        </p:spPr>
      </p:sp>
      <p:sp>
        <p:nvSpPr>
          <p:cNvPr id="12" name="Text 10"/>
          <p:cNvSpPr/>
          <p:nvPr/>
        </p:nvSpPr>
        <p:spPr>
          <a:xfrm>
            <a:off x="694944" y="3831336"/>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Proposal</a:t>
            </a:r>
            <a:endParaRPr lang="en-US" sz="1050" dirty="0"/>
          </a:p>
        </p:txBody>
      </p:sp>
      <p:sp>
        <p:nvSpPr>
          <p:cNvPr id="13" name="Text 11"/>
          <p:cNvSpPr/>
          <p:nvPr/>
        </p:nvSpPr>
        <p:spPr>
          <a:xfrm>
            <a:off x="2880360" y="3785616"/>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Write the conditions down while you still know them</a:t>
            </a:r>
            <a:endParaRPr lang="en-US" sz="1150" dirty="0"/>
          </a:p>
        </p:txBody>
      </p:sp>
      <p:sp>
        <p:nvSpPr>
          <p:cNvPr id="14" name="Text 12"/>
          <p:cNvSpPr/>
          <p:nvPr/>
        </p:nvSpPr>
        <p:spPr>
          <a:xfrm>
            <a:off x="7223760" y="3785616"/>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Minutes per assumption</a:t>
            </a:r>
            <a:endParaRPr lang="en-US" sz="1100" dirty="0"/>
          </a:p>
        </p:txBody>
      </p:sp>
      <p:sp>
        <p:nvSpPr>
          <p:cNvPr id="15" name="Shape 13"/>
          <p:cNvSpPr/>
          <p:nvPr/>
        </p:nvSpPr>
        <p:spPr>
          <a:xfrm>
            <a:off x="548640" y="4297680"/>
            <a:ext cx="11091672" cy="438912"/>
          </a:xfrm>
          <a:prstGeom prst="roundRect">
            <a:avLst>
              <a:gd name="adj" fmla="val 10417"/>
            </a:avLst>
          </a:prstGeom>
          <a:solidFill>
            <a:srgbClr val="FFFFFF"/>
          </a:solidFill>
          <a:ln w="12700">
            <a:solidFill>
              <a:srgbClr val="D3DEEF"/>
            </a:solidFill>
            <a:prstDash val="solid"/>
          </a:ln>
        </p:spPr>
      </p:sp>
      <p:sp>
        <p:nvSpPr>
          <p:cNvPr id="16" name="Shape 14"/>
          <p:cNvSpPr/>
          <p:nvPr/>
        </p:nvSpPr>
        <p:spPr>
          <a:xfrm>
            <a:off x="694944" y="4343400"/>
            <a:ext cx="2011680" cy="347472"/>
          </a:xfrm>
          <a:prstGeom prst="roundRect">
            <a:avLst>
              <a:gd name="adj" fmla="val 13158"/>
            </a:avLst>
          </a:prstGeom>
          <a:solidFill>
            <a:srgbClr val="1F4380"/>
          </a:solidFill>
          <a:ln w="12700">
            <a:solidFill>
              <a:srgbClr val="1F4380"/>
            </a:solidFill>
            <a:prstDash val="solid"/>
          </a:ln>
        </p:spPr>
      </p:sp>
      <p:sp>
        <p:nvSpPr>
          <p:cNvPr id="17" name="Text 15"/>
          <p:cNvSpPr/>
          <p:nvPr/>
        </p:nvSpPr>
        <p:spPr>
          <a:xfrm>
            <a:off x="694944" y="4343400"/>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Preliminary design</a:t>
            </a:r>
            <a:endParaRPr lang="en-US" sz="1050" dirty="0"/>
          </a:p>
        </p:txBody>
      </p:sp>
      <p:sp>
        <p:nvSpPr>
          <p:cNvPr id="18" name="Text 16"/>
          <p:cNvSpPr/>
          <p:nvPr/>
        </p:nvSpPr>
        <p:spPr>
          <a:xfrm>
            <a:off x="2880360" y="4297680"/>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Check against the emerging design</a:t>
            </a:r>
            <a:endParaRPr lang="en-US" sz="1150" dirty="0"/>
          </a:p>
        </p:txBody>
      </p:sp>
      <p:sp>
        <p:nvSpPr>
          <p:cNvPr id="19" name="Text 17"/>
          <p:cNvSpPr/>
          <p:nvPr/>
        </p:nvSpPr>
        <p:spPr>
          <a:xfrm>
            <a:off x="7223760" y="4297680"/>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Hours to days, nothing committed yet</a:t>
            </a:r>
            <a:endParaRPr lang="en-US" sz="1100" dirty="0"/>
          </a:p>
        </p:txBody>
      </p:sp>
      <p:sp>
        <p:nvSpPr>
          <p:cNvPr id="20" name="Shape 18"/>
          <p:cNvSpPr/>
          <p:nvPr/>
        </p:nvSpPr>
        <p:spPr>
          <a:xfrm>
            <a:off x="548640" y="4809744"/>
            <a:ext cx="11091672" cy="438912"/>
          </a:xfrm>
          <a:prstGeom prst="roundRect">
            <a:avLst>
              <a:gd name="adj" fmla="val 10417"/>
            </a:avLst>
          </a:prstGeom>
          <a:solidFill>
            <a:srgbClr val="E9EEF7"/>
          </a:solidFill>
          <a:ln w="12700">
            <a:solidFill>
              <a:srgbClr val="D3DEEF"/>
            </a:solidFill>
            <a:prstDash val="solid"/>
          </a:ln>
        </p:spPr>
      </p:sp>
      <p:sp>
        <p:nvSpPr>
          <p:cNvPr id="21" name="Shape 19"/>
          <p:cNvSpPr/>
          <p:nvPr/>
        </p:nvSpPr>
        <p:spPr>
          <a:xfrm>
            <a:off x="694944" y="4855464"/>
            <a:ext cx="2011680" cy="347472"/>
          </a:xfrm>
          <a:prstGeom prst="roundRect">
            <a:avLst>
              <a:gd name="adj" fmla="val 13158"/>
            </a:avLst>
          </a:prstGeom>
          <a:solidFill>
            <a:srgbClr val="1F4380"/>
          </a:solidFill>
          <a:ln w="12700">
            <a:solidFill>
              <a:srgbClr val="1F4380"/>
            </a:solidFill>
            <a:prstDash val="solid"/>
          </a:ln>
        </p:spPr>
      </p:sp>
      <p:sp>
        <p:nvSpPr>
          <p:cNvPr id="22" name="Text 20"/>
          <p:cNvSpPr/>
          <p:nvPr/>
        </p:nvSpPr>
        <p:spPr>
          <a:xfrm>
            <a:off x="694944" y="4855464"/>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Critical design review</a:t>
            </a:r>
            <a:endParaRPr lang="en-US" sz="1050" dirty="0"/>
          </a:p>
        </p:txBody>
      </p:sp>
      <p:sp>
        <p:nvSpPr>
          <p:cNvPr id="23" name="Text 21"/>
          <p:cNvSpPr/>
          <p:nvPr/>
        </p:nvSpPr>
        <p:spPr>
          <a:xfrm>
            <a:off x="2880360" y="4809744"/>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Find out it does not hold</a:t>
            </a:r>
            <a:endParaRPr lang="en-US" sz="1150" dirty="0"/>
          </a:p>
        </p:txBody>
      </p:sp>
      <p:sp>
        <p:nvSpPr>
          <p:cNvPr id="24" name="Text 22"/>
          <p:cNvSpPr/>
          <p:nvPr/>
        </p:nvSpPr>
        <p:spPr>
          <a:xfrm>
            <a:off x="7223760" y="4809744"/>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Weeks to months, design change and rework</a:t>
            </a:r>
            <a:endParaRPr lang="en-US" sz="1100" dirty="0"/>
          </a:p>
        </p:txBody>
      </p:sp>
      <p:sp>
        <p:nvSpPr>
          <p:cNvPr id="25" name="Shape 23"/>
          <p:cNvSpPr/>
          <p:nvPr/>
        </p:nvSpPr>
        <p:spPr>
          <a:xfrm>
            <a:off x="548640" y="5321808"/>
            <a:ext cx="11091672" cy="438912"/>
          </a:xfrm>
          <a:prstGeom prst="roundRect">
            <a:avLst>
              <a:gd name="adj" fmla="val 10417"/>
            </a:avLst>
          </a:prstGeom>
          <a:solidFill>
            <a:srgbClr val="FFFFFF"/>
          </a:solidFill>
          <a:ln w="12700">
            <a:solidFill>
              <a:srgbClr val="D3DEEF"/>
            </a:solidFill>
            <a:prstDash val="solid"/>
          </a:ln>
        </p:spPr>
      </p:sp>
      <p:sp>
        <p:nvSpPr>
          <p:cNvPr id="26" name="Shape 24"/>
          <p:cNvSpPr/>
          <p:nvPr/>
        </p:nvSpPr>
        <p:spPr>
          <a:xfrm>
            <a:off x="694944" y="5367528"/>
            <a:ext cx="2011680" cy="347472"/>
          </a:xfrm>
          <a:prstGeom prst="roundRect">
            <a:avLst>
              <a:gd name="adj" fmla="val 13158"/>
            </a:avLst>
          </a:prstGeom>
          <a:solidFill>
            <a:srgbClr val="0F6B62"/>
          </a:solidFill>
          <a:ln w="12700">
            <a:solidFill>
              <a:srgbClr val="0F6B62"/>
            </a:solidFill>
            <a:prstDash val="solid"/>
          </a:ln>
        </p:spPr>
      </p:sp>
      <p:sp>
        <p:nvSpPr>
          <p:cNvPr id="27" name="Text 25"/>
          <p:cNvSpPr/>
          <p:nvPr/>
        </p:nvSpPr>
        <p:spPr>
          <a:xfrm>
            <a:off x="694944" y="5367528"/>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Certification</a:t>
            </a:r>
            <a:endParaRPr lang="en-US" sz="1050" dirty="0"/>
          </a:p>
        </p:txBody>
      </p:sp>
      <p:sp>
        <p:nvSpPr>
          <p:cNvPr id="28" name="Text 26"/>
          <p:cNvSpPr/>
          <p:nvPr/>
        </p:nvSpPr>
        <p:spPr>
          <a:xfrm>
            <a:off x="2880360" y="5321808"/>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Find out during compliance demonstration</a:t>
            </a:r>
            <a:endParaRPr lang="en-US" sz="1150" dirty="0"/>
          </a:p>
        </p:txBody>
      </p:sp>
      <p:sp>
        <p:nvSpPr>
          <p:cNvPr id="29" name="Text 27"/>
          <p:cNvSpPr/>
          <p:nvPr/>
        </p:nvSpPr>
        <p:spPr>
          <a:xfrm>
            <a:off x="7223760" y="5321808"/>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Months, re-analysis and possible schedule slip</a:t>
            </a:r>
            <a:endParaRPr lang="en-US" sz="1100" dirty="0"/>
          </a:p>
        </p:txBody>
      </p:sp>
      <p:sp>
        <p:nvSpPr>
          <p:cNvPr id="30" name="Shape 28"/>
          <p:cNvSpPr/>
          <p:nvPr/>
        </p:nvSpPr>
        <p:spPr>
          <a:xfrm>
            <a:off x="548640" y="5833872"/>
            <a:ext cx="11091672" cy="438912"/>
          </a:xfrm>
          <a:prstGeom prst="roundRect">
            <a:avLst>
              <a:gd name="adj" fmla="val 10417"/>
            </a:avLst>
          </a:prstGeom>
          <a:solidFill>
            <a:srgbClr val="E9EEF7"/>
          </a:solidFill>
          <a:ln w="12700">
            <a:solidFill>
              <a:srgbClr val="D3DEEF"/>
            </a:solidFill>
            <a:prstDash val="solid"/>
          </a:ln>
        </p:spPr>
      </p:sp>
      <p:sp>
        <p:nvSpPr>
          <p:cNvPr id="31" name="Shape 29"/>
          <p:cNvSpPr/>
          <p:nvPr/>
        </p:nvSpPr>
        <p:spPr>
          <a:xfrm>
            <a:off x="694944" y="5879592"/>
            <a:ext cx="2011680" cy="347472"/>
          </a:xfrm>
          <a:prstGeom prst="roundRect">
            <a:avLst>
              <a:gd name="adj" fmla="val 13158"/>
            </a:avLst>
          </a:prstGeom>
          <a:solidFill>
            <a:srgbClr val="0F6B62"/>
          </a:solidFill>
          <a:ln w="12700">
            <a:solidFill>
              <a:srgbClr val="0F6B62"/>
            </a:solidFill>
            <a:prstDash val="solid"/>
          </a:ln>
        </p:spPr>
      </p:sp>
      <p:sp>
        <p:nvSpPr>
          <p:cNvPr id="32" name="Text 30"/>
          <p:cNvSpPr/>
          <p:nvPr/>
        </p:nvSpPr>
        <p:spPr>
          <a:xfrm>
            <a:off x="694944" y="5879592"/>
            <a:ext cx="20116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 service</a:t>
            </a:r>
            <a:endParaRPr lang="en-US" sz="1050" dirty="0"/>
          </a:p>
        </p:txBody>
      </p:sp>
      <p:sp>
        <p:nvSpPr>
          <p:cNvPr id="33" name="Text 31"/>
          <p:cNvSpPr/>
          <p:nvPr/>
        </p:nvSpPr>
        <p:spPr>
          <a:xfrm>
            <a:off x="2880360" y="5833872"/>
            <a:ext cx="4206240" cy="438912"/>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Find out from field evidence</a:t>
            </a:r>
            <a:endParaRPr lang="en-US" sz="1150" dirty="0"/>
          </a:p>
        </p:txBody>
      </p:sp>
      <p:sp>
        <p:nvSpPr>
          <p:cNvPr id="34" name="Text 32"/>
          <p:cNvSpPr/>
          <p:nvPr/>
        </p:nvSpPr>
        <p:spPr>
          <a:xfrm>
            <a:off x="7223760" y="5833872"/>
            <a:ext cx="4206240" cy="438912"/>
          </a:xfrm>
          <a:prstGeom prst="rect">
            <a:avLst/>
          </a:prstGeom>
          <a:noFill/>
          <a:ln/>
        </p:spPr>
        <p:txBody>
          <a:bodyPr wrap="square" lIns="0" tIns="0" rIns="0" bIns="0" rtlCol="0" anchor="ctr"/>
          <a:lstStyle/>
          <a:p>
            <a:pPr indent="0" marL="0">
              <a:buNone/>
            </a:pPr>
            <a:r>
              <a:rPr lang="en-US" sz="1100" dirty="0">
                <a:solidFill>
                  <a:srgbClr val="1A2333"/>
                </a:solidFill>
                <a:latin typeface="Calibri" pitchFamily="34" charset="0"/>
                <a:ea typeface="Calibri" pitchFamily="34" charset="-122"/>
                <a:cs typeface="Calibri" pitchFamily="34" charset="-120"/>
              </a:rPr>
              <a:t>Fleet action, service bulletin, possible AD</a:t>
            </a:r>
            <a:endParaRPr lang="en-US" sz="1100" dirty="0"/>
          </a:p>
        </p:txBody>
      </p:sp>
      <p:sp>
        <p:nvSpPr>
          <p:cNvPr id="35" name="Text 33"/>
          <p:cNvSpPr/>
          <p:nvPr/>
        </p:nvSpPr>
        <p:spPr>
          <a:xfrm>
            <a:off x="548640" y="6382512"/>
            <a:ext cx="11064240" cy="292608"/>
          </a:xfrm>
          <a:prstGeom prst="rect">
            <a:avLst/>
          </a:prstGeom>
          <a:noFill/>
          <a:ln/>
        </p:spPr>
        <p:txBody>
          <a:bodyPr wrap="square" lIns="0" tIns="0" rIns="0" bIns="0" rtlCol="0" anchor="ctr"/>
          <a:lstStyle/>
          <a:p>
            <a:pPr indent="0" marL="0">
              <a:buNone/>
            </a:pPr>
            <a:r>
              <a:rPr lang="en-US" sz="1050" i="1" dirty="0">
                <a:solidFill>
                  <a:srgbClr val="4A5568"/>
                </a:solidFill>
                <a:latin typeface="Calibri" pitchFamily="34" charset="0"/>
                <a:ea typeface="Calibri" pitchFamily="34" charset="-122"/>
                <a:cs typeface="Calibri" pitchFamily="34" charset="-120"/>
              </a:rPr>
              <a:t>Cost shape is illustrative rather than measured across our programs.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WHERE THE THINGS ASSUMPTIONS DEPEND ON ACTUALLY LIVE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Three control regimes, not one</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The facts an assumption relies on are controlled in three different places, by three different authorities, with three different change processes. A practice hooked into only one of them will miss most of the failures.</a:t>
            </a:r>
            <a:endParaRPr lang="en-US" sz="1400" dirty="0"/>
          </a:p>
        </p:txBody>
      </p:sp>
      <p:sp>
        <p:nvSpPr>
          <p:cNvPr id="5" name="Shape 3"/>
          <p:cNvSpPr/>
          <p:nvPr/>
        </p:nvSpPr>
        <p:spPr>
          <a:xfrm>
            <a:off x="548640" y="1975104"/>
            <a:ext cx="5394960" cy="1481328"/>
          </a:xfrm>
          <a:prstGeom prst="roundRect">
            <a:avLst>
              <a:gd name="adj" fmla="val 3086"/>
            </a:avLst>
          </a:prstGeom>
          <a:solidFill>
            <a:srgbClr val="E9EEF7"/>
          </a:solidFill>
          <a:ln w="12700">
            <a:solidFill>
              <a:srgbClr val="D3DEEF"/>
            </a:solidFill>
            <a:prstDash val="solid"/>
          </a:ln>
        </p:spPr>
      </p:sp>
      <p:sp>
        <p:nvSpPr>
          <p:cNvPr id="6" name="Text 4"/>
          <p:cNvSpPr/>
          <p:nvPr/>
        </p:nvSpPr>
        <p:spPr>
          <a:xfrm>
            <a:off x="786384"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Engineering configuration control</a:t>
            </a:r>
            <a:endParaRPr lang="en-US" sz="1300" dirty="0"/>
          </a:p>
        </p:txBody>
      </p:sp>
      <p:sp>
        <p:nvSpPr>
          <p:cNvPr id="7" name="Text 5"/>
          <p:cNvSpPr/>
          <p:nvPr/>
        </p:nvSpPr>
        <p:spPr>
          <a:xfrm>
            <a:off x="786384" y="2487168"/>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Drawings, specifications, interface requirements. Changed through a formal engineering change process with a change board. This is where hardware and interface assumptions anchor, and it is the regime we understand best.</a:t>
            </a:r>
            <a:endParaRPr lang="en-US" sz="1200" dirty="0"/>
          </a:p>
        </p:txBody>
      </p:sp>
      <p:sp>
        <p:nvSpPr>
          <p:cNvPr id="8" name="Shape 6"/>
          <p:cNvSpPr/>
          <p:nvPr/>
        </p:nvSpPr>
        <p:spPr>
          <a:xfrm>
            <a:off x="6245352" y="1975104"/>
            <a:ext cx="5394960" cy="1481328"/>
          </a:xfrm>
          <a:prstGeom prst="roundRect">
            <a:avLst>
              <a:gd name="adj" fmla="val 3086"/>
            </a:avLst>
          </a:prstGeom>
          <a:solidFill>
            <a:srgbClr val="FFFFFF"/>
          </a:solidFill>
          <a:ln w="12700">
            <a:solidFill>
              <a:srgbClr val="D3DEEF"/>
            </a:solidFill>
            <a:prstDash val="solid"/>
          </a:ln>
        </p:spPr>
      </p:sp>
      <p:sp>
        <p:nvSpPr>
          <p:cNvPr id="9" name="Text 7"/>
          <p:cNvSpPr/>
          <p:nvPr/>
        </p:nvSpPr>
        <p:spPr>
          <a:xfrm>
            <a:off x="6483096" y="212140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Maintenance program and operational control</a:t>
            </a:r>
            <a:endParaRPr lang="en-US" sz="1300" dirty="0"/>
          </a:p>
        </p:txBody>
      </p:sp>
      <p:sp>
        <p:nvSpPr>
          <p:cNvPr id="10" name="Text 8"/>
          <p:cNvSpPr/>
          <p:nvPr/>
        </p:nvSpPr>
        <p:spPr>
          <a:xfrm>
            <a:off x="6483096" y="2487168"/>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Inspection intervals, MEL conditions, flight and maintenance procedures. Owned by the operator and the authority, and revised with no engineering change at all. Most of our broken assumptions anchor here.</a:t>
            </a:r>
            <a:endParaRPr lang="en-US" sz="1200" dirty="0"/>
          </a:p>
        </p:txBody>
      </p:sp>
      <p:sp>
        <p:nvSpPr>
          <p:cNvPr id="11" name="Shape 9"/>
          <p:cNvSpPr/>
          <p:nvPr/>
        </p:nvSpPr>
        <p:spPr>
          <a:xfrm>
            <a:off x="548640" y="3639312"/>
            <a:ext cx="5394960" cy="1481328"/>
          </a:xfrm>
          <a:prstGeom prst="roundRect">
            <a:avLst>
              <a:gd name="adj" fmla="val 3086"/>
            </a:avLst>
          </a:prstGeom>
          <a:solidFill>
            <a:srgbClr val="E9EEF7"/>
          </a:solidFill>
          <a:ln w="12700">
            <a:solidFill>
              <a:srgbClr val="D3DEEF"/>
            </a:solidFill>
            <a:prstDash val="solid"/>
          </a:ln>
        </p:spPr>
      </p:sp>
      <p:sp>
        <p:nvSpPr>
          <p:cNvPr id="12" name="Text 10"/>
          <p:cNvSpPr/>
          <p:nvPr/>
        </p:nvSpPr>
        <p:spPr>
          <a:xfrm>
            <a:off x="786384" y="3785616"/>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Training and competence control</a:t>
            </a:r>
            <a:endParaRPr lang="en-US" sz="1300" dirty="0"/>
          </a:p>
        </p:txBody>
      </p:sp>
      <p:sp>
        <p:nvSpPr>
          <p:cNvPr id="13" name="Text 11"/>
          <p:cNvSpPr/>
          <p:nvPr/>
        </p:nvSpPr>
        <p:spPr>
          <a:xfrm>
            <a:off x="786384" y="4151376"/>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Crew and maintainer qualification, recency and curriculum content. Approved and revised through the training organization, entirely outside engineering. Assumptions about human performance anchor here.</a:t>
            </a:r>
            <a:endParaRPr lang="en-US" sz="1200" dirty="0"/>
          </a:p>
        </p:txBody>
      </p:sp>
      <p:sp>
        <p:nvSpPr>
          <p:cNvPr id="14" name="Shape 12"/>
          <p:cNvSpPr/>
          <p:nvPr/>
        </p:nvSpPr>
        <p:spPr>
          <a:xfrm>
            <a:off x="6245352" y="3639312"/>
            <a:ext cx="5394960" cy="1481328"/>
          </a:xfrm>
          <a:prstGeom prst="roundRect">
            <a:avLst>
              <a:gd name="adj" fmla="val 3086"/>
            </a:avLst>
          </a:prstGeom>
          <a:solidFill>
            <a:srgbClr val="DFF0ED"/>
          </a:solidFill>
          <a:ln w="12700">
            <a:solidFill>
              <a:srgbClr val="B9DBD5"/>
            </a:solidFill>
            <a:prstDash val="solid"/>
          </a:ln>
        </p:spPr>
      </p:sp>
      <p:sp>
        <p:nvSpPr>
          <p:cNvPr id="15" name="Text 13"/>
          <p:cNvSpPr/>
          <p:nvPr/>
        </p:nvSpPr>
        <p:spPr>
          <a:xfrm>
            <a:off x="6483096" y="3785616"/>
            <a:ext cx="4937760" cy="329184"/>
          </a:xfrm>
          <a:prstGeom prst="rect">
            <a:avLst/>
          </a:prstGeom>
          <a:noFill/>
          <a:ln/>
        </p:spPr>
        <p:txBody>
          <a:bodyPr wrap="square" lIns="0" tIns="0" rIns="0" bIns="0" rtlCol="0" anchor="ctr"/>
          <a:lstStyle/>
          <a:p>
            <a:pPr indent="0" marL="0">
              <a:buNone/>
            </a:pPr>
            <a:r>
              <a:rPr lang="en-US" sz="1300" b="1" dirty="0">
                <a:solidFill>
                  <a:srgbClr val="0F6B62"/>
                </a:solidFill>
                <a:latin typeface="Calibri" pitchFamily="34" charset="0"/>
                <a:ea typeface="Calibri" pitchFamily="34" charset="-122"/>
                <a:cs typeface="Calibri" pitchFamily="34" charset="-120"/>
              </a:rPr>
              <a:t>What they have in common is enough</a:t>
            </a:r>
            <a:endParaRPr lang="en-US" sz="1300" dirty="0"/>
          </a:p>
        </p:txBody>
      </p:sp>
      <p:sp>
        <p:nvSpPr>
          <p:cNvPr id="16" name="Text 14"/>
          <p:cNvSpPr/>
          <p:nvPr/>
        </p:nvSpPr>
        <p:spPr>
          <a:xfrm>
            <a:off x="6483096" y="4151376"/>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All three produce documents with an identifier, a revision and an approval authority. That is all we need to record what an assumption depends on and to detect later that it moved.</a:t>
            </a:r>
            <a:endParaRPr lang="en-US" sz="1200" dirty="0"/>
          </a:p>
        </p:txBody>
      </p:sp>
      <p:sp>
        <p:nvSpPr>
          <p:cNvPr id="17" name="Shape 15"/>
          <p:cNvSpPr/>
          <p:nvPr/>
        </p:nvSpPr>
        <p:spPr>
          <a:xfrm>
            <a:off x="548640" y="5193792"/>
            <a:ext cx="11091672" cy="1261872"/>
          </a:xfrm>
          <a:prstGeom prst="roundRect">
            <a:avLst>
              <a:gd name="adj" fmla="val 3623"/>
            </a:avLst>
          </a:prstGeom>
          <a:solidFill>
            <a:srgbClr val="132A4E"/>
          </a:solidFill>
          <a:ln w="12700">
            <a:solidFill>
              <a:srgbClr val="132A4E"/>
            </a:solidFill>
            <a:prstDash val="solid"/>
          </a:ln>
        </p:spPr>
      </p:sp>
      <p:sp>
        <p:nvSpPr>
          <p:cNvPr id="18" name="Text 16"/>
          <p:cNvSpPr/>
          <p:nvPr/>
        </p:nvSpPr>
        <p:spPr>
          <a:xfrm>
            <a:off x="841248" y="5330952"/>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Why the SMS has to own this</a:t>
            </a:r>
            <a:endParaRPr lang="en-US" sz="1200" dirty="0"/>
          </a:p>
        </p:txBody>
      </p:sp>
      <p:sp>
        <p:nvSpPr>
          <p:cNvPr id="19" name="Text 17"/>
          <p:cNvSpPr/>
          <p:nvPr/>
        </p:nvSpPr>
        <p:spPr>
          <a:xfrm>
            <a:off x="841248" y="5632704"/>
            <a:ext cx="10515600" cy="694944"/>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What they do not share is a single change process, a single owner or a single approval route. That is why this practice has to sit inside the SMS rather than inside any one of the three. Configuration management supplies revision state for the engineering regime and the document-identity discipline that makes references stable. It is a supplier to this practice, not its owner.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OBVIOUS OBJECTION, ANSWERED</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We do not have to wait for the design to mature</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Assumptions are written at proposal, when almost nothing is fixed. But the documents they can point at appear in sequence, and each one lets a further set of assumptions be anchored.</a:t>
            </a:r>
            <a:endParaRPr lang="en-US" sz="1400" dirty="0"/>
          </a:p>
        </p:txBody>
      </p:sp>
      <p:sp>
        <p:nvSpPr>
          <p:cNvPr id="5" name="Shape 3"/>
          <p:cNvSpPr/>
          <p:nvPr/>
        </p:nvSpPr>
        <p:spPr>
          <a:xfrm>
            <a:off x="548640" y="1938528"/>
            <a:ext cx="11091672" cy="621792"/>
          </a:xfrm>
          <a:prstGeom prst="roundRect">
            <a:avLst>
              <a:gd name="adj" fmla="val 7353"/>
            </a:avLst>
          </a:prstGeom>
          <a:solidFill>
            <a:srgbClr val="E9EEF7"/>
          </a:solidFill>
          <a:ln w="12700">
            <a:solidFill>
              <a:srgbClr val="D3DEEF"/>
            </a:solidFill>
            <a:prstDash val="solid"/>
          </a:ln>
        </p:spPr>
      </p:sp>
      <p:sp>
        <p:nvSpPr>
          <p:cNvPr id="6" name="Shape 4"/>
          <p:cNvSpPr/>
          <p:nvPr/>
        </p:nvSpPr>
        <p:spPr>
          <a:xfrm>
            <a:off x="768096" y="2176272"/>
            <a:ext cx="155448" cy="155448"/>
          </a:xfrm>
          <a:prstGeom prst="ellipse">
            <a:avLst/>
          </a:prstGeom>
          <a:solidFill>
            <a:srgbClr val="1F4380"/>
          </a:solidFill>
          <a:ln w="12700">
            <a:solidFill>
              <a:srgbClr val="1F4380"/>
            </a:solidFill>
            <a:prstDash val="solid"/>
          </a:ln>
        </p:spPr>
      </p:sp>
      <p:sp>
        <p:nvSpPr>
          <p:cNvPr id="7" name="Text 5"/>
          <p:cNvSpPr/>
          <p:nvPr/>
        </p:nvSpPr>
        <p:spPr>
          <a:xfrm>
            <a:off x="1060704" y="1938528"/>
            <a:ext cx="3200400" cy="621792"/>
          </a:xfrm>
          <a:prstGeom prst="rect">
            <a:avLst/>
          </a:prstGeom>
          <a:noFill/>
          <a:ln/>
        </p:spPr>
        <p:txBody>
          <a:bodyPr wrap="square" lIns="0" tIns="0" rIns="0" bIns="0" rtlCol="0" anchor="ctr"/>
          <a:lstStyle/>
          <a:p>
            <a:pPr indent="0" marL="0">
              <a:lnSpc>
                <a:spcPts val="1600"/>
              </a:lnSpc>
              <a:buNone/>
            </a:pPr>
            <a:r>
              <a:rPr lang="en-US" sz="1200" b="1" dirty="0">
                <a:solidFill>
                  <a:srgbClr val="132A4E"/>
                </a:solidFill>
                <a:latin typeface="Calibri" pitchFamily="34" charset="0"/>
                <a:ea typeface="Calibri" pitchFamily="34" charset="-122"/>
                <a:cs typeface="Calibri" pitchFamily="34" charset="-120"/>
              </a:rPr>
              <a:t>System specification</a:t>
            </a:r>
            <a:endParaRPr lang="en-US" sz="1200" dirty="0"/>
          </a:p>
        </p:txBody>
      </p:sp>
      <p:sp>
        <p:nvSpPr>
          <p:cNvPr id="8" name="Text 6"/>
          <p:cNvSpPr/>
          <p:nvPr/>
        </p:nvSpPr>
        <p:spPr>
          <a:xfrm>
            <a:off x="4297680" y="1938528"/>
            <a:ext cx="2743200" cy="621792"/>
          </a:xfrm>
          <a:prstGeom prst="rect">
            <a:avLst/>
          </a:prstGeom>
          <a:noFill/>
          <a:ln/>
        </p:spPr>
        <p:txBody>
          <a:bodyPr wrap="square" lIns="0" tIns="0" rIns="0" bIns="0" rtlCol="0" anchor="ctr"/>
          <a:lstStyle/>
          <a:p>
            <a:pPr indent="0" marL="0">
              <a:lnSpc>
                <a:spcPts val="1500"/>
              </a:lnSpc>
              <a:buNone/>
            </a:pPr>
            <a:r>
              <a:rPr lang="en-US" sz="1100" b="1" dirty="0">
                <a:solidFill>
                  <a:srgbClr val="1F4380"/>
                </a:solidFill>
                <a:latin typeface="Calibri" pitchFamily="34" charset="0"/>
                <a:ea typeface="Calibri" pitchFamily="34" charset="-122"/>
                <a:cs typeface="Calibri" pitchFamily="34" charset="-120"/>
              </a:rPr>
              <a:t>Early design</a:t>
            </a:r>
            <a:endParaRPr lang="en-US" sz="1100" dirty="0"/>
          </a:p>
        </p:txBody>
      </p:sp>
      <p:sp>
        <p:nvSpPr>
          <p:cNvPr id="9" name="Text 7"/>
          <p:cNvSpPr/>
          <p:nvPr/>
        </p:nvSpPr>
        <p:spPr>
          <a:xfrm>
            <a:off x="7178040" y="1938528"/>
            <a:ext cx="4251960" cy="621792"/>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Operating environment and performance assumptions.</a:t>
            </a:r>
            <a:endParaRPr lang="en-US" sz="1100" dirty="0"/>
          </a:p>
        </p:txBody>
      </p:sp>
      <p:sp>
        <p:nvSpPr>
          <p:cNvPr id="10" name="Shape 8"/>
          <p:cNvSpPr/>
          <p:nvPr/>
        </p:nvSpPr>
        <p:spPr>
          <a:xfrm>
            <a:off x="548640" y="2651760"/>
            <a:ext cx="11091672" cy="621792"/>
          </a:xfrm>
          <a:prstGeom prst="roundRect">
            <a:avLst>
              <a:gd name="adj" fmla="val 7353"/>
            </a:avLst>
          </a:prstGeom>
          <a:solidFill>
            <a:srgbClr val="FFFFFF"/>
          </a:solidFill>
          <a:ln w="12700">
            <a:solidFill>
              <a:srgbClr val="D3DEEF"/>
            </a:solidFill>
            <a:prstDash val="solid"/>
          </a:ln>
        </p:spPr>
      </p:sp>
      <p:sp>
        <p:nvSpPr>
          <p:cNvPr id="11" name="Shape 9"/>
          <p:cNvSpPr/>
          <p:nvPr/>
        </p:nvSpPr>
        <p:spPr>
          <a:xfrm>
            <a:off x="768096" y="2889504"/>
            <a:ext cx="155448" cy="155448"/>
          </a:xfrm>
          <a:prstGeom prst="ellipse">
            <a:avLst/>
          </a:prstGeom>
          <a:solidFill>
            <a:srgbClr val="1F4380"/>
          </a:solidFill>
          <a:ln w="12700">
            <a:solidFill>
              <a:srgbClr val="1F4380"/>
            </a:solidFill>
            <a:prstDash val="solid"/>
          </a:ln>
        </p:spPr>
      </p:sp>
      <p:sp>
        <p:nvSpPr>
          <p:cNvPr id="12" name="Text 10"/>
          <p:cNvSpPr/>
          <p:nvPr/>
        </p:nvSpPr>
        <p:spPr>
          <a:xfrm>
            <a:off x="1060704" y="2651760"/>
            <a:ext cx="3200400" cy="621792"/>
          </a:xfrm>
          <a:prstGeom prst="rect">
            <a:avLst/>
          </a:prstGeom>
          <a:noFill/>
          <a:ln/>
        </p:spPr>
        <p:txBody>
          <a:bodyPr wrap="square" lIns="0" tIns="0" rIns="0" bIns="0" rtlCol="0" anchor="ctr"/>
          <a:lstStyle/>
          <a:p>
            <a:pPr indent="0" marL="0">
              <a:lnSpc>
                <a:spcPts val="1600"/>
              </a:lnSpc>
              <a:buNone/>
            </a:pPr>
            <a:r>
              <a:rPr lang="en-US" sz="1200" b="1" dirty="0">
                <a:solidFill>
                  <a:srgbClr val="132A4E"/>
                </a:solidFill>
                <a:latin typeface="Calibri" pitchFamily="34" charset="0"/>
                <a:ea typeface="Calibri" pitchFamily="34" charset="-122"/>
                <a:cs typeface="Calibri" pitchFamily="34" charset="-120"/>
              </a:rPr>
              <a:t>Subsystem and interface requirements</a:t>
            </a:r>
            <a:endParaRPr lang="en-US" sz="1200" dirty="0"/>
          </a:p>
        </p:txBody>
      </p:sp>
      <p:sp>
        <p:nvSpPr>
          <p:cNvPr id="13" name="Text 11"/>
          <p:cNvSpPr/>
          <p:nvPr/>
        </p:nvSpPr>
        <p:spPr>
          <a:xfrm>
            <a:off x="4297680" y="2651760"/>
            <a:ext cx="2743200" cy="621792"/>
          </a:xfrm>
          <a:prstGeom prst="rect">
            <a:avLst/>
          </a:prstGeom>
          <a:noFill/>
          <a:ln/>
        </p:spPr>
        <p:txBody>
          <a:bodyPr wrap="square" lIns="0" tIns="0" rIns="0" bIns="0" rtlCol="0" anchor="ctr"/>
          <a:lstStyle/>
          <a:p>
            <a:pPr indent="0" marL="0">
              <a:lnSpc>
                <a:spcPts val="1500"/>
              </a:lnSpc>
              <a:buNone/>
            </a:pPr>
            <a:r>
              <a:rPr lang="en-US" sz="1100" b="1" dirty="0">
                <a:solidFill>
                  <a:srgbClr val="1F4380"/>
                </a:solidFill>
                <a:latin typeface="Calibri" pitchFamily="34" charset="0"/>
                <a:ea typeface="Calibri" pitchFamily="34" charset="-122"/>
                <a:cs typeface="Calibri" pitchFamily="34" charset="-120"/>
              </a:rPr>
              <a:t>Development</a:t>
            </a:r>
            <a:endParaRPr lang="en-US" sz="1100" dirty="0"/>
          </a:p>
        </p:txBody>
      </p:sp>
      <p:sp>
        <p:nvSpPr>
          <p:cNvPr id="14" name="Text 12"/>
          <p:cNvSpPr/>
          <p:nvPr/>
        </p:nvSpPr>
        <p:spPr>
          <a:xfrm>
            <a:off x="7178040" y="2651760"/>
            <a:ext cx="4251960" cy="621792"/>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Interface, installation, thermal and duty-cycle assumptions.</a:t>
            </a:r>
            <a:endParaRPr lang="en-US" sz="1100" dirty="0"/>
          </a:p>
        </p:txBody>
      </p:sp>
      <p:sp>
        <p:nvSpPr>
          <p:cNvPr id="15" name="Shape 13"/>
          <p:cNvSpPr/>
          <p:nvPr/>
        </p:nvSpPr>
        <p:spPr>
          <a:xfrm>
            <a:off x="548640" y="3364992"/>
            <a:ext cx="11091672" cy="621792"/>
          </a:xfrm>
          <a:prstGeom prst="roundRect">
            <a:avLst>
              <a:gd name="adj" fmla="val 7353"/>
            </a:avLst>
          </a:prstGeom>
          <a:solidFill>
            <a:srgbClr val="E9EEF7"/>
          </a:solidFill>
          <a:ln w="12700">
            <a:solidFill>
              <a:srgbClr val="D3DEEF"/>
            </a:solidFill>
            <a:prstDash val="solid"/>
          </a:ln>
        </p:spPr>
      </p:sp>
      <p:sp>
        <p:nvSpPr>
          <p:cNvPr id="16" name="Shape 14"/>
          <p:cNvSpPr/>
          <p:nvPr/>
        </p:nvSpPr>
        <p:spPr>
          <a:xfrm>
            <a:off x="768096" y="3602736"/>
            <a:ext cx="155448" cy="155448"/>
          </a:xfrm>
          <a:prstGeom prst="ellipse">
            <a:avLst/>
          </a:prstGeom>
          <a:solidFill>
            <a:srgbClr val="0F6B62"/>
          </a:solidFill>
          <a:ln w="12700">
            <a:solidFill>
              <a:srgbClr val="0F6B62"/>
            </a:solidFill>
            <a:prstDash val="solid"/>
          </a:ln>
        </p:spPr>
      </p:sp>
      <p:sp>
        <p:nvSpPr>
          <p:cNvPr id="17" name="Text 15"/>
          <p:cNvSpPr/>
          <p:nvPr/>
        </p:nvSpPr>
        <p:spPr>
          <a:xfrm>
            <a:off x="1060704" y="3364992"/>
            <a:ext cx="3200400" cy="621792"/>
          </a:xfrm>
          <a:prstGeom prst="rect">
            <a:avLst/>
          </a:prstGeom>
          <a:noFill/>
          <a:ln/>
        </p:spPr>
        <p:txBody>
          <a:bodyPr wrap="square" lIns="0" tIns="0" rIns="0" bIns="0" rtlCol="0" anchor="ctr"/>
          <a:lstStyle/>
          <a:p>
            <a:pPr indent="0" marL="0">
              <a:lnSpc>
                <a:spcPts val="1600"/>
              </a:lnSpc>
              <a:buNone/>
            </a:pPr>
            <a:r>
              <a:rPr lang="en-US" sz="1200" b="1" dirty="0">
                <a:solidFill>
                  <a:srgbClr val="132A4E"/>
                </a:solidFill>
                <a:latin typeface="Calibri" pitchFamily="34" charset="0"/>
                <a:ea typeface="Calibri" pitchFamily="34" charset="-122"/>
                <a:cs typeface="Calibri" pitchFamily="34" charset="-120"/>
              </a:rPr>
              <a:t>Detailed design definition</a:t>
            </a:r>
            <a:endParaRPr lang="en-US" sz="1200" dirty="0"/>
          </a:p>
        </p:txBody>
      </p:sp>
      <p:sp>
        <p:nvSpPr>
          <p:cNvPr id="18" name="Text 16"/>
          <p:cNvSpPr/>
          <p:nvPr/>
        </p:nvSpPr>
        <p:spPr>
          <a:xfrm>
            <a:off x="4297680" y="3364992"/>
            <a:ext cx="2743200" cy="621792"/>
          </a:xfrm>
          <a:prstGeom prst="rect">
            <a:avLst/>
          </a:prstGeom>
          <a:noFill/>
          <a:ln/>
        </p:spPr>
        <p:txBody>
          <a:bodyPr wrap="square" lIns="0" tIns="0" rIns="0" bIns="0" rtlCol="0" anchor="ctr"/>
          <a:lstStyle/>
          <a:p>
            <a:pPr indent="0" marL="0">
              <a:lnSpc>
                <a:spcPts val="1500"/>
              </a:lnSpc>
              <a:buNone/>
            </a:pPr>
            <a:r>
              <a:rPr lang="en-US" sz="1100" b="1" dirty="0">
                <a:solidFill>
                  <a:srgbClr val="0F6B62"/>
                </a:solidFill>
                <a:latin typeface="Calibri" pitchFamily="34" charset="0"/>
                <a:ea typeface="Calibri" pitchFamily="34" charset="-122"/>
                <a:cs typeface="Calibri" pitchFamily="34" charset="-120"/>
              </a:rPr>
              <a:t>Detail design to CDR</a:t>
            </a:r>
            <a:endParaRPr lang="en-US" sz="1100" dirty="0"/>
          </a:p>
        </p:txBody>
      </p:sp>
      <p:sp>
        <p:nvSpPr>
          <p:cNvPr id="19" name="Text 17"/>
          <p:cNvSpPr/>
          <p:nvPr/>
        </p:nvSpPr>
        <p:spPr>
          <a:xfrm>
            <a:off x="7178040" y="3364992"/>
            <a:ext cx="4251960" cy="621792"/>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Item-level assumptions, at specific revisions, checkable against the source program.</a:t>
            </a:r>
            <a:endParaRPr lang="en-US" sz="1100" dirty="0"/>
          </a:p>
        </p:txBody>
      </p:sp>
      <p:sp>
        <p:nvSpPr>
          <p:cNvPr id="20" name="Shape 18"/>
          <p:cNvSpPr/>
          <p:nvPr/>
        </p:nvSpPr>
        <p:spPr>
          <a:xfrm>
            <a:off x="548640" y="4078224"/>
            <a:ext cx="11091672" cy="621792"/>
          </a:xfrm>
          <a:prstGeom prst="roundRect">
            <a:avLst>
              <a:gd name="adj" fmla="val 7353"/>
            </a:avLst>
          </a:prstGeom>
          <a:solidFill>
            <a:srgbClr val="FFFFFF"/>
          </a:solidFill>
          <a:ln w="12700">
            <a:solidFill>
              <a:srgbClr val="D3DEEF"/>
            </a:solidFill>
            <a:prstDash val="solid"/>
          </a:ln>
        </p:spPr>
      </p:sp>
      <p:sp>
        <p:nvSpPr>
          <p:cNvPr id="21" name="Shape 19"/>
          <p:cNvSpPr/>
          <p:nvPr/>
        </p:nvSpPr>
        <p:spPr>
          <a:xfrm>
            <a:off x="768096" y="4315968"/>
            <a:ext cx="155448" cy="155448"/>
          </a:xfrm>
          <a:prstGeom prst="ellipse">
            <a:avLst/>
          </a:prstGeom>
          <a:solidFill>
            <a:srgbClr val="B4530C"/>
          </a:solidFill>
          <a:ln w="12700">
            <a:solidFill>
              <a:srgbClr val="B4530C"/>
            </a:solidFill>
            <a:prstDash val="solid"/>
          </a:ln>
        </p:spPr>
      </p:sp>
      <p:sp>
        <p:nvSpPr>
          <p:cNvPr id="22" name="Text 20"/>
          <p:cNvSpPr/>
          <p:nvPr/>
        </p:nvSpPr>
        <p:spPr>
          <a:xfrm>
            <a:off x="1060704" y="4078224"/>
            <a:ext cx="3200400" cy="621792"/>
          </a:xfrm>
          <a:prstGeom prst="rect">
            <a:avLst/>
          </a:prstGeom>
          <a:noFill/>
          <a:ln/>
        </p:spPr>
        <p:txBody>
          <a:bodyPr wrap="square" lIns="0" tIns="0" rIns="0" bIns="0" rtlCol="0" anchor="ctr"/>
          <a:lstStyle/>
          <a:p>
            <a:pPr indent="0" marL="0">
              <a:lnSpc>
                <a:spcPts val="1600"/>
              </a:lnSpc>
              <a:buNone/>
            </a:pPr>
            <a:r>
              <a:rPr lang="en-US" sz="1200" b="1" dirty="0">
                <a:solidFill>
                  <a:srgbClr val="132A4E"/>
                </a:solidFill>
                <a:latin typeface="Calibri" pitchFamily="34" charset="0"/>
                <a:ea typeface="Calibri" pitchFamily="34" charset="-122"/>
                <a:cs typeface="Calibri" pitchFamily="34" charset="-120"/>
              </a:rPr>
              <a:t>Maintenance program and procedures</a:t>
            </a:r>
            <a:endParaRPr lang="en-US" sz="1200" dirty="0"/>
          </a:p>
        </p:txBody>
      </p:sp>
      <p:sp>
        <p:nvSpPr>
          <p:cNvPr id="23" name="Text 21"/>
          <p:cNvSpPr/>
          <p:nvPr/>
        </p:nvSpPr>
        <p:spPr>
          <a:xfrm>
            <a:off x="4297680" y="4078224"/>
            <a:ext cx="2743200" cy="621792"/>
          </a:xfrm>
          <a:prstGeom prst="rect">
            <a:avLst/>
          </a:prstGeom>
          <a:noFill/>
          <a:ln/>
        </p:spPr>
        <p:txBody>
          <a:bodyPr wrap="square" lIns="0" tIns="0" rIns="0" bIns="0" rtlCol="0" anchor="ctr"/>
          <a:lstStyle/>
          <a:p>
            <a:pPr indent="0" marL="0">
              <a:lnSpc>
                <a:spcPts val="1500"/>
              </a:lnSpc>
              <a:buNone/>
            </a:pPr>
            <a:r>
              <a:rPr lang="en-US" sz="1100" b="1" dirty="0">
                <a:solidFill>
                  <a:srgbClr val="B4530C"/>
                </a:solidFill>
                <a:latin typeface="Calibri" pitchFamily="34" charset="0"/>
                <a:ea typeface="Calibri" pitchFamily="34" charset="-122"/>
                <a:cs typeface="Calibri" pitchFamily="34" charset="-120"/>
              </a:rPr>
              <a:t>Often late, sometimes customer-owned</a:t>
            </a:r>
            <a:endParaRPr lang="en-US" sz="1100" dirty="0"/>
          </a:p>
        </p:txBody>
      </p:sp>
      <p:sp>
        <p:nvSpPr>
          <p:cNvPr id="24" name="Text 22"/>
          <p:cNvSpPr/>
          <p:nvPr/>
        </p:nvSpPr>
        <p:spPr>
          <a:xfrm>
            <a:off x="7178040" y="4078224"/>
            <a:ext cx="4251960" cy="621792"/>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Inspection intervals, MEL conditions, crew and maintainer procedures.</a:t>
            </a:r>
            <a:endParaRPr lang="en-US" sz="1100" dirty="0"/>
          </a:p>
        </p:txBody>
      </p:sp>
      <p:sp>
        <p:nvSpPr>
          <p:cNvPr id="25" name="Shape 23"/>
          <p:cNvSpPr/>
          <p:nvPr/>
        </p:nvSpPr>
        <p:spPr>
          <a:xfrm>
            <a:off x="548640" y="4791456"/>
            <a:ext cx="11091672" cy="621792"/>
          </a:xfrm>
          <a:prstGeom prst="roundRect">
            <a:avLst>
              <a:gd name="adj" fmla="val 7353"/>
            </a:avLst>
          </a:prstGeom>
          <a:solidFill>
            <a:srgbClr val="E9EEF7"/>
          </a:solidFill>
          <a:ln w="12700">
            <a:solidFill>
              <a:srgbClr val="D3DEEF"/>
            </a:solidFill>
            <a:prstDash val="solid"/>
          </a:ln>
        </p:spPr>
      </p:sp>
      <p:sp>
        <p:nvSpPr>
          <p:cNvPr id="26" name="Shape 24"/>
          <p:cNvSpPr/>
          <p:nvPr/>
        </p:nvSpPr>
        <p:spPr>
          <a:xfrm>
            <a:off x="768096" y="5029200"/>
            <a:ext cx="155448" cy="155448"/>
          </a:xfrm>
          <a:prstGeom prst="ellipse">
            <a:avLst/>
          </a:prstGeom>
          <a:solidFill>
            <a:srgbClr val="B4530C"/>
          </a:solidFill>
          <a:ln w="12700">
            <a:solidFill>
              <a:srgbClr val="B4530C"/>
            </a:solidFill>
            <a:prstDash val="solid"/>
          </a:ln>
        </p:spPr>
      </p:sp>
      <p:sp>
        <p:nvSpPr>
          <p:cNvPr id="27" name="Text 25"/>
          <p:cNvSpPr/>
          <p:nvPr/>
        </p:nvSpPr>
        <p:spPr>
          <a:xfrm>
            <a:off x="1060704" y="4791456"/>
            <a:ext cx="3200400" cy="621792"/>
          </a:xfrm>
          <a:prstGeom prst="rect">
            <a:avLst/>
          </a:prstGeom>
          <a:noFill/>
          <a:ln/>
        </p:spPr>
        <p:txBody>
          <a:bodyPr wrap="square" lIns="0" tIns="0" rIns="0" bIns="0" rtlCol="0" anchor="ctr"/>
          <a:lstStyle/>
          <a:p>
            <a:pPr indent="0" marL="0">
              <a:lnSpc>
                <a:spcPts val="1600"/>
              </a:lnSpc>
              <a:buNone/>
            </a:pPr>
            <a:r>
              <a:rPr lang="en-US" sz="1200" b="1" dirty="0">
                <a:solidFill>
                  <a:srgbClr val="132A4E"/>
                </a:solidFill>
                <a:latin typeface="Calibri" pitchFamily="34" charset="0"/>
                <a:ea typeface="Calibri" pitchFamily="34" charset="-122"/>
                <a:cs typeface="Calibri" pitchFamily="34" charset="-120"/>
              </a:rPr>
              <a:t>Training curricula and qualification</a:t>
            </a:r>
            <a:endParaRPr lang="en-US" sz="1200" dirty="0"/>
          </a:p>
        </p:txBody>
      </p:sp>
      <p:sp>
        <p:nvSpPr>
          <p:cNvPr id="28" name="Text 26"/>
          <p:cNvSpPr/>
          <p:nvPr/>
        </p:nvSpPr>
        <p:spPr>
          <a:xfrm>
            <a:off x="4297680" y="4791456"/>
            <a:ext cx="2743200" cy="621792"/>
          </a:xfrm>
          <a:prstGeom prst="rect">
            <a:avLst/>
          </a:prstGeom>
          <a:noFill/>
          <a:ln/>
        </p:spPr>
        <p:txBody>
          <a:bodyPr wrap="square" lIns="0" tIns="0" rIns="0" bIns="0" rtlCol="0" anchor="ctr"/>
          <a:lstStyle/>
          <a:p>
            <a:pPr indent="0" marL="0">
              <a:lnSpc>
                <a:spcPts val="1500"/>
              </a:lnSpc>
              <a:buNone/>
            </a:pPr>
            <a:r>
              <a:rPr lang="en-US" sz="1100" b="1" dirty="0">
                <a:solidFill>
                  <a:srgbClr val="B4530C"/>
                </a:solidFill>
                <a:latin typeface="Calibri" pitchFamily="34" charset="0"/>
                <a:ea typeface="Calibri" pitchFamily="34" charset="-122"/>
                <a:cs typeface="Calibri" pitchFamily="34" charset="-120"/>
              </a:rPr>
              <a:t>Late, and revised continuously in service</a:t>
            </a:r>
            <a:endParaRPr lang="en-US" sz="1100" dirty="0"/>
          </a:p>
        </p:txBody>
      </p:sp>
      <p:sp>
        <p:nvSpPr>
          <p:cNvPr id="29" name="Text 27"/>
          <p:cNvSpPr/>
          <p:nvPr/>
        </p:nvSpPr>
        <p:spPr>
          <a:xfrm>
            <a:off x="7178040" y="4791456"/>
            <a:ext cx="4251960" cy="621792"/>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Assumed competence, recency, workload and detection performance.</a:t>
            </a:r>
            <a:endParaRPr lang="en-US" sz="1100" dirty="0"/>
          </a:p>
        </p:txBody>
      </p:sp>
      <p:sp>
        <p:nvSpPr>
          <p:cNvPr id="30" name="Shape 28"/>
          <p:cNvSpPr/>
          <p:nvPr/>
        </p:nvSpPr>
        <p:spPr>
          <a:xfrm>
            <a:off x="548640" y="5541264"/>
            <a:ext cx="11091672" cy="914400"/>
          </a:xfrm>
          <a:prstGeom prst="roundRect">
            <a:avLst>
              <a:gd name="adj" fmla="val 5000"/>
            </a:avLst>
          </a:prstGeom>
          <a:solidFill>
            <a:srgbClr val="FBEBDC"/>
          </a:solidFill>
          <a:ln w="12700">
            <a:solidFill>
              <a:srgbClr val="ECC8AE"/>
            </a:solidFill>
            <a:prstDash val="solid"/>
          </a:ln>
        </p:spPr>
      </p:sp>
      <p:sp>
        <p:nvSpPr>
          <p:cNvPr id="31" name="Text 29"/>
          <p:cNvSpPr/>
          <p:nvPr/>
        </p:nvSpPr>
        <p:spPr>
          <a:xfrm>
            <a:off x="822960" y="5541264"/>
            <a:ext cx="10515600" cy="914400"/>
          </a:xfrm>
          <a:prstGeom prst="rect">
            <a:avLst/>
          </a:prstGeom>
          <a:noFill/>
          <a:ln/>
        </p:spPr>
        <p:txBody>
          <a:bodyPr wrap="square" lIns="0" tIns="0" rIns="0" bIns="0" rtlCol="0" anchor="ctr"/>
          <a:lstStyle/>
          <a:p>
            <a:pPr indent="0" marL="0">
              <a:lnSpc>
                <a:spcPts val="1700"/>
              </a:lnSpc>
              <a:buNone/>
            </a:pPr>
            <a:r>
              <a:rPr lang="en-US" sz="1200" b="1" dirty="0">
                <a:solidFill>
                  <a:srgbClr val="B4530C"/>
                </a:solidFill>
                <a:latin typeface="Calibri" pitchFamily="34" charset="0"/>
                <a:ea typeface="Calibri" pitchFamily="34" charset="-122"/>
                <a:cs typeface="Calibri" pitchFamily="34" charset="-120"/>
              </a:rPr>
              <a:t>Note the bottom two. Some assumptions cannot be fully confirmed until the maintenance program and training are settled, which on many programs is at or after entry into service. Those assumptions stay open by design, and saying so honestly is better than recording a confirmation we did not actually make.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WE ARE PROPOSING</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fix, in one page</a:t>
            </a:r>
            <a:endParaRPr lang="en-US" sz="2900" dirty="0"/>
          </a:p>
        </p:txBody>
      </p:sp>
      <p:sp>
        <p:nvSpPr>
          <p:cNvPr id="4" name="Shape 2"/>
          <p:cNvSpPr/>
          <p:nvPr/>
        </p:nvSpPr>
        <p:spPr>
          <a:xfrm>
            <a:off x="548640" y="1243584"/>
            <a:ext cx="5394960" cy="1481328"/>
          </a:xfrm>
          <a:prstGeom prst="roundRect">
            <a:avLst>
              <a:gd name="adj" fmla="val 3086"/>
            </a:avLst>
          </a:prstGeom>
          <a:solidFill>
            <a:srgbClr val="E9EEF7"/>
          </a:solidFill>
          <a:ln w="12700">
            <a:solidFill>
              <a:srgbClr val="D3DEEF"/>
            </a:solidFill>
            <a:prstDash val="solid"/>
          </a:ln>
        </p:spPr>
      </p:sp>
      <p:sp>
        <p:nvSpPr>
          <p:cNvPr id="5" name="Text 3"/>
          <p:cNvSpPr/>
          <p:nvPr/>
        </p:nvSpPr>
        <p:spPr>
          <a:xfrm>
            <a:off x="786384"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Write the conditions down when the assumption is made</a:t>
            </a:r>
            <a:endParaRPr lang="en-US" sz="1300" dirty="0"/>
          </a:p>
        </p:txBody>
      </p:sp>
      <p:sp>
        <p:nvSpPr>
          <p:cNvPr id="6" name="Text 4"/>
          <p:cNvSpPr/>
          <p:nvPr/>
        </p:nvSpPr>
        <p:spPr>
          <a:xfrm>
            <a:off x="786384" y="1755648"/>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 short record: what is assumed, why, and specifically what has to be true. Written by the person who knows, when they know it. This is the cheap step that unlocks everything else.</a:t>
            </a:r>
            <a:endParaRPr lang="en-US" sz="1200" dirty="0"/>
          </a:p>
        </p:txBody>
      </p:sp>
      <p:sp>
        <p:nvSpPr>
          <p:cNvPr id="7" name="Shape 5"/>
          <p:cNvSpPr/>
          <p:nvPr/>
        </p:nvSpPr>
        <p:spPr>
          <a:xfrm>
            <a:off x="6245352" y="1243584"/>
            <a:ext cx="5394960" cy="1481328"/>
          </a:xfrm>
          <a:prstGeom prst="roundRect">
            <a:avLst>
              <a:gd name="adj" fmla="val 3086"/>
            </a:avLst>
          </a:prstGeom>
          <a:solidFill>
            <a:srgbClr val="FFFFFF"/>
          </a:solidFill>
          <a:ln w="12700">
            <a:solidFill>
              <a:srgbClr val="D3DEEF"/>
            </a:solidFill>
            <a:prstDash val="solid"/>
          </a:ln>
        </p:spPr>
      </p:sp>
      <p:sp>
        <p:nvSpPr>
          <p:cNvPr id="8" name="Text 6"/>
          <p:cNvSpPr/>
          <p:nvPr/>
        </p:nvSpPr>
        <p:spPr>
          <a:xfrm>
            <a:off x="6483096" y="1389888"/>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Point each condition at a controlled document</a:t>
            </a:r>
            <a:endParaRPr lang="en-US" sz="1300" dirty="0"/>
          </a:p>
        </p:txBody>
      </p:sp>
      <p:sp>
        <p:nvSpPr>
          <p:cNvPr id="9" name="Text 7"/>
          <p:cNvSpPr/>
          <p:nvPr/>
        </p:nvSpPr>
        <p:spPr>
          <a:xfrm>
            <a:off x="6483096" y="1755648"/>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If it depends on a 400-hour inspection interval, cite the document that sets the interval rather than repeating the number. Restating is how assumptions go stale silently.</a:t>
            </a:r>
            <a:endParaRPr lang="en-US" sz="1200" dirty="0"/>
          </a:p>
        </p:txBody>
      </p:sp>
      <p:sp>
        <p:nvSpPr>
          <p:cNvPr id="10" name="Shape 8"/>
          <p:cNvSpPr/>
          <p:nvPr/>
        </p:nvSpPr>
        <p:spPr>
          <a:xfrm>
            <a:off x="548640" y="2907792"/>
            <a:ext cx="5394960" cy="1481328"/>
          </a:xfrm>
          <a:prstGeom prst="roundRect">
            <a:avLst>
              <a:gd name="adj" fmla="val 3086"/>
            </a:avLst>
          </a:prstGeom>
          <a:solidFill>
            <a:srgbClr val="E9EEF7"/>
          </a:solidFill>
          <a:ln w="12700">
            <a:solidFill>
              <a:srgbClr val="D3DEEF"/>
            </a:solidFill>
            <a:prstDash val="solid"/>
          </a:ln>
        </p:spPr>
      </p:sp>
      <p:sp>
        <p:nvSpPr>
          <p:cNvPr id="11" name="Text 9"/>
          <p:cNvSpPr/>
          <p:nvPr/>
        </p:nvSpPr>
        <p:spPr>
          <a:xfrm>
            <a:off x="786384" y="3054096"/>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Give every risk-bearing assumption an owner here</a:t>
            </a:r>
            <a:endParaRPr lang="en-US" sz="1300" dirty="0"/>
          </a:p>
        </p:txBody>
      </p:sp>
      <p:sp>
        <p:nvSpPr>
          <p:cNvPr id="12" name="Text 10"/>
          <p:cNvSpPr/>
          <p:nvPr/>
        </p:nvSpPr>
        <p:spPr>
          <a:xfrm>
            <a:off x="786384" y="3419856"/>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Someone on this program accepts the residual risk. Inherited acceptance does not carry over. This is the item SM-0001 already requires.</a:t>
            </a:r>
            <a:endParaRPr lang="en-US" sz="1200" dirty="0"/>
          </a:p>
        </p:txBody>
      </p:sp>
      <p:sp>
        <p:nvSpPr>
          <p:cNvPr id="13" name="Shape 11"/>
          <p:cNvSpPr/>
          <p:nvPr/>
        </p:nvSpPr>
        <p:spPr>
          <a:xfrm>
            <a:off x="6245352" y="2907792"/>
            <a:ext cx="5394960" cy="1481328"/>
          </a:xfrm>
          <a:prstGeom prst="roundRect">
            <a:avLst>
              <a:gd name="adj" fmla="val 3086"/>
            </a:avLst>
          </a:prstGeom>
          <a:solidFill>
            <a:srgbClr val="FFFFFF"/>
          </a:solidFill>
          <a:ln w="12700">
            <a:solidFill>
              <a:srgbClr val="D3DEEF"/>
            </a:solidFill>
            <a:prstDash val="solid"/>
          </a:ln>
        </p:spPr>
      </p:sp>
      <p:sp>
        <p:nvSpPr>
          <p:cNvPr id="14" name="Text 12"/>
          <p:cNvSpPr/>
          <p:nvPr/>
        </p:nvSpPr>
        <p:spPr>
          <a:xfrm>
            <a:off x="6483096" y="3054096"/>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Sweep for movement, rather than relying on memory</a:t>
            </a:r>
            <a:endParaRPr lang="en-US" sz="1300" dirty="0"/>
          </a:p>
        </p:txBody>
      </p:sp>
      <p:sp>
        <p:nvSpPr>
          <p:cNvPr id="15" name="Text 13"/>
          <p:cNvSpPr/>
          <p:nvPr/>
        </p:nvSpPr>
        <p:spPr>
          <a:xfrm>
            <a:off x="6483096" y="3419856"/>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Periodically compare the revision recorded against each assumption with the current revision of that document. Any difference flags the assumption for re-confirmation. No other function has to change how it works.</a:t>
            </a:r>
            <a:endParaRPr lang="en-US" sz="1200" dirty="0"/>
          </a:p>
        </p:txBody>
      </p:sp>
      <p:sp>
        <p:nvSpPr>
          <p:cNvPr id="16" name="Shape 14"/>
          <p:cNvSpPr/>
          <p:nvPr/>
        </p:nvSpPr>
        <p:spPr>
          <a:xfrm>
            <a:off x="548640" y="4572000"/>
            <a:ext cx="5394960" cy="1481328"/>
          </a:xfrm>
          <a:prstGeom prst="roundRect">
            <a:avLst>
              <a:gd name="adj" fmla="val 3086"/>
            </a:avLst>
          </a:prstGeom>
          <a:solidFill>
            <a:srgbClr val="E9EEF7"/>
          </a:solidFill>
          <a:ln w="12700">
            <a:solidFill>
              <a:srgbClr val="D3DEEF"/>
            </a:solidFill>
            <a:prstDash val="solid"/>
          </a:ln>
        </p:spPr>
      </p:sp>
      <p:sp>
        <p:nvSpPr>
          <p:cNvPr id="17" name="Text 15"/>
          <p:cNvSpPr/>
          <p:nvPr/>
        </p:nvSpPr>
        <p:spPr>
          <a:xfrm>
            <a:off x="786384" y="471830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Count what is still unattached, and report it</a:t>
            </a:r>
            <a:endParaRPr lang="en-US" sz="1300" dirty="0"/>
          </a:p>
        </p:txBody>
      </p:sp>
      <p:sp>
        <p:nvSpPr>
          <p:cNvPr id="18" name="Text 16"/>
          <p:cNvSpPr/>
          <p:nvPr/>
        </p:nvSpPr>
        <p:spPr>
          <a:xfrm>
            <a:off x="786384" y="5084064"/>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Assumptions attach progressively as baselines arrive. The unattached count becomes a design review criterion.</a:t>
            </a:r>
            <a:endParaRPr lang="en-US" sz="1200" dirty="0"/>
          </a:p>
        </p:txBody>
      </p:sp>
      <p:sp>
        <p:nvSpPr>
          <p:cNvPr id="19" name="Shape 17"/>
          <p:cNvSpPr/>
          <p:nvPr/>
        </p:nvSpPr>
        <p:spPr>
          <a:xfrm>
            <a:off x="6245352" y="4572000"/>
            <a:ext cx="5394960" cy="1481328"/>
          </a:xfrm>
          <a:prstGeom prst="roundRect">
            <a:avLst>
              <a:gd name="adj" fmla="val 3086"/>
            </a:avLst>
          </a:prstGeom>
          <a:solidFill>
            <a:srgbClr val="FFFFFF"/>
          </a:solidFill>
          <a:ln w="12700">
            <a:solidFill>
              <a:srgbClr val="D3DEEF"/>
            </a:solidFill>
            <a:prstDash val="solid"/>
          </a:ln>
        </p:spPr>
      </p:sp>
      <p:sp>
        <p:nvSpPr>
          <p:cNvPr id="20" name="Text 18"/>
          <p:cNvSpPr/>
          <p:nvPr/>
        </p:nvSpPr>
        <p:spPr>
          <a:xfrm>
            <a:off x="6483096" y="4718304"/>
            <a:ext cx="4937760" cy="329184"/>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Do not inherit. Re-adopt.</a:t>
            </a:r>
            <a:endParaRPr lang="en-US" sz="1300" dirty="0"/>
          </a:p>
        </p:txBody>
      </p:sp>
      <p:sp>
        <p:nvSpPr>
          <p:cNvPr id="21" name="Text 19"/>
          <p:cNvSpPr/>
          <p:nvPr/>
        </p:nvSpPr>
        <p:spPr>
          <a:xfrm>
            <a:off x="6483096" y="5084064"/>
            <a:ext cx="4956048" cy="841248"/>
          </a:xfrm>
          <a:prstGeom prst="rect">
            <a:avLst/>
          </a:prstGeom>
          <a:noFill/>
          <a:ln/>
        </p:spPr>
        <p:txBody>
          <a:bodyPr wrap="square" lIns="0" tIns="0" rIns="0" bIns="0" rtlCol="0" anchor="t"/>
          <a:lstStyle/>
          <a:p>
            <a:pPr indent="0" marL="0">
              <a:lnSpc>
                <a:spcPts val="1700"/>
              </a:lnSpc>
              <a:buNone/>
            </a:pPr>
            <a:r>
              <a:rPr lang="en-US" sz="1200" dirty="0">
                <a:solidFill>
                  <a:srgbClr val="1A2333"/>
                </a:solidFill>
                <a:latin typeface="Calibri" pitchFamily="34" charset="0"/>
                <a:ea typeface="Calibri" pitchFamily="34" charset="-122"/>
                <a:cs typeface="Calibri" pitchFamily="34" charset="-120"/>
              </a:rPr>
              <a:t>An assumption cannot cross as-is. It is re-adopted after a documented comparison of the two programs covering the conditions, not the part number. Anything unverifiable goes back into risk management.</a:t>
            </a:r>
            <a:endParaRPr lang="en-US" sz="1200" dirty="0"/>
          </a:p>
        </p:txBody>
      </p:sp>
      <p:sp>
        <p:nvSpPr>
          <p:cNvPr id="22" name="Shape 20"/>
          <p:cNvSpPr/>
          <p:nvPr/>
        </p:nvSpPr>
        <p:spPr>
          <a:xfrm>
            <a:off x="548640" y="5760720"/>
            <a:ext cx="11091672" cy="786384"/>
          </a:xfrm>
          <a:prstGeom prst="roundRect">
            <a:avLst>
              <a:gd name="adj" fmla="val 5814"/>
            </a:avLst>
          </a:prstGeom>
          <a:solidFill>
            <a:srgbClr val="132A4E"/>
          </a:solidFill>
          <a:ln w="12700">
            <a:solidFill>
              <a:srgbClr val="132A4E"/>
            </a:solidFill>
            <a:prstDash val="solid"/>
          </a:ln>
        </p:spPr>
      </p:sp>
      <p:sp>
        <p:nvSpPr>
          <p:cNvPr id="23" name="Text 21"/>
          <p:cNvSpPr/>
          <p:nvPr/>
        </p:nvSpPr>
        <p:spPr>
          <a:xfrm>
            <a:off x="841248" y="5870448"/>
            <a:ext cx="10515600" cy="566928"/>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Five of these six are record-keeping and routing. Only the last costs real engineering time, and only for the small set of assumptions that actually carry risk credit.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HOW IT ACTUALLY WORKS</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The mechanism, and what triggers it</a:t>
            </a:r>
            <a:endParaRPr lang="en-US" sz="2900" dirty="0"/>
          </a:p>
        </p:txBody>
      </p:sp>
      <p:sp>
        <p:nvSpPr>
          <p:cNvPr id="4" name="Shape 2"/>
          <p:cNvSpPr/>
          <p:nvPr/>
        </p:nvSpPr>
        <p:spPr>
          <a:xfrm>
            <a:off x="548640" y="1207008"/>
            <a:ext cx="5394960" cy="1938528"/>
          </a:xfrm>
          <a:prstGeom prst="roundRect">
            <a:avLst>
              <a:gd name="adj" fmla="val 2358"/>
            </a:avLst>
          </a:prstGeom>
          <a:solidFill>
            <a:srgbClr val="FBEBDC"/>
          </a:solidFill>
          <a:ln w="12700">
            <a:solidFill>
              <a:srgbClr val="ECC8AE"/>
            </a:solidFill>
            <a:prstDash val="solid"/>
          </a:ln>
        </p:spPr>
      </p:sp>
      <p:sp>
        <p:nvSpPr>
          <p:cNvPr id="5" name="Text 3"/>
          <p:cNvSpPr/>
          <p:nvPr/>
        </p:nvSpPr>
        <p:spPr>
          <a:xfrm>
            <a:off x="822960" y="1335024"/>
            <a:ext cx="4846320" cy="274320"/>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Restated  ·  goes stale silently</a:t>
            </a:r>
            <a:endParaRPr lang="en-US" sz="1250" dirty="0"/>
          </a:p>
        </p:txBody>
      </p:sp>
      <p:sp>
        <p:nvSpPr>
          <p:cNvPr id="6" name="Text 4"/>
          <p:cNvSpPr/>
          <p:nvPr/>
        </p:nvSpPr>
        <p:spPr>
          <a:xfrm>
            <a:off x="822960" y="1664208"/>
            <a:ext cx="4864608" cy="1408176"/>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"Assumes the line is inspected every 400 flight hours."</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When the maintenance program moves to 600 hours, nothing connects that change to this sentence. It stays in the document, still reading as true, for the life of the program.</a:t>
            </a:r>
            <a:endParaRPr lang="en-US" sz="1150" dirty="0"/>
          </a:p>
        </p:txBody>
      </p:sp>
      <p:sp>
        <p:nvSpPr>
          <p:cNvPr id="7" name="Shape 5"/>
          <p:cNvSpPr/>
          <p:nvPr/>
        </p:nvSpPr>
        <p:spPr>
          <a:xfrm>
            <a:off x="6245352" y="1207008"/>
            <a:ext cx="5394960" cy="1938528"/>
          </a:xfrm>
          <a:prstGeom prst="roundRect">
            <a:avLst>
              <a:gd name="adj" fmla="val 2358"/>
            </a:avLst>
          </a:prstGeom>
          <a:solidFill>
            <a:srgbClr val="DFF0ED"/>
          </a:solidFill>
          <a:ln w="12700">
            <a:solidFill>
              <a:srgbClr val="B9DBD5"/>
            </a:solidFill>
            <a:prstDash val="solid"/>
          </a:ln>
        </p:spPr>
      </p:sp>
      <p:sp>
        <p:nvSpPr>
          <p:cNvPr id="8" name="Text 6"/>
          <p:cNvSpPr/>
          <p:nvPr/>
        </p:nvSpPr>
        <p:spPr>
          <a:xfrm>
            <a:off x="6519672" y="1335024"/>
            <a:ext cx="4846320" cy="274320"/>
          </a:xfrm>
          <a:prstGeom prst="rect">
            <a:avLst/>
          </a:prstGeom>
          <a:noFill/>
          <a:ln/>
        </p:spPr>
        <p:txBody>
          <a:bodyPr wrap="square" lIns="0" tIns="0" rIns="0" bIns="0" rtlCol="0" anchor="ctr"/>
          <a:lstStyle/>
          <a:p>
            <a:pPr indent="0" marL="0">
              <a:buNone/>
            </a:pPr>
            <a:r>
              <a:rPr lang="en-US" sz="1250" b="1" dirty="0">
                <a:solidFill>
                  <a:srgbClr val="0F6B62"/>
                </a:solidFill>
                <a:latin typeface="Calibri" pitchFamily="34" charset="0"/>
                <a:ea typeface="Calibri" pitchFamily="34" charset="-122"/>
                <a:cs typeface="Calibri" pitchFamily="34" charset="-120"/>
              </a:rPr>
              <a:t>Referenced  ·  detectable when it moves</a:t>
            </a:r>
            <a:endParaRPr lang="en-US" sz="1250" dirty="0"/>
          </a:p>
        </p:txBody>
      </p:sp>
      <p:sp>
        <p:nvSpPr>
          <p:cNvPr id="9" name="Text 7"/>
          <p:cNvSpPr/>
          <p:nvPr/>
        </p:nvSpPr>
        <p:spPr>
          <a:xfrm>
            <a:off x="6519672" y="1664208"/>
            <a:ext cx="4864608" cy="1408176"/>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"Assumes the inspection interval defined in [document, item, revision]."</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When that document is revised, the revision on record no longer matches the one in force, and the next sweep flags it for someone to confirm or reopen.</a:t>
            </a:r>
            <a:endParaRPr lang="en-US" sz="1150" dirty="0"/>
          </a:p>
        </p:txBody>
      </p:sp>
      <p:sp>
        <p:nvSpPr>
          <p:cNvPr id="10" name="Shape 8"/>
          <p:cNvSpPr/>
          <p:nvPr/>
        </p:nvSpPr>
        <p:spPr>
          <a:xfrm>
            <a:off x="548640" y="3310128"/>
            <a:ext cx="11091672" cy="1188720"/>
          </a:xfrm>
          <a:prstGeom prst="roundRect">
            <a:avLst>
              <a:gd name="adj" fmla="val 3846"/>
            </a:avLst>
          </a:prstGeom>
          <a:solidFill>
            <a:srgbClr val="132A4E"/>
          </a:solidFill>
          <a:ln w="12700">
            <a:solidFill>
              <a:srgbClr val="132A4E"/>
            </a:solidFill>
            <a:prstDash val="solid"/>
          </a:ln>
        </p:spPr>
      </p:sp>
      <p:sp>
        <p:nvSpPr>
          <p:cNvPr id="11" name="Text 9"/>
          <p:cNvSpPr/>
          <p:nvPr/>
        </p:nvSpPr>
        <p:spPr>
          <a:xfrm>
            <a:off x="841248" y="344728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Why the reference is what makes it work</a:t>
            </a:r>
            <a:endParaRPr lang="en-US" sz="1200" dirty="0"/>
          </a:p>
        </p:txBody>
      </p:sp>
      <p:sp>
        <p:nvSpPr>
          <p:cNvPr id="12" name="Text 10"/>
          <p:cNvSpPr/>
          <p:nvPr/>
        </p:nvSpPr>
        <p:spPr>
          <a:xfrm>
            <a:off x="841248" y="3749040"/>
            <a:ext cx="10515600" cy="62179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Recording the document and the revision is what gives you something to compare against later. A restated value gives you nothing: there is no way to tell, looking at the sentence, whether the number in it is still the number in force. This is the whole difference between an assumption that can be checked and one that cannot.</a:t>
            </a:r>
            <a:endParaRPr lang="en-US" sz="1300" dirty="0"/>
          </a:p>
        </p:txBody>
      </p:sp>
      <p:sp>
        <p:nvSpPr>
          <p:cNvPr id="13" name="Shape 11"/>
          <p:cNvSpPr/>
          <p:nvPr/>
        </p:nvSpPr>
        <p:spPr>
          <a:xfrm>
            <a:off x="548640" y="4626864"/>
            <a:ext cx="11091672" cy="1810512"/>
          </a:xfrm>
          <a:prstGeom prst="roundRect">
            <a:avLst>
              <a:gd name="adj" fmla="val 2525"/>
            </a:avLst>
          </a:prstGeom>
          <a:solidFill>
            <a:srgbClr val="E9EEF7"/>
          </a:solidFill>
          <a:ln w="12700">
            <a:solidFill>
              <a:srgbClr val="D3DEEF"/>
            </a:solidFill>
            <a:prstDash val="solid"/>
          </a:ln>
        </p:spPr>
      </p:sp>
      <p:sp>
        <p:nvSpPr>
          <p:cNvPr id="14" name="Text 12"/>
          <p:cNvSpPr/>
          <p:nvPr/>
        </p:nvSpPr>
        <p:spPr>
          <a:xfrm>
            <a:off x="841248" y="4754880"/>
            <a:ext cx="10515600" cy="292608"/>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trigger: a re-confirmation sweep, owned by safety assurance</a:t>
            </a:r>
            <a:endParaRPr lang="en-US" sz="1300" dirty="0"/>
          </a:p>
        </p:txBody>
      </p:sp>
      <p:sp>
        <p:nvSpPr>
          <p:cNvPr id="15" name="Text 13"/>
          <p:cNvSpPr/>
          <p:nvPr/>
        </p:nvSpPr>
        <p:spPr>
          <a:xfrm>
            <a:off x="841248" y="5084064"/>
            <a:ext cx="10515600" cy="1298448"/>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At set intervals and before every design review, compare the revision recorded against each assumption with the current revision of that document. Any difference flags it for re-confirmation. This works identically for a drawing, a maintenance program document and a training curriculum, because all three carry revisions, and it requires no change to anyone else's process.</a:t>
            </a: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Honest trade-off: this finds movement at the next sweep rather than on the day of the change. It is slower than a trigger built into the change process. In exchange it costs no other function anything and it covers all three regimes instead of one.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KEEPING IT AFFORDABLE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Not every assumption gets the same treatment</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If this applies to every assumption on a program it will be rejected, and rightly. The scope decision is made once, early, and it determines whether the practice survives contact with a schedule.</a:t>
            </a:r>
            <a:endParaRPr lang="en-US" sz="1400" dirty="0"/>
          </a:p>
        </p:txBody>
      </p:sp>
      <p:sp>
        <p:nvSpPr>
          <p:cNvPr id="5" name="Shape 3"/>
          <p:cNvSpPr/>
          <p:nvPr/>
        </p:nvSpPr>
        <p:spPr>
          <a:xfrm>
            <a:off x="548640" y="1975104"/>
            <a:ext cx="3520440" cy="3200400"/>
          </a:xfrm>
          <a:prstGeom prst="roundRect">
            <a:avLst>
              <a:gd name="adj" fmla="val 1429"/>
            </a:avLst>
          </a:prstGeom>
          <a:solidFill>
            <a:srgbClr val="FBEBDC"/>
          </a:solidFill>
          <a:ln w="12700">
            <a:solidFill>
              <a:srgbClr val="ECC8AE"/>
            </a:solidFill>
            <a:prstDash val="solid"/>
          </a:ln>
        </p:spPr>
      </p:sp>
      <p:sp>
        <p:nvSpPr>
          <p:cNvPr id="6" name="Shape 4"/>
          <p:cNvSpPr/>
          <p:nvPr/>
        </p:nvSpPr>
        <p:spPr>
          <a:xfrm>
            <a:off x="768096" y="2139696"/>
            <a:ext cx="1143000" cy="384048"/>
          </a:xfrm>
          <a:prstGeom prst="roundRect">
            <a:avLst>
              <a:gd name="adj" fmla="val 14286"/>
            </a:avLst>
          </a:prstGeom>
          <a:solidFill>
            <a:srgbClr val="B4530C"/>
          </a:solidFill>
          <a:ln w="12700">
            <a:solidFill>
              <a:srgbClr val="B4530C"/>
            </a:solidFill>
            <a:prstDash val="solid"/>
          </a:ln>
        </p:spPr>
      </p:sp>
      <p:sp>
        <p:nvSpPr>
          <p:cNvPr id="7" name="Text 5"/>
          <p:cNvSpPr/>
          <p:nvPr/>
        </p:nvSpPr>
        <p:spPr>
          <a:xfrm>
            <a:off x="768096" y="2139696"/>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1</a:t>
            </a:r>
            <a:endParaRPr lang="en-US" sz="1050" dirty="0"/>
          </a:p>
        </p:txBody>
      </p:sp>
      <p:sp>
        <p:nvSpPr>
          <p:cNvPr id="8" name="Text 6"/>
          <p:cNvSpPr/>
          <p:nvPr/>
        </p:nvSpPr>
        <p:spPr>
          <a:xfrm>
            <a:off x="2011680" y="2139696"/>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Controlled</a:t>
            </a:r>
            <a:endParaRPr lang="en-US" sz="1600" dirty="0"/>
          </a:p>
        </p:txBody>
      </p:sp>
      <p:sp>
        <p:nvSpPr>
          <p:cNvPr id="9" name="Text 7"/>
          <p:cNvSpPr/>
          <p:nvPr/>
        </p:nvSpPr>
        <p:spPr>
          <a:xfrm>
            <a:off x="786384" y="2651760"/>
            <a:ext cx="3090672" cy="137160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Assumptions a hazard analysis or certification finding depends on. Full record, cited documents, named risk acceptor, reported at design reviews.</a:t>
            </a:r>
            <a:endParaRPr lang="en-US" sz="1150" dirty="0"/>
          </a:p>
        </p:txBody>
      </p:sp>
      <p:sp>
        <p:nvSpPr>
          <p:cNvPr id="10" name="Text 8"/>
          <p:cNvSpPr/>
          <p:nvPr/>
        </p:nvSpPr>
        <p:spPr>
          <a:xfrm>
            <a:off x="786384" y="4059936"/>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11" name="Text 9"/>
          <p:cNvSpPr/>
          <p:nvPr/>
        </p:nvSpPr>
        <p:spPr>
          <a:xfrm>
            <a:off x="786384" y="4297680"/>
            <a:ext cx="3090672" cy="786384"/>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 small minority. On most programs, tens of items rather than hundreds.</a:t>
            </a:r>
            <a:endParaRPr lang="en-US" sz="1150" dirty="0"/>
          </a:p>
        </p:txBody>
      </p:sp>
      <p:sp>
        <p:nvSpPr>
          <p:cNvPr id="12" name="Shape 10"/>
          <p:cNvSpPr/>
          <p:nvPr/>
        </p:nvSpPr>
        <p:spPr>
          <a:xfrm>
            <a:off x="4315968" y="1975104"/>
            <a:ext cx="3520440" cy="3200400"/>
          </a:xfrm>
          <a:prstGeom prst="roundRect">
            <a:avLst>
              <a:gd name="adj" fmla="val 1429"/>
            </a:avLst>
          </a:prstGeom>
          <a:solidFill>
            <a:srgbClr val="E9EEF7"/>
          </a:solidFill>
          <a:ln w="12700">
            <a:solidFill>
              <a:srgbClr val="D3DEEF"/>
            </a:solidFill>
            <a:prstDash val="solid"/>
          </a:ln>
        </p:spPr>
      </p:sp>
      <p:sp>
        <p:nvSpPr>
          <p:cNvPr id="13" name="Shape 11"/>
          <p:cNvSpPr/>
          <p:nvPr/>
        </p:nvSpPr>
        <p:spPr>
          <a:xfrm>
            <a:off x="4535424" y="2139696"/>
            <a:ext cx="1143000" cy="384048"/>
          </a:xfrm>
          <a:prstGeom prst="roundRect">
            <a:avLst>
              <a:gd name="adj" fmla="val 14286"/>
            </a:avLst>
          </a:prstGeom>
          <a:solidFill>
            <a:srgbClr val="1F4380"/>
          </a:solidFill>
          <a:ln w="12700">
            <a:solidFill>
              <a:srgbClr val="1F4380"/>
            </a:solidFill>
            <a:prstDash val="solid"/>
          </a:ln>
        </p:spPr>
      </p:sp>
      <p:sp>
        <p:nvSpPr>
          <p:cNvPr id="14" name="Text 12"/>
          <p:cNvSpPr/>
          <p:nvPr/>
        </p:nvSpPr>
        <p:spPr>
          <a:xfrm>
            <a:off x="4535424" y="2139696"/>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2</a:t>
            </a:r>
            <a:endParaRPr lang="en-US" sz="1050" dirty="0"/>
          </a:p>
        </p:txBody>
      </p:sp>
      <p:sp>
        <p:nvSpPr>
          <p:cNvPr id="15" name="Text 13"/>
          <p:cNvSpPr/>
          <p:nvPr/>
        </p:nvSpPr>
        <p:spPr>
          <a:xfrm>
            <a:off x="5779008" y="2139696"/>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Registered</a:t>
            </a:r>
            <a:endParaRPr lang="en-US" sz="1600" dirty="0"/>
          </a:p>
        </p:txBody>
      </p:sp>
      <p:sp>
        <p:nvSpPr>
          <p:cNvPr id="16" name="Text 14"/>
          <p:cNvSpPr/>
          <p:nvPr/>
        </p:nvSpPr>
        <p:spPr>
          <a:xfrm>
            <a:off x="4553712" y="2651760"/>
            <a:ext cx="3090672" cy="137160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Assumptions that shape design decisions but carry no safety risk credit. Identifier, owner, statement and reasoning only.</a:t>
            </a:r>
            <a:endParaRPr lang="en-US" sz="1150" dirty="0"/>
          </a:p>
        </p:txBody>
      </p:sp>
      <p:sp>
        <p:nvSpPr>
          <p:cNvPr id="17" name="Text 15"/>
          <p:cNvSpPr/>
          <p:nvPr/>
        </p:nvSpPr>
        <p:spPr>
          <a:xfrm>
            <a:off x="4553712" y="4059936"/>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18" name="Text 16"/>
          <p:cNvSpPr/>
          <p:nvPr/>
        </p:nvSpPr>
        <p:spPr>
          <a:xfrm>
            <a:off x="4553712" y="4297680"/>
            <a:ext cx="3090672" cy="786384"/>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Cheap. Its value is that an item can be promoted to Tier 1 later if analysis shows it is load-bearing.</a:t>
            </a:r>
            <a:endParaRPr lang="en-US" sz="1150" dirty="0"/>
          </a:p>
        </p:txBody>
      </p:sp>
      <p:sp>
        <p:nvSpPr>
          <p:cNvPr id="19" name="Shape 17"/>
          <p:cNvSpPr/>
          <p:nvPr/>
        </p:nvSpPr>
        <p:spPr>
          <a:xfrm>
            <a:off x="8083296" y="1975104"/>
            <a:ext cx="3520440" cy="3200400"/>
          </a:xfrm>
          <a:prstGeom prst="roundRect">
            <a:avLst>
              <a:gd name="adj" fmla="val 1429"/>
            </a:avLst>
          </a:prstGeom>
          <a:solidFill>
            <a:srgbClr val="E9EEF7"/>
          </a:solidFill>
          <a:ln w="12700">
            <a:solidFill>
              <a:srgbClr val="D3DEEF"/>
            </a:solidFill>
            <a:prstDash val="solid"/>
          </a:ln>
        </p:spPr>
      </p:sp>
      <p:sp>
        <p:nvSpPr>
          <p:cNvPr id="20" name="Shape 18"/>
          <p:cNvSpPr/>
          <p:nvPr/>
        </p:nvSpPr>
        <p:spPr>
          <a:xfrm>
            <a:off x="8302752" y="2139696"/>
            <a:ext cx="1143000" cy="384048"/>
          </a:xfrm>
          <a:prstGeom prst="roundRect">
            <a:avLst>
              <a:gd name="adj" fmla="val 14286"/>
            </a:avLst>
          </a:prstGeom>
          <a:solidFill>
            <a:srgbClr val="4A5568"/>
          </a:solidFill>
          <a:ln w="12700">
            <a:solidFill>
              <a:srgbClr val="4A5568"/>
            </a:solidFill>
            <a:prstDash val="solid"/>
          </a:ln>
        </p:spPr>
      </p:sp>
      <p:sp>
        <p:nvSpPr>
          <p:cNvPr id="21" name="Text 19"/>
          <p:cNvSpPr/>
          <p:nvPr/>
        </p:nvSpPr>
        <p:spPr>
          <a:xfrm>
            <a:off x="8302752" y="2139696"/>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3</a:t>
            </a:r>
            <a:endParaRPr lang="en-US" sz="1050" dirty="0"/>
          </a:p>
        </p:txBody>
      </p:sp>
      <p:sp>
        <p:nvSpPr>
          <p:cNvPr id="22" name="Text 20"/>
          <p:cNvSpPr/>
          <p:nvPr/>
        </p:nvSpPr>
        <p:spPr>
          <a:xfrm>
            <a:off x="9546336" y="2139696"/>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Engineering note</a:t>
            </a:r>
            <a:endParaRPr lang="en-US" sz="1600" dirty="0"/>
          </a:p>
        </p:txBody>
      </p:sp>
      <p:sp>
        <p:nvSpPr>
          <p:cNvPr id="23" name="Text 21"/>
          <p:cNvSpPr/>
          <p:nvPr/>
        </p:nvSpPr>
        <p:spPr>
          <a:xfrm>
            <a:off x="8321040" y="2651760"/>
            <a:ext cx="3090672" cy="137160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Everything else: working assumptions, estimating conventions, modeling simplifications with no safety consequence.</a:t>
            </a:r>
            <a:endParaRPr lang="en-US" sz="1150" dirty="0"/>
          </a:p>
        </p:txBody>
      </p:sp>
      <p:sp>
        <p:nvSpPr>
          <p:cNvPr id="24" name="Text 22"/>
          <p:cNvSpPr/>
          <p:nvPr/>
        </p:nvSpPr>
        <p:spPr>
          <a:xfrm>
            <a:off x="8321040" y="4059936"/>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25" name="Text 23"/>
          <p:cNvSpPr/>
          <p:nvPr/>
        </p:nvSpPr>
        <p:spPr>
          <a:xfrm>
            <a:off x="8321040" y="4297680"/>
            <a:ext cx="3090672" cy="786384"/>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No control at all. Saying so explicitly is what keeps Tier 1 credible rather than diluted.</a:t>
            </a:r>
            <a:endParaRPr lang="en-US" sz="1150" dirty="0"/>
          </a:p>
        </p:txBody>
      </p:sp>
      <p:sp>
        <p:nvSpPr>
          <p:cNvPr id="26" name="Shape 24"/>
          <p:cNvSpPr/>
          <p:nvPr/>
        </p:nvSpPr>
        <p:spPr>
          <a:xfrm>
            <a:off x="548640" y="5358384"/>
            <a:ext cx="11091672" cy="1005840"/>
          </a:xfrm>
          <a:prstGeom prst="roundRect">
            <a:avLst>
              <a:gd name="adj" fmla="val 4545"/>
            </a:avLst>
          </a:prstGeom>
          <a:solidFill>
            <a:srgbClr val="132A4E"/>
          </a:solidFill>
          <a:ln w="12700">
            <a:solidFill>
              <a:srgbClr val="132A4E"/>
            </a:solidFill>
            <a:prstDash val="solid"/>
          </a:ln>
        </p:spPr>
      </p:sp>
      <p:sp>
        <p:nvSpPr>
          <p:cNvPr id="27" name="Text 25"/>
          <p:cNvSpPr/>
          <p:nvPr/>
        </p:nvSpPr>
        <p:spPr>
          <a:xfrm>
            <a:off x="841248" y="5468112"/>
            <a:ext cx="10515600" cy="786384"/>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Scope comes out of the hazard analysis, not from a list maintained elsewhere for other purposes. An assumption is Tier 1 if a hazard would reopen when it fails. That judgment is made by the people who already make it, using analysis they already produce, and it is the same judgment SM-0001 already asks for.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ACTIONS, PART 1 OF 2</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What happens when, and who owns it  ·  early lifecycle</a:t>
            </a:r>
            <a:endParaRPr lang="en-US" sz="2900" dirty="0"/>
          </a:p>
        </p:txBody>
      </p:sp>
      <p:sp>
        <p:nvSpPr>
          <p:cNvPr id="4" name="Text 2"/>
          <p:cNvSpPr/>
          <p:nvPr/>
        </p:nvSpPr>
        <p:spPr>
          <a:xfrm>
            <a:off x="548640" y="1225296"/>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Four states, from bid through critical design review. This is where almost all of the value is, because it is where assumptions are created, scoped and last cheaply checkable.</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1672" cy="914400"/>
        </p:xfrm>
        <a:graphic>
          <a:graphicData uri="http://schemas.openxmlformats.org/drawingml/2006/table">
            <a:tbl>
              <a:tblPr/>
              <a:tblGrid>
                <a:gridCol w="2148840"/>
                <a:gridCol w="6172200"/>
                <a:gridCol w="2770632"/>
              </a:tblGrid>
              <a:tr h="83210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Lifecycle state</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has to happen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Proposal and pre-award</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Write down each safety-bearing assumption with its conditions and reasoning as it is made. Record where an inherited one came from and what the similarity claim rested on. Put the cost of discharging them into the bid.</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Program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Concept and early design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First hazard analysis decides which assumptions actually carry risk credit; the rest are tiered out. Name a risk acceptor on this program for each one that does. Inherited acceptance does not carry over.</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Safety Risk Management</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Development and subsystem design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Record what each assumption depends on and at which revision, across all three control regimes. Begin the re-confirmation sweep and report the count still unanchored.</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SMS Safety Assurance</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32104">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Detail design through CDR</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Compare source and receiving program condition by condition rather than part number to part number. Anything that cannot be verified goes back into risk management rather than transferring.</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Safety Risk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72200"/>
            <a:ext cx="11064240" cy="411480"/>
          </a:xfrm>
          <a:prstGeom prst="rect">
            <a:avLst/>
          </a:prstGeom>
          <a:noFill/>
          <a:ln/>
        </p:spPr>
        <p:txBody>
          <a:bodyPr wrap="square" lIns="0" tIns="0" rIns="0" bIns="0" rtlCol="0" anchor="ctr"/>
          <a:lstStyle/>
          <a:p>
            <a:pPr indent="0" marL="0">
              <a:lnSpc>
                <a:spcPts val="1700"/>
              </a:lnSpc>
              <a:buNone/>
            </a:pPr>
            <a:r>
              <a:rPr lang="en-US" sz="1200" i="1" dirty="0">
                <a:solidFill>
                  <a:srgbClr val="4A5568"/>
                </a:solidFill>
                <a:latin typeface="Calibri" pitchFamily="34" charset="0"/>
                <a:ea typeface="Calibri" pitchFamily="34" charset="-122"/>
                <a:cs typeface="Calibri" pitchFamily="34" charset="-120"/>
              </a:rPr>
              <a:t>If only two things from this deck are adopted, make them the condition-by-condition comparison at CDR and the re-confirmation sweep on slide 11.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ACTIONS, PART 2 OF 2</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What happens when, and who owns it  ·  later lifecycle</a:t>
            </a:r>
            <a:endParaRPr lang="en-US" sz="2900" dirty="0"/>
          </a:p>
        </p:txBody>
      </p:sp>
      <p:sp>
        <p:nvSpPr>
          <p:cNvPr id="4" name="Text 2"/>
          <p:cNvSpPr/>
          <p:nvPr/>
        </p:nvSpPr>
        <p:spPr>
          <a:xfrm>
            <a:off x="548640" y="1225296"/>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Three states, from verification into service. The work here is mostly about keeping the mechanism running once change volume rises, and about not exporting the same problem to the next program.</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1672" cy="914400"/>
        </p:xfrm>
        <a:graphic>
          <a:graphicData uri="http://schemas.openxmlformats.org/drawingml/2006/table">
            <a:tbl>
              <a:tblPr/>
              <a:tblGrid>
                <a:gridCol w="2148840"/>
                <a:gridCol w="6172200"/>
                <a:gridCol w="2770632"/>
              </a:tblGrid>
              <a:tr h="841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Lifecycle state</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has to happen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841248">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Verification, audits and certification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Confirm conditions by test, analysis and audit, and move assumptions to verified. An assumption falsified by test is handled as a major change because it affects safety. Confirm assumed task times and alerting by test rather than assertion.</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Quality</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41248">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Production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Keep the sweep running as change volume rises. When a repeated deviation is made permanent, reopen the assumptions it touches. Procedure and training revisions are picked up by the sweep because they carry revisions too.</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 Safety Assurance</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Configuration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841248">
                <a:tc>
                  <a:txBody>
                    <a:bodyPr/>
                    <a:lstStyle/>
                    <a:p>
                      <a:pPr indent="0" marL="0">
                        <a:buNone/>
                      </a:pPr>
                      <a:r>
                        <a:rPr lang="en-US" sz="1150" b="1" dirty="0">
                          <a:solidFill>
                            <a:srgbClr val="132A4E"/>
                          </a:solidFill>
                          <a:latin typeface="Calibri" pitchFamily="34" charset="0"/>
                          <a:ea typeface="Calibri" pitchFamily="34" charset="-122"/>
                          <a:cs typeface="Calibri" pitchFamily="34" charset="-120"/>
                        </a:rPr>
                        <a:t>In service, and handing on</a:t>
                      </a:r>
                      <a:endParaRPr lang="en-US" sz="11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100" dirty="0">
                          <a:solidFill>
                            <a:srgbClr val="1A2333"/>
                          </a:solidFill>
                          <a:latin typeface="Calibri" pitchFamily="34" charset="0"/>
                          <a:ea typeface="Calibri" pitchFamily="34" charset="-122"/>
                          <a:cs typeface="Calibri" pitchFamily="34" charset="-120"/>
                        </a:rPr>
                        <a:t>Field evidence is the only thing that tests assumptions about how the aircraft is actually operated and maintained; route findings to assumption owners. Nothing leaves for the next program without its conditions, references and evidence.</a:t>
                      </a:r>
                      <a:endParaRPr lang="en-US" sz="110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Safety Risk Management</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p>
                      <a:pPr indent="0" marL="0">
                        <a:buNone/>
                      </a:pPr>
                      <a:r>
                        <a:rPr lang="en-US" sz="1050" b="1" dirty="0">
                          <a:solidFill>
                            <a:srgbClr val="1F4380"/>
                          </a:solidFill>
                          <a:latin typeface="Calibri" pitchFamily="34" charset="0"/>
                          <a:ea typeface="Calibri" pitchFamily="34" charset="-122"/>
                          <a:cs typeface="Calibri" pitchFamily="34" charset="-120"/>
                        </a:rPr>
                        <a:t>Program Management</a:t>
                      </a:r>
                      <a:endParaRPr lang="en-US" sz="1050" dirty="0">
                        <a:latin typeface="Calibri" charset="0"/>
                        <a:ea typeface="Calibri" charset="0"/>
                        <a:cs typeface="Calibri" charset="0"/>
                      </a:endParaRPr>
                    </a:p>
                  </a:txBody>
                  <a:tcPr marL="109728" marR="109728" marT="64008" marB="64008"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72200"/>
            <a:ext cx="11064240" cy="411480"/>
          </a:xfrm>
          <a:prstGeom prst="rect">
            <a:avLst/>
          </a:prstGeom>
          <a:noFill/>
          <a:ln/>
        </p:spPr>
        <p:txBody>
          <a:bodyPr wrap="square" lIns="0" tIns="0" rIns="0" bIns="0" rtlCol="0" anchor="ctr"/>
          <a:lstStyle/>
          <a:p>
            <a:pPr indent="0" marL="0">
              <a:lnSpc>
                <a:spcPts val="1700"/>
              </a:lnSpc>
              <a:buNone/>
            </a:pPr>
            <a:r>
              <a:rPr lang="en-US" sz="1200" i="1" dirty="0">
                <a:solidFill>
                  <a:srgbClr val="4A5568"/>
                </a:solidFill>
                <a:latin typeface="Calibri" pitchFamily="34" charset="0"/>
                <a:ea typeface="Calibri" pitchFamily="34" charset="-122"/>
                <a:cs typeface="Calibri" pitchFamily="34" charset="-120"/>
              </a:rPr>
              <a:t>A program that exports well makes the next program cheaper. A program that exports badly makes it more dangerous.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BEYOND HARDWARE</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Two categories a hardware comparison will never surface</a:t>
            </a:r>
            <a:endParaRPr lang="en-US" sz="2900" dirty="0"/>
          </a:p>
        </p:txBody>
      </p:sp>
      <p:sp>
        <p:nvSpPr>
          <p:cNvPr id="4" name="Text 2"/>
          <p:cNvSpPr/>
          <p:nvPr/>
        </p:nvSpPr>
        <p:spPr>
          <a:xfrm>
            <a:off x="548640" y="1261872"/>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A similarity review compares parts. The assumptions most likely to be wrong are not about parts at all, which is why nothing in the current process catches them.</a:t>
            </a:r>
            <a:endParaRPr lang="en-US" sz="1400" dirty="0"/>
          </a:p>
        </p:txBody>
      </p:sp>
      <p:sp>
        <p:nvSpPr>
          <p:cNvPr id="5" name="Shape 3"/>
          <p:cNvSpPr/>
          <p:nvPr/>
        </p:nvSpPr>
        <p:spPr>
          <a:xfrm>
            <a:off x="548640" y="1883664"/>
            <a:ext cx="5394960" cy="3200400"/>
          </a:xfrm>
          <a:prstGeom prst="roundRect">
            <a:avLst>
              <a:gd name="adj" fmla="val 1429"/>
            </a:avLst>
          </a:prstGeom>
          <a:solidFill>
            <a:srgbClr val="FBEBDC"/>
          </a:solidFill>
          <a:ln w="12700">
            <a:solidFill>
              <a:srgbClr val="ECC8AE"/>
            </a:solidFill>
            <a:prstDash val="solid"/>
          </a:ln>
        </p:spPr>
      </p:sp>
      <p:sp>
        <p:nvSpPr>
          <p:cNvPr id="6" name="Text 4"/>
          <p:cNvSpPr/>
          <p:nvPr/>
        </p:nvSpPr>
        <p:spPr>
          <a:xfrm>
            <a:off x="822960" y="2029968"/>
            <a:ext cx="4846320" cy="310896"/>
          </a:xfrm>
          <a:prstGeom prst="rect">
            <a:avLst/>
          </a:prstGeom>
          <a:noFill/>
          <a:ln/>
        </p:spPr>
        <p:txBody>
          <a:bodyPr wrap="square" lIns="0" tIns="0" rIns="0" bIns="0" rtlCol="0" anchor="ctr"/>
          <a:lstStyle/>
          <a:p>
            <a:pPr indent="0" marL="0">
              <a:buNone/>
            </a:pPr>
            <a:r>
              <a:rPr lang="en-US" sz="1700" b="1" dirty="0">
                <a:solidFill>
                  <a:srgbClr val="B4530C"/>
                </a:solidFill>
                <a:latin typeface="Cambria" pitchFamily="34" charset="0"/>
                <a:ea typeface="Cambria" pitchFamily="34" charset="-122"/>
                <a:cs typeface="Cambria" pitchFamily="34" charset="-120"/>
              </a:rPr>
              <a:t>Assumptions about people</a:t>
            </a:r>
            <a:endParaRPr lang="en-US" sz="1700" dirty="0"/>
          </a:p>
        </p:txBody>
      </p:sp>
      <p:sp>
        <p:nvSpPr>
          <p:cNvPr id="7" name="Text 5"/>
          <p:cNvSpPr/>
          <p:nvPr/>
        </p:nvSpPr>
        <p:spPr>
          <a:xfrm>
            <a:off x="822960" y="2432304"/>
            <a:ext cx="4864608" cy="256032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Crew training standard and recency. Workload in the phase of flight concerned. Maintainer skill level. The probability an inspector spots a defect. Time available to complete a procedure. Staffing and fatigue.</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These have no part number, so nothing in a parts comparison raises them. Their validity lives in procedures, training and staffing, not in drawings.</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The gap: a procedure or training revision generates no engineering change against hardware, so nothing today prompts anyone to ask whether an assumption just broke.</a:t>
            </a:r>
            <a:endParaRPr lang="en-US" sz="1150" dirty="0"/>
          </a:p>
        </p:txBody>
      </p:sp>
      <p:sp>
        <p:nvSpPr>
          <p:cNvPr id="8" name="Shape 6"/>
          <p:cNvSpPr/>
          <p:nvPr/>
        </p:nvSpPr>
        <p:spPr>
          <a:xfrm>
            <a:off x="6245352" y="1883664"/>
            <a:ext cx="5394960" cy="3200400"/>
          </a:xfrm>
          <a:prstGeom prst="roundRect">
            <a:avLst>
              <a:gd name="adj" fmla="val 1429"/>
            </a:avLst>
          </a:prstGeom>
          <a:solidFill>
            <a:srgbClr val="E9EEF7"/>
          </a:solidFill>
          <a:ln w="12700">
            <a:solidFill>
              <a:srgbClr val="D3DEEF"/>
            </a:solidFill>
            <a:prstDash val="solid"/>
          </a:ln>
        </p:spPr>
      </p:sp>
      <p:sp>
        <p:nvSpPr>
          <p:cNvPr id="9" name="Text 7"/>
          <p:cNvSpPr/>
          <p:nvPr/>
        </p:nvSpPr>
        <p:spPr>
          <a:xfrm>
            <a:off x="6519672" y="2029968"/>
            <a:ext cx="4846320" cy="310896"/>
          </a:xfrm>
          <a:prstGeom prst="rect">
            <a:avLst/>
          </a:prstGeom>
          <a:noFill/>
          <a:ln/>
        </p:spPr>
        <p:txBody>
          <a:bodyPr wrap="square" lIns="0" tIns="0" rIns="0" bIns="0" rtlCol="0" anchor="ctr"/>
          <a:lstStyle/>
          <a:p>
            <a:pPr indent="0" marL="0">
              <a:buNone/>
            </a:pPr>
            <a:r>
              <a:rPr lang="en-US" sz="1700" b="1" dirty="0">
                <a:solidFill>
                  <a:srgbClr val="132A4E"/>
                </a:solidFill>
                <a:latin typeface="Cambria" pitchFamily="34" charset="0"/>
                <a:ea typeface="Cambria" pitchFamily="34" charset="-122"/>
                <a:cs typeface="Cambria" pitchFamily="34" charset="-120"/>
              </a:rPr>
              <a:t>Assumptions about interfaces</a:t>
            </a:r>
            <a:endParaRPr lang="en-US" sz="1700" dirty="0"/>
          </a:p>
        </p:txBody>
      </p:sp>
      <p:sp>
        <p:nvSpPr>
          <p:cNvPr id="10" name="Text 8"/>
          <p:cNvSpPr/>
          <p:nvPr/>
        </p:nvSpPr>
        <p:spPr>
          <a:xfrm>
            <a:off x="6519672" y="2432304"/>
            <a:ext cx="4864608" cy="256032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Reuse by similarity is a claim about the item. An interface assumption is a claim about the item's surroundings, which is exactly what did not come across.</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Technically, the obligation already exists: interface requirements must be identified, documented and change-controlled. Attaching assumptions to them adds a link, not a process.</a:t>
            </a:r>
            <a:endParaRPr lang="en-US" sz="1150" dirty="0"/>
          </a:p>
          <a:p>
            <a:pPr indent="0" marL="0">
              <a:lnSpc>
                <a:spcPts val="1700"/>
              </a:lnSpc>
              <a:buNone/>
            </a:pPr>
            <a:endParaRPr lang="en-US" sz="1150" dirty="0"/>
          </a:p>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Organizationally, the classic failure is that the supplier assumed the integrator covered it and the integrator assumed the supplier had. The assumption falls into the gap between two safety management systems.</a:t>
            </a:r>
            <a:endParaRPr lang="en-US" sz="1150" dirty="0"/>
          </a:p>
        </p:txBody>
      </p:sp>
      <p:sp>
        <p:nvSpPr>
          <p:cNvPr id="11" name="Shape 9"/>
          <p:cNvSpPr/>
          <p:nvPr/>
        </p:nvSpPr>
        <p:spPr>
          <a:xfrm>
            <a:off x="548640" y="5230368"/>
            <a:ext cx="11091672" cy="1188720"/>
          </a:xfrm>
          <a:prstGeom prst="roundRect">
            <a:avLst>
              <a:gd name="adj" fmla="val 3846"/>
            </a:avLst>
          </a:prstGeom>
          <a:solidFill>
            <a:srgbClr val="132A4E"/>
          </a:solidFill>
          <a:ln w="12700">
            <a:solidFill>
              <a:srgbClr val="132A4E"/>
            </a:solidFill>
            <a:prstDash val="solid"/>
          </a:ln>
        </p:spPr>
      </p:sp>
      <p:sp>
        <p:nvSpPr>
          <p:cNvPr id="12" name="Text 10"/>
          <p:cNvSpPr/>
          <p:nvPr/>
        </p:nvSpPr>
        <p:spPr>
          <a:xfrm>
            <a:off x="841248" y="536752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Why this matters more than the hardware case</a:t>
            </a:r>
            <a:endParaRPr lang="en-US" sz="1200" dirty="0"/>
          </a:p>
        </p:txBody>
      </p:sp>
      <p:sp>
        <p:nvSpPr>
          <p:cNvPr id="13" name="Text 11"/>
          <p:cNvSpPr/>
          <p:nvPr/>
        </p:nvSpPr>
        <p:spPr>
          <a:xfrm>
            <a:off x="841248" y="5669280"/>
            <a:ext cx="10515600" cy="621792"/>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In the worked example, three of the four broken conditions are interface or people conditions: the alerting logic, the maintenance program and the crew procedure. The hardware really was identical. That is the pattern, not the exception, and it is why a parts-based similarity argument is not sufficient evidence for carrying an assumption across.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OWNERSHIP</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Who owns what</a:t>
            </a:r>
            <a:endParaRPr lang="en-US" sz="2900" dirty="0"/>
          </a:p>
        </p:txBody>
      </p:sp>
      <p:sp>
        <p:nvSpPr>
          <p:cNvPr id="4" name="Text 2"/>
          <p:cNvSpPr/>
          <p:nvPr/>
        </p:nvSpPr>
        <p:spPr>
          <a:xfrm>
            <a:off x="548640" y="1188720"/>
            <a:ext cx="11064240" cy="457200"/>
          </a:xfrm>
          <a:prstGeom prst="rect">
            <a:avLst/>
          </a:prstGeom>
          <a:noFill/>
          <a:ln/>
        </p:spPr>
        <p:txBody>
          <a:bodyPr wrap="square" lIns="0" tIns="0" rIns="0" bIns="0" rtlCol="0" anchor="t"/>
          <a:lstStyle/>
          <a:p>
            <a:pPr indent="0" marL="0">
              <a:lnSpc>
                <a:spcPts val="2000"/>
              </a:lnSpc>
              <a:buNone/>
            </a:pPr>
            <a:r>
              <a:rPr lang="en-US" sz="1400" dirty="0">
                <a:solidFill>
                  <a:srgbClr val="1A2333"/>
                </a:solidFill>
                <a:latin typeface="Calibri" pitchFamily="34" charset="0"/>
                <a:ea typeface="Calibri" pitchFamily="34" charset="-122"/>
                <a:cs typeface="Calibri" pitchFamily="34" charset="-120"/>
              </a:rPr>
              <a:t>No single activity owns this end to end today, which is the underlying reason it falls through the cracks. The change from how this was first framed is that the SMS owns the practice and configuration management supports it.</a:t>
            </a:r>
            <a:endParaRPr lang="en-US" sz="1400" dirty="0"/>
          </a:p>
        </p:txBody>
      </p:sp>
      <p:sp>
        <p:nvSpPr>
          <p:cNvPr id="5" name="Shape 3"/>
          <p:cNvSpPr/>
          <p:nvPr/>
        </p:nvSpPr>
        <p:spPr>
          <a:xfrm>
            <a:off x="548640" y="1755648"/>
            <a:ext cx="5394960" cy="1316736"/>
          </a:xfrm>
          <a:prstGeom prst="roundRect">
            <a:avLst>
              <a:gd name="adj" fmla="val 3472"/>
            </a:avLst>
          </a:prstGeom>
          <a:solidFill>
            <a:srgbClr val="FBEBDC"/>
          </a:solidFill>
          <a:ln w="12700">
            <a:solidFill>
              <a:srgbClr val="ECC8AE"/>
            </a:solidFill>
            <a:prstDash val="solid"/>
          </a:ln>
        </p:spPr>
      </p:sp>
      <p:sp>
        <p:nvSpPr>
          <p:cNvPr id="6" name="Text 4"/>
          <p:cNvSpPr/>
          <p:nvPr/>
        </p:nvSpPr>
        <p:spPr>
          <a:xfrm>
            <a:off x="786384" y="1901952"/>
            <a:ext cx="4937760" cy="329184"/>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SMS Safety Assurance   ·   owner</a:t>
            </a:r>
            <a:endParaRPr lang="en-US" sz="1250" dirty="0"/>
          </a:p>
        </p:txBody>
      </p:sp>
      <p:sp>
        <p:nvSpPr>
          <p:cNvPr id="7" name="Text 5"/>
          <p:cNvSpPr/>
          <p:nvPr/>
        </p:nvSpPr>
        <p:spPr>
          <a:xfrm>
            <a:off x="786384" y="2267712"/>
            <a:ext cx="4956048" cy="676656"/>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Owns the register, the re-confirmation sweep, the named-acceptor rule and the reported position. This practice sits here, not in configuration management.</a:t>
            </a:r>
            <a:endParaRPr lang="en-US" sz="1100" dirty="0"/>
          </a:p>
        </p:txBody>
      </p:sp>
      <p:sp>
        <p:nvSpPr>
          <p:cNvPr id="8" name="Shape 6"/>
          <p:cNvSpPr/>
          <p:nvPr/>
        </p:nvSpPr>
        <p:spPr>
          <a:xfrm>
            <a:off x="6245352" y="1755648"/>
            <a:ext cx="5394960" cy="1316736"/>
          </a:xfrm>
          <a:prstGeom prst="roundRect">
            <a:avLst>
              <a:gd name="adj" fmla="val 3472"/>
            </a:avLst>
          </a:prstGeom>
          <a:solidFill>
            <a:srgbClr val="FFFFFF"/>
          </a:solidFill>
          <a:ln w="12700">
            <a:solidFill>
              <a:srgbClr val="D3DEEF"/>
            </a:solidFill>
            <a:prstDash val="solid"/>
          </a:ln>
        </p:spPr>
      </p:sp>
      <p:sp>
        <p:nvSpPr>
          <p:cNvPr id="9" name="Text 7"/>
          <p:cNvSpPr/>
          <p:nvPr/>
        </p:nvSpPr>
        <p:spPr>
          <a:xfrm>
            <a:off x="6483096" y="1901952"/>
            <a:ext cx="4937760" cy="329184"/>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Safety Risk Management</a:t>
            </a:r>
            <a:endParaRPr lang="en-US" sz="1250" dirty="0"/>
          </a:p>
        </p:txBody>
      </p:sp>
      <p:sp>
        <p:nvSpPr>
          <p:cNvPr id="10" name="Text 8"/>
          <p:cNvSpPr/>
          <p:nvPr/>
        </p:nvSpPr>
        <p:spPr>
          <a:xfrm>
            <a:off x="6483096" y="2267712"/>
            <a:ext cx="4956048" cy="676656"/>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Decides which assumptions are Tier 1, on the test of whether a hazard reopens if they fail. Reopens those that cannot be verified. Routes in-service findings to assumption owners.</a:t>
            </a:r>
            <a:endParaRPr lang="en-US" sz="1100" dirty="0"/>
          </a:p>
        </p:txBody>
      </p:sp>
      <p:sp>
        <p:nvSpPr>
          <p:cNvPr id="11" name="Shape 9"/>
          <p:cNvSpPr/>
          <p:nvPr/>
        </p:nvSpPr>
        <p:spPr>
          <a:xfrm>
            <a:off x="548640" y="3218688"/>
            <a:ext cx="5394960" cy="1316736"/>
          </a:xfrm>
          <a:prstGeom prst="roundRect">
            <a:avLst>
              <a:gd name="adj" fmla="val 3472"/>
            </a:avLst>
          </a:prstGeom>
          <a:solidFill>
            <a:srgbClr val="E9EEF7"/>
          </a:solidFill>
          <a:ln w="12700">
            <a:solidFill>
              <a:srgbClr val="D3DEEF"/>
            </a:solidFill>
            <a:prstDash val="solid"/>
          </a:ln>
        </p:spPr>
      </p:sp>
      <p:sp>
        <p:nvSpPr>
          <p:cNvPr id="12" name="Text 10"/>
          <p:cNvSpPr/>
          <p:nvPr/>
        </p:nvSpPr>
        <p:spPr>
          <a:xfrm>
            <a:off x="786384" y="3364992"/>
            <a:ext cx="4937760" cy="329184"/>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Systems Engineering</a:t>
            </a:r>
            <a:endParaRPr lang="en-US" sz="1250" dirty="0"/>
          </a:p>
        </p:txBody>
      </p:sp>
      <p:sp>
        <p:nvSpPr>
          <p:cNvPr id="13" name="Text 11"/>
          <p:cNvSpPr/>
          <p:nvPr/>
        </p:nvSpPr>
        <p:spPr>
          <a:xfrm>
            <a:off x="786384" y="3730752"/>
            <a:ext cx="4956048" cy="676656"/>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Writes the conditions, records the document and revision each one depends on, and performs the source-to-receiving comparison.</a:t>
            </a:r>
            <a:endParaRPr lang="en-US" sz="1100" dirty="0"/>
          </a:p>
        </p:txBody>
      </p:sp>
      <p:sp>
        <p:nvSpPr>
          <p:cNvPr id="14" name="Shape 12"/>
          <p:cNvSpPr/>
          <p:nvPr/>
        </p:nvSpPr>
        <p:spPr>
          <a:xfrm>
            <a:off x="6245352" y="3218688"/>
            <a:ext cx="5394960" cy="1316736"/>
          </a:xfrm>
          <a:prstGeom prst="roundRect">
            <a:avLst>
              <a:gd name="adj" fmla="val 3472"/>
            </a:avLst>
          </a:prstGeom>
          <a:solidFill>
            <a:srgbClr val="FFFFFF"/>
          </a:solidFill>
          <a:ln w="12700">
            <a:solidFill>
              <a:srgbClr val="D3DEEF"/>
            </a:solidFill>
            <a:prstDash val="solid"/>
          </a:ln>
        </p:spPr>
      </p:sp>
      <p:sp>
        <p:nvSpPr>
          <p:cNvPr id="15" name="Text 13"/>
          <p:cNvSpPr/>
          <p:nvPr/>
        </p:nvSpPr>
        <p:spPr>
          <a:xfrm>
            <a:off x="6483096" y="3364992"/>
            <a:ext cx="4937760" cy="329184"/>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Human Factors</a:t>
            </a:r>
            <a:endParaRPr lang="en-US" sz="1250" dirty="0"/>
          </a:p>
        </p:txBody>
      </p:sp>
      <p:sp>
        <p:nvSpPr>
          <p:cNvPr id="16" name="Text 14"/>
          <p:cNvSpPr/>
          <p:nvPr/>
        </p:nvSpPr>
        <p:spPr>
          <a:xfrm>
            <a:off x="6483096" y="3730752"/>
            <a:ext cx="4956048" cy="676656"/>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Owns assumptions anchored in training and procedure rather than hardware, and validates claims about human performance by test rather than assertion.</a:t>
            </a:r>
            <a:endParaRPr lang="en-US" sz="1100" dirty="0"/>
          </a:p>
        </p:txBody>
      </p:sp>
      <p:sp>
        <p:nvSpPr>
          <p:cNvPr id="17" name="Shape 15"/>
          <p:cNvSpPr/>
          <p:nvPr/>
        </p:nvSpPr>
        <p:spPr>
          <a:xfrm>
            <a:off x="548640" y="4681728"/>
            <a:ext cx="5394960" cy="1316736"/>
          </a:xfrm>
          <a:prstGeom prst="roundRect">
            <a:avLst>
              <a:gd name="adj" fmla="val 3472"/>
            </a:avLst>
          </a:prstGeom>
          <a:solidFill>
            <a:srgbClr val="DFF0ED"/>
          </a:solidFill>
          <a:ln w="12700">
            <a:solidFill>
              <a:srgbClr val="B9DBD5"/>
            </a:solidFill>
            <a:prstDash val="solid"/>
          </a:ln>
        </p:spPr>
      </p:sp>
      <p:sp>
        <p:nvSpPr>
          <p:cNvPr id="18" name="Text 16"/>
          <p:cNvSpPr/>
          <p:nvPr/>
        </p:nvSpPr>
        <p:spPr>
          <a:xfrm>
            <a:off x="786384" y="4828032"/>
            <a:ext cx="4937760" cy="329184"/>
          </a:xfrm>
          <a:prstGeom prst="rect">
            <a:avLst/>
          </a:prstGeom>
          <a:noFill/>
          <a:ln/>
        </p:spPr>
        <p:txBody>
          <a:bodyPr wrap="square" lIns="0" tIns="0" rIns="0" bIns="0" rtlCol="0" anchor="ctr"/>
          <a:lstStyle/>
          <a:p>
            <a:pPr indent="0" marL="0">
              <a:buNone/>
            </a:pPr>
            <a:r>
              <a:rPr lang="en-US" sz="1250" b="1" dirty="0">
                <a:solidFill>
                  <a:srgbClr val="0F6B62"/>
                </a:solidFill>
                <a:latin typeface="Calibri" pitchFamily="34" charset="0"/>
                <a:ea typeface="Calibri" pitchFamily="34" charset="-122"/>
                <a:cs typeface="Calibri" pitchFamily="34" charset="-120"/>
              </a:rPr>
              <a:t>Configuration Management   ·   supplier</a:t>
            </a:r>
            <a:endParaRPr lang="en-US" sz="1250" dirty="0"/>
          </a:p>
        </p:txBody>
      </p:sp>
      <p:sp>
        <p:nvSpPr>
          <p:cNvPr id="19" name="Text 17"/>
          <p:cNvSpPr/>
          <p:nvPr/>
        </p:nvSpPr>
        <p:spPr>
          <a:xfrm>
            <a:off x="786384" y="5193792"/>
            <a:ext cx="4956048" cy="676656"/>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Supplies revision state for engineering documents and the identifier discipline that keeps references stable. Supporting role. Continued airworthiness and training functions supply the same for the other two regimes.</a:t>
            </a:r>
            <a:endParaRPr lang="en-US" sz="1100" dirty="0"/>
          </a:p>
        </p:txBody>
      </p:sp>
      <p:sp>
        <p:nvSpPr>
          <p:cNvPr id="20" name="Shape 18"/>
          <p:cNvSpPr/>
          <p:nvPr/>
        </p:nvSpPr>
        <p:spPr>
          <a:xfrm>
            <a:off x="6245352" y="4681728"/>
            <a:ext cx="5394960" cy="1316736"/>
          </a:xfrm>
          <a:prstGeom prst="roundRect">
            <a:avLst>
              <a:gd name="adj" fmla="val 3472"/>
            </a:avLst>
          </a:prstGeom>
          <a:solidFill>
            <a:srgbClr val="FFFFFF"/>
          </a:solidFill>
          <a:ln w="12700">
            <a:solidFill>
              <a:srgbClr val="D3DEEF"/>
            </a:solidFill>
            <a:prstDash val="solid"/>
          </a:ln>
        </p:spPr>
      </p:sp>
      <p:sp>
        <p:nvSpPr>
          <p:cNvPr id="21" name="Text 19"/>
          <p:cNvSpPr/>
          <p:nvPr/>
        </p:nvSpPr>
        <p:spPr>
          <a:xfrm>
            <a:off x="6483096" y="4828032"/>
            <a:ext cx="4937760" cy="329184"/>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Program Management</a:t>
            </a:r>
            <a:endParaRPr lang="en-US" sz="1250" dirty="0"/>
          </a:p>
        </p:txBody>
      </p:sp>
      <p:sp>
        <p:nvSpPr>
          <p:cNvPr id="22" name="Text 20"/>
          <p:cNvSpPr/>
          <p:nvPr/>
        </p:nvSpPr>
        <p:spPr>
          <a:xfrm>
            <a:off x="6483096" y="5193792"/>
            <a:ext cx="4956048" cy="676656"/>
          </a:xfrm>
          <a:prstGeom prst="rect">
            <a:avLst/>
          </a:prstGeom>
          <a:noFill/>
          <a:ln/>
        </p:spPr>
        <p:txBody>
          <a:bodyPr wrap="square" lIns="0" tIns="0" rIns="0" bIns="0" rtlCol="0" anchor="t"/>
          <a:lstStyle/>
          <a:p>
            <a:pPr indent="0" marL="0">
              <a:lnSpc>
                <a:spcPts val="1700"/>
              </a:lnSpc>
              <a:buNone/>
            </a:pPr>
            <a:r>
              <a:rPr lang="en-US" sz="1100" dirty="0">
                <a:solidFill>
                  <a:srgbClr val="1A2333"/>
                </a:solidFill>
                <a:latin typeface="Calibri" pitchFamily="34" charset="0"/>
                <a:ea typeface="Calibri" pitchFamily="34" charset="-122"/>
                <a:cs typeface="Calibri" pitchFamily="34" charset="-120"/>
              </a:rPr>
              <a:t>Funds and schedules the work, owns the design review criteria and the reported position, and owns what gets exported to the next program.</a:t>
            </a:r>
            <a:endParaRPr lang="en-US" sz="1100" dirty="0"/>
          </a:p>
        </p:txBody>
      </p:sp>
      <p:sp>
        <p:nvSpPr>
          <p:cNvPr id="23" name="Shape 21"/>
          <p:cNvSpPr/>
          <p:nvPr/>
        </p:nvSpPr>
        <p:spPr>
          <a:xfrm>
            <a:off x="548640" y="5998464"/>
            <a:ext cx="11091672" cy="676656"/>
          </a:xfrm>
          <a:prstGeom prst="roundRect">
            <a:avLst>
              <a:gd name="adj" fmla="val 6757"/>
            </a:avLst>
          </a:prstGeom>
          <a:solidFill>
            <a:srgbClr val="FBEBDC"/>
          </a:solidFill>
          <a:ln w="12700">
            <a:solidFill>
              <a:srgbClr val="ECC8AE"/>
            </a:solidFill>
            <a:prstDash val="solid"/>
          </a:ln>
        </p:spPr>
      </p:sp>
      <p:sp>
        <p:nvSpPr>
          <p:cNvPr id="24" name="Text 22"/>
          <p:cNvSpPr/>
          <p:nvPr/>
        </p:nvSpPr>
        <p:spPr>
          <a:xfrm>
            <a:off x="822960" y="5998464"/>
            <a:ext cx="10515600" cy="676656"/>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Single accountable position: the Safety Accountable Executive, the only role with authority over both the cost pressure and the risk it creates.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A4E"/>
        </a:solidFill>
      </p:bgPr>
    </p:bg>
    <p:spTree>
      <p:nvGrpSpPr>
        <p:cNvPr id="1" name=""/>
        <p:cNvGrpSpPr/>
        <p:nvPr/>
      </p:nvGrpSpPr>
      <p:grpSpPr>
        <a:xfrm>
          <a:off x="0" y="0"/>
          <a:ext cx="0" cy="0"/>
          <a:chOff x="0" y="0"/>
          <a:chExt cx="0" cy="0"/>
        </a:xfrm>
      </p:grpSpPr>
      <p:sp>
        <p:nvSpPr>
          <p:cNvPr id="2" name="Text 0"/>
          <p:cNvSpPr/>
          <p:nvPr/>
        </p:nvSpPr>
        <p:spPr>
          <a:xfrm>
            <a:off x="548640" y="457200"/>
            <a:ext cx="10515600" cy="274320"/>
          </a:xfrm>
          <a:prstGeom prst="rect">
            <a:avLst/>
          </a:prstGeom>
          <a:noFill/>
          <a:ln/>
        </p:spPr>
        <p:txBody>
          <a:bodyPr wrap="square" lIns="0" tIns="0" rIns="0" bIns="0" rtlCol="0" anchor="ctr"/>
          <a:lstStyle/>
          <a:p>
            <a:pPr indent="0" marL="0">
              <a:buNone/>
            </a:pPr>
            <a:r>
              <a:rPr lang="en-US" sz="1100" b="1" spc="180" kern="0" dirty="0">
                <a:solidFill>
                  <a:srgbClr val="F0B37E"/>
                </a:solidFill>
                <a:latin typeface="Calibri" pitchFamily="34" charset="0"/>
                <a:ea typeface="Calibri" pitchFamily="34" charset="-122"/>
                <a:cs typeface="Calibri" pitchFamily="34" charset="-120"/>
              </a:rPr>
              <a:t>WHAT I AM ASKING FOR</a:t>
            </a:r>
            <a:endParaRPr lang="en-US" sz="1100" dirty="0"/>
          </a:p>
        </p:txBody>
      </p:sp>
      <p:sp>
        <p:nvSpPr>
          <p:cNvPr id="3" name="Text 1"/>
          <p:cNvSpPr/>
          <p:nvPr/>
        </p:nvSpPr>
        <p:spPr>
          <a:xfrm>
            <a:off x="548640" y="768096"/>
            <a:ext cx="10515600" cy="603504"/>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decisions</a:t>
            </a:r>
            <a:endParaRPr lang="en-US" sz="3000" dirty="0"/>
          </a:p>
        </p:txBody>
      </p:sp>
      <p:sp>
        <p:nvSpPr>
          <p:cNvPr id="4" name="Shape 2"/>
          <p:cNvSpPr/>
          <p:nvPr/>
        </p:nvSpPr>
        <p:spPr>
          <a:xfrm>
            <a:off x="548640" y="1755648"/>
            <a:ext cx="402336" cy="402336"/>
          </a:xfrm>
          <a:prstGeom prst="roundRect">
            <a:avLst>
              <a:gd name="adj" fmla="val 15909"/>
            </a:avLst>
          </a:prstGeom>
          <a:solidFill>
            <a:srgbClr val="B4530C"/>
          </a:solidFill>
          <a:ln w="12700">
            <a:solidFill>
              <a:srgbClr val="B4530C"/>
            </a:solidFill>
            <a:prstDash val="solid"/>
          </a:ln>
        </p:spPr>
      </p:sp>
      <p:sp>
        <p:nvSpPr>
          <p:cNvPr id="5" name="Text 3"/>
          <p:cNvSpPr/>
          <p:nvPr/>
        </p:nvSpPr>
        <p:spPr>
          <a:xfrm>
            <a:off x="548640" y="1755648"/>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6" name="Text 4"/>
          <p:cNvSpPr/>
          <p:nvPr/>
        </p:nvSpPr>
        <p:spPr>
          <a:xfrm>
            <a:off x="1133856" y="1609344"/>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Stand the assumption register up under the SMS</a:t>
            </a:r>
            <a:endParaRPr lang="en-US" sz="1250" dirty="0"/>
          </a:p>
        </p:txBody>
      </p:sp>
      <p:sp>
        <p:nvSpPr>
          <p:cNvPr id="7" name="Text 5"/>
          <p:cNvSpPr/>
          <p:nvPr/>
        </p:nvSpPr>
        <p:spPr>
          <a:xfrm>
            <a:off x="5852160" y="1609344"/>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Not inside the configuration management plan. The SMS owns the practice end to end; the three control regimes supply revision data to it.</a:t>
            </a:r>
            <a:endParaRPr lang="en-US" sz="1100" dirty="0"/>
          </a:p>
        </p:txBody>
      </p:sp>
      <p:sp>
        <p:nvSpPr>
          <p:cNvPr id="8" name="Shape 6"/>
          <p:cNvSpPr/>
          <p:nvPr/>
        </p:nvSpPr>
        <p:spPr>
          <a:xfrm>
            <a:off x="548640" y="2615184"/>
            <a:ext cx="402336" cy="402336"/>
          </a:xfrm>
          <a:prstGeom prst="roundRect">
            <a:avLst>
              <a:gd name="adj" fmla="val 15909"/>
            </a:avLst>
          </a:prstGeom>
          <a:solidFill>
            <a:srgbClr val="B4530C"/>
          </a:solidFill>
          <a:ln w="12700">
            <a:solidFill>
              <a:srgbClr val="B4530C"/>
            </a:solidFill>
            <a:prstDash val="solid"/>
          </a:ln>
        </p:spPr>
      </p:sp>
      <p:sp>
        <p:nvSpPr>
          <p:cNvPr id="9" name="Text 7"/>
          <p:cNvSpPr/>
          <p:nvPr/>
        </p:nvSpPr>
        <p:spPr>
          <a:xfrm>
            <a:off x="548640" y="2615184"/>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0" name="Text 8"/>
          <p:cNvSpPr/>
          <p:nvPr/>
        </p:nvSpPr>
        <p:spPr>
          <a:xfrm>
            <a:off x="1133856" y="2468880"/>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Require a named risk acceptor on this program for every Tier 1 assumption</a:t>
            </a:r>
            <a:endParaRPr lang="en-US" sz="1250" dirty="0"/>
          </a:p>
        </p:txBody>
      </p:sp>
      <p:sp>
        <p:nvSpPr>
          <p:cNvPr id="11" name="Text 9"/>
          <p:cNvSpPr/>
          <p:nvPr/>
        </p:nvSpPr>
        <p:spPr>
          <a:xfrm>
            <a:off x="5852160" y="2468880"/>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Inherited acceptance does not carry over. This is the item with genuine compliance weight under SM-0001.</a:t>
            </a:r>
            <a:endParaRPr lang="en-US" sz="1100" dirty="0"/>
          </a:p>
        </p:txBody>
      </p:sp>
      <p:sp>
        <p:nvSpPr>
          <p:cNvPr id="12" name="Shape 10"/>
          <p:cNvSpPr/>
          <p:nvPr/>
        </p:nvSpPr>
        <p:spPr>
          <a:xfrm>
            <a:off x="548640" y="3474720"/>
            <a:ext cx="402336" cy="402336"/>
          </a:xfrm>
          <a:prstGeom prst="roundRect">
            <a:avLst>
              <a:gd name="adj" fmla="val 15909"/>
            </a:avLst>
          </a:prstGeom>
          <a:solidFill>
            <a:srgbClr val="B4530C"/>
          </a:solidFill>
          <a:ln w="12700">
            <a:solidFill>
              <a:srgbClr val="B4530C"/>
            </a:solidFill>
            <a:prstDash val="solid"/>
          </a:ln>
        </p:spPr>
      </p:sp>
      <p:sp>
        <p:nvSpPr>
          <p:cNvPr id="13" name="Text 11"/>
          <p:cNvSpPr/>
          <p:nvPr/>
        </p:nvSpPr>
        <p:spPr>
          <a:xfrm>
            <a:off x="548640" y="3474720"/>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4" name="Text 12"/>
          <p:cNvSpPr/>
          <p:nvPr/>
        </p:nvSpPr>
        <p:spPr>
          <a:xfrm>
            <a:off x="1133856" y="3328416"/>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Run a re-confirmation sweep against recorded revisions</a:t>
            </a:r>
            <a:endParaRPr lang="en-US" sz="1250" dirty="0"/>
          </a:p>
        </p:txBody>
      </p:sp>
      <p:sp>
        <p:nvSpPr>
          <p:cNvPr id="15" name="Text 13"/>
          <p:cNvSpPr/>
          <p:nvPr/>
        </p:nvSpPr>
        <p:spPr>
          <a:xfrm>
            <a:off x="5852160" y="3328416"/>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At set intervals and before every design review. No change to the engineering change process and no new field on anyone else's form.</a:t>
            </a:r>
            <a:endParaRPr lang="en-US" sz="1100" dirty="0"/>
          </a:p>
        </p:txBody>
      </p:sp>
      <p:sp>
        <p:nvSpPr>
          <p:cNvPr id="16" name="Shape 14"/>
          <p:cNvSpPr/>
          <p:nvPr/>
        </p:nvSpPr>
        <p:spPr>
          <a:xfrm>
            <a:off x="548640" y="4334256"/>
            <a:ext cx="402336" cy="402336"/>
          </a:xfrm>
          <a:prstGeom prst="roundRect">
            <a:avLst>
              <a:gd name="adj" fmla="val 15909"/>
            </a:avLst>
          </a:prstGeom>
          <a:solidFill>
            <a:srgbClr val="B4530C"/>
          </a:solidFill>
          <a:ln w="12700">
            <a:solidFill>
              <a:srgbClr val="B4530C"/>
            </a:solidFill>
            <a:prstDash val="solid"/>
          </a:ln>
        </p:spPr>
      </p:sp>
      <p:sp>
        <p:nvSpPr>
          <p:cNvPr id="17" name="Text 15"/>
          <p:cNvSpPr/>
          <p:nvPr/>
        </p:nvSpPr>
        <p:spPr>
          <a:xfrm>
            <a:off x="548640" y="4334256"/>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18" name="Text 16"/>
          <p:cNvSpPr/>
          <p:nvPr/>
        </p:nvSpPr>
        <p:spPr>
          <a:xfrm>
            <a:off x="1133856" y="4187952"/>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Report unanchored and unconfirmed Tier 1 assumptions at design reviews</a:t>
            </a:r>
            <a:endParaRPr lang="en-US" sz="1250" dirty="0"/>
          </a:p>
        </p:txBody>
      </p:sp>
      <p:sp>
        <p:nvSpPr>
          <p:cNvPr id="19" name="Text 17"/>
          <p:cNvSpPr/>
          <p:nvPr/>
        </p:nvSpPr>
        <p:spPr>
          <a:xfrm>
            <a:off x="5852160" y="4187952"/>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Program Management owns the position; Safety Assurance owns the measure. Expect the first number to be uncomfortable.</a:t>
            </a:r>
            <a:endParaRPr lang="en-US" sz="1100" dirty="0"/>
          </a:p>
        </p:txBody>
      </p:sp>
      <p:sp>
        <p:nvSpPr>
          <p:cNvPr id="20" name="Shape 18"/>
          <p:cNvSpPr/>
          <p:nvPr/>
        </p:nvSpPr>
        <p:spPr>
          <a:xfrm>
            <a:off x="548640" y="5193792"/>
            <a:ext cx="402336" cy="402336"/>
          </a:xfrm>
          <a:prstGeom prst="roundRect">
            <a:avLst>
              <a:gd name="adj" fmla="val 15909"/>
            </a:avLst>
          </a:prstGeom>
          <a:solidFill>
            <a:srgbClr val="B4530C"/>
          </a:solidFill>
          <a:ln w="12700">
            <a:solidFill>
              <a:srgbClr val="B4530C"/>
            </a:solidFill>
            <a:prstDash val="solid"/>
          </a:ln>
        </p:spPr>
      </p:sp>
      <p:sp>
        <p:nvSpPr>
          <p:cNvPr id="21" name="Text 19"/>
          <p:cNvSpPr/>
          <p:nvPr/>
        </p:nvSpPr>
        <p:spPr>
          <a:xfrm>
            <a:off x="548640" y="5193792"/>
            <a:ext cx="402336" cy="402336"/>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2" name="Text 20"/>
          <p:cNvSpPr/>
          <p:nvPr/>
        </p:nvSpPr>
        <p:spPr>
          <a:xfrm>
            <a:off x="1133856" y="5047488"/>
            <a:ext cx="452628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Stop releasing bare assumption statements to other programs</a:t>
            </a:r>
            <a:endParaRPr lang="en-US" sz="1250" dirty="0"/>
          </a:p>
        </p:txBody>
      </p:sp>
      <p:sp>
        <p:nvSpPr>
          <p:cNvPr id="23" name="Text 21"/>
          <p:cNvSpPr/>
          <p:nvPr/>
        </p:nvSpPr>
        <p:spPr>
          <a:xfrm>
            <a:off x="5852160" y="5047488"/>
            <a:ext cx="576072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The conditions, the document references and the evidence travel with the statement, or nothing travels.</a:t>
            </a:r>
            <a:endParaRPr lang="en-US" sz="1100" dirty="0"/>
          </a:p>
        </p:txBody>
      </p:sp>
      <p:sp>
        <p:nvSpPr>
          <p:cNvPr id="24" name="Shape 22"/>
          <p:cNvSpPr/>
          <p:nvPr/>
        </p:nvSpPr>
        <p:spPr>
          <a:xfrm>
            <a:off x="548640" y="5943600"/>
            <a:ext cx="11091672" cy="749808"/>
          </a:xfrm>
          <a:prstGeom prst="roundRect">
            <a:avLst>
              <a:gd name="adj" fmla="val 6098"/>
            </a:avLst>
          </a:prstGeom>
          <a:solidFill>
            <a:srgbClr val="1F4380"/>
          </a:solidFill>
          <a:ln w="12700">
            <a:solidFill>
              <a:srgbClr val="1F4380"/>
            </a:solidFill>
            <a:prstDash val="solid"/>
          </a:ln>
        </p:spPr>
      </p:sp>
      <p:sp>
        <p:nvSpPr>
          <p:cNvPr id="25" name="Text 23"/>
          <p:cNvSpPr/>
          <p:nvPr/>
        </p:nvSpPr>
        <p:spPr>
          <a:xfrm>
            <a:off x="822960" y="5943600"/>
            <a:ext cx="10515600" cy="749808"/>
          </a:xfrm>
          <a:prstGeom prst="rect">
            <a:avLst/>
          </a:prstGeom>
          <a:noFill/>
          <a:ln/>
        </p:spPr>
        <p:txBody>
          <a:bodyPr wrap="square" lIns="0" tIns="0" rIns="0" bIns="0" rtlCol="0" anchor="ctr"/>
          <a:lstStyle/>
          <a:p>
            <a:pPr indent="0" marL="0">
              <a:lnSpc>
                <a:spcPts val="1500"/>
              </a:lnSpc>
              <a:buNone/>
            </a:pPr>
            <a:r>
              <a:rPr lang="en-US" sz="1050" dirty="0">
                <a:solidFill>
                  <a:srgbClr val="D6E0F2"/>
                </a:solidFill>
                <a:latin typeface="Calibri" pitchFamily="34" charset="0"/>
                <a:ea typeface="Calibri" pitchFamily="34" charset="-122"/>
                <a:cs typeface="Calibri" pitchFamily="34" charset="-120"/>
              </a:rPr>
              <a:t>Three honest caveats:  no standard requires an assumption register today, so this is a practice we are building rather than an existing obligation.  Applied to everything it is unaffordable, so the tiering decision on slide 12 determines whether it survives.  And the sweep detects movement at the next sweep, not on the day it happens, which is a real latency we are accepting in order to leave every other process untouched.</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92608"/>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BACK-UP</a:t>
            </a:r>
            <a:endParaRPr lang="en-US" sz="1050" dirty="0"/>
          </a:p>
        </p:txBody>
      </p:sp>
      <p:sp>
        <p:nvSpPr>
          <p:cNvPr id="3" name="Text 1"/>
          <p:cNvSpPr/>
          <p:nvPr/>
        </p:nvSpPr>
        <p:spPr>
          <a:xfrm>
            <a:off x="548640" y="548640"/>
            <a:ext cx="11064240" cy="658368"/>
          </a:xfrm>
          <a:prstGeom prst="rect">
            <a:avLst/>
          </a:prstGeom>
          <a:noFill/>
          <a:ln/>
        </p:spPr>
        <p:txBody>
          <a:bodyPr wrap="square" lIns="0" tIns="0" rIns="0" bIns="0" rtlCol="0" anchor="t"/>
          <a:lstStyle/>
          <a:p>
            <a:pPr indent="0" marL="0">
              <a:buNone/>
            </a:pPr>
            <a:r>
              <a:rPr lang="en-US" sz="2900" b="1" dirty="0">
                <a:solidFill>
                  <a:srgbClr val="132A4E"/>
                </a:solidFill>
                <a:latin typeface="Cambria" pitchFamily="34" charset="0"/>
                <a:ea typeface="Cambria" pitchFamily="34" charset="-122"/>
                <a:cs typeface="Cambria" pitchFamily="34" charset="-120"/>
              </a:rPr>
              <a:t>Glossary and references</a:t>
            </a:r>
            <a:endParaRPr lang="en-US" sz="2900" dirty="0"/>
          </a:p>
        </p:txBody>
      </p:sp>
      <p:sp>
        <p:nvSpPr>
          <p:cNvPr id="4" name="Shape 2"/>
          <p:cNvSpPr/>
          <p:nvPr/>
        </p:nvSpPr>
        <p:spPr>
          <a:xfrm>
            <a:off x="548640" y="1280160"/>
            <a:ext cx="5394960" cy="1316736"/>
          </a:xfrm>
          <a:prstGeom prst="roundRect">
            <a:avLst>
              <a:gd name="adj" fmla="val 3472"/>
            </a:avLst>
          </a:prstGeom>
          <a:solidFill>
            <a:srgbClr val="E9EEF7"/>
          </a:solidFill>
          <a:ln w="12700">
            <a:solidFill>
              <a:srgbClr val="D3DEEF"/>
            </a:solidFill>
            <a:prstDash val="solid"/>
          </a:ln>
        </p:spPr>
      </p:sp>
      <p:sp>
        <p:nvSpPr>
          <p:cNvPr id="5" name="Text 3"/>
          <p:cNvSpPr/>
          <p:nvPr/>
        </p:nvSpPr>
        <p:spPr>
          <a:xfrm>
            <a:off x="786384" y="1426464"/>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Ground rules and assumptions</a:t>
            </a:r>
            <a:endParaRPr lang="en-US" sz="1250" dirty="0"/>
          </a:p>
        </p:txBody>
      </p:sp>
      <p:sp>
        <p:nvSpPr>
          <p:cNvPr id="6" name="Text 4"/>
          <p:cNvSpPr/>
          <p:nvPr/>
        </p:nvSpPr>
        <p:spPr>
          <a:xfrm>
            <a:off x="786384" y="1755648"/>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Statements a program adopts as true to bound analysis and design. In safety work they usually carry risk credit, meaning a hazard was closed partly because of them.</a:t>
            </a:r>
            <a:endParaRPr lang="en-US" sz="1150" dirty="0"/>
          </a:p>
        </p:txBody>
      </p:sp>
      <p:sp>
        <p:nvSpPr>
          <p:cNvPr id="7" name="Shape 5"/>
          <p:cNvSpPr/>
          <p:nvPr/>
        </p:nvSpPr>
        <p:spPr>
          <a:xfrm>
            <a:off x="6181344" y="1280160"/>
            <a:ext cx="5394960" cy="1316736"/>
          </a:xfrm>
          <a:prstGeom prst="roundRect">
            <a:avLst>
              <a:gd name="adj" fmla="val 3472"/>
            </a:avLst>
          </a:prstGeom>
          <a:solidFill>
            <a:srgbClr val="FFFFFF"/>
          </a:solidFill>
          <a:ln w="12700">
            <a:solidFill>
              <a:srgbClr val="D3DEEF"/>
            </a:solidFill>
            <a:prstDash val="solid"/>
          </a:ln>
        </p:spPr>
      </p:sp>
      <p:sp>
        <p:nvSpPr>
          <p:cNvPr id="8" name="Text 6"/>
          <p:cNvSpPr/>
          <p:nvPr/>
        </p:nvSpPr>
        <p:spPr>
          <a:xfrm>
            <a:off x="6419088" y="1426464"/>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Risk credit</a:t>
            </a:r>
            <a:endParaRPr lang="en-US" sz="1250" dirty="0"/>
          </a:p>
        </p:txBody>
      </p:sp>
      <p:sp>
        <p:nvSpPr>
          <p:cNvPr id="9" name="Text 7"/>
          <p:cNvSpPr/>
          <p:nvPr/>
        </p:nvSpPr>
        <p:spPr>
          <a:xfrm>
            <a:off x="6419088" y="1755648"/>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reduction in assessed risk an assumption provides. If the assumption fails, the credit is withdrawn and the hazard reopens.</a:t>
            </a:r>
            <a:endParaRPr lang="en-US" sz="1150" dirty="0"/>
          </a:p>
        </p:txBody>
      </p:sp>
      <p:sp>
        <p:nvSpPr>
          <p:cNvPr id="10" name="Shape 8"/>
          <p:cNvSpPr/>
          <p:nvPr/>
        </p:nvSpPr>
        <p:spPr>
          <a:xfrm>
            <a:off x="548640" y="2761488"/>
            <a:ext cx="5394960" cy="1316736"/>
          </a:xfrm>
          <a:prstGeom prst="roundRect">
            <a:avLst>
              <a:gd name="adj" fmla="val 3472"/>
            </a:avLst>
          </a:prstGeom>
          <a:solidFill>
            <a:srgbClr val="E9EEF7"/>
          </a:solidFill>
          <a:ln w="12700">
            <a:solidFill>
              <a:srgbClr val="D3DEEF"/>
            </a:solidFill>
            <a:prstDash val="solid"/>
          </a:ln>
        </p:spPr>
      </p:sp>
      <p:sp>
        <p:nvSpPr>
          <p:cNvPr id="11" name="Text 9"/>
          <p:cNvSpPr/>
          <p:nvPr/>
        </p:nvSpPr>
        <p:spPr>
          <a:xfrm>
            <a:off x="786384" y="2907792"/>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Tier 1 assumption</a:t>
            </a:r>
            <a:endParaRPr lang="en-US" sz="1250" dirty="0"/>
          </a:p>
        </p:txBody>
      </p:sp>
      <p:sp>
        <p:nvSpPr>
          <p:cNvPr id="12" name="Text 10"/>
          <p:cNvSpPr/>
          <p:nvPr/>
        </p:nvSpPr>
        <p:spPr>
          <a:xfrm>
            <a:off x="786384" y="3236976"/>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One where a hazard would reopen if the assumption failed. The test is applied by safety risk management using the hazard analysis, not taken from a list held elsewhere.</a:t>
            </a:r>
            <a:endParaRPr lang="en-US" sz="1150" dirty="0"/>
          </a:p>
        </p:txBody>
      </p:sp>
      <p:sp>
        <p:nvSpPr>
          <p:cNvPr id="13" name="Shape 11"/>
          <p:cNvSpPr/>
          <p:nvPr/>
        </p:nvSpPr>
        <p:spPr>
          <a:xfrm>
            <a:off x="6181344" y="2761488"/>
            <a:ext cx="5394960" cy="1316736"/>
          </a:xfrm>
          <a:prstGeom prst="roundRect">
            <a:avLst>
              <a:gd name="adj" fmla="val 3472"/>
            </a:avLst>
          </a:prstGeom>
          <a:solidFill>
            <a:srgbClr val="FFFFFF"/>
          </a:solidFill>
          <a:ln w="12700">
            <a:solidFill>
              <a:srgbClr val="D3DEEF"/>
            </a:solidFill>
            <a:prstDash val="solid"/>
          </a:ln>
        </p:spPr>
      </p:sp>
      <p:sp>
        <p:nvSpPr>
          <p:cNvPr id="14" name="Text 12"/>
          <p:cNvSpPr/>
          <p:nvPr/>
        </p:nvSpPr>
        <p:spPr>
          <a:xfrm>
            <a:off x="6419088" y="2907792"/>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Anchoring</a:t>
            </a:r>
            <a:endParaRPr lang="en-US" sz="1250" dirty="0"/>
          </a:p>
        </p:txBody>
      </p:sp>
      <p:sp>
        <p:nvSpPr>
          <p:cNvPr id="15" name="Text 13"/>
          <p:cNvSpPr/>
          <p:nvPr/>
        </p:nvSpPr>
        <p:spPr>
          <a:xfrm>
            <a:off x="6419088" y="3236976"/>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Recording the specific document, item and revision that each condition of an assumption depends on, rather than restating the value the document contains.</a:t>
            </a:r>
            <a:endParaRPr lang="en-US" sz="1150" dirty="0"/>
          </a:p>
        </p:txBody>
      </p:sp>
      <p:sp>
        <p:nvSpPr>
          <p:cNvPr id="16" name="Shape 14"/>
          <p:cNvSpPr/>
          <p:nvPr/>
        </p:nvSpPr>
        <p:spPr>
          <a:xfrm>
            <a:off x="548640" y="4242816"/>
            <a:ext cx="5394960" cy="1316736"/>
          </a:xfrm>
          <a:prstGeom prst="roundRect">
            <a:avLst>
              <a:gd name="adj" fmla="val 3472"/>
            </a:avLst>
          </a:prstGeom>
          <a:solidFill>
            <a:srgbClr val="E9EEF7"/>
          </a:solidFill>
          <a:ln w="12700">
            <a:solidFill>
              <a:srgbClr val="D3DEEF"/>
            </a:solidFill>
            <a:prstDash val="solid"/>
          </a:ln>
        </p:spPr>
      </p:sp>
      <p:sp>
        <p:nvSpPr>
          <p:cNvPr id="17" name="Text 15"/>
          <p:cNvSpPr/>
          <p:nvPr/>
        </p:nvSpPr>
        <p:spPr>
          <a:xfrm>
            <a:off x="786384" y="4389120"/>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Control regime</a:t>
            </a:r>
            <a:endParaRPr lang="en-US" sz="1250" dirty="0"/>
          </a:p>
        </p:txBody>
      </p:sp>
      <p:sp>
        <p:nvSpPr>
          <p:cNvPr id="18" name="Text 16"/>
          <p:cNvSpPr/>
          <p:nvPr/>
        </p:nvSpPr>
        <p:spPr>
          <a:xfrm>
            <a:off x="786384" y="4718304"/>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One of the three places the underlying facts are controlled: engineering configuration control, maintenance program and operational control, or training and competence control.</a:t>
            </a:r>
            <a:endParaRPr lang="en-US" sz="1150" dirty="0"/>
          </a:p>
        </p:txBody>
      </p:sp>
      <p:sp>
        <p:nvSpPr>
          <p:cNvPr id="19" name="Shape 17"/>
          <p:cNvSpPr/>
          <p:nvPr/>
        </p:nvSpPr>
        <p:spPr>
          <a:xfrm>
            <a:off x="6181344" y="4242816"/>
            <a:ext cx="5394960" cy="1316736"/>
          </a:xfrm>
          <a:prstGeom prst="roundRect">
            <a:avLst>
              <a:gd name="adj" fmla="val 3472"/>
            </a:avLst>
          </a:prstGeom>
          <a:solidFill>
            <a:srgbClr val="FFFFFF"/>
          </a:solidFill>
          <a:ln w="12700">
            <a:solidFill>
              <a:srgbClr val="D3DEEF"/>
            </a:solidFill>
            <a:prstDash val="solid"/>
          </a:ln>
        </p:spPr>
      </p:sp>
      <p:sp>
        <p:nvSpPr>
          <p:cNvPr id="20" name="Text 18"/>
          <p:cNvSpPr/>
          <p:nvPr/>
        </p:nvSpPr>
        <p:spPr>
          <a:xfrm>
            <a:off x="6419088" y="4389120"/>
            <a:ext cx="4882896" cy="292608"/>
          </a:xfrm>
          <a:prstGeom prst="rect">
            <a:avLst/>
          </a:prstGeom>
          <a:noFill/>
          <a:ln/>
        </p:spPr>
        <p:txBody>
          <a:bodyPr wrap="square" lIns="0" tIns="0" rIns="0" bIns="0" rtlCol="0" anchor="ctr"/>
          <a:lstStyle/>
          <a:p>
            <a:pPr indent="0" marL="0">
              <a:buNone/>
            </a:pPr>
            <a:r>
              <a:rPr lang="en-US" sz="1250" b="1" dirty="0">
                <a:solidFill>
                  <a:srgbClr val="1F4380"/>
                </a:solidFill>
                <a:latin typeface="Calibri" pitchFamily="34" charset="0"/>
                <a:ea typeface="Calibri" pitchFamily="34" charset="-122"/>
                <a:cs typeface="Calibri" pitchFamily="34" charset="-120"/>
              </a:rPr>
              <a:t>Re-confirmation sweep</a:t>
            </a:r>
            <a:endParaRPr lang="en-US" sz="1250" dirty="0"/>
          </a:p>
        </p:txBody>
      </p:sp>
      <p:sp>
        <p:nvSpPr>
          <p:cNvPr id="21" name="Text 19"/>
          <p:cNvSpPr/>
          <p:nvPr/>
        </p:nvSpPr>
        <p:spPr>
          <a:xfrm>
            <a:off x="6419088" y="4718304"/>
            <a:ext cx="4901184" cy="768096"/>
          </a:xfrm>
          <a:prstGeom prst="rect">
            <a:avLst/>
          </a:prstGeom>
          <a:noFill/>
          <a:ln/>
        </p:spPr>
        <p:txBody>
          <a:bodyPr wrap="square" lIns="0" tIns="0" rIns="0" bIns="0" rtlCol="0" anchor="t"/>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 periodic comparison of the revision recorded against each assumption with the current revision of that document, flagging any difference for review.</a:t>
            </a:r>
            <a:endParaRPr lang="en-US" sz="1150" dirty="0"/>
          </a:p>
        </p:txBody>
      </p:sp>
      <p:sp>
        <p:nvSpPr>
          <p:cNvPr id="22" name="Shape 20"/>
          <p:cNvSpPr/>
          <p:nvPr/>
        </p:nvSpPr>
        <p:spPr>
          <a:xfrm>
            <a:off x="548640" y="5797296"/>
            <a:ext cx="11091672" cy="713232"/>
          </a:xfrm>
          <a:prstGeom prst="roundRect">
            <a:avLst>
              <a:gd name="adj" fmla="val 6410"/>
            </a:avLst>
          </a:prstGeom>
          <a:solidFill>
            <a:srgbClr val="132A4E"/>
          </a:solidFill>
          <a:ln w="12700">
            <a:solidFill>
              <a:srgbClr val="132A4E"/>
            </a:solidFill>
            <a:prstDash val="solid"/>
          </a:ln>
        </p:spPr>
      </p:sp>
      <p:sp>
        <p:nvSpPr>
          <p:cNvPr id="23" name="Text 21"/>
          <p:cNvSpPr/>
          <p:nvPr/>
        </p:nvSpPr>
        <p:spPr>
          <a:xfrm>
            <a:off x="841248" y="5907024"/>
            <a:ext cx="10515600" cy="493776"/>
          </a:xfrm>
          <a:prstGeom prst="rect">
            <a:avLst/>
          </a:prstGeom>
          <a:noFill/>
          <a:ln/>
        </p:spPr>
        <p:txBody>
          <a:bodyPr wrap="square" lIns="0" tIns="0" rIns="0" bIns="0" rtlCol="0" anchor="t"/>
          <a:lstStyle/>
          <a:p>
            <a:pPr indent="0" marL="0">
              <a:lnSpc>
                <a:spcPts val="1900"/>
              </a:lnSpc>
              <a:buNone/>
            </a:pPr>
            <a:r>
              <a:rPr lang="en-US" sz="1300" dirty="0">
                <a:solidFill>
                  <a:srgbClr val="FFFFFF"/>
                </a:solidFill>
                <a:latin typeface="Calibri" pitchFamily="34" charset="0"/>
                <a:ea typeface="Calibri" pitchFamily="34" charset="-122"/>
                <a:cs typeface="Calibri" pitchFamily="34" charset="-120"/>
              </a:rPr>
              <a:t>References: SM-0001 Issue C for safety management system and safety risk management requirements. EIA-649-1 and GEIA-HB-649 for configuration management practice, which supports this proposal but does not own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2026-08-05T03:02:52Z</dcterms:created>
  <dcterms:modified xsi:type="dcterms:W3CDTF">2026-08-05T03:02:52Z</dcterms:modified>
</cp:coreProperties>
</file>