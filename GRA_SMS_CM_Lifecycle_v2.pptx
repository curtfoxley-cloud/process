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A4E"/>
        </a:solidFill>
      </p:bgPr>
    </p:bg>
    <p:spTree>
      <p:nvGrpSpPr>
        <p:cNvPr id="1" name=""/>
        <p:cNvGrpSpPr/>
        <p:nvPr/>
      </p:nvGrpSpPr>
      <p:grpSpPr>
        <a:xfrm>
          <a:off x="0" y="0"/>
          <a:ext cx="0" cy="0"/>
          <a:chOff x="0" y="0"/>
          <a:chExt cx="0" cy="0"/>
        </a:xfrm>
      </p:grpSpPr>
      <p:sp>
        <p:nvSpPr>
          <p:cNvPr id="2" name="Shape 0"/>
          <p:cNvSpPr/>
          <p:nvPr/>
        </p:nvSpPr>
        <p:spPr>
          <a:xfrm>
            <a:off x="8138160" y="-914400"/>
            <a:ext cx="6035040" cy="5029200"/>
          </a:xfrm>
          <a:prstGeom prst="roundRect">
            <a:avLst>
              <a:gd name="adj" fmla="val 364"/>
            </a:avLst>
          </a:prstGeom>
          <a:solidFill>
            <a:srgbClr val="1B3866"/>
          </a:solidFill>
          <a:ln w="12700">
            <a:solidFill>
              <a:srgbClr val="1B3866"/>
            </a:solidFill>
            <a:prstDash val="solid"/>
          </a:ln>
        </p:spPr>
      </p:sp>
      <p:sp>
        <p:nvSpPr>
          <p:cNvPr id="3" name="Shape 1"/>
          <p:cNvSpPr/>
          <p:nvPr/>
        </p:nvSpPr>
        <p:spPr>
          <a:xfrm>
            <a:off x="9601200" y="4279392"/>
            <a:ext cx="4572000" cy="3566160"/>
          </a:xfrm>
          <a:prstGeom prst="roundRect">
            <a:avLst>
              <a:gd name="adj" fmla="val 513"/>
            </a:avLst>
          </a:prstGeom>
          <a:solidFill>
            <a:srgbClr val="0E2545"/>
          </a:solidFill>
          <a:ln w="12700">
            <a:solidFill>
              <a:srgbClr val="0E2545"/>
            </a:solidFill>
            <a:prstDash val="solid"/>
          </a:ln>
        </p:spPr>
      </p:sp>
      <p:sp>
        <p:nvSpPr>
          <p:cNvPr id="4" name="Shape 2"/>
          <p:cNvSpPr/>
          <p:nvPr/>
        </p:nvSpPr>
        <p:spPr>
          <a:xfrm>
            <a:off x="8138160" y="4279392"/>
            <a:ext cx="1280160" cy="1280160"/>
          </a:xfrm>
          <a:prstGeom prst="roundRect">
            <a:avLst>
              <a:gd name="adj" fmla="val 1429"/>
            </a:avLst>
          </a:prstGeom>
          <a:solidFill>
            <a:srgbClr val="B4530C"/>
          </a:solidFill>
          <a:ln w="12700">
            <a:solidFill>
              <a:srgbClr val="B4530C"/>
            </a:solidFill>
            <a:prstDash val="solid"/>
          </a:ln>
        </p:spPr>
      </p:sp>
      <p:sp>
        <p:nvSpPr>
          <p:cNvPr id="5" name="Text 3"/>
          <p:cNvSpPr/>
          <p:nvPr/>
        </p:nvSpPr>
        <p:spPr>
          <a:xfrm>
            <a:off x="548640" y="1325880"/>
            <a:ext cx="7040880" cy="274320"/>
          </a:xfrm>
          <a:prstGeom prst="rect">
            <a:avLst/>
          </a:prstGeom>
          <a:noFill/>
          <a:ln/>
        </p:spPr>
        <p:txBody>
          <a:bodyPr wrap="square" lIns="0" tIns="0" rIns="0" bIns="0" rtlCol="0" anchor="ctr"/>
          <a:lstStyle/>
          <a:p>
            <a:pPr indent="0" marL="0">
              <a:buNone/>
            </a:pPr>
            <a:r>
              <a:rPr lang="en-US" sz="1100" b="1" spc="160" kern="0" dirty="0">
                <a:solidFill>
                  <a:srgbClr val="F0B37E"/>
                </a:solidFill>
                <a:latin typeface="Calibri" pitchFamily="34" charset="0"/>
                <a:ea typeface="Calibri" pitchFamily="34" charset="-122"/>
                <a:cs typeface="Calibri" pitchFamily="34" charset="-120"/>
              </a:rPr>
              <a:t>SAFETY MANAGEMENT  ·  CONFIGURATION MANAGEMENT</a:t>
            </a:r>
            <a:endParaRPr lang="en-US" sz="1100" dirty="0"/>
          </a:p>
        </p:txBody>
      </p:sp>
      <p:sp>
        <p:nvSpPr>
          <p:cNvPr id="6" name="Text 4"/>
          <p:cNvSpPr/>
          <p:nvPr/>
        </p:nvSpPr>
        <p:spPr>
          <a:xfrm>
            <a:off x="548640" y="1737360"/>
            <a:ext cx="7040880" cy="1828800"/>
          </a:xfrm>
          <a:prstGeom prst="rect">
            <a:avLst/>
          </a:prstGeom>
          <a:noFill/>
          <a:ln/>
        </p:spPr>
        <p:txBody>
          <a:bodyPr wrap="square" lIns="0" tIns="0" rIns="0" bIns="0" rtlCol="0" anchor="ctr"/>
          <a:lstStyle/>
          <a:p>
            <a:pPr indent="0" marL="0">
              <a:lnSpc>
                <a:spcPts val="3800"/>
              </a:lnSpc>
              <a:buNone/>
            </a:pPr>
            <a:r>
              <a:rPr lang="en-US" sz="3200" b="1" dirty="0">
                <a:solidFill>
                  <a:srgbClr val="FFFFFF"/>
                </a:solidFill>
                <a:latin typeface="Cambria" pitchFamily="34" charset="0"/>
                <a:ea typeface="Cambria" pitchFamily="34" charset="-122"/>
                <a:cs typeface="Cambria" pitchFamily="34" charset="-120"/>
              </a:rPr>
              <a:t>Making Ground Rules and Assumptions Traceable, Owned, and Re-checkable</a:t>
            </a:r>
            <a:endParaRPr lang="en-US" sz="3200" dirty="0"/>
          </a:p>
        </p:txBody>
      </p:sp>
      <p:sp>
        <p:nvSpPr>
          <p:cNvPr id="7" name="Text 5"/>
          <p:cNvSpPr/>
          <p:nvPr/>
        </p:nvSpPr>
        <p:spPr>
          <a:xfrm>
            <a:off x="548640" y="3703320"/>
            <a:ext cx="6858000" cy="1188720"/>
          </a:xfrm>
          <a:prstGeom prst="rect">
            <a:avLst/>
          </a:prstGeom>
          <a:noFill/>
          <a:ln/>
        </p:spPr>
        <p:txBody>
          <a:bodyPr wrap="square" lIns="0" tIns="0" rIns="0" bIns="0" rtlCol="0" anchor="ctr"/>
          <a:lstStyle/>
          <a:p>
            <a:pPr indent="0" marL="0">
              <a:lnSpc>
                <a:spcPts val="2100"/>
              </a:lnSpc>
              <a:buNone/>
            </a:pPr>
            <a:r>
              <a:rPr lang="en-US" sz="1350" dirty="0">
                <a:solidFill>
                  <a:srgbClr val="C9D6EC"/>
                </a:solidFill>
                <a:latin typeface="Calibri" pitchFamily="34" charset="0"/>
                <a:ea typeface="Calibri" pitchFamily="34" charset="-122"/>
                <a:cs typeface="Calibri" pitchFamily="34" charset="-120"/>
              </a:rPr>
              <a:t>Programs today inherit ground rules and assumptions from earlier programs when the hardware looks similar. This deck explains why that quietly breaks safety risk management, what to do about it, at which point in the lifecycle, and who owns each action.</a:t>
            </a:r>
            <a:endParaRPr lang="en-US" sz="1350" dirty="0"/>
          </a:p>
        </p:txBody>
      </p:sp>
      <p:sp>
        <p:nvSpPr>
          <p:cNvPr id="8" name="Text 6"/>
          <p:cNvSpPr/>
          <p:nvPr/>
        </p:nvSpPr>
        <p:spPr>
          <a:xfrm>
            <a:off x="548640" y="5120640"/>
            <a:ext cx="685800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Prepared for the Enterprise SMS Technical Fellow</a:t>
            </a:r>
            <a:endParaRPr lang="en-US" sz="1250" dirty="0"/>
          </a:p>
        </p:txBody>
      </p:sp>
      <p:sp>
        <p:nvSpPr>
          <p:cNvPr id="9" name="Text 7"/>
          <p:cNvSpPr/>
          <p:nvPr/>
        </p:nvSpPr>
        <p:spPr>
          <a:xfrm>
            <a:off x="548640" y="5431536"/>
            <a:ext cx="6858000" cy="548640"/>
          </a:xfrm>
          <a:prstGeom prst="rect">
            <a:avLst/>
          </a:prstGeom>
          <a:noFill/>
          <a:ln/>
        </p:spPr>
        <p:txBody>
          <a:bodyPr wrap="square" lIns="0" tIns="0" rIns="0" bIns="0" rtlCol="0" anchor="ctr"/>
          <a:lstStyle/>
          <a:p>
            <a:pPr indent="0" marL="0">
              <a:lnSpc>
                <a:spcPts val="1600"/>
              </a:lnSpc>
              <a:buNone/>
            </a:pPr>
            <a:r>
              <a:rPr lang="en-US" sz="1100" i="1" dirty="0">
                <a:solidFill>
                  <a:srgbClr val="9DB2D4"/>
                </a:solidFill>
                <a:latin typeface="Calibri" pitchFamily="34" charset="0"/>
                <a:ea typeface="Calibri" pitchFamily="34" charset="-122"/>
                <a:cs typeface="Calibri" pitchFamily="34" charset="-120"/>
              </a:rPr>
              <a:t>Discussion draft. Configuration management terms are explained in plain language on slides 10 to 12, and a glossary is at the back.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START HERE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The whole argument on one page</a:t>
            </a:r>
            <a:endParaRPr lang="en-US" sz="2800" dirty="0"/>
          </a:p>
        </p:txBody>
      </p:sp>
      <p:sp>
        <p:nvSpPr>
          <p:cNvPr id="4" name="Shape 2"/>
          <p:cNvSpPr/>
          <p:nvPr/>
        </p:nvSpPr>
        <p:spPr>
          <a:xfrm>
            <a:off x="548640" y="1225296"/>
            <a:ext cx="5394960" cy="1481328"/>
          </a:xfrm>
          <a:prstGeom prst="roundRect">
            <a:avLst>
              <a:gd name="adj" fmla="val 3086"/>
            </a:avLst>
          </a:prstGeom>
          <a:solidFill>
            <a:srgbClr val="E9EEF7"/>
          </a:solidFill>
          <a:ln w="12700">
            <a:solidFill>
              <a:srgbClr val="D3DEEF"/>
            </a:solidFill>
            <a:prstDash val="solid"/>
          </a:ln>
        </p:spPr>
      </p:sp>
      <p:sp>
        <p:nvSpPr>
          <p:cNvPr id="5" name="Text 3"/>
          <p:cNvSpPr/>
          <p:nvPr/>
        </p:nvSpPr>
        <p:spPr>
          <a:xfrm>
            <a:off x="786384" y="1353312"/>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1.  What we do today</a:t>
            </a:r>
            <a:endParaRPr lang="en-US" sz="1250" dirty="0"/>
          </a:p>
        </p:txBody>
      </p:sp>
      <p:sp>
        <p:nvSpPr>
          <p:cNvPr id="6" name="Text 4"/>
          <p:cNvSpPr/>
          <p:nvPr/>
        </p:nvSpPr>
        <p:spPr>
          <a:xfrm>
            <a:off x="786384" y="1682496"/>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When a new program reuses hardware from an earlier program, it also reuses that program's ground rules and assumptions. The assumption text is copied across. The reasoning behind it, and the conditions that had to be true for it to hold, usually are not.</a:t>
            </a:r>
            <a:endParaRPr lang="en-US" sz="1150" dirty="0"/>
          </a:p>
        </p:txBody>
      </p:sp>
      <p:sp>
        <p:nvSpPr>
          <p:cNvPr id="7" name="Shape 5"/>
          <p:cNvSpPr/>
          <p:nvPr/>
        </p:nvSpPr>
        <p:spPr>
          <a:xfrm>
            <a:off x="6245352" y="1225296"/>
            <a:ext cx="5394960" cy="1481328"/>
          </a:xfrm>
          <a:prstGeom prst="roundRect">
            <a:avLst>
              <a:gd name="adj" fmla="val 3086"/>
            </a:avLst>
          </a:prstGeom>
          <a:solidFill>
            <a:srgbClr val="FFFFFF"/>
          </a:solidFill>
          <a:ln w="12700">
            <a:solidFill>
              <a:srgbClr val="D3DEEF"/>
            </a:solidFill>
            <a:prstDash val="solid"/>
          </a:ln>
        </p:spPr>
      </p:sp>
      <p:sp>
        <p:nvSpPr>
          <p:cNvPr id="8" name="Text 6"/>
          <p:cNvSpPr/>
          <p:nvPr/>
        </p:nvSpPr>
        <p:spPr>
          <a:xfrm>
            <a:off x="6483096" y="1353312"/>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2.  Why that is a safety problem</a:t>
            </a:r>
            <a:endParaRPr lang="en-US" sz="1250" dirty="0"/>
          </a:p>
        </p:txBody>
      </p:sp>
      <p:sp>
        <p:nvSpPr>
          <p:cNvPr id="9" name="Text 7"/>
          <p:cNvSpPr/>
          <p:nvPr/>
        </p:nvSpPr>
        <p:spPr>
          <a:xfrm>
            <a:off x="6483096" y="1682496"/>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An assumption is not a fact. It is a promise that a risk is acceptable so long as certain things stay true. Copy the promise without the conditions and nobody downstream can tell when it has stopped being true.</a:t>
            </a:r>
            <a:endParaRPr lang="en-US" sz="1150" dirty="0"/>
          </a:p>
        </p:txBody>
      </p:sp>
      <p:sp>
        <p:nvSpPr>
          <p:cNvPr id="10" name="Shape 8"/>
          <p:cNvSpPr/>
          <p:nvPr/>
        </p:nvSpPr>
        <p:spPr>
          <a:xfrm>
            <a:off x="548640" y="2907792"/>
            <a:ext cx="5394960" cy="1481328"/>
          </a:xfrm>
          <a:prstGeom prst="roundRect">
            <a:avLst>
              <a:gd name="adj" fmla="val 3086"/>
            </a:avLst>
          </a:prstGeom>
          <a:solidFill>
            <a:srgbClr val="E9EEF7"/>
          </a:solidFill>
          <a:ln w="12700">
            <a:solidFill>
              <a:srgbClr val="D3DEEF"/>
            </a:solidFill>
            <a:prstDash val="solid"/>
          </a:ln>
        </p:spPr>
      </p:sp>
      <p:sp>
        <p:nvSpPr>
          <p:cNvPr id="11" name="Text 9"/>
          <p:cNvSpPr/>
          <p:nvPr/>
        </p:nvSpPr>
        <p:spPr>
          <a:xfrm>
            <a:off x="786384" y="3035808"/>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3.  Why programs do it anyway</a:t>
            </a:r>
            <a:endParaRPr lang="en-US" sz="1250" dirty="0"/>
          </a:p>
        </p:txBody>
      </p:sp>
      <p:sp>
        <p:nvSpPr>
          <p:cNvPr id="12" name="Text 10"/>
          <p:cNvSpPr/>
          <p:nvPr/>
        </p:nvSpPr>
        <p:spPr>
          <a:xfrm>
            <a:off x="786384" y="3364992"/>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Rebuilding an assumption set costs senior engineering time during the most schedule-compressed part of a program. The cost is immediate and visible; the risk it creates is deferred and invisible. Reuse is the rational local choice.</a:t>
            </a:r>
            <a:endParaRPr lang="en-US" sz="1150" dirty="0"/>
          </a:p>
        </p:txBody>
      </p:sp>
      <p:sp>
        <p:nvSpPr>
          <p:cNvPr id="13" name="Shape 11"/>
          <p:cNvSpPr/>
          <p:nvPr/>
        </p:nvSpPr>
        <p:spPr>
          <a:xfrm>
            <a:off x="6245352" y="2907792"/>
            <a:ext cx="5394960" cy="1481328"/>
          </a:xfrm>
          <a:prstGeom prst="roundRect">
            <a:avLst>
              <a:gd name="adj" fmla="val 3086"/>
            </a:avLst>
          </a:prstGeom>
          <a:solidFill>
            <a:srgbClr val="FFFFFF"/>
          </a:solidFill>
          <a:ln w="12700">
            <a:solidFill>
              <a:srgbClr val="D3DEEF"/>
            </a:solidFill>
            <a:prstDash val="solid"/>
          </a:ln>
        </p:spPr>
      </p:sp>
      <p:sp>
        <p:nvSpPr>
          <p:cNvPr id="14" name="Text 12"/>
          <p:cNvSpPr/>
          <p:nvPr/>
        </p:nvSpPr>
        <p:spPr>
          <a:xfrm>
            <a:off x="6483096" y="3035808"/>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4.  What we are proposing</a:t>
            </a:r>
            <a:endParaRPr lang="en-US" sz="1250" dirty="0"/>
          </a:p>
        </p:txBody>
      </p:sp>
      <p:sp>
        <p:nvSpPr>
          <p:cNvPr id="15" name="Text 13"/>
          <p:cNvSpPr/>
          <p:nvPr/>
        </p:nvSpPr>
        <p:spPr>
          <a:xfrm>
            <a:off x="6483096" y="3364992"/>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Not that programs stop reusing. That they reuse in a form that can be checked: each safety-relevant assumption written down with its conditions, tied to a controlled engineering document, and given an owner on the receiving program.</a:t>
            </a:r>
            <a:endParaRPr lang="en-US" sz="1150" dirty="0"/>
          </a:p>
        </p:txBody>
      </p:sp>
      <p:sp>
        <p:nvSpPr>
          <p:cNvPr id="16" name="Shape 14"/>
          <p:cNvSpPr/>
          <p:nvPr/>
        </p:nvSpPr>
        <p:spPr>
          <a:xfrm>
            <a:off x="548640" y="4572000"/>
            <a:ext cx="11091672" cy="932688"/>
          </a:xfrm>
          <a:prstGeom prst="roundRect">
            <a:avLst>
              <a:gd name="adj" fmla="val 4902"/>
            </a:avLst>
          </a:prstGeom>
          <a:solidFill>
            <a:srgbClr val="132A4E"/>
          </a:solidFill>
          <a:ln w="12700">
            <a:solidFill>
              <a:srgbClr val="132A4E"/>
            </a:solidFill>
            <a:prstDash val="solid"/>
          </a:ln>
        </p:spPr>
      </p:sp>
      <p:sp>
        <p:nvSpPr>
          <p:cNvPr id="17" name="Text 15"/>
          <p:cNvSpPr/>
          <p:nvPr/>
        </p:nvSpPr>
        <p:spPr>
          <a:xfrm>
            <a:off x="841248" y="4700016"/>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The key idea</a:t>
            </a:r>
            <a:endParaRPr lang="en-US" sz="1200" dirty="0"/>
          </a:p>
        </p:txBody>
      </p:sp>
      <p:sp>
        <p:nvSpPr>
          <p:cNvPr id="18" name="Text 16"/>
          <p:cNvSpPr/>
          <p:nvPr/>
        </p:nvSpPr>
        <p:spPr>
          <a:xfrm>
            <a:off x="841248" y="4992624"/>
            <a:ext cx="10515600" cy="38404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The mechanism already exists. Configuration management already tracks which engineering documents changed and what depends on them. If assumptions point at those documents, then a change to the hardware automatically raises the question of whether the assumption still holds. Today nothing raises that question.</a:t>
            </a:r>
            <a:endParaRPr lang="en-US" sz="1250" dirty="0"/>
          </a:p>
        </p:txBody>
      </p:sp>
      <p:sp>
        <p:nvSpPr>
          <p:cNvPr id="19" name="Text 17"/>
          <p:cNvSpPr/>
          <p:nvPr/>
        </p:nvSpPr>
        <p:spPr>
          <a:xfrm>
            <a:off x="548640" y="5715000"/>
            <a:ext cx="11064240" cy="50292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Slides 3 to 8 set out the problem. Slides 10 to 12 explain the configuration management terms. Slides 13 to 17 set out the fix. Slides 19 to 25 give the actions state by state, with the owning activity for each.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DEFINITIONS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What a ground rule or assumption actually is</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In safety work, an assumption is rarely a neutral statement about the world. It is almost always a conditional claim that lets an analysis stop somewhere. It says: this risk does not need further treatment, because something else is taking care of it.</a:t>
            </a:r>
            <a:endParaRPr lang="en-US" sz="1350" dirty="0"/>
          </a:p>
        </p:txBody>
      </p:sp>
      <p:sp>
        <p:nvSpPr>
          <p:cNvPr id="5" name="Shape 3"/>
          <p:cNvSpPr/>
          <p:nvPr/>
        </p:nvSpPr>
        <p:spPr>
          <a:xfrm>
            <a:off x="548640" y="1920240"/>
            <a:ext cx="11091672" cy="1371600"/>
          </a:xfrm>
          <a:prstGeom prst="roundRect">
            <a:avLst>
              <a:gd name="adj" fmla="val 3333"/>
            </a:avLst>
          </a:prstGeom>
          <a:solidFill>
            <a:srgbClr val="FBEBDC"/>
          </a:solidFill>
          <a:ln w="12700">
            <a:solidFill>
              <a:srgbClr val="ECC8AE"/>
            </a:solidFill>
            <a:prstDash val="solid"/>
          </a:ln>
        </p:spPr>
      </p:sp>
      <p:sp>
        <p:nvSpPr>
          <p:cNvPr id="6" name="Text 4"/>
          <p:cNvSpPr/>
          <p:nvPr/>
        </p:nvSpPr>
        <p:spPr>
          <a:xfrm>
            <a:off x="841248" y="2048256"/>
            <a:ext cx="10515600" cy="274320"/>
          </a:xfrm>
          <a:prstGeom prst="rect">
            <a:avLst/>
          </a:prstGeom>
          <a:noFill/>
          <a:ln/>
        </p:spPr>
        <p:txBody>
          <a:bodyPr wrap="square" lIns="0" tIns="0" rIns="0" bIns="0" rtlCol="0" anchor="ctr"/>
          <a:lstStyle/>
          <a:p>
            <a:pPr indent="0" marL="0">
              <a:buNone/>
            </a:pPr>
            <a:r>
              <a:rPr lang="en-US" sz="1200" b="1" dirty="0">
                <a:solidFill>
                  <a:srgbClr val="B4530C"/>
                </a:solidFill>
                <a:latin typeface="Calibri" pitchFamily="34" charset="0"/>
                <a:ea typeface="Calibri" pitchFamily="34" charset="-122"/>
                <a:cs typeface="Calibri" pitchFamily="34" charset="-120"/>
              </a:rPr>
              <a:t>The shape of a safety-relevant assumption</a:t>
            </a:r>
            <a:endParaRPr lang="en-US" sz="1200" dirty="0"/>
          </a:p>
        </p:txBody>
      </p:sp>
      <p:sp>
        <p:nvSpPr>
          <p:cNvPr id="7" name="Text 5"/>
          <p:cNvSpPr/>
          <p:nvPr/>
        </p:nvSpPr>
        <p:spPr>
          <a:xfrm>
            <a:off x="841248" y="2359152"/>
            <a:ext cx="10515600" cy="822960"/>
          </a:xfrm>
          <a:prstGeom prst="rect">
            <a:avLst/>
          </a:prstGeom>
          <a:noFill/>
          <a:ln/>
        </p:spPr>
        <p:txBody>
          <a:bodyPr wrap="square" lIns="0" tIns="0" rIns="0" bIns="0" rtlCol="0" anchor="ctr"/>
          <a:lstStyle/>
          <a:p>
            <a:pPr indent="0" marL="0">
              <a:lnSpc>
                <a:spcPts val="2100"/>
              </a:lnSpc>
              <a:buNone/>
            </a:pPr>
            <a:r>
              <a:rPr lang="en-US" sz="1450" i="1" dirty="0">
                <a:solidFill>
                  <a:srgbClr val="1A2333"/>
                </a:solidFill>
                <a:latin typeface="Cambria" pitchFamily="34" charset="0"/>
                <a:ea typeface="Cambria" pitchFamily="34" charset="-122"/>
                <a:cs typeface="Cambria" pitchFamily="34" charset="-120"/>
              </a:rPr>
              <a:t>"This hazard is acceptable WITHOUT additional design mitigation, PROVIDED that (a) the flight crew is alerted within one flight, (b) the line is inspected every 400 flight hours, and (c) the unit is installed outside the icing-exposed bay."</a:t>
            </a:r>
            <a:endParaRPr lang="en-US" sz="1450" dirty="0"/>
          </a:p>
        </p:txBody>
      </p:sp>
      <p:sp>
        <p:nvSpPr>
          <p:cNvPr id="8" name="Shape 6"/>
          <p:cNvSpPr/>
          <p:nvPr/>
        </p:nvSpPr>
        <p:spPr>
          <a:xfrm>
            <a:off x="548640" y="3474720"/>
            <a:ext cx="3520440" cy="1572768"/>
          </a:xfrm>
          <a:prstGeom prst="roundRect">
            <a:avLst>
              <a:gd name="adj" fmla="val 2907"/>
            </a:avLst>
          </a:prstGeom>
          <a:solidFill>
            <a:srgbClr val="E9EEF7"/>
          </a:solidFill>
          <a:ln w="12700">
            <a:solidFill>
              <a:srgbClr val="D3DEEF"/>
            </a:solidFill>
            <a:prstDash val="solid"/>
          </a:ln>
        </p:spPr>
      </p:sp>
      <p:sp>
        <p:nvSpPr>
          <p:cNvPr id="9" name="Text 7"/>
          <p:cNvSpPr/>
          <p:nvPr/>
        </p:nvSpPr>
        <p:spPr>
          <a:xfrm>
            <a:off x="786384" y="3602736"/>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claim</a:t>
            </a:r>
            <a:endParaRPr lang="en-US" sz="1250" dirty="0"/>
          </a:p>
        </p:txBody>
      </p:sp>
      <p:sp>
        <p:nvSpPr>
          <p:cNvPr id="10" name="Text 8"/>
          <p:cNvSpPr/>
          <p:nvPr/>
        </p:nvSpPr>
        <p:spPr>
          <a:xfrm>
            <a:off x="786384" y="3931920"/>
            <a:ext cx="308152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part everyone reads and repeats. "No additional mitigation required." It is short, quotable, and travels easily between programs.</a:t>
            </a:r>
            <a:endParaRPr lang="en-US" sz="1150" dirty="0"/>
          </a:p>
        </p:txBody>
      </p:sp>
      <p:sp>
        <p:nvSpPr>
          <p:cNvPr id="11" name="Shape 9"/>
          <p:cNvSpPr/>
          <p:nvPr/>
        </p:nvSpPr>
        <p:spPr>
          <a:xfrm>
            <a:off x="4334256" y="3474720"/>
            <a:ext cx="3520440" cy="1572768"/>
          </a:xfrm>
          <a:prstGeom prst="roundRect">
            <a:avLst>
              <a:gd name="adj" fmla="val 2907"/>
            </a:avLst>
          </a:prstGeom>
          <a:solidFill>
            <a:srgbClr val="FFFFFF"/>
          </a:solidFill>
          <a:ln w="12700">
            <a:solidFill>
              <a:srgbClr val="D3DEEF"/>
            </a:solidFill>
            <a:prstDash val="solid"/>
          </a:ln>
        </p:spPr>
      </p:sp>
      <p:sp>
        <p:nvSpPr>
          <p:cNvPr id="12" name="Text 10"/>
          <p:cNvSpPr/>
          <p:nvPr/>
        </p:nvSpPr>
        <p:spPr>
          <a:xfrm>
            <a:off x="4572000" y="3602736"/>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conditions</a:t>
            </a:r>
            <a:endParaRPr lang="en-US" sz="1250" dirty="0"/>
          </a:p>
        </p:txBody>
      </p:sp>
      <p:sp>
        <p:nvSpPr>
          <p:cNvPr id="13" name="Text 11"/>
          <p:cNvSpPr/>
          <p:nvPr/>
        </p:nvSpPr>
        <p:spPr>
          <a:xfrm>
            <a:off x="4572000" y="3931920"/>
            <a:ext cx="308152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Items (a), (b) and (c). These are what make the claim true. They are longer, less memorable, and are the first thing lost in a copy-paste.</a:t>
            </a:r>
            <a:endParaRPr lang="en-US" sz="1150" dirty="0"/>
          </a:p>
        </p:txBody>
      </p:sp>
      <p:sp>
        <p:nvSpPr>
          <p:cNvPr id="14" name="Shape 12"/>
          <p:cNvSpPr/>
          <p:nvPr/>
        </p:nvSpPr>
        <p:spPr>
          <a:xfrm>
            <a:off x="8119872" y="3474720"/>
            <a:ext cx="3520440" cy="1572768"/>
          </a:xfrm>
          <a:prstGeom prst="roundRect">
            <a:avLst>
              <a:gd name="adj" fmla="val 2907"/>
            </a:avLst>
          </a:prstGeom>
          <a:solidFill>
            <a:srgbClr val="E9EEF7"/>
          </a:solidFill>
          <a:ln w="12700">
            <a:solidFill>
              <a:srgbClr val="D3DEEF"/>
            </a:solidFill>
            <a:prstDash val="solid"/>
          </a:ln>
        </p:spPr>
      </p:sp>
      <p:sp>
        <p:nvSpPr>
          <p:cNvPr id="15" name="Text 13"/>
          <p:cNvSpPr/>
          <p:nvPr/>
        </p:nvSpPr>
        <p:spPr>
          <a:xfrm>
            <a:off x="8357616" y="3602736"/>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risk credit</a:t>
            </a:r>
            <a:endParaRPr lang="en-US" sz="1250" dirty="0"/>
          </a:p>
        </p:txBody>
      </p:sp>
      <p:sp>
        <p:nvSpPr>
          <p:cNvPr id="16" name="Text 14"/>
          <p:cNvSpPr/>
          <p:nvPr/>
        </p:nvSpPr>
        <p:spPr>
          <a:xfrm>
            <a:off x="8357616" y="3931920"/>
            <a:ext cx="308152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Because of this assumption, a hazard was closed without a design change. That is a real safety decision, and someone had to accept it.</a:t>
            </a:r>
            <a:endParaRPr lang="en-US" sz="1150" dirty="0"/>
          </a:p>
        </p:txBody>
      </p:sp>
      <p:sp>
        <p:nvSpPr>
          <p:cNvPr id="17" name="Shape 15"/>
          <p:cNvSpPr/>
          <p:nvPr/>
        </p:nvSpPr>
        <p:spPr>
          <a:xfrm>
            <a:off x="548640" y="5285232"/>
            <a:ext cx="11091672" cy="1188720"/>
          </a:xfrm>
          <a:prstGeom prst="roundRect">
            <a:avLst>
              <a:gd name="adj" fmla="val 3846"/>
            </a:avLst>
          </a:prstGeom>
          <a:solidFill>
            <a:srgbClr val="132A4E"/>
          </a:solidFill>
          <a:ln w="12700">
            <a:solidFill>
              <a:srgbClr val="132A4E"/>
            </a:solidFill>
            <a:prstDash val="solid"/>
          </a:ln>
        </p:spPr>
      </p:sp>
      <p:sp>
        <p:nvSpPr>
          <p:cNvPr id="18" name="Text 16"/>
          <p:cNvSpPr/>
          <p:nvPr/>
        </p:nvSpPr>
        <p:spPr>
          <a:xfrm>
            <a:off x="841248" y="541324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This is not a new idea</a:t>
            </a:r>
            <a:endParaRPr lang="en-US" sz="1200" dirty="0"/>
          </a:p>
        </p:txBody>
      </p:sp>
      <p:sp>
        <p:nvSpPr>
          <p:cNvPr id="19" name="Text 17"/>
          <p:cNvSpPr/>
          <p:nvPr/>
        </p:nvSpPr>
        <p:spPr>
          <a:xfrm>
            <a:off x="841248" y="5705856"/>
            <a:ext cx="10515600" cy="64008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SM-0001 already treats assumptions this way. Appendix 2 lists assumptions among the things a hazard record should contain, and the stated reason is so that they can be re-examined when they change, to see whether the risk assessment still stands. The standard therefore assumes we know when an assumption has changed. Today, for inherited assumptions, we usually do not.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RUNNING EXAMPLE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A worked example we will carry through the deck</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A pressure sensor unit is qualified and in service on Program A, a transport aircraft. Program B is a derivative and reuses the same unit, same part number, same supplier. The bid team carries across Program A's assumption set on the basis that the hardware is identical.</a:t>
            </a:r>
            <a:endParaRPr lang="en-US" sz="1350" dirty="0"/>
          </a:p>
        </p:txBody>
      </p:sp>
      <p:sp>
        <p:nvSpPr>
          <p:cNvPr id="5" name="Shape 3"/>
          <p:cNvSpPr/>
          <p:nvPr/>
        </p:nvSpPr>
        <p:spPr>
          <a:xfrm>
            <a:off x="548640" y="1938528"/>
            <a:ext cx="5394960" cy="3794760"/>
          </a:xfrm>
          <a:prstGeom prst="roundRect">
            <a:avLst>
              <a:gd name="adj" fmla="val 1205"/>
            </a:avLst>
          </a:prstGeom>
          <a:solidFill>
            <a:srgbClr val="E9EEF7"/>
          </a:solidFill>
          <a:ln w="12700">
            <a:solidFill>
              <a:srgbClr val="D3DEEF"/>
            </a:solidFill>
            <a:prstDash val="solid"/>
          </a:ln>
        </p:spPr>
      </p:sp>
      <p:sp>
        <p:nvSpPr>
          <p:cNvPr id="6" name="Text 4"/>
          <p:cNvSpPr/>
          <p:nvPr/>
        </p:nvSpPr>
        <p:spPr>
          <a:xfrm>
            <a:off x="822960" y="2084832"/>
            <a:ext cx="4846320" cy="292608"/>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Program A  ·  where the assumption was written</a:t>
            </a:r>
            <a:endParaRPr lang="en-US" sz="1250" dirty="0"/>
          </a:p>
        </p:txBody>
      </p:sp>
      <p:sp>
        <p:nvSpPr>
          <p:cNvPr id="7" name="Text 5"/>
          <p:cNvSpPr/>
          <p:nvPr/>
        </p:nvSpPr>
        <p:spPr>
          <a:xfrm>
            <a:off x="822960" y="246888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8" name="Text 6"/>
          <p:cNvSpPr/>
          <p:nvPr/>
        </p:nvSpPr>
        <p:spPr>
          <a:xfrm>
            <a:off x="2011680" y="246888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Crew alerting logic detects a blocked line within one flight and annunciates it.</a:t>
            </a:r>
            <a:endParaRPr lang="en-US" sz="1100" dirty="0"/>
          </a:p>
        </p:txBody>
      </p:sp>
      <p:sp>
        <p:nvSpPr>
          <p:cNvPr id="9" name="Text 7"/>
          <p:cNvSpPr/>
          <p:nvPr/>
        </p:nvSpPr>
        <p:spPr>
          <a:xfrm>
            <a:off x="822960" y="310896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10" name="Text 8"/>
          <p:cNvSpPr/>
          <p:nvPr/>
        </p:nvSpPr>
        <p:spPr>
          <a:xfrm>
            <a:off x="2011680" y="310896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Crew procedure requires the aircraft be dispatched under a specific MEL condition.</a:t>
            </a:r>
            <a:endParaRPr lang="en-US" sz="1100" dirty="0"/>
          </a:p>
        </p:txBody>
      </p:sp>
      <p:sp>
        <p:nvSpPr>
          <p:cNvPr id="11" name="Text 9"/>
          <p:cNvSpPr/>
          <p:nvPr/>
        </p:nvSpPr>
        <p:spPr>
          <a:xfrm>
            <a:off x="822960" y="374904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12" name="Text 10"/>
          <p:cNvSpPr/>
          <p:nvPr/>
        </p:nvSpPr>
        <p:spPr>
          <a:xfrm>
            <a:off x="2011680" y="374904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line is inspected every 400 flight hours under the approved maintenance program.</a:t>
            </a:r>
            <a:endParaRPr lang="en-US" sz="1100" dirty="0"/>
          </a:p>
        </p:txBody>
      </p:sp>
      <p:sp>
        <p:nvSpPr>
          <p:cNvPr id="13" name="Text 11"/>
          <p:cNvSpPr/>
          <p:nvPr/>
        </p:nvSpPr>
        <p:spPr>
          <a:xfrm>
            <a:off x="822960" y="438912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14" name="Text 12"/>
          <p:cNvSpPr/>
          <p:nvPr/>
        </p:nvSpPr>
        <p:spPr>
          <a:xfrm>
            <a:off x="2011680" y="438912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unit sits in a heated bay, outside the icing-exposed zone.</a:t>
            </a:r>
            <a:endParaRPr lang="en-US" sz="1100" dirty="0"/>
          </a:p>
        </p:txBody>
      </p:sp>
      <p:sp>
        <p:nvSpPr>
          <p:cNvPr id="15" name="Text 13"/>
          <p:cNvSpPr/>
          <p:nvPr/>
        </p:nvSpPr>
        <p:spPr>
          <a:xfrm>
            <a:off x="822960" y="5029200"/>
            <a:ext cx="1143000" cy="566928"/>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Conclusion</a:t>
            </a:r>
            <a:endParaRPr lang="en-US" sz="1150" dirty="0"/>
          </a:p>
        </p:txBody>
      </p:sp>
      <p:sp>
        <p:nvSpPr>
          <p:cNvPr id="16" name="Text 14"/>
          <p:cNvSpPr/>
          <p:nvPr/>
        </p:nvSpPr>
        <p:spPr>
          <a:xfrm>
            <a:off x="2011680" y="502920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Undetected blockage need not be addressed by design. Hazard closed.</a:t>
            </a:r>
            <a:endParaRPr lang="en-US" sz="1100" dirty="0"/>
          </a:p>
        </p:txBody>
      </p:sp>
      <p:sp>
        <p:nvSpPr>
          <p:cNvPr id="17" name="Shape 15"/>
          <p:cNvSpPr/>
          <p:nvPr/>
        </p:nvSpPr>
        <p:spPr>
          <a:xfrm>
            <a:off x="6245352" y="1938528"/>
            <a:ext cx="5394960" cy="3794760"/>
          </a:xfrm>
          <a:prstGeom prst="roundRect">
            <a:avLst>
              <a:gd name="adj" fmla="val 1205"/>
            </a:avLst>
          </a:prstGeom>
          <a:solidFill>
            <a:srgbClr val="FBEBDC"/>
          </a:solidFill>
          <a:ln w="12700">
            <a:solidFill>
              <a:srgbClr val="ECC8AE"/>
            </a:solidFill>
            <a:prstDash val="solid"/>
          </a:ln>
        </p:spPr>
      </p:sp>
      <p:sp>
        <p:nvSpPr>
          <p:cNvPr id="18" name="Text 16"/>
          <p:cNvSpPr/>
          <p:nvPr/>
        </p:nvSpPr>
        <p:spPr>
          <a:xfrm>
            <a:off x="6519672" y="2084832"/>
            <a:ext cx="4846320" cy="292608"/>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Program B  ·  what is actually different</a:t>
            </a:r>
            <a:endParaRPr lang="en-US" sz="1250" dirty="0"/>
          </a:p>
        </p:txBody>
      </p:sp>
      <p:sp>
        <p:nvSpPr>
          <p:cNvPr id="19" name="Text 17"/>
          <p:cNvSpPr/>
          <p:nvPr/>
        </p:nvSpPr>
        <p:spPr>
          <a:xfrm>
            <a:off x="6519672" y="246888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Alerting</a:t>
            </a:r>
            <a:endParaRPr lang="en-US" sz="1150" dirty="0"/>
          </a:p>
        </p:txBody>
      </p:sp>
      <p:sp>
        <p:nvSpPr>
          <p:cNvPr id="20" name="Text 18"/>
          <p:cNvSpPr/>
          <p:nvPr/>
        </p:nvSpPr>
        <p:spPr>
          <a:xfrm>
            <a:off x="7708392" y="246888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Different avionics supplier. The alerting logic exists but the detection threshold is not the same.</a:t>
            </a:r>
            <a:endParaRPr lang="en-US" sz="1100" dirty="0"/>
          </a:p>
        </p:txBody>
      </p:sp>
      <p:sp>
        <p:nvSpPr>
          <p:cNvPr id="21" name="Text 19"/>
          <p:cNvSpPr/>
          <p:nvPr/>
        </p:nvSpPr>
        <p:spPr>
          <a:xfrm>
            <a:off x="6519672" y="310896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Procedure</a:t>
            </a:r>
            <a:endParaRPr lang="en-US" sz="1150" dirty="0"/>
          </a:p>
        </p:txBody>
      </p:sp>
      <p:sp>
        <p:nvSpPr>
          <p:cNvPr id="22" name="Text 20"/>
          <p:cNvSpPr/>
          <p:nvPr/>
        </p:nvSpPr>
        <p:spPr>
          <a:xfrm>
            <a:off x="7708392" y="310896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Different operator, different MEL, and a crew procedure that was rewritten.</a:t>
            </a:r>
            <a:endParaRPr lang="en-US" sz="1100" dirty="0"/>
          </a:p>
        </p:txBody>
      </p:sp>
      <p:sp>
        <p:nvSpPr>
          <p:cNvPr id="23" name="Text 21"/>
          <p:cNvSpPr/>
          <p:nvPr/>
        </p:nvSpPr>
        <p:spPr>
          <a:xfrm>
            <a:off x="6519672" y="374904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Inspection</a:t>
            </a:r>
            <a:endParaRPr lang="en-US" sz="1150" dirty="0"/>
          </a:p>
        </p:txBody>
      </p:sp>
      <p:sp>
        <p:nvSpPr>
          <p:cNvPr id="24" name="Text 22"/>
          <p:cNvSpPr/>
          <p:nvPr/>
        </p:nvSpPr>
        <p:spPr>
          <a:xfrm>
            <a:off x="7708392" y="374904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customer's maintenance program uses a 600 flight-hour interval.</a:t>
            </a:r>
            <a:endParaRPr lang="en-US" sz="1100" dirty="0"/>
          </a:p>
        </p:txBody>
      </p:sp>
      <p:sp>
        <p:nvSpPr>
          <p:cNvPr id="25" name="Text 23"/>
          <p:cNvSpPr/>
          <p:nvPr/>
        </p:nvSpPr>
        <p:spPr>
          <a:xfrm>
            <a:off x="6519672" y="4389120"/>
            <a:ext cx="1143000" cy="566928"/>
          </a:xfrm>
          <a:prstGeom prst="rect">
            <a:avLst/>
          </a:prstGeom>
          <a:noFill/>
          <a:ln/>
        </p:spPr>
        <p:txBody>
          <a:bodyPr wrap="square" lIns="0" tIns="0" rIns="0" bIns="0" rtlCol="0" anchor="t"/>
          <a:lstStyle/>
          <a:p>
            <a:pPr indent="0" marL="0">
              <a:buNone/>
            </a:pPr>
            <a:r>
              <a:rPr lang="en-US" sz="1150" b="1" dirty="0">
                <a:solidFill>
                  <a:srgbClr val="1F4380"/>
                </a:solidFill>
                <a:latin typeface="Calibri" pitchFamily="34" charset="0"/>
                <a:ea typeface="Calibri" pitchFamily="34" charset="-122"/>
                <a:cs typeface="Calibri" pitchFamily="34" charset="-120"/>
              </a:rPr>
              <a:t>Installation</a:t>
            </a:r>
            <a:endParaRPr lang="en-US" sz="1150" dirty="0"/>
          </a:p>
        </p:txBody>
      </p:sp>
      <p:sp>
        <p:nvSpPr>
          <p:cNvPr id="26" name="Text 24"/>
          <p:cNvSpPr/>
          <p:nvPr/>
        </p:nvSpPr>
        <p:spPr>
          <a:xfrm>
            <a:off x="7708392" y="438912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bay layout changed. The unit is now closer to the icing-exposed zone.</a:t>
            </a:r>
            <a:endParaRPr lang="en-US" sz="1100" dirty="0"/>
          </a:p>
        </p:txBody>
      </p:sp>
      <p:sp>
        <p:nvSpPr>
          <p:cNvPr id="27" name="Text 25"/>
          <p:cNvSpPr/>
          <p:nvPr/>
        </p:nvSpPr>
        <p:spPr>
          <a:xfrm>
            <a:off x="6519672" y="5029200"/>
            <a:ext cx="1143000" cy="566928"/>
          </a:xfrm>
          <a:prstGeom prst="rect">
            <a:avLst/>
          </a:prstGeom>
          <a:noFill/>
          <a:ln/>
        </p:spPr>
        <p:txBody>
          <a:bodyPr wrap="square" lIns="0" tIns="0" rIns="0" bIns="0" rtlCol="0" anchor="t"/>
          <a:lstStyle/>
          <a:p>
            <a:pPr indent="0" marL="0">
              <a:buNone/>
            </a:pPr>
            <a:r>
              <a:rPr lang="en-US" sz="1150" b="1" dirty="0">
                <a:solidFill>
                  <a:srgbClr val="B4530C"/>
                </a:solidFill>
                <a:latin typeface="Calibri" pitchFamily="34" charset="0"/>
                <a:ea typeface="Calibri" pitchFamily="34" charset="-122"/>
                <a:cs typeface="Calibri" pitchFamily="34" charset="-120"/>
              </a:rPr>
              <a:t>Result</a:t>
            </a:r>
            <a:endParaRPr lang="en-US" sz="1150" dirty="0"/>
          </a:p>
        </p:txBody>
      </p:sp>
      <p:sp>
        <p:nvSpPr>
          <p:cNvPr id="28" name="Text 26"/>
          <p:cNvSpPr/>
          <p:nvPr/>
        </p:nvSpPr>
        <p:spPr>
          <a:xfrm>
            <a:off x="7708392" y="5029200"/>
            <a:ext cx="3703320" cy="566928"/>
          </a:xfrm>
          <a:prstGeom prst="rect">
            <a:avLst/>
          </a:prstGeom>
          <a:noFill/>
          <a:ln/>
        </p:spPr>
        <p:txBody>
          <a:bodyPr wrap="square" lIns="0" tIns="0" rIns="0" bIns="0" rtlCol="0" anchor="t"/>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part number is genuinely identical. Every condition the assumption relied on has moved.</a:t>
            </a:r>
            <a:endParaRPr lang="en-US" sz="1100" dirty="0"/>
          </a:p>
        </p:txBody>
      </p:sp>
      <p:sp>
        <p:nvSpPr>
          <p:cNvPr id="29" name="Text 27"/>
          <p:cNvSpPr/>
          <p:nvPr/>
        </p:nvSpPr>
        <p:spPr>
          <a:xfrm>
            <a:off x="548640" y="5897880"/>
            <a:ext cx="11064240" cy="548640"/>
          </a:xfrm>
          <a:prstGeom prst="rect">
            <a:avLst/>
          </a:prstGeom>
          <a:noFill/>
          <a:ln/>
        </p:spPr>
        <p:txBody>
          <a:bodyPr wrap="square" lIns="0" tIns="0" rIns="0" bIns="0" rtlCol="0" anchor="ctr"/>
          <a:lstStyle/>
          <a:p>
            <a:pPr indent="0" marL="0">
              <a:lnSpc>
                <a:spcPts val="1800"/>
              </a:lnSpc>
              <a:buNone/>
            </a:pPr>
            <a:r>
              <a:rPr lang="en-US" sz="1250" i="1" dirty="0">
                <a:solidFill>
                  <a:srgbClr val="4A5568"/>
                </a:solidFill>
                <a:latin typeface="Calibri" pitchFamily="34" charset="0"/>
                <a:ea typeface="Calibri" pitchFamily="34" charset="-122"/>
                <a:cs typeface="Calibri" pitchFamily="34" charset="-120"/>
              </a:rPr>
              <a:t>Nobody did anything wrong here. Each of those four changes was made by a different team, for a good reason, at a different time. No single person ever saw all four together next to the assumption they invalidate.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PRESSURE THAT DRIVES THIS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Why programs reuse assumptions, and when that is right</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This is not a discipline problem and it should not be presented as one. Reuse of ground rules and assumptions is a rational response to real pressure, and in most cases it produces the correct answer. Any proposal that ignores that will be rejected, and should be.</a:t>
            </a:r>
            <a:endParaRPr lang="en-US" sz="1350" dirty="0"/>
          </a:p>
        </p:txBody>
      </p:sp>
      <p:sp>
        <p:nvSpPr>
          <p:cNvPr id="5" name="Shape 3"/>
          <p:cNvSpPr/>
          <p:nvPr/>
        </p:nvSpPr>
        <p:spPr>
          <a:xfrm>
            <a:off x="548640" y="1975104"/>
            <a:ext cx="5394960" cy="1481328"/>
          </a:xfrm>
          <a:prstGeom prst="roundRect">
            <a:avLst>
              <a:gd name="adj" fmla="val 3086"/>
            </a:avLst>
          </a:prstGeom>
          <a:solidFill>
            <a:srgbClr val="E9EEF7"/>
          </a:solidFill>
          <a:ln w="12700">
            <a:solidFill>
              <a:srgbClr val="D3DEEF"/>
            </a:solidFill>
            <a:prstDash val="solid"/>
          </a:ln>
        </p:spPr>
      </p:sp>
      <p:sp>
        <p:nvSpPr>
          <p:cNvPr id="6" name="Text 4"/>
          <p:cNvSpPr/>
          <p:nvPr/>
        </p:nvSpPr>
        <p:spPr>
          <a:xfrm>
            <a:off x="786384" y="210312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schedule pressure is real</a:t>
            </a:r>
            <a:endParaRPr lang="en-US" sz="1250" dirty="0"/>
          </a:p>
        </p:txBody>
      </p:sp>
      <p:sp>
        <p:nvSpPr>
          <p:cNvPr id="7" name="Text 5"/>
          <p:cNvSpPr/>
          <p:nvPr/>
        </p:nvSpPr>
        <p:spPr>
          <a:xfrm>
            <a:off x="786384" y="2432304"/>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Assumption sets are written during proposal and early design, which is the most compressed part of any program. Rebuilding one from first principles costs weeks of senior engineering time that the bid does not have.</a:t>
            </a:r>
            <a:endParaRPr lang="en-US" sz="1150" dirty="0"/>
          </a:p>
        </p:txBody>
      </p:sp>
      <p:sp>
        <p:nvSpPr>
          <p:cNvPr id="8" name="Shape 6"/>
          <p:cNvSpPr/>
          <p:nvPr/>
        </p:nvSpPr>
        <p:spPr>
          <a:xfrm>
            <a:off x="6245352" y="1975104"/>
            <a:ext cx="5394960" cy="1481328"/>
          </a:xfrm>
          <a:prstGeom prst="roundRect">
            <a:avLst>
              <a:gd name="adj" fmla="val 3086"/>
            </a:avLst>
          </a:prstGeom>
          <a:solidFill>
            <a:srgbClr val="FFFFFF"/>
          </a:solidFill>
          <a:ln w="12700">
            <a:solidFill>
              <a:srgbClr val="D3DEEF"/>
            </a:solidFill>
            <a:prstDash val="solid"/>
          </a:ln>
        </p:spPr>
      </p:sp>
      <p:sp>
        <p:nvSpPr>
          <p:cNvPr id="9" name="Text 7"/>
          <p:cNvSpPr/>
          <p:nvPr/>
        </p:nvSpPr>
        <p:spPr>
          <a:xfrm>
            <a:off x="6483096" y="210312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incentives point one way</a:t>
            </a:r>
            <a:endParaRPr lang="en-US" sz="1250" dirty="0"/>
          </a:p>
        </p:txBody>
      </p:sp>
      <p:sp>
        <p:nvSpPr>
          <p:cNvPr id="10" name="Text 8"/>
          <p:cNvSpPr/>
          <p:nvPr/>
        </p:nvSpPr>
        <p:spPr>
          <a:xfrm>
            <a:off x="6483096" y="2432304"/>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cost of rebuilding lands on the bid, now, and is visible to everyone. The risk created by not rebuilding lands on execution or on the fleet, years later, and is visible to nobody. Every individual decision to reuse is locally sensible.</a:t>
            </a:r>
            <a:endParaRPr lang="en-US" sz="1150" dirty="0"/>
          </a:p>
        </p:txBody>
      </p:sp>
      <p:sp>
        <p:nvSpPr>
          <p:cNvPr id="11" name="Shape 9"/>
          <p:cNvSpPr/>
          <p:nvPr/>
        </p:nvSpPr>
        <p:spPr>
          <a:xfrm>
            <a:off x="548640" y="3657600"/>
            <a:ext cx="5394960" cy="1481328"/>
          </a:xfrm>
          <a:prstGeom prst="roundRect">
            <a:avLst>
              <a:gd name="adj" fmla="val 3086"/>
            </a:avLst>
          </a:prstGeom>
          <a:solidFill>
            <a:srgbClr val="E9EEF7"/>
          </a:solidFill>
          <a:ln w="12700">
            <a:solidFill>
              <a:srgbClr val="D3DEEF"/>
            </a:solidFill>
            <a:prstDash val="solid"/>
          </a:ln>
        </p:spPr>
      </p:sp>
      <p:sp>
        <p:nvSpPr>
          <p:cNvPr id="12" name="Text 10"/>
          <p:cNvSpPr/>
          <p:nvPr/>
        </p:nvSpPr>
        <p:spPr>
          <a:xfrm>
            <a:off x="786384" y="378561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Reuse is usually correct</a:t>
            </a:r>
            <a:endParaRPr lang="en-US" sz="1250" dirty="0"/>
          </a:p>
        </p:txBody>
      </p:sp>
      <p:sp>
        <p:nvSpPr>
          <p:cNvPr id="13" name="Text 11"/>
          <p:cNvSpPr/>
          <p:nvPr/>
        </p:nvSpPr>
        <p:spPr>
          <a:xfrm>
            <a:off x="786384" y="4114800"/>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When the part, the installation, the operating environment, the customer and the maintenance program are genuinely the same, the earlier assumption still holds and rebuilding it wastes money. Most reuse falls in this category.</a:t>
            </a:r>
            <a:endParaRPr lang="en-US" sz="1150" dirty="0"/>
          </a:p>
        </p:txBody>
      </p:sp>
      <p:sp>
        <p:nvSpPr>
          <p:cNvPr id="14" name="Shape 12"/>
          <p:cNvSpPr/>
          <p:nvPr/>
        </p:nvSpPr>
        <p:spPr>
          <a:xfrm>
            <a:off x="6245352" y="3657600"/>
            <a:ext cx="5394960" cy="1481328"/>
          </a:xfrm>
          <a:prstGeom prst="roundRect">
            <a:avLst>
              <a:gd name="adj" fmla="val 3086"/>
            </a:avLst>
          </a:prstGeom>
          <a:solidFill>
            <a:srgbClr val="FFFFFF"/>
          </a:solidFill>
          <a:ln w="12700">
            <a:solidFill>
              <a:srgbClr val="D3DEEF"/>
            </a:solidFill>
            <a:prstDash val="solid"/>
          </a:ln>
        </p:spPr>
      </p:sp>
      <p:sp>
        <p:nvSpPr>
          <p:cNvPr id="15" name="Text 13"/>
          <p:cNvSpPr/>
          <p:nvPr/>
        </p:nvSpPr>
        <p:spPr>
          <a:xfrm>
            <a:off x="6483096" y="378561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So the problem is not reuse</a:t>
            </a:r>
            <a:endParaRPr lang="en-US" sz="1250" dirty="0"/>
          </a:p>
        </p:txBody>
      </p:sp>
      <p:sp>
        <p:nvSpPr>
          <p:cNvPr id="16" name="Text 14"/>
          <p:cNvSpPr/>
          <p:nvPr/>
        </p:nvSpPr>
        <p:spPr>
          <a:xfrm>
            <a:off x="6483096" y="4114800"/>
            <a:ext cx="4956048" cy="91440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problem is reuse in a form that cannot be checked. If the conditions are not written down and not tied to anything, then when one of them changes there is no way for anyone to find out.</a:t>
            </a:r>
            <a:endParaRPr lang="en-US" sz="1150" dirty="0"/>
          </a:p>
        </p:txBody>
      </p:sp>
      <p:sp>
        <p:nvSpPr>
          <p:cNvPr id="17" name="Shape 15"/>
          <p:cNvSpPr/>
          <p:nvPr/>
        </p:nvSpPr>
        <p:spPr>
          <a:xfrm>
            <a:off x="548640" y="5230368"/>
            <a:ext cx="11091672" cy="1225296"/>
          </a:xfrm>
          <a:prstGeom prst="roundRect">
            <a:avLst>
              <a:gd name="adj" fmla="val 3731"/>
            </a:avLst>
          </a:prstGeom>
          <a:solidFill>
            <a:srgbClr val="132A4E"/>
          </a:solidFill>
          <a:ln w="12700">
            <a:solidFill>
              <a:srgbClr val="132A4E"/>
            </a:solidFill>
            <a:prstDash val="solid"/>
          </a:ln>
        </p:spPr>
      </p:sp>
      <p:sp>
        <p:nvSpPr>
          <p:cNvPr id="18" name="Text 16"/>
          <p:cNvSpPr/>
          <p:nvPr/>
        </p:nvSpPr>
        <p:spPr>
          <a:xfrm>
            <a:off x="841248" y="5358384"/>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What we are actually asking for</a:t>
            </a:r>
            <a:endParaRPr lang="en-US" sz="1200" dirty="0"/>
          </a:p>
        </p:txBody>
      </p:sp>
      <p:sp>
        <p:nvSpPr>
          <p:cNvPr id="19" name="Text 17"/>
          <p:cNvSpPr/>
          <p:nvPr/>
        </p:nvSpPr>
        <p:spPr>
          <a:xfrm>
            <a:off x="841248" y="5650992"/>
            <a:ext cx="10515600" cy="676656"/>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We are not asking programs to slow down. We are asking that the fast path leave a trace. Writing down the conditions attached to an assumption at the moment it is made costs minutes, because the person writing it already knows them. Reconstructing those same conditions three years later costs weeks, and often cannot be done at all. The expensive version of this work is the one we do today.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GOES WRONG</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The conclusion travels. The conditions stay behind.</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When an assumption is copied to a new program, what physically moves is the sentence. The reasoning that produced it lives in the head of the engineer who wrote it, in a review that happened years ago, and in documents belonging to the other program.</a:t>
            </a:r>
            <a:endParaRPr lang="en-US" sz="1350" dirty="0"/>
          </a:p>
        </p:txBody>
      </p:sp>
      <p:sp>
        <p:nvSpPr>
          <p:cNvPr id="5" name="Shape 3"/>
          <p:cNvSpPr/>
          <p:nvPr/>
        </p:nvSpPr>
        <p:spPr>
          <a:xfrm>
            <a:off x="548640" y="1975104"/>
            <a:ext cx="5394960" cy="1828800"/>
          </a:xfrm>
          <a:prstGeom prst="roundRect">
            <a:avLst>
              <a:gd name="adj" fmla="val 2500"/>
            </a:avLst>
          </a:prstGeom>
          <a:solidFill>
            <a:srgbClr val="DFF0ED"/>
          </a:solidFill>
          <a:ln w="12700">
            <a:solidFill>
              <a:srgbClr val="B9DBD5"/>
            </a:solidFill>
            <a:prstDash val="solid"/>
          </a:ln>
        </p:spPr>
      </p:sp>
      <p:sp>
        <p:nvSpPr>
          <p:cNvPr id="6" name="Text 4"/>
          <p:cNvSpPr/>
          <p:nvPr/>
        </p:nvSpPr>
        <p:spPr>
          <a:xfrm>
            <a:off x="822960" y="2121408"/>
            <a:ext cx="4846320" cy="274320"/>
          </a:xfrm>
          <a:prstGeom prst="rect">
            <a:avLst/>
          </a:prstGeom>
          <a:noFill/>
          <a:ln/>
        </p:spPr>
        <p:txBody>
          <a:bodyPr wrap="square" lIns="0" tIns="0" rIns="0" bIns="0" rtlCol="0" anchor="ctr"/>
          <a:lstStyle/>
          <a:p>
            <a:pPr indent="0" marL="0">
              <a:buNone/>
            </a:pPr>
            <a:r>
              <a:rPr lang="en-US" sz="1200" b="1" dirty="0">
                <a:solidFill>
                  <a:srgbClr val="0F6B62"/>
                </a:solidFill>
                <a:latin typeface="Calibri" pitchFamily="34" charset="0"/>
                <a:ea typeface="Calibri" pitchFamily="34" charset="-122"/>
                <a:cs typeface="Calibri" pitchFamily="34" charset="-120"/>
              </a:rPr>
              <a:t>What arrives on the new program</a:t>
            </a:r>
            <a:endParaRPr lang="en-US" sz="1200" dirty="0"/>
          </a:p>
        </p:txBody>
      </p:sp>
      <p:sp>
        <p:nvSpPr>
          <p:cNvPr id="7" name="Text 5"/>
          <p:cNvSpPr/>
          <p:nvPr/>
        </p:nvSpPr>
        <p:spPr>
          <a:xfrm>
            <a:off x="822960" y="2395728"/>
            <a:ext cx="4864608" cy="1316736"/>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"Undetected blockage need not be addressed by design."</a:t>
            </a:r>
            <a:endParaRPr lang="en-US" sz="1200" dirty="0"/>
          </a:p>
          <a:p>
            <a:pPr indent="0" marL="0">
              <a:lnSpc>
                <a:spcPts val="1800"/>
              </a:lnSpc>
              <a:buNone/>
            </a:pPr>
            <a:endParaRPr lang="en-US" sz="1200" dirty="0"/>
          </a:p>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One sentence. Reviewed, approved, and now part of how the new program understands the product.</a:t>
            </a:r>
            <a:endParaRPr lang="en-US" sz="1200" dirty="0"/>
          </a:p>
        </p:txBody>
      </p:sp>
      <p:sp>
        <p:nvSpPr>
          <p:cNvPr id="8" name="Shape 6"/>
          <p:cNvSpPr/>
          <p:nvPr/>
        </p:nvSpPr>
        <p:spPr>
          <a:xfrm>
            <a:off x="6245352" y="1975104"/>
            <a:ext cx="5394960" cy="1828800"/>
          </a:xfrm>
          <a:prstGeom prst="roundRect">
            <a:avLst>
              <a:gd name="adj" fmla="val 2500"/>
            </a:avLst>
          </a:prstGeom>
          <a:solidFill>
            <a:srgbClr val="FBEBDC"/>
          </a:solidFill>
          <a:ln w="12700">
            <a:solidFill>
              <a:srgbClr val="ECC8AE"/>
            </a:solidFill>
            <a:prstDash val="solid"/>
          </a:ln>
        </p:spPr>
      </p:sp>
      <p:sp>
        <p:nvSpPr>
          <p:cNvPr id="9" name="Text 7"/>
          <p:cNvSpPr/>
          <p:nvPr/>
        </p:nvSpPr>
        <p:spPr>
          <a:xfrm>
            <a:off x="6519672" y="2121408"/>
            <a:ext cx="4846320" cy="274320"/>
          </a:xfrm>
          <a:prstGeom prst="rect">
            <a:avLst/>
          </a:prstGeom>
          <a:noFill/>
          <a:ln/>
        </p:spPr>
        <p:txBody>
          <a:bodyPr wrap="square" lIns="0" tIns="0" rIns="0" bIns="0" rtlCol="0" anchor="ctr"/>
          <a:lstStyle/>
          <a:p>
            <a:pPr indent="0" marL="0">
              <a:buNone/>
            </a:pPr>
            <a:r>
              <a:rPr lang="en-US" sz="1200" b="1" dirty="0">
                <a:solidFill>
                  <a:srgbClr val="B4530C"/>
                </a:solidFill>
                <a:latin typeface="Calibri" pitchFamily="34" charset="0"/>
                <a:ea typeface="Calibri" pitchFamily="34" charset="-122"/>
                <a:cs typeface="Calibri" pitchFamily="34" charset="-120"/>
              </a:rPr>
              <a:t>What stays behind on the old program</a:t>
            </a:r>
            <a:endParaRPr lang="en-US" sz="1200" dirty="0"/>
          </a:p>
        </p:txBody>
      </p:sp>
      <p:sp>
        <p:nvSpPr>
          <p:cNvPr id="10" name="Text 8"/>
          <p:cNvSpPr/>
          <p:nvPr/>
        </p:nvSpPr>
        <p:spPr>
          <a:xfrm>
            <a:off x="6519672" y="2395728"/>
            <a:ext cx="4864608" cy="1316736"/>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The alerting threshold. The MEL condition. The 400-hour interval. The bay location. The name of the person who accepted the residual risk, and the risk tolerability rules they were working to.</a:t>
            </a:r>
            <a:endParaRPr lang="en-US" sz="1200" dirty="0"/>
          </a:p>
        </p:txBody>
      </p:sp>
      <p:sp>
        <p:nvSpPr>
          <p:cNvPr id="11" name="Text 9"/>
          <p:cNvSpPr/>
          <p:nvPr/>
        </p:nvSpPr>
        <p:spPr>
          <a:xfrm>
            <a:off x="548640" y="3986784"/>
            <a:ext cx="11064240" cy="274320"/>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Similarity of hardware answers only one of these questions</a:t>
            </a:r>
            <a:endParaRPr lang="en-US" sz="1300" dirty="0"/>
          </a:p>
        </p:txBody>
      </p:sp>
      <p:sp>
        <p:nvSpPr>
          <p:cNvPr id="12" name="Shape 10"/>
          <p:cNvSpPr/>
          <p:nvPr/>
        </p:nvSpPr>
        <p:spPr>
          <a:xfrm>
            <a:off x="548640" y="4352544"/>
            <a:ext cx="2606040" cy="603504"/>
          </a:xfrm>
          <a:prstGeom prst="roundRect">
            <a:avLst>
              <a:gd name="adj" fmla="val 7576"/>
            </a:avLst>
          </a:prstGeom>
          <a:solidFill>
            <a:srgbClr val="FFFFFF"/>
          </a:solidFill>
          <a:ln w="12700">
            <a:solidFill>
              <a:srgbClr val="D3DEEF"/>
            </a:solidFill>
            <a:prstDash val="solid"/>
          </a:ln>
        </p:spPr>
      </p:sp>
      <p:sp>
        <p:nvSpPr>
          <p:cNvPr id="13" name="Text 11"/>
          <p:cNvSpPr/>
          <p:nvPr/>
        </p:nvSpPr>
        <p:spPr>
          <a:xfrm>
            <a:off x="694944" y="4352544"/>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How and where it is installed</a:t>
            </a:r>
            <a:endParaRPr lang="en-US" sz="1100" dirty="0"/>
          </a:p>
        </p:txBody>
      </p:sp>
      <p:sp>
        <p:nvSpPr>
          <p:cNvPr id="14" name="Shape 12"/>
          <p:cNvSpPr/>
          <p:nvPr/>
        </p:nvSpPr>
        <p:spPr>
          <a:xfrm>
            <a:off x="3346704" y="4352544"/>
            <a:ext cx="2606040" cy="603504"/>
          </a:xfrm>
          <a:prstGeom prst="roundRect">
            <a:avLst>
              <a:gd name="adj" fmla="val 7576"/>
            </a:avLst>
          </a:prstGeom>
          <a:solidFill>
            <a:srgbClr val="FFFFFF"/>
          </a:solidFill>
          <a:ln w="12700">
            <a:solidFill>
              <a:srgbClr val="D3DEEF"/>
            </a:solidFill>
            <a:prstDash val="solid"/>
          </a:ln>
        </p:spPr>
      </p:sp>
      <p:sp>
        <p:nvSpPr>
          <p:cNvPr id="15" name="Text 13"/>
          <p:cNvSpPr/>
          <p:nvPr/>
        </p:nvSpPr>
        <p:spPr>
          <a:xfrm>
            <a:off x="3493008" y="4352544"/>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How hard it is worked (duty cycle)</a:t>
            </a:r>
            <a:endParaRPr lang="en-US" sz="1100" dirty="0"/>
          </a:p>
        </p:txBody>
      </p:sp>
      <p:sp>
        <p:nvSpPr>
          <p:cNvPr id="16" name="Shape 14"/>
          <p:cNvSpPr/>
          <p:nvPr/>
        </p:nvSpPr>
        <p:spPr>
          <a:xfrm>
            <a:off x="6144768" y="4352544"/>
            <a:ext cx="2606040" cy="603504"/>
          </a:xfrm>
          <a:prstGeom prst="roundRect">
            <a:avLst>
              <a:gd name="adj" fmla="val 7576"/>
            </a:avLst>
          </a:prstGeom>
          <a:solidFill>
            <a:srgbClr val="FFFFFF"/>
          </a:solidFill>
          <a:ln w="12700">
            <a:solidFill>
              <a:srgbClr val="D3DEEF"/>
            </a:solidFill>
            <a:prstDash val="solid"/>
          </a:ln>
        </p:spPr>
      </p:sp>
      <p:sp>
        <p:nvSpPr>
          <p:cNvPr id="17" name="Text 15"/>
          <p:cNvSpPr/>
          <p:nvPr/>
        </p:nvSpPr>
        <p:spPr>
          <a:xfrm>
            <a:off x="6291072" y="4352544"/>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Temperature, vibration, icing exposure</a:t>
            </a:r>
            <a:endParaRPr lang="en-US" sz="1100" dirty="0"/>
          </a:p>
        </p:txBody>
      </p:sp>
      <p:sp>
        <p:nvSpPr>
          <p:cNvPr id="18" name="Shape 16"/>
          <p:cNvSpPr/>
          <p:nvPr/>
        </p:nvSpPr>
        <p:spPr>
          <a:xfrm>
            <a:off x="8942832" y="4352544"/>
            <a:ext cx="2606040" cy="603504"/>
          </a:xfrm>
          <a:prstGeom prst="roundRect">
            <a:avLst>
              <a:gd name="adj" fmla="val 7576"/>
            </a:avLst>
          </a:prstGeom>
          <a:solidFill>
            <a:srgbClr val="FFFFFF"/>
          </a:solidFill>
          <a:ln w="12700">
            <a:solidFill>
              <a:srgbClr val="D3DEEF"/>
            </a:solidFill>
            <a:prstDash val="solid"/>
          </a:ln>
        </p:spPr>
      </p:sp>
      <p:sp>
        <p:nvSpPr>
          <p:cNvPr id="19" name="Text 17"/>
          <p:cNvSpPr/>
          <p:nvPr/>
        </p:nvSpPr>
        <p:spPr>
          <a:xfrm>
            <a:off x="9089136" y="4352544"/>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How often it is inspected, and by whom</a:t>
            </a:r>
            <a:endParaRPr lang="en-US" sz="1100" dirty="0"/>
          </a:p>
        </p:txBody>
      </p:sp>
      <p:sp>
        <p:nvSpPr>
          <p:cNvPr id="20" name="Shape 18"/>
          <p:cNvSpPr/>
          <p:nvPr/>
        </p:nvSpPr>
        <p:spPr>
          <a:xfrm>
            <a:off x="548640" y="5065776"/>
            <a:ext cx="2606040" cy="603504"/>
          </a:xfrm>
          <a:prstGeom prst="roundRect">
            <a:avLst>
              <a:gd name="adj" fmla="val 7576"/>
            </a:avLst>
          </a:prstGeom>
          <a:solidFill>
            <a:srgbClr val="FFFFFF"/>
          </a:solidFill>
          <a:ln w="12700">
            <a:solidFill>
              <a:srgbClr val="D3DEEF"/>
            </a:solidFill>
            <a:prstDash val="solid"/>
          </a:ln>
        </p:spPr>
      </p:sp>
      <p:sp>
        <p:nvSpPr>
          <p:cNvPr id="21" name="Text 19"/>
          <p:cNvSpPr/>
          <p:nvPr/>
        </p:nvSpPr>
        <p:spPr>
          <a:xfrm>
            <a:off x="694944" y="5065776"/>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What the crew is alerted to, and when</a:t>
            </a:r>
            <a:endParaRPr lang="en-US" sz="1100" dirty="0"/>
          </a:p>
        </p:txBody>
      </p:sp>
      <p:sp>
        <p:nvSpPr>
          <p:cNvPr id="22" name="Shape 20"/>
          <p:cNvSpPr/>
          <p:nvPr/>
        </p:nvSpPr>
        <p:spPr>
          <a:xfrm>
            <a:off x="3346704" y="5065776"/>
            <a:ext cx="2606040" cy="603504"/>
          </a:xfrm>
          <a:prstGeom prst="roundRect">
            <a:avLst>
              <a:gd name="adj" fmla="val 7576"/>
            </a:avLst>
          </a:prstGeom>
          <a:solidFill>
            <a:srgbClr val="FFFFFF"/>
          </a:solidFill>
          <a:ln w="12700">
            <a:solidFill>
              <a:srgbClr val="D3DEEF"/>
            </a:solidFill>
            <a:prstDash val="solid"/>
          </a:ln>
        </p:spPr>
      </p:sp>
      <p:sp>
        <p:nvSpPr>
          <p:cNvPr id="23" name="Text 21"/>
          <p:cNvSpPr/>
          <p:nvPr/>
        </p:nvSpPr>
        <p:spPr>
          <a:xfrm>
            <a:off x="3493008" y="5065776"/>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What it is connected to on this aircraft</a:t>
            </a:r>
            <a:endParaRPr lang="en-US" sz="1100" dirty="0"/>
          </a:p>
        </p:txBody>
      </p:sp>
      <p:sp>
        <p:nvSpPr>
          <p:cNvPr id="24" name="Shape 22"/>
          <p:cNvSpPr/>
          <p:nvPr/>
        </p:nvSpPr>
        <p:spPr>
          <a:xfrm>
            <a:off x="6144768" y="5065776"/>
            <a:ext cx="2606040" cy="603504"/>
          </a:xfrm>
          <a:prstGeom prst="roundRect">
            <a:avLst>
              <a:gd name="adj" fmla="val 7576"/>
            </a:avLst>
          </a:prstGeom>
          <a:solidFill>
            <a:srgbClr val="FFFFFF"/>
          </a:solidFill>
          <a:ln w="12700">
            <a:solidFill>
              <a:srgbClr val="D3DEEF"/>
            </a:solidFill>
            <a:prstDash val="solid"/>
          </a:ln>
        </p:spPr>
      </p:sp>
      <p:sp>
        <p:nvSpPr>
          <p:cNvPr id="25" name="Text 23"/>
          <p:cNvSpPr/>
          <p:nvPr/>
        </p:nvSpPr>
        <p:spPr>
          <a:xfrm>
            <a:off x="6291072" y="5065776"/>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How the operator actually flies it</a:t>
            </a:r>
            <a:endParaRPr lang="en-US" sz="1100" dirty="0"/>
          </a:p>
        </p:txBody>
      </p:sp>
      <p:sp>
        <p:nvSpPr>
          <p:cNvPr id="26" name="Shape 24"/>
          <p:cNvSpPr/>
          <p:nvPr/>
        </p:nvSpPr>
        <p:spPr>
          <a:xfrm>
            <a:off x="8942832" y="5065776"/>
            <a:ext cx="2606040" cy="603504"/>
          </a:xfrm>
          <a:prstGeom prst="roundRect">
            <a:avLst>
              <a:gd name="adj" fmla="val 7576"/>
            </a:avLst>
          </a:prstGeom>
          <a:solidFill>
            <a:srgbClr val="FFFFFF"/>
          </a:solidFill>
          <a:ln w="12700">
            <a:solidFill>
              <a:srgbClr val="D3DEEF"/>
            </a:solidFill>
            <a:prstDash val="solid"/>
          </a:ln>
        </p:spPr>
      </p:sp>
      <p:sp>
        <p:nvSpPr>
          <p:cNvPr id="27" name="Text 25"/>
          <p:cNvSpPr/>
          <p:nvPr/>
        </p:nvSpPr>
        <p:spPr>
          <a:xfrm>
            <a:off x="9089136" y="5065776"/>
            <a:ext cx="2340864" cy="603504"/>
          </a:xfrm>
          <a:prstGeom prst="rect">
            <a:avLst/>
          </a:prstGeom>
          <a:noFill/>
          <a:ln/>
        </p:spPr>
        <p:txBody>
          <a:bodyPr wrap="square" lIns="0" tIns="0" rIns="0" bIns="0" rtlCol="0" anchor="ctr"/>
          <a:lstStyle/>
          <a:p>
            <a:pPr indent="0" marL="0">
              <a:lnSpc>
                <a:spcPts val="1400"/>
              </a:lnSpc>
              <a:buNone/>
            </a:pPr>
            <a:r>
              <a:rPr lang="en-US" sz="1100" dirty="0">
                <a:solidFill>
                  <a:srgbClr val="1A2333"/>
                </a:solidFill>
                <a:latin typeface="Calibri" pitchFamily="34" charset="0"/>
                <a:ea typeface="Calibri" pitchFamily="34" charset="-122"/>
                <a:cs typeface="Calibri" pitchFamily="34" charset="-120"/>
              </a:rPr>
              <a:t>What the maintenance program requires</a:t>
            </a:r>
            <a:endParaRPr lang="en-US" sz="1100" dirty="0"/>
          </a:p>
        </p:txBody>
      </p:sp>
      <p:sp>
        <p:nvSpPr>
          <p:cNvPr id="28" name="Text 26"/>
          <p:cNvSpPr/>
          <p:nvPr/>
        </p:nvSpPr>
        <p:spPr>
          <a:xfrm>
            <a:off x="548640" y="5870448"/>
            <a:ext cx="11064240" cy="457200"/>
          </a:xfrm>
          <a:prstGeom prst="rect">
            <a:avLst/>
          </a:prstGeom>
          <a:noFill/>
          <a:ln/>
        </p:spPr>
        <p:txBody>
          <a:bodyPr wrap="square" lIns="0" tIns="0" rIns="0" bIns="0" rtlCol="0" anchor="ctr"/>
          <a:lstStyle/>
          <a:p>
            <a:pPr indent="0" marL="0">
              <a:buNone/>
            </a:pPr>
            <a:r>
              <a:rPr lang="en-US" sz="1250" i="1" dirty="0">
                <a:solidFill>
                  <a:srgbClr val="4A5568"/>
                </a:solidFill>
                <a:latin typeface="Calibri" pitchFamily="34" charset="0"/>
                <a:ea typeface="Calibri" pitchFamily="34" charset="-122"/>
                <a:cs typeface="Calibri" pitchFamily="34" charset="-120"/>
              </a:rPr>
              <a:t>A part number is a claim about one box. An assumption is a claim about that box inside a whole aircraft, a whole operation and a whole organization.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RISK ACCEPTANCE WITH NO OWNER</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The part that is a compliance finding, not just bad practice</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Behind every assumption that closes a hazard, there is a person who accepted the residual risk. When the assumption is inherited, that acceptance does not come with it, and no equivalent decision is made on the receiving program.</a:t>
            </a:r>
            <a:endParaRPr lang="en-US" sz="1350" dirty="0"/>
          </a:p>
        </p:txBody>
      </p:sp>
      <p:sp>
        <p:nvSpPr>
          <p:cNvPr id="5" name="Shape 3"/>
          <p:cNvSpPr/>
          <p:nvPr/>
        </p:nvSpPr>
        <p:spPr>
          <a:xfrm>
            <a:off x="548640" y="2011680"/>
            <a:ext cx="11091672" cy="932688"/>
          </a:xfrm>
          <a:prstGeom prst="roundRect">
            <a:avLst>
              <a:gd name="adj" fmla="val 4902"/>
            </a:avLst>
          </a:prstGeom>
          <a:solidFill>
            <a:srgbClr val="E9EEF7"/>
          </a:solidFill>
          <a:ln w="12700">
            <a:solidFill>
              <a:srgbClr val="D3DEEF"/>
            </a:solidFill>
            <a:prstDash val="solid"/>
          </a:ln>
        </p:spPr>
      </p:sp>
      <p:sp>
        <p:nvSpPr>
          <p:cNvPr id="6" name="Shape 4"/>
          <p:cNvSpPr/>
          <p:nvPr/>
        </p:nvSpPr>
        <p:spPr>
          <a:xfrm>
            <a:off x="822960" y="2286000"/>
            <a:ext cx="384048" cy="384048"/>
          </a:xfrm>
          <a:prstGeom prst="roundRect">
            <a:avLst>
              <a:gd name="adj" fmla="val 16667"/>
            </a:avLst>
          </a:prstGeom>
          <a:solidFill>
            <a:srgbClr val="132A4E"/>
          </a:solidFill>
          <a:ln w="12700">
            <a:solidFill>
              <a:srgbClr val="132A4E"/>
            </a:solidFill>
            <a:prstDash val="solid"/>
          </a:ln>
        </p:spPr>
      </p:sp>
      <p:sp>
        <p:nvSpPr>
          <p:cNvPr id="7" name="Text 5"/>
          <p:cNvSpPr/>
          <p:nvPr/>
        </p:nvSpPr>
        <p:spPr>
          <a:xfrm>
            <a:off x="822960" y="2286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89888" y="2121408"/>
            <a:ext cx="10058400" cy="310896"/>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Someone on the earlier program accepted a risk</a:t>
            </a:r>
            <a:endParaRPr lang="en-US" sz="1300" dirty="0"/>
          </a:p>
        </p:txBody>
      </p:sp>
      <p:sp>
        <p:nvSpPr>
          <p:cNvPr id="9" name="Text 7"/>
          <p:cNvSpPr/>
          <p:nvPr/>
        </p:nvSpPr>
        <p:spPr>
          <a:xfrm>
            <a:off x="1389888" y="2432304"/>
            <a:ext cx="10058400" cy="4572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 named individual, working to that program's risk tolerability rules and its definition of acceptable risk, decided the residual risk was acceptable given the assumption held.</a:t>
            </a:r>
            <a:endParaRPr lang="en-US" sz="1150" dirty="0"/>
          </a:p>
        </p:txBody>
      </p:sp>
      <p:sp>
        <p:nvSpPr>
          <p:cNvPr id="10" name="Shape 8"/>
          <p:cNvSpPr/>
          <p:nvPr/>
        </p:nvSpPr>
        <p:spPr>
          <a:xfrm>
            <a:off x="548640" y="3072384"/>
            <a:ext cx="11091672" cy="932688"/>
          </a:xfrm>
          <a:prstGeom prst="roundRect">
            <a:avLst>
              <a:gd name="adj" fmla="val 4902"/>
            </a:avLst>
          </a:prstGeom>
          <a:solidFill>
            <a:srgbClr val="E9EEF7"/>
          </a:solidFill>
          <a:ln w="12700">
            <a:solidFill>
              <a:srgbClr val="D3DEEF"/>
            </a:solidFill>
            <a:prstDash val="solid"/>
          </a:ln>
        </p:spPr>
      </p:sp>
      <p:sp>
        <p:nvSpPr>
          <p:cNvPr id="11" name="Shape 9"/>
          <p:cNvSpPr/>
          <p:nvPr/>
        </p:nvSpPr>
        <p:spPr>
          <a:xfrm>
            <a:off x="822960" y="3346704"/>
            <a:ext cx="384048" cy="384048"/>
          </a:xfrm>
          <a:prstGeom prst="roundRect">
            <a:avLst>
              <a:gd name="adj" fmla="val 16667"/>
            </a:avLst>
          </a:prstGeom>
          <a:solidFill>
            <a:srgbClr val="132A4E"/>
          </a:solidFill>
          <a:ln w="12700">
            <a:solidFill>
              <a:srgbClr val="132A4E"/>
            </a:solidFill>
            <a:prstDash val="solid"/>
          </a:ln>
        </p:spPr>
      </p:sp>
      <p:sp>
        <p:nvSpPr>
          <p:cNvPr id="12" name="Text 10"/>
          <p:cNvSpPr/>
          <p:nvPr/>
        </p:nvSpPr>
        <p:spPr>
          <a:xfrm>
            <a:off x="822960" y="33467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389888" y="3182112"/>
            <a:ext cx="10058400" cy="310896"/>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The new program inherits the benefit but not the decision</a:t>
            </a:r>
            <a:endParaRPr lang="en-US" sz="1300" dirty="0"/>
          </a:p>
        </p:txBody>
      </p:sp>
      <p:sp>
        <p:nvSpPr>
          <p:cNvPr id="14" name="Text 12"/>
          <p:cNvSpPr/>
          <p:nvPr/>
        </p:nvSpPr>
        <p:spPr>
          <a:xfrm>
            <a:off x="1389888" y="3493008"/>
            <a:ext cx="10058400" cy="4572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sentence arrives and closes the same hazard again. But nobody on the new program was asked to accept anything, and there is no record showing that the question was put to anyone.</a:t>
            </a:r>
            <a:endParaRPr lang="en-US" sz="1150" dirty="0"/>
          </a:p>
        </p:txBody>
      </p:sp>
      <p:sp>
        <p:nvSpPr>
          <p:cNvPr id="15" name="Shape 13"/>
          <p:cNvSpPr/>
          <p:nvPr/>
        </p:nvSpPr>
        <p:spPr>
          <a:xfrm>
            <a:off x="548640" y="4133088"/>
            <a:ext cx="11091672" cy="932688"/>
          </a:xfrm>
          <a:prstGeom prst="roundRect">
            <a:avLst>
              <a:gd name="adj" fmla="val 4902"/>
            </a:avLst>
          </a:prstGeom>
          <a:solidFill>
            <a:srgbClr val="FBEBDC"/>
          </a:solidFill>
          <a:ln w="12700">
            <a:solidFill>
              <a:srgbClr val="ECC8AE"/>
            </a:solidFill>
            <a:prstDash val="solid"/>
          </a:ln>
        </p:spPr>
      </p:sp>
      <p:sp>
        <p:nvSpPr>
          <p:cNvPr id="16" name="Shape 14"/>
          <p:cNvSpPr/>
          <p:nvPr/>
        </p:nvSpPr>
        <p:spPr>
          <a:xfrm>
            <a:off x="822960" y="4407408"/>
            <a:ext cx="384048" cy="384048"/>
          </a:xfrm>
          <a:prstGeom prst="roundRect">
            <a:avLst>
              <a:gd name="adj" fmla="val 16667"/>
            </a:avLst>
          </a:prstGeom>
          <a:solidFill>
            <a:srgbClr val="B4530C"/>
          </a:solidFill>
          <a:ln w="12700">
            <a:solidFill>
              <a:srgbClr val="B4530C"/>
            </a:solidFill>
            <a:prstDash val="solid"/>
          </a:ln>
        </p:spPr>
      </p:sp>
      <p:sp>
        <p:nvSpPr>
          <p:cNvPr id="17" name="Text 15"/>
          <p:cNvSpPr/>
          <p:nvPr/>
        </p:nvSpPr>
        <p:spPr>
          <a:xfrm>
            <a:off x="822960" y="44074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389888" y="4242816"/>
            <a:ext cx="10058400" cy="310896"/>
          </a:xfrm>
          <a:prstGeom prst="rect">
            <a:avLst/>
          </a:prstGeom>
          <a:noFill/>
          <a:ln/>
        </p:spPr>
        <p:txBody>
          <a:bodyPr wrap="square" lIns="0" tIns="0" rIns="0" bIns="0" rtlCol="0" anchor="ctr"/>
          <a:lstStyle/>
          <a:p>
            <a:pPr indent="0" marL="0">
              <a:buNone/>
            </a:pPr>
            <a:r>
              <a:rPr lang="en-US" sz="1300" b="1" dirty="0">
                <a:solidFill>
                  <a:srgbClr val="132A4E"/>
                </a:solidFill>
                <a:latin typeface="Calibri" pitchFamily="34" charset="0"/>
                <a:ea typeface="Calibri" pitchFamily="34" charset="-122"/>
                <a:cs typeface="Calibri" pitchFamily="34" charset="-120"/>
              </a:rPr>
              <a:t>Within a year or two it stops reading as a decision at all</a:t>
            </a:r>
            <a:endParaRPr lang="en-US" sz="1300" dirty="0"/>
          </a:p>
        </p:txBody>
      </p:sp>
      <p:sp>
        <p:nvSpPr>
          <p:cNvPr id="19" name="Text 17"/>
          <p:cNvSpPr/>
          <p:nvPr/>
        </p:nvSpPr>
        <p:spPr>
          <a:xfrm>
            <a:off x="1389888" y="4553712"/>
            <a:ext cx="10058400" cy="4572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Unbound and unowned, the assumption becomes background truth. By critical design review it is simply part of how the program describes the product, and challenging it feels like challenging a fact.</a:t>
            </a:r>
            <a:endParaRPr lang="en-US" sz="1150" dirty="0"/>
          </a:p>
        </p:txBody>
      </p:sp>
      <p:sp>
        <p:nvSpPr>
          <p:cNvPr id="20" name="Shape 18"/>
          <p:cNvSpPr/>
          <p:nvPr/>
        </p:nvSpPr>
        <p:spPr>
          <a:xfrm>
            <a:off x="548640" y="5285232"/>
            <a:ext cx="11091672" cy="1188720"/>
          </a:xfrm>
          <a:prstGeom prst="roundRect">
            <a:avLst>
              <a:gd name="adj" fmla="val 3846"/>
            </a:avLst>
          </a:prstGeom>
          <a:solidFill>
            <a:srgbClr val="132A4E"/>
          </a:solidFill>
          <a:ln w="12700">
            <a:solidFill>
              <a:srgbClr val="132A4E"/>
            </a:solidFill>
            <a:prstDash val="solid"/>
          </a:ln>
        </p:spPr>
      </p:sp>
      <p:sp>
        <p:nvSpPr>
          <p:cNvPr id="21" name="Text 19"/>
          <p:cNvSpPr/>
          <p:nvPr/>
        </p:nvSpPr>
        <p:spPr>
          <a:xfrm>
            <a:off x="841248" y="541324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this is the slide to lead with in front of program leadership</a:t>
            </a:r>
            <a:endParaRPr lang="en-US" sz="1200" dirty="0"/>
          </a:p>
        </p:txBody>
      </p:sp>
      <p:sp>
        <p:nvSpPr>
          <p:cNvPr id="22" name="Text 20"/>
          <p:cNvSpPr/>
          <p:nvPr/>
        </p:nvSpPr>
        <p:spPr>
          <a:xfrm>
            <a:off x="841248" y="5705856"/>
            <a:ext cx="10515600" cy="64008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SM-0001 requires that the level of risk the organization is willing to accept be defined, and that responsibility for accepting risks be clearly assigned. An inherited assumption that is still carrying risk credit at critical design review, with nobody named against it, does not meet that requirement. That framing matters: it turns this from a good-practice suggestion into something a program has to resource.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ECONOMICS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What it costs to find out late</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The argument against doing this work is that it costs time we do not have. That argument only holds if you compare the cost of validating an assumption against zero, rather than against the cost of validating it later.</a:t>
            </a:r>
            <a:endParaRPr lang="en-US" sz="1350" dirty="0"/>
          </a:p>
        </p:txBody>
      </p:sp>
      <p:sp>
        <p:nvSpPr>
          <p:cNvPr id="5" name="Shape 3"/>
          <p:cNvSpPr/>
          <p:nvPr/>
        </p:nvSpPr>
        <p:spPr>
          <a:xfrm>
            <a:off x="548640" y="1956816"/>
            <a:ext cx="11091672" cy="694944"/>
          </a:xfrm>
          <a:prstGeom prst="roundRect">
            <a:avLst>
              <a:gd name="adj" fmla="val 6579"/>
            </a:avLst>
          </a:prstGeom>
          <a:solidFill>
            <a:srgbClr val="E9EEF7"/>
          </a:solidFill>
          <a:ln w="12700">
            <a:solidFill>
              <a:srgbClr val="D3DEEF"/>
            </a:solidFill>
            <a:prstDash val="solid"/>
          </a:ln>
        </p:spPr>
      </p:sp>
      <p:sp>
        <p:nvSpPr>
          <p:cNvPr id="6" name="Shape 4"/>
          <p:cNvSpPr/>
          <p:nvPr/>
        </p:nvSpPr>
        <p:spPr>
          <a:xfrm>
            <a:off x="731520" y="2084832"/>
            <a:ext cx="2011680" cy="438912"/>
          </a:xfrm>
          <a:prstGeom prst="roundRect">
            <a:avLst>
              <a:gd name="adj" fmla="val 12500"/>
            </a:avLst>
          </a:prstGeom>
          <a:solidFill>
            <a:srgbClr val="B4530C"/>
          </a:solidFill>
          <a:ln w="12700">
            <a:solidFill>
              <a:srgbClr val="B4530C"/>
            </a:solidFill>
            <a:prstDash val="solid"/>
          </a:ln>
        </p:spPr>
      </p:sp>
      <p:sp>
        <p:nvSpPr>
          <p:cNvPr id="7" name="Text 5"/>
          <p:cNvSpPr/>
          <p:nvPr/>
        </p:nvSpPr>
        <p:spPr>
          <a:xfrm>
            <a:off x="731520" y="2084832"/>
            <a:ext cx="201168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Proposal</a:t>
            </a:r>
            <a:endParaRPr lang="en-US" sz="1100" dirty="0"/>
          </a:p>
        </p:txBody>
      </p:sp>
      <p:sp>
        <p:nvSpPr>
          <p:cNvPr id="8" name="Text 6"/>
          <p:cNvSpPr/>
          <p:nvPr/>
        </p:nvSpPr>
        <p:spPr>
          <a:xfrm>
            <a:off x="2926080" y="1956816"/>
            <a:ext cx="3931920" cy="694944"/>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Write the conditions down while you still know them</a:t>
            </a:r>
            <a:endParaRPr lang="en-US" sz="1150" dirty="0"/>
          </a:p>
        </p:txBody>
      </p:sp>
      <p:sp>
        <p:nvSpPr>
          <p:cNvPr id="9" name="Text 7"/>
          <p:cNvSpPr/>
          <p:nvPr/>
        </p:nvSpPr>
        <p:spPr>
          <a:xfrm>
            <a:off x="6995160" y="1956816"/>
            <a:ext cx="4480560" cy="69494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Minutes per assumption. The engineer making it already has the reasoning in their head.</a:t>
            </a:r>
            <a:endParaRPr lang="en-US" sz="1100" dirty="0"/>
          </a:p>
        </p:txBody>
      </p:sp>
      <p:sp>
        <p:nvSpPr>
          <p:cNvPr id="10" name="Shape 8"/>
          <p:cNvSpPr/>
          <p:nvPr/>
        </p:nvSpPr>
        <p:spPr>
          <a:xfrm>
            <a:off x="548640" y="2743200"/>
            <a:ext cx="11091672" cy="694944"/>
          </a:xfrm>
          <a:prstGeom prst="roundRect">
            <a:avLst>
              <a:gd name="adj" fmla="val 6579"/>
            </a:avLst>
          </a:prstGeom>
          <a:solidFill>
            <a:srgbClr val="FFFFFF"/>
          </a:solidFill>
          <a:ln w="12700">
            <a:solidFill>
              <a:srgbClr val="D3DEEF"/>
            </a:solidFill>
            <a:prstDash val="solid"/>
          </a:ln>
        </p:spPr>
      </p:sp>
      <p:sp>
        <p:nvSpPr>
          <p:cNvPr id="11" name="Shape 9"/>
          <p:cNvSpPr/>
          <p:nvPr/>
        </p:nvSpPr>
        <p:spPr>
          <a:xfrm>
            <a:off x="731520" y="2871216"/>
            <a:ext cx="2011680" cy="438912"/>
          </a:xfrm>
          <a:prstGeom prst="roundRect">
            <a:avLst>
              <a:gd name="adj" fmla="val 12500"/>
            </a:avLst>
          </a:prstGeom>
          <a:solidFill>
            <a:srgbClr val="1F4380"/>
          </a:solidFill>
          <a:ln w="12700">
            <a:solidFill>
              <a:srgbClr val="1F4380"/>
            </a:solidFill>
            <a:prstDash val="solid"/>
          </a:ln>
        </p:spPr>
      </p:sp>
      <p:sp>
        <p:nvSpPr>
          <p:cNvPr id="12" name="Text 10"/>
          <p:cNvSpPr/>
          <p:nvPr/>
        </p:nvSpPr>
        <p:spPr>
          <a:xfrm>
            <a:off x="731520" y="2871216"/>
            <a:ext cx="201168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Preliminary design</a:t>
            </a:r>
            <a:endParaRPr lang="en-US" sz="1100" dirty="0"/>
          </a:p>
        </p:txBody>
      </p:sp>
      <p:sp>
        <p:nvSpPr>
          <p:cNvPr id="13" name="Text 11"/>
          <p:cNvSpPr/>
          <p:nvPr/>
        </p:nvSpPr>
        <p:spPr>
          <a:xfrm>
            <a:off x="2926080" y="2743200"/>
            <a:ext cx="3931920" cy="694944"/>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Check the assumption against the emerging design</a:t>
            </a:r>
            <a:endParaRPr lang="en-US" sz="1150" dirty="0"/>
          </a:p>
        </p:txBody>
      </p:sp>
      <p:sp>
        <p:nvSpPr>
          <p:cNvPr id="14" name="Text 12"/>
          <p:cNvSpPr/>
          <p:nvPr/>
        </p:nvSpPr>
        <p:spPr>
          <a:xfrm>
            <a:off x="6995160" y="2743200"/>
            <a:ext cx="4480560" cy="69494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Hours to days. Analysis is revisited, but nothing has been committed.</a:t>
            </a:r>
            <a:endParaRPr lang="en-US" sz="1100" dirty="0"/>
          </a:p>
        </p:txBody>
      </p:sp>
      <p:sp>
        <p:nvSpPr>
          <p:cNvPr id="15" name="Shape 13"/>
          <p:cNvSpPr/>
          <p:nvPr/>
        </p:nvSpPr>
        <p:spPr>
          <a:xfrm>
            <a:off x="548640" y="3529584"/>
            <a:ext cx="11091672" cy="694944"/>
          </a:xfrm>
          <a:prstGeom prst="roundRect">
            <a:avLst>
              <a:gd name="adj" fmla="val 6579"/>
            </a:avLst>
          </a:prstGeom>
          <a:solidFill>
            <a:srgbClr val="E9EEF7"/>
          </a:solidFill>
          <a:ln w="12700">
            <a:solidFill>
              <a:srgbClr val="D3DEEF"/>
            </a:solidFill>
            <a:prstDash val="solid"/>
          </a:ln>
        </p:spPr>
      </p:sp>
      <p:sp>
        <p:nvSpPr>
          <p:cNvPr id="16" name="Shape 14"/>
          <p:cNvSpPr/>
          <p:nvPr/>
        </p:nvSpPr>
        <p:spPr>
          <a:xfrm>
            <a:off x="731520" y="3657600"/>
            <a:ext cx="2011680" cy="438912"/>
          </a:xfrm>
          <a:prstGeom prst="roundRect">
            <a:avLst>
              <a:gd name="adj" fmla="val 12500"/>
            </a:avLst>
          </a:prstGeom>
          <a:solidFill>
            <a:srgbClr val="1F4380"/>
          </a:solidFill>
          <a:ln w="12700">
            <a:solidFill>
              <a:srgbClr val="1F4380"/>
            </a:solidFill>
            <a:prstDash val="solid"/>
          </a:ln>
        </p:spPr>
      </p:sp>
      <p:sp>
        <p:nvSpPr>
          <p:cNvPr id="17" name="Text 15"/>
          <p:cNvSpPr/>
          <p:nvPr/>
        </p:nvSpPr>
        <p:spPr>
          <a:xfrm>
            <a:off x="731520" y="3657600"/>
            <a:ext cx="201168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Critical design review</a:t>
            </a:r>
            <a:endParaRPr lang="en-US" sz="1100" dirty="0"/>
          </a:p>
        </p:txBody>
      </p:sp>
      <p:sp>
        <p:nvSpPr>
          <p:cNvPr id="18" name="Text 16"/>
          <p:cNvSpPr/>
          <p:nvPr/>
        </p:nvSpPr>
        <p:spPr>
          <a:xfrm>
            <a:off x="2926080" y="3529584"/>
            <a:ext cx="3931920" cy="694944"/>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Discover the assumption does not hold</a:t>
            </a:r>
            <a:endParaRPr lang="en-US" sz="1150" dirty="0"/>
          </a:p>
        </p:txBody>
      </p:sp>
      <p:sp>
        <p:nvSpPr>
          <p:cNvPr id="19" name="Text 17"/>
          <p:cNvSpPr/>
          <p:nvPr/>
        </p:nvSpPr>
        <p:spPr>
          <a:xfrm>
            <a:off x="6995160" y="3529584"/>
            <a:ext cx="4480560" cy="69494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Weeks to months. Design change, rework, requalification of affected analyses.</a:t>
            </a:r>
            <a:endParaRPr lang="en-US" sz="1100" dirty="0"/>
          </a:p>
        </p:txBody>
      </p:sp>
      <p:sp>
        <p:nvSpPr>
          <p:cNvPr id="20" name="Shape 18"/>
          <p:cNvSpPr/>
          <p:nvPr/>
        </p:nvSpPr>
        <p:spPr>
          <a:xfrm>
            <a:off x="548640" y="4315968"/>
            <a:ext cx="11091672" cy="694944"/>
          </a:xfrm>
          <a:prstGeom prst="roundRect">
            <a:avLst>
              <a:gd name="adj" fmla="val 6579"/>
            </a:avLst>
          </a:prstGeom>
          <a:solidFill>
            <a:srgbClr val="FFFFFF"/>
          </a:solidFill>
          <a:ln w="12700">
            <a:solidFill>
              <a:srgbClr val="D3DEEF"/>
            </a:solidFill>
            <a:prstDash val="solid"/>
          </a:ln>
        </p:spPr>
      </p:sp>
      <p:sp>
        <p:nvSpPr>
          <p:cNvPr id="21" name="Shape 19"/>
          <p:cNvSpPr/>
          <p:nvPr/>
        </p:nvSpPr>
        <p:spPr>
          <a:xfrm>
            <a:off x="731520" y="4443984"/>
            <a:ext cx="2011680" cy="438912"/>
          </a:xfrm>
          <a:prstGeom prst="roundRect">
            <a:avLst>
              <a:gd name="adj" fmla="val 12500"/>
            </a:avLst>
          </a:prstGeom>
          <a:solidFill>
            <a:srgbClr val="0F6B62"/>
          </a:solidFill>
          <a:ln w="12700">
            <a:solidFill>
              <a:srgbClr val="0F6B62"/>
            </a:solidFill>
            <a:prstDash val="solid"/>
          </a:ln>
        </p:spPr>
      </p:sp>
      <p:sp>
        <p:nvSpPr>
          <p:cNvPr id="22" name="Text 20"/>
          <p:cNvSpPr/>
          <p:nvPr/>
        </p:nvSpPr>
        <p:spPr>
          <a:xfrm>
            <a:off x="731520" y="4443984"/>
            <a:ext cx="201168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Certification</a:t>
            </a:r>
            <a:endParaRPr lang="en-US" sz="1100" dirty="0"/>
          </a:p>
        </p:txBody>
      </p:sp>
      <p:sp>
        <p:nvSpPr>
          <p:cNvPr id="23" name="Text 21"/>
          <p:cNvSpPr/>
          <p:nvPr/>
        </p:nvSpPr>
        <p:spPr>
          <a:xfrm>
            <a:off x="2926080" y="4315968"/>
            <a:ext cx="3931920" cy="694944"/>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Discover it during compliance demonstration</a:t>
            </a:r>
            <a:endParaRPr lang="en-US" sz="1150" dirty="0"/>
          </a:p>
        </p:txBody>
      </p:sp>
      <p:sp>
        <p:nvSpPr>
          <p:cNvPr id="24" name="Text 22"/>
          <p:cNvSpPr/>
          <p:nvPr/>
        </p:nvSpPr>
        <p:spPr>
          <a:xfrm>
            <a:off x="6995160" y="4315968"/>
            <a:ext cx="4480560" cy="69494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Months. Re-analysis, possible retest, a schedule slip visible to the customer and the authority.</a:t>
            </a:r>
            <a:endParaRPr lang="en-US" sz="1100" dirty="0"/>
          </a:p>
        </p:txBody>
      </p:sp>
      <p:sp>
        <p:nvSpPr>
          <p:cNvPr id="25" name="Shape 23"/>
          <p:cNvSpPr/>
          <p:nvPr/>
        </p:nvSpPr>
        <p:spPr>
          <a:xfrm>
            <a:off x="548640" y="5102352"/>
            <a:ext cx="11091672" cy="694944"/>
          </a:xfrm>
          <a:prstGeom prst="roundRect">
            <a:avLst>
              <a:gd name="adj" fmla="val 6579"/>
            </a:avLst>
          </a:prstGeom>
          <a:solidFill>
            <a:srgbClr val="E9EEF7"/>
          </a:solidFill>
          <a:ln w="12700">
            <a:solidFill>
              <a:srgbClr val="D3DEEF"/>
            </a:solidFill>
            <a:prstDash val="solid"/>
          </a:ln>
        </p:spPr>
      </p:sp>
      <p:sp>
        <p:nvSpPr>
          <p:cNvPr id="26" name="Shape 24"/>
          <p:cNvSpPr/>
          <p:nvPr/>
        </p:nvSpPr>
        <p:spPr>
          <a:xfrm>
            <a:off x="731520" y="5230368"/>
            <a:ext cx="2011680" cy="438912"/>
          </a:xfrm>
          <a:prstGeom prst="roundRect">
            <a:avLst>
              <a:gd name="adj" fmla="val 12500"/>
            </a:avLst>
          </a:prstGeom>
          <a:solidFill>
            <a:srgbClr val="0F6B62"/>
          </a:solidFill>
          <a:ln w="12700">
            <a:solidFill>
              <a:srgbClr val="0F6B62"/>
            </a:solidFill>
            <a:prstDash val="solid"/>
          </a:ln>
        </p:spPr>
      </p:sp>
      <p:sp>
        <p:nvSpPr>
          <p:cNvPr id="27" name="Text 25"/>
          <p:cNvSpPr/>
          <p:nvPr/>
        </p:nvSpPr>
        <p:spPr>
          <a:xfrm>
            <a:off x="731520" y="5230368"/>
            <a:ext cx="2011680" cy="43891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service</a:t>
            </a:r>
            <a:endParaRPr lang="en-US" sz="1100" dirty="0"/>
          </a:p>
        </p:txBody>
      </p:sp>
      <p:sp>
        <p:nvSpPr>
          <p:cNvPr id="28" name="Text 26"/>
          <p:cNvSpPr/>
          <p:nvPr/>
        </p:nvSpPr>
        <p:spPr>
          <a:xfrm>
            <a:off x="2926080" y="5102352"/>
            <a:ext cx="3931920" cy="694944"/>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Discover it from field evidence</a:t>
            </a:r>
            <a:endParaRPr lang="en-US" sz="1150" dirty="0"/>
          </a:p>
        </p:txBody>
      </p:sp>
      <p:sp>
        <p:nvSpPr>
          <p:cNvPr id="29" name="Text 27"/>
          <p:cNvSpPr/>
          <p:nvPr/>
        </p:nvSpPr>
        <p:spPr>
          <a:xfrm>
            <a:off x="6995160" y="5102352"/>
            <a:ext cx="4480560" cy="69494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Fleet action. Service bulletin, inspection campaign, possible airworthiness directive.</a:t>
            </a:r>
            <a:endParaRPr lang="en-US" sz="1100" dirty="0"/>
          </a:p>
        </p:txBody>
      </p:sp>
      <p:sp>
        <p:nvSpPr>
          <p:cNvPr id="30" name="Text 28"/>
          <p:cNvSpPr/>
          <p:nvPr/>
        </p:nvSpPr>
        <p:spPr>
          <a:xfrm>
            <a:off x="548640" y="5943600"/>
            <a:ext cx="11064240" cy="502920"/>
          </a:xfrm>
          <a:prstGeom prst="rect">
            <a:avLst/>
          </a:prstGeom>
          <a:noFill/>
          <a:ln/>
        </p:spPr>
        <p:txBody>
          <a:bodyPr wrap="square" lIns="0" tIns="0" rIns="0" bIns="0" rtlCol="0" anchor="ctr"/>
          <a:lstStyle/>
          <a:p>
            <a:pPr indent="0" marL="0">
              <a:lnSpc>
                <a:spcPts val="1700"/>
              </a:lnSpc>
              <a:buNone/>
            </a:pPr>
            <a:r>
              <a:rPr lang="en-US" sz="1200" i="1" dirty="0">
                <a:solidFill>
                  <a:srgbClr val="4A5568"/>
                </a:solidFill>
                <a:latin typeface="Calibri" pitchFamily="34" charset="0"/>
                <a:ea typeface="Calibri" pitchFamily="34" charset="-122"/>
                <a:cs typeface="Calibri" pitchFamily="34" charset="-120"/>
              </a:rPr>
              <a:t>The cheapest point in the whole lifecycle to capture an assumption is the one point where we currently capture nothing. Note that the cost figures above are illustrative of the shape of the curve, not measured across our programs.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2A4E"/>
        </a:solidFill>
      </p:bgPr>
    </p:bg>
    <p:spTree>
      <p:nvGrpSpPr>
        <p:cNvPr id="1" name=""/>
        <p:cNvGrpSpPr/>
        <p:nvPr/>
      </p:nvGrpSpPr>
      <p:grpSpPr>
        <a:xfrm>
          <a:off x="0" y="0"/>
          <a:ext cx="0" cy="0"/>
          <a:chOff x="0" y="0"/>
          <a:chExt cx="0" cy="0"/>
        </a:xfrm>
      </p:grpSpPr>
      <p:sp>
        <p:nvSpPr>
          <p:cNvPr id="2" name="Shape 0"/>
          <p:cNvSpPr/>
          <p:nvPr/>
        </p:nvSpPr>
        <p:spPr>
          <a:xfrm>
            <a:off x="8778240" y="4480560"/>
            <a:ext cx="1280160" cy="1280160"/>
          </a:xfrm>
          <a:prstGeom prst="roundRect">
            <a:avLst>
              <a:gd name="adj" fmla="val 1429"/>
            </a:avLst>
          </a:prstGeom>
          <a:solidFill>
            <a:srgbClr val="B4530C"/>
          </a:solidFill>
          <a:ln w="12700">
            <a:solidFill>
              <a:srgbClr val="B4530C"/>
            </a:solidFill>
            <a:prstDash val="solid"/>
          </a:ln>
        </p:spPr>
      </p:sp>
      <p:sp>
        <p:nvSpPr>
          <p:cNvPr id="3" name="Text 1"/>
          <p:cNvSpPr/>
          <p:nvPr/>
        </p:nvSpPr>
        <p:spPr>
          <a:xfrm>
            <a:off x="548640" y="1920240"/>
            <a:ext cx="10515600" cy="274320"/>
          </a:xfrm>
          <a:prstGeom prst="rect">
            <a:avLst/>
          </a:prstGeom>
          <a:noFill/>
          <a:ln/>
        </p:spPr>
        <p:txBody>
          <a:bodyPr wrap="square" lIns="0" tIns="0" rIns="0" bIns="0" rtlCol="0" anchor="ctr"/>
          <a:lstStyle/>
          <a:p>
            <a:pPr indent="0" marL="0">
              <a:buNone/>
            </a:pPr>
            <a:r>
              <a:rPr lang="en-US" sz="1100" b="1" spc="180" kern="0" dirty="0">
                <a:solidFill>
                  <a:srgbClr val="F0B37E"/>
                </a:solidFill>
                <a:latin typeface="Calibri" pitchFamily="34" charset="0"/>
                <a:ea typeface="Calibri" pitchFamily="34" charset="-122"/>
                <a:cs typeface="Calibri" pitchFamily="34" charset="-120"/>
              </a:rPr>
              <a:t>SECTION TWO</a:t>
            </a:r>
            <a:endParaRPr lang="en-US" sz="1100" dirty="0"/>
          </a:p>
        </p:txBody>
      </p:sp>
      <p:sp>
        <p:nvSpPr>
          <p:cNvPr id="4" name="Text 2"/>
          <p:cNvSpPr/>
          <p:nvPr/>
        </p:nvSpPr>
        <p:spPr>
          <a:xfrm>
            <a:off x="548640" y="2286000"/>
            <a:ext cx="7863840" cy="12801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Configuration management, in plain language</a:t>
            </a:r>
            <a:endParaRPr lang="en-US" sz="3400" dirty="0"/>
          </a:p>
        </p:txBody>
      </p:sp>
      <p:sp>
        <p:nvSpPr>
          <p:cNvPr id="5" name="Text 3"/>
          <p:cNvSpPr/>
          <p:nvPr/>
        </p:nvSpPr>
        <p:spPr>
          <a:xfrm>
            <a:off x="548640" y="3749040"/>
            <a:ext cx="7680960" cy="1005840"/>
          </a:xfrm>
          <a:prstGeom prst="rect">
            <a:avLst/>
          </a:prstGeom>
          <a:noFill/>
          <a:ln/>
        </p:spPr>
        <p:txBody>
          <a:bodyPr wrap="square" lIns="0" tIns="0" rIns="0" bIns="0" rtlCol="0" anchor="ctr"/>
          <a:lstStyle/>
          <a:p>
            <a:pPr indent="0" marL="0">
              <a:lnSpc>
                <a:spcPts val="2200"/>
              </a:lnSpc>
              <a:buNone/>
            </a:pPr>
            <a:r>
              <a:rPr lang="en-US" sz="1400" dirty="0">
                <a:solidFill>
                  <a:srgbClr val="C9D6EC"/>
                </a:solidFill>
                <a:latin typeface="Calibri" pitchFamily="34" charset="0"/>
                <a:ea typeface="Calibri" pitchFamily="34" charset="-122"/>
                <a:cs typeface="Calibri" pitchFamily="34" charset="-120"/>
              </a:rPr>
              <a:t>The next three slides explain the configuration management concepts this proposal relies on. If you already work with configuration items and baselines, skip to slide 13. If you do not, these three slides are the ones that make the rest of the deck make sense.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PRIMER 1 OF 3</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Five terms, and why each one matters here</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Configuration management is the discipline that keeps track of what the product is supposed to be, what it actually is, and what changed. It is already running on every program. We are proposing to hang assumptions off it rather than build anything new.</a:t>
            </a:r>
            <a:endParaRPr lang="en-US" sz="1350" dirty="0"/>
          </a:p>
        </p:txBody>
      </p:sp>
      <p:sp>
        <p:nvSpPr>
          <p:cNvPr id="5" name="Shape 3"/>
          <p:cNvSpPr/>
          <p:nvPr/>
        </p:nvSpPr>
        <p:spPr>
          <a:xfrm>
            <a:off x="548640" y="1975104"/>
            <a:ext cx="3520440" cy="1874520"/>
          </a:xfrm>
          <a:prstGeom prst="roundRect">
            <a:avLst>
              <a:gd name="adj" fmla="val 2439"/>
            </a:avLst>
          </a:prstGeom>
          <a:solidFill>
            <a:srgbClr val="E9EEF7"/>
          </a:solidFill>
          <a:ln w="12700">
            <a:solidFill>
              <a:srgbClr val="D3DEEF"/>
            </a:solidFill>
            <a:prstDash val="solid"/>
          </a:ln>
        </p:spPr>
      </p:sp>
      <p:sp>
        <p:nvSpPr>
          <p:cNvPr id="6" name="Text 4"/>
          <p:cNvSpPr/>
          <p:nvPr/>
        </p:nvSpPr>
        <p:spPr>
          <a:xfrm>
            <a:off x="786384" y="2103120"/>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Configuration item</a:t>
            </a:r>
            <a:endParaRPr lang="en-US" sz="1250" dirty="0"/>
          </a:p>
        </p:txBody>
      </p:sp>
      <p:sp>
        <p:nvSpPr>
          <p:cNvPr id="7" name="Text 5"/>
          <p:cNvSpPr/>
          <p:nvPr/>
        </p:nvSpPr>
        <p:spPr>
          <a:xfrm>
            <a:off x="786384" y="2432304"/>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 part of the product that is important enough to be managed and tracked in its own right, with its own identifier, its own documents and its own change control. Not every bracket is one. The engine controller is.</a:t>
            </a:r>
            <a:endParaRPr lang="en-US" sz="1150" dirty="0"/>
          </a:p>
        </p:txBody>
      </p:sp>
      <p:sp>
        <p:nvSpPr>
          <p:cNvPr id="8" name="Shape 6"/>
          <p:cNvSpPr/>
          <p:nvPr/>
        </p:nvSpPr>
        <p:spPr>
          <a:xfrm>
            <a:off x="4334256" y="1975104"/>
            <a:ext cx="3520440" cy="1874520"/>
          </a:xfrm>
          <a:prstGeom prst="roundRect">
            <a:avLst>
              <a:gd name="adj" fmla="val 2439"/>
            </a:avLst>
          </a:prstGeom>
          <a:solidFill>
            <a:srgbClr val="FFFFFF"/>
          </a:solidFill>
          <a:ln w="12700">
            <a:solidFill>
              <a:srgbClr val="D3DEEF"/>
            </a:solidFill>
            <a:prstDash val="solid"/>
          </a:ln>
        </p:spPr>
      </p:sp>
      <p:sp>
        <p:nvSpPr>
          <p:cNvPr id="9" name="Text 7"/>
          <p:cNvSpPr/>
          <p:nvPr/>
        </p:nvSpPr>
        <p:spPr>
          <a:xfrm>
            <a:off x="4572000" y="2103120"/>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Configuration documentation</a:t>
            </a:r>
            <a:endParaRPr lang="en-US" sz="1250" dirty="0"/>
          </a:p>
        </p:txBody>
      </p:sp>
      <p:sp>
        <p:nvSpPr>
          <p:cNvPr id="10" name="Text 8"/>
          <p:cNvSpPr/>
          <p:nvPr/>
        </p:nvSpPr>
        <p:spPr>
          <a:xfrm>
            <a:off x="4572000" y="2432304"/>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set of approved drawings, specifications and requirements that define what a configuration item is supposed to be. This is the authoritative record. If it is not in here, it is not controlled.</a:t>
            </a:r>
            <a:endParaRPr lang="en-US" sz="1150" dirty="0"/>
          </a:p>
        </p:txBody>
      </p:sp>
      <p:sp>
        <p:nvSpPr>
          <p:cNvPr id="11" name="Shape 9"/>
          <p:cNvSpPr/>
          <p:nvPr/>
        </p:nvSpPr>
        <p:spPr>
          <a:xfrm>
            <a:off x="8119872" y="1975104"/>
            <a:ext cx="3520440" cy="1874520"/>
          </a:xfrm>
          <a:prstGeom prst="roundRect">
            <a:avLst>
              <a:gd name="adj" fmla="val 2439"/>
            </a:avLst>
          </a:prstGeom>
          <a:solidFill>
            <a:srgbClr val="E9EEF7"/>
          </a:solidFill>
          <a:ln w="12700">
            <a:solidFill>
              <a:srgbClr val="D3DEEF"/>
            </a:solidFill>
            <a:prstDash val="solid"/>
          </a:ln>
        </p:spPr>
      </p:sp>
      <p:sp>
        <p:nvSpPr>
          <p:cNvPr id="12" name="Text 10"/>
          <p:cNvSpPr/>
          <p:nvPr/>
        </p:nvSpPr>
        <p:spPr>
          <a:xfrm>
            <a:off x="8357616" y="2103120"/>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Baseline</a:t>
            </a:r>
            <a:endParaRPr lang="en-US" sz="1250" dirty="0"/>
          </a:p>
        </p:txBody>
      </p:sp>
      <p:sp>
        <p:nvSpPr>
          <p:cNvPr id="13" name="Text 11"/>
          <p:cNvSpPr/>
          <p:nvPr/>
        </p:nvSpPr>
        <p:spPr>
          <a:xfrm>
            <a:off x="8357616" y="2432304"/>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An approved snapshot of that documentation at a point in time. Changes after that point have to go through formal review. Programs set several baselines as the design matures.</a:t>
            </a:r>
            <a:endParaRPr lang="en-US" sz="1150" dirty="0"/>
          </a:p>
        </p:txBody>
      </p:sp>
      <p:sp>
        <p:nvSpPr>
          <p:cNvPr id="14" name="Shape 12"/>
          <p:cNvSpPr/>
          <p:nvPr/>
        </p:nvSpPr>
        <p:spPr>
          <a:xfrm>
            <a:off x="548640" y="4069080"/>
            <a:ext cx="3520440" cy="1874520"/>
          </a:xfrm>
          <a:prstGeom prst="roundRect">
            <a:avLst>
              <a:gd name="adj" fmla="val 2439"/>
            </a:avLst>
          </a:prstGeom>
          <a:solidFill>
            <a:srgbClr val="FFFFFF"/>
          </a:solidFill>
          <a:ln w="12700">
            <a:solidFill>
              <a:srgbClr val="D3DEEF"/>
            </a:solidFill>
            <a:prstDash val="solid"/>
          </a:ln>
        </p:spPr>
      </p:sp>
      <p:sp>
        <p:nvSpPr>
          <p:cNvPr id="15" name="Text 13"/>
          <p:cNvSpPr/>
          <p:nvPr/>
        </p:nvSpPr>
        <p:spPr>
          <a:xfrm>
            <a:off x="786384" y="4197096"/>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Engineering change proposal</a:t>
            </a:r>
            <a:endParaRPr lang="en-US" sz="1250" dirty="0"/>
          </a:p>
        </p:txBody>
      </p:sp>
      <p:sp>
        <p:nvSpPr>
          <p:cNvPr id="16" name="Text 14"/>
          <p:cNvSpPr/>
          <p:nvPr/>
        </p:nvSpPr>
        <p:spPr>
          <a:xfrm>
            <a:off x="786384" y="4526280"/>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formal package used to propose a change to something already baselined. It has to describe the change and the full extent of its effects before anyone approves it.</a:t>
            </a:r>
            <a:endParaRPr lang="en-US" sz="1150" dirty="0"/>
          </a:p>
        </p:txBody>
      </p:sp>
      <p:sp>
        <p:nvSpPr>
          <p:cNvPr id="17" name="Shape 15"/>
          <p:cNvSpPr/>
          <p:nvPr/>
        </p:nvSpPr>
        <p:spPr>
          <a:xfrm>
            <a:off x="4334256" y="4069080"/>
            <a:ext cx="3520440" cy="1874520"/>
          </a:xfrm>
          <a:prstGeom prst="roundRect">
            <a:avLst>
              <a:gd name="adj" fmla="val 2439"/>
            </a:avLst>
          </a:prstGeom>
          <a:solidFill>
            <a:srgbClr val="E9EEF7"/>
          </a:solidFill>
          <a:ln w="12700">
            <a:solidFill>
              <a:srgbClr val="D3DEEF"/>
            </a:solidFill>
            <a:prstDash val="solid"/>
          </a:ln>
        </p:spPr>
      </p:sp>
      <p:sp>
        <p:nvSpPr>
          <p:cNvPr id="18" name="Text 16"/>
          <p:cNvSpPr/>
          <p:nvPr/>
        </p:nvSpPr>
        <p:spPr>
          <a:xfrm>
            <a:off x="4572000" y="4197096"/>
            <a:ext cx="306324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Configuration status accounting</a:t>
            </a:r>
            <a:endParaRPr lang="en-US" sz="1250" dirty="0"/>
          </a:p>
        </p:txBody>
      </p:sp>
      <p:sp>
        <p:nvSpPr>
          <p:cNvPr id="19" name="Text 17"/>
          <p:cNvSpPr/>
          <p:nvPr/>
        </p:nvSpPr>
        <p:spPr>
          <a:xfrm>
            <a:off x="4572000" y="4526280"/>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record-keeping function that can answer questions like "what is the current approved definition of this item" and "what changes are outstanding against it". It is, in effect, a searchable index of the product.</a:t>
            </a:r>
            <a:endParaRPr lang="en-US" sz="1150" dirty="0"/>
          </a:p>
        </p:txBody>
      </p:sp>
      <p:sp>
        <p:nvSpPr>
          <p:cNvPr id="20" name="Shape 18"/>
          <p:cNvSpPr/>
          <p:nvPr/>
        </p:nvSpPr>
        <p:spPr>
          <a:xfrm>
            <a:off x="8119872" y="4069080"/>
            <a:ext cx="3520440" cy="1874520"/>
          </a:xfrm>
          <a:prstGeom prst="roundRect">
            <a:avLst>
              <a:gd name="adj" fmla="val 2439"/>
            </a:avLst>
          </a:prstGeom>
          <a:solidFill>
            <a:srgbClr val="FBEBDC"/>
          </a:solidFill>
          <a:ln w="12700">
            <a:solidFill>
              <a:srgbClr val="ECC8AE"/>
            </a:solidFill>
            <a:prstDash val="solid"/>
          </a:ln>
        </p:spPr>
      </p:sp>
      <p:sp>
        <p:nvSpPr>
          <p:cNvPr id="21" name="Text 19"/>
          <p:cNvSpPr/>
          <p:nvPr/>
        </p:nvSpPr>
        <p:spPr>
          <a:xfrm>
            <a:off x="8357616" y="4197096"/>
            <a:ext cx="3063240" cy="310896"/>
          </a:xfrm>
          <a:prstGeom prst="rect">
            <a:avLst/>
          </a:prstGeom>
          <a:noFill/>
          <a:ln/>
        </p:spPr>
        <p:txBody>
          <a:bodyPr wrap="square" lIns="0" tIns="0" rIns="0" bIns="0" rtlCol="0" anchor="ctr"/>
          <a:lstStyle/>
          <a:p>
            <a:pPr indent="0" marL="0">
              <a:buNone/>
            </a:pPr>
            <a:r>
              <a:rPr lang="en-US" sz="1250" b="1" dirty="0">
                <a:solidFill>
                  <a:srgbClr val="B4530C"/>
                </a:solidFill>
                <a:latin typeface="Calibri" pitchFamily="34" charset="0"/>
                <a:ea typeface="Calibri" pitchFamily="34" charset="-122"/>
                <a:cs typeface="Calibri" pitchFamily="34" charset="-120"/>
              </a:rPr>
              <a:t>Why this matters for assumptions</a:t>
            </a:r>
            <a:endParaRPr lang="en-US" sz="1250" dirty="0"/>
          </a:p>
        </p:txBody>
      </p:sp>
      <p:sp>
        <p:nvSpPr>
          <p:cNvPr id="22" name="Text 20"/>
          <p:cNvSpPr/>
          <p:nvPr/>
        </p:nvSpPr>
        <p:spPr>
          <a:xfrm>
            <a:off x="8357616" y="4526280"/>
            <a:ext cx="3081528" cy="130759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Configuration status accounting is the only system on the program that already knows what changed and what depends on it. If assumptions point at configuration items, that system can tell us which assumptions a change puts at risk.</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PRIMER 2 OF 3</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What makes something a configuration item</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Configuration items are chosen, not discovered. A program decides which parts of the product warrant individual tracking, because tracking everything at that level would be unaffordable. The relevant point for us is what the selection criteria already say.</a:t>
            </a:r>
            <a:endParaRPr lang="en-US" sz="1350" dirty="0"/>
          </a:p>
        </p:txBody>
      </p:sp>
      <p:sp>
        <p:nvSpPr>
          <p:cNvPr id="5" name="Shape 3"/>
          <p:cNvSpPr/>
          <p:nvPr/>
        </p:nvSpPr>
        <p:spPr>
          <a:xfrm>
            <a:off x="548640" y="1975104"/>
            <a:ext cx="11091672" cy="1298448"/>
          </a:xfrm>
          <a:prstGeom prst="roundRect">
            <a:avLst>
              <a:gd name="adj" fmla="val 3521"/>
            </a:avLst>
          </a:prstGeom>
          <a:solidFill>
            <a:srgbClr val="DFF0ED"/>
          </a:solidFill>
          <a:ln w="12700">
            <a:solidFill>
              <a:srgbClr val="B9DBD5"/>
            </a:solidFill>
            <a:prstDash val="solid"/>
          </a:ln>
        </p:spPr>
      </p:sp>
      <p:sp>
        <p:nvSpPr>
          <p:cNvPr id="6" name="Text 4"/>
          <p:cNvSpPr/>
          <p:nvPr/>
        </p:nvSpPr>
        <p:spPr>
          <a:xfrm>
            <a:off x="841248" y="2103120"/>
            <a:ext cx="10515600" cy="274320"/>
          </a:xfrm>
          <a:prstGeom prst="rect">
            <a:avLst/>
          </a:prstGeom>
          <a:noFill/>
          <a:ln/>
        </p:spPr>
        <p:txBody>
          <a:bodyPr wrap="square" lIns="0" tIns="0" rIns="0" bIns="0" rtlCol="0" anchor="ctr"/>
          <a:lstStyle/>
          <a:p>
            <a:pPr indent="0" marL="0">
              <a:buNone/>
            </a:pPr>
            <a:r>
              <a:rPr lang="en-US" sz="1200" b="1" dirty="0">
                <a:solidFill>
                  <a:srgbClr val="0F6B62"/>
                </a:solidFill>
                <a:latin typeface="Calibri" pitchFamily="34" charset="0"/>
                <a:ea typeface="Calibri" pitchFamily="34" charset="-122"/>
                <a:cs typeface="Calibri" pitchFamily="34" charset="-120"/>
              </a:rPr>
              <a:t>The criterion that already does our work for us</a:t>
            </a:r>
            <a:endParaRPr lang="en-US" sz="1200" dirty="0"/>
          </a:p>
        </p:txBody>
      </p:sp>
      <p:sp>
        <p:nvSpPr>
          <p:cNvPr id="7" name="Text 5"/>
          <p:cNvSpPr/>
          <p:nvPr/>
        </p:nvSpPr>
        <p:spPr>
          <a:xfrm>
            <a:off x="841248" y="2395728"/>
            <a:ext cx="10515600" cy="786384"/>
          </a:xfrm>
          <a:prstGeom prst="rect">
            <a:avLst/>
          </a:prstGeom>
          <a:noFill/>
          <a:ln/>
        </p:spPr>
        <p:txBody>
          <a:bodyPr wrap="square" lIns="0" tIns="0" rIns="0" bIns="0" rtlCol="0" anchor="ctr"/>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EIA-649-1 says an item should be designated a configuration item if its failure could cause serious injury, loss of life, or loss of primary mission capability. GEIA-HB-649 adds similar criteria covering safety of personnel and equipment. In other words: the standards already single out the safety-significant items and require that they be individually identified and change-controlled.</a:t>
            </a:r>
            <a:endParaRPr lang="en-US" sz="1200" dirty="0"/>
          </a:p>
        </p:txBody>
      </p:sp>
      <p:sp>
        <p:nvSpPr>
          <p:cNvPr id="8" name="Shape 6"/>
          <p:cNvSpPr/>
          <p:nvPr/>
        </p:nvSpPr>
        <p:spPr>
          <a:xfrm>
            <a:off x="548640" y="3456432"/>
            <a:ext cx="5394960" cy="1316736"/>
          </a:xfrm>
          <a:prstGeom prst="roundRect">
            <a:avLst>
              <a:gd name="adj" fmla="val 3472"/>
            </a:avLst>
          </a:prstGeom>
          <a:solidFill>
            <a:srgbClr val="E9EEF7"/>
          </a:solidFill>
          <a:ln w="12700">
            <a:solidFill>
              <a:srgbClr val="D3DEEF"/>
            </a:solidFill>
            <a:prstDash val="solid"/>
          </a:ln>
        </p:spPr>
      </p:sp>
      <p:sp>
        <p:nvSpPr>
          <p:cNvPr id="9" name="Text 7"/>
          <p:cNvSpPr/>
          <p:nvPr/>
        </p:nvSpPr>
        <p:spPr>
          <a:xfrm>
            <a:off x="786384" y="3584448"/>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This gives us a defensible boundary</a:t>
            </a:r>
            <a:endParaRPr lang="en-US" sz="1250" dirty="0"/>
          </a:p>
        </p:txBody>
      </p:sp>
      <p:sp>
        <p:nvSpPr>
          <p:cNvPr id="10" name="Text 8"/>
          <p:cNvSpPr/>
          <p:nvPr/>
        </p:nvSpPr>
        <p:spPr>
          <a:xfrm>
            <a:off x="786384" y="3913632"/>
            <a:ext cx="4956048" cy="749808"/>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We do not have to invent a rule for which assumptions get formal treatment. The items whose failure matters for safety are already flagged by the configuration item selection process. Assumptions that carry risk credit for those items are the ones we control.</a:t>
            </a:r>
            <a:endParaRPr lang="en-US" sz="1150" dirty="0"/>
          </a:p>
        </p:txBody>
      </p:sp>
      <p:sp>
        <p:nvSpPr>
          <p:cNvPr id="11" name="Shape 9"/>
          <p:cNvSpPr/>
          <p:nvPr/>
        </p:nvSpPr>
        <p:spPr>
          <a:xfrm>
            <a:off x="6245352" y="3456432"/>
            <a:ext cx="5394960" cy="1316736"/>
          </a:xfrm>
          <a:prstGeom prst="roundRect">
            <a:avLst>
              <a:gd name="adj" fmla="val 3472"/>
            </a:avLst>
          </a:prstGeom>
          <a:solidFill>
            <a:srgbClr val="FFFFFF"/>
          </a:solidFill>
          <a:ln w="12700">
            <a:solidFill>
              <a:srgbClr val="D3DEEF"/>
            </a:solidFill>
            <a:prstDash val="solid"/>
          </a:ln>
        </p:spPr>
      </p:sp>
      <p:sp>
        <p:nvSpPr>
          <p:cNvPr id="12" name="Text 10"/>
          <p:cNvSpPr/>
          <p:nvPr/>
        </p:nvSpPr>
        <p:spPr>
          <a:xfrm>
            <a:off x="6483096" y="3584448"/>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It also keeps the scope affordable</a:t>
            </a:r>
            <a:endParaRPr lang="en-US" sz="1250" dirty="0"/>
          </a:p>
        </p:txBody>
      </p:sp>
      <p:sp>
        <p:nvSpPr>
          <p:cNvPr id="13" name="Text 11"/>
          <p:cNvSpPr/>
          <p:nvPr/>
        </p:nvSpPr>
        <p:spPr>
          <a:xfrm>
            <a:off x="6483096" y="3913632"/>
            <a:ext cx="4956048" cy="749808"/>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alternative, controlling every assumption on the program, is not affordable and would not survive contact with a bid. Tying scope to the safety-significant configuration item set is both cheaper and easier to defend to an auditor.</a:t>
            </a:r>
            <a:endParaRPr lang="en-US" sz="1150" dirty="0"/>
          </a:p>
        </p:txBody>
      </p:sp>
      <p:sp>
        <p:nvSpPr>
          <p:cNvPr id="14" name="Shape 12"/>
          <p:cNvSpPr/>
          <p:nvPr/>
        </p:nvSpPr>
        <p:spPr>
          <a:xfrm>
            <a:off x="548640" y="4956048"/>
            <a:ext cx="5394960" cy="1316736"/>
          </a:xfrm>
          <a:prstGeom prst="roundRect">
            <a:avLst>
              <a:gd name="adj" fmla="val 3472"/>
            </a:avLst>
          </a:prstGeom>
          <a:solidFill>
            <a:srgbClr val="E9EEF7"/>
          </a:solidFill>
          <a:ln w="12700">
            <a:solidFill>
              <a:srgbClr val="D3DEEF"/>
            </a:solidFill>
            <a:prstDash val="solid"/>
          </a:ln>
        </p:spPr>
      </p:sp>
      <p:sp>
        <p:nvSpPr>
          <p:cNvPr id="15" name="Text 13"/>
          <p:cNvSpPr/>
          <p:nvPr/>
        </p:nvSpPr>
        <p:spPr>
          <a:xfrm>
            <a:off x="786384" y="5084064"/>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Selection is iterative, not a single event</a:t>
            </a:r>
            <a:endParaRPr lang="en-US" sz="1250" dirty="0"/>
          </a:p>
        </p:txBody>
      </p:sp>
      <p:sp>
        <p:nvSpPr>
          <p:cNvPr id="16" name="Text 14"/>
          <p:cNvSpPr/>
          <p:nvPr/>
        </p:nvSpPr>
        <p:spPr>
          <a:xfrm>
            <a:off x="786384" y="5413248"/>
            <a:ext cx="4956048" cy="749808"/>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Top-level configuration items are nominated early, during concept and program definition. Lower-tier ones follow as the design decomposes. This matters because it means we do not have to wait for a complete list before we start.</a:t>
            </a:r>
            <a:endParaRPr lang="en-US" sz="1150" dirty="0"/>
          </a:p>
        </p:txBody>
      </p:sp>
      <p:sp>
        <p:nvSpPr>
          <p:cNvPr id="17" name="Shape 15"/>
          <p:cNvSpPr/>
          <p:nvPr/>
        </p:nvSpPr>
        <p:spPr>
          <a:xfrm>
            <a:off x="6245352" y="4956048"/>
            <a:ext cx="5394960" cy="1316736"/>
          </a:xfrm>
          <a:prstGeom prst="roundRect">
            <a:avLst>
              <a:gd name="adj" fmla="val 3472"/>
            </a:avLst>
          </a:prstGeom>
          <a:solidFill>
            <a:srgbClr val="FFFFFF"/>
          </a:solidFill>
          <a:ln w="12700">
            <a:solidFill>
              <a:srgbClr val="D3DEEF"/>
            </a:solidFill>
            <a:prstDash val="solid"/>
          </a:ln>
        </p:spPr>
      </p:sp>
      <p:sp>
        <p:nvSpPr>
          <p:cNvPr id="18" name="Text 16"/>
          <p:cNvSpPr/>
          <p:nvPr/>
        </p:nvSpPr>
        <p:spPr>
          <a:xfrm>
            <a:off x="6483096" y="5084064"/>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Interfaces are covered too</a:t>
            </a:r>
            <a:endParaRPr lang="en-US" sz="1250" dirty="0"/>
          </a:p>
        </p:txBody>
      </p:sp>
      <p:sp>
        <p:nvSpPr>
          <p:cNvPr id="19" name="Text 17"/>
          <p:cNvSpPr/>
          <p:nvPr/>
        </p:nvSpPr>
        <p:spPr>
          <a:xfrm>
            <a:off x="6483096" y="5413248"/>
            <a:ext cx="4956048" cy="749808"/>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The standards separately require internal and external interface requirements to be identified, written into the controlled documentation and kept under change control. That is where most inherited assumptions actually fail.</a:t>
            </a:r>
            <a:endParaRPr lang="en-US" sz="1150" dirty="0"/>
          </a:p>
        </p:txBody>
      </p:sp>
      <p:sp>
        <p:nvSpPr>
          <p:cNvPr id="20" name="Text 18"/>
          <p:cNvSpPr/>
          <p:nvPr/>
        </p:nvSpPr>
        <p:spPr>
          <a:xfrm>
            <a:off x="548640" y="6144768"/>
            <a:ext cx="11064240" cy="365760"/>
          </a:xfrm>
          <a:prstGeom prst="rect">
            <a:avLst/>
          </a:prstGeom>
          <a:noFill/>
          <a:ln/>
        </p:spPr>
        <p:txBody>
          <a:bodyPr wrap="square" lIns="0" tIns="0" rIns="0" bIns="0" rtlCol="0" anchor="ctr"/>
          <a:lstStyle/>
          <a:p>
            <a:pPr indent="0" marL="0">
              <a:buNone/>
            </a:pPr>
            <a:r>
              <a:rPr lang="en-US" sz="1250" b="1" i="1" dirty="0">
                <a:solidFill>
                  <a:srgbClr val="B4530C"/>
                </a:solidFill>
                <a:latin typeface="Calibri" pitchFamily="34" charset="0"/>
                <a:ea typeface="Calibri" pitchFamily="34" charset="-122"/>
                <a:cs typeface="Calibri" pitchFamily="34" charset="-120"/>
              </a:rPr>
              <a:t>Plain version: the safety-critical items are already on a list, and that list is already maintained. We are proposing to attach assumptions to it.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PRIMER 3 OF 3</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Baselines: the timeline an assumption can attach to</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A program does not go from nothing to a full drawing set overnight. It fixes the definition in stages. Each stage gives an assumption something firmer to point at, which is what lets us start controlling assumptions long before configuration items are settled.</a:t>
            </a:r>
            <a:endParaRPr lang="en-US" sz="1350" dirty="0"/>
          </a:p>
        </p:txBody>
      </p:sp>
      <p:sp>
        <p:nvSpPr>
          <p:cNvPr id="5" name="Shape 3"/>
          <p:cNvSpPr/>
          <p:nvPr/>
        </p:nvSpPr>
        <p:spPr>
          <a:xfrm>
            <a:off x="548640" y="1975104"/>
            <a:ext cx="3520440" cy="3291840"/>
          </a:xfrm>
          <a:prstGeom prst="roundRect">
            <a:avLst>
              <a:gd name="adj" fmla="val 1389"/>
            </a:avLst>
          </a:prstGeom>
          <a:solidFill>
            <a:srgbClr val="E9EEF7"/>
          </a:solidFill>
          <a:ln w="12700">
            <a:solidFill>
              <a:srgbClr val="D3DEEF"/>
            </a:solidFill>
            <a:prstDash val="solid"/>
          </a:ln>
        </p:spPr>
      </p:sp>
      <p:sp>
        <p:nvSpPr>
          <p:cNvPr id="6" name="Shape 4"/>
          <p:cNvSpPr/>
          <p:nvPr/>
        </p:nvSpPr>
        <p:spPr>
          <a:xfrm>
            <a:off x="768096" y="2157984"/>
            <a:ext cx="3081528" cy="420624"/>
          </a:xfrm>
          <a:prstGeom prst="roundRect">
            <a:avLst>
              <a:gd name="adj" fmla="val 13043"/>
            </a:avLst>
          </a:prstGeom>
          <a:solidFill>
            <a:srgbClr val="1F4380"/>
          </a:solidFill>
          <a:ln w="12700">
            <a:solidFill>
              <a:srgbClr val="1F4380"/>
            </a:solidFill>
            <a:prstDash val="solid"/>
          </a:ln>
        </p:spPr>
      </p:sp>
      <p:sp>
        <p:nvSpPr>
          <p:cNvPr id="7" name="Text 5"/>
          <p:cNvSpPr/>
          <p:nvPr/>
        </p:nvSpPr>
        <p:spPr>
          <a:xfrm>
            <a:off x="768096"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Functional baseline</a:t>
            </a:r>
            <a:endParaRPr lang="en-US" sz="1200" dirty="0"/>
          </a:p>
        </p:txBody>
      </p:sp>
      <p:sp>
        <p:nvSpPr>
          <p:cNvPr id="8" name="Text 6"/>
          <p:cNvSpPr/>
          <p:nvPr/>
        </p:nvSpPr>
        <p:spPr>
          <a:xfrm>
            <a:off x="786384" y="2688336"/>
            <a:ext cx="3108960" cy="274320"/>
          </a:xfrm>
          <a:prstGeom prst="rect">
            <a:avLst/>
          </a:prstGeom>
          <a:noFill/>
          <a:ln/>
        </p:spPr>
        <p:txBody>
          <a:bodyPr wrap="square" lIns="0" tIns="0" rIns="0" bIns="0" rtlCol="0" anchor="ctr"/>
          <a:lstStyle/>
          <a:p>
            <a:pPr indent="0" marL="0">
              <a:buNone/>
            </a:pPr>
            <a:r>
              <a:rPr lang="en-US" sz="1400" b="1" i="1" dirty="0">
                <a:solidFill>
                  <a:srgbClr val="132A4E"/>
                </a:solidFill>
                <a:latin typeface="Cambria" pitchFamily="34" charset="0"/>
                <a:ea typeface="Cambria" pitchFamily="34" charset="-122"/>
                <a:cs typeface="Cambria" pitchFamily="34" charset="-120"/>
              </a:rPr>
              <a:t>What the system has to do</a:t>
            </a:r>
            <a:endParaRPr lang="en-US" sz="1400" dirty="0"/>
          </a:p>
        </p:txBody>
      </p:sp>
      <p:sp>
        <p:nvSpPr>
          <p:cNvPr id="9" name="Text 7"/>
          <p:cNvSpPr/>
          <p:nvPr/>
        </p:nvSpPr>
        <p:spPr>
          <a:xfrm>
            <a:off x="786384" y="301752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approved system-level specification. Performance, operating envelope, top-level interfaces.</a:t>
            </a:r>
            <a:endParaRPr lang="en-US" sz="1150" dirty="0"/>
          </a:p>
        </p:txBody>
      </p:sp>
      <p:sp>
        <p:nvSpPr>
          <p:cNvPr id="10" name="Text 8"/>
          <p:cNvSpPr/>
          <p:nvPr/>
        </p:nvSpPr>
        <p:spPr>
          <a:xfrm>
            <a:off x="786384" y="3968496"/>
            <a:ext cx="3108960"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WHAT BINDS HERE</a:t>
            </a:r>
            <a:endParaRPr lang="en-US" sz="950" dirty="0"/>
          </a:p>
        </p:txBody>
      </p:sp>
      <p:sp>
        <p:nvSpPr>
          <p:cNvPr id="11" name="Text 9"/>
          <p:cNvSpPr/>
          <p:nvPr/>
        </p:nvSpPr>
        <p:spPr>
          <a:xfrm>
            <a:off x="786384" y="420624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Assumptions about the operating environment and performance envelope can bind here.</a:t>
            </a:r>
            <a:endParaRPr lang="en-US" sz="1150" dirty="0"/>
          </a:p>
        </p:txBody>
      </p:sp>
      <p:sp>
        <p:nvSpPr>
          <p:cNvPr id="12" name="Shape 10"/>
          <p:cNvSpPr/>
          <p:nvPr/>
        </p:nvSpPr>
        <p:spPr>
          <a:xfrm>
            <a:off x="4315968" y="1975104"/>
            <a:ext cx="3520440" cy="3291840"/>
          </a:xfrm>
          <a:prstGeom prst="roundRect">
            <a:avLst>
              <a:gd name="adj" fmla="val 1389"/>
            </a:avLst>
          </a:prstGeom>
          <a:solidFill>
            <a:srgbClr val="E9EEF7"/>
          </a:solidFill>
          <a:ln w="12700">
            <a:solidFill>
              <a:srgbClr val="D3DEEF"/>
            </a:solidFill>
            <a:prstDash val="solid"/>
          </a:ln>
        </p:spPr>
      </p:sp>
      <p:sp>
        <p:nvSpPr>
          <p:cNvPr id="13" name="Shape 11"/>
          <p:cNvSpPr/>
          <p:nvPr/>
        </p:nvSpPr>
        <p:spPr>
          <a:xfrm>
            <a:off x="4535424" y="2157984"/>
            <a:ext cx="3081528" cy="420624"/>
          </a:xfrm>
          <a:prstGeom prst="roundRect">
            <a:avLst>
              <a:gd name="adj" fmla="val 13043"/>
            </a:avLst>
          </a:prstGeom>
          <a:solidFill>
            <a:srgbClr val="1F4380"/>
          </a:solidFill>
          <a:ln w="12700">
            <a:solidFill>
              <a:srgbClr val="1F4380"/>
            </a:solidFill>
            <a:prstDash val="solid"/>
          </a:ln>
        </p:spPr>
      </p:sp>
      <p:sp>
        <p:nvSpPr>
          <p:cNvPr id="14" name="Text 12"/>
          <p:cNvSpPr/>
          <p:nvPr/>
        </p:nvSpPr>
        <p:spPr>
          <a:xfrm>
            <a:off x="4535424"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Allocated baseline</a:t>
            </a:r>
            <a:endParaRPr lang="en-US" sz="1200" dirty="0"/>
          </a:p>
        </p:txBody>
      </p:sp>
      <p:sp>
        <p:nvSpPr>
          <p:cNvPr id="15" name="Text 13"/>
          <p:cNvSpPr/>
          <p:nvPr/>
        </p:nvSpPr>
        <p:spPr>
          <a:xfrm>
            <a:off x="4553712" y="2688336"/>
            <a:ext cx="3108960" cy="274320"/>
          </a:xfrm>
          <a:prstGeom prst="rect">
            <a:avLst/>
          </a:prstGeom>
          <a:noFill/>
          <a:ln/>
        </p:spPr>
        <p:txBody>
          <a:bodyPr wrap="square" lIns="0" tIns="0" rIns="0" bIns="0" rtlCol="0" anchor="ctr"/>
          <a:lstStyle/>
          <a:p>
            <a:pPr indent="0" marL="0">
              <a:buNone/>
            </a:pPr>
            <a:r>
              <a:rPr lang="en-US" sz="1400" b="1" i="1" dirty="0">
                <a:solidFill>
                  <a:srgbClr val="132A4E"/>
                </a:solidFill>
                <a:latin typeface="Cambria" pitchFamily="34" charset="0"/>
                <a:ea typeface="Cambria" pitchFamily="34" charset="-122"/>
                <a:cs typeface="Cambria" pitchFamily="34" charset="-120"/>
              </a:rPr>
              <a:t>What each part has to do</a:t>
            </a:r>
            <a:endParaRPr lang="en-US" sz="1400" dirty="0"/>
          </a:p>
        </p:txBody>
      </p:sp>
      <p:sp>
        <p:nvSpPr>
          <p:cNvPr id="16" name="Text 14"/>
          <p:cNvSpPr/>
          <p:nvPr/>
        </p:nvSpPr>
        <p:spPr>
          <a:xfrm>
            <a:off x="4553712" y="301752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Requirements pushed down to subsystems and items, including the interfaces between them.</a:t>
            </a:r>
            <a:endParaRPr lang="en-US" sz="1150" dirty="0"/>
          </a:p>
        </p:txBody>
      </p:sp>
      <p:sp>
        <p:nvSpPr>
          <p:cNvPr id="17" name="Text 15"/>
          <p:cNvSpPr/>
          <p:nvPr/>
        </p:nvSpPr>
        <p:spPr>
          <a:xfrm>
            <a:off x="4553712" y="3968496"/>
            <a:ext cx="3108960"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WHAT BINDS HERE</a:t>
            </a:r>
            <a:endParaRPr lang="en-US" sz="950" dirty="0"/>
          </a:p>
        </p:txBody>
      </p:sp>
      <p:sp>
        <p:nvSpPr>
          <p:cNvPr id="18" name="Text 16"/>
          <p:cNvSpPr/>
          <p:nvPr/>
        </p:nvSpPr>
        <p:spPr>
          <a:xfrm>
            <a:off x="4553712" y="420624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Interface, installation, thermal, loads and duty-cycle assumptions bind here. So do most human-factors ones.</a:t>
            </a:r>
            <a:endParaRPr lang="en-US" sz="1150" dirty="0"/>
          </a:p>
        </p:txBody>
      </p:sp>
      <p:sp>
        <p:nvSpPr>
          <p:cNvPr id="19" name="Shape 17"/>
          <p:cNvSpPr/>
          <p:nvPr/>
        </p:nvSpPr>
        <p:spPr>
          <a:xfrm>
            <a:off x="8083296" y="1975104"/>
            <a:ext cx="3520440" cy="3291840"/>
          </a:xfrm>
          <a:prstGeom prst="roundRect">
            <a:avLst>
              <a:gd name="adj" fmla="val 1389"/>
            </a:avLst>
          </a:prstGeom>
          <a:solidFill>
            <a:srgbClr val="DFF0ED"/>
          </a:solidFill>
          <a:ln w="12700">
            <a:solidFill>
              <a:srgbClr val="B9DBD5"/>
            </a:solidFill>
            <a:prstDash val="solid"/>
          </a:ln>
        </p:spPr>
      </p:sp>
      <p:sp>
        <p:nvSpPr>
          <p:cNvPr id="20" name="Shape 18"/>
          <p:cNvSpPr/>
          <p:nvPr/>
        </p:nvSpPr>
        <p:spPr>
          <a:xfrm>
            <a:off x="8302752" y="2157984"/>
            <a:ext cx="3081528" cy="420624"/>
          </a:xfrm>
          <a:prstGeom prst="roundRect">
            <a:avLst>
              <a:gd name="adj" fmla="val 13043"/>
            </a:avLst>
          </a:prstGeom>
          <a:solidFill>
            <a:srgbClr val="0F6B62"/>
          </a:solidFill>
          <a:ln w="12700">
            <a:solidFill>
              <a:srgbClr val="0F6B62"/>
            </a:solidFill>
            <a:prstDash val="solid"/>
          </a:ln>
        </p:spPr>
      </p:sp>
      <p:sp>
        <p:nvSpPr>
          <p:cNvPr id="21" name="Text 19"/>
          <p:cNvSpPr/>
          <p:nvPr/>
        </p:nvSpPr>
        <p:spPr>
          <a:xfrm>
            <a:off x="8302752" y="2157984"/>
            <a:ext cx="3081528"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 baseline</a:t>
            </a:r>
            <a:endParaRPr lang="en-US" sz="1200" dirty="0"/>
          </a:p>
        </p:txBody>
      </p:sp>
      <p:sp>
        <p:nvSpPr>
          <p:cNvPr id="22" name="Text 20"/>
          <p:cNvSpPr/>
          <p:nvPr/>
        </p:nvSpPr>
        <p:spPr>
          <a:xfrm>
            <a:off x="8321040" y="2688336"/>
            <a:ext cx="3108960" cy="274320"/>
          </a:xfrm>
          <a:prstGeom prst="rect">
            <a:avLst/>
          </a:prstGeom>
          <a:noFill/>
          <a:ln/>
        </p:spPr>
        <p:txBody>
          <a:bodyPr wrap="square" lIns="0" tIns="0" rIns="0" bIns="0" rtlCol="0" anchor="ctr"/>
          <a:lstStyle/>
          <a:p>
            <a:pPr indent="0" marL="0">
              <a:buNone/>
            </a:pPr>
            <a:r>
              <a:rPr lang="en-US" sz="1400" b="1" i="1" dirty="0">
                <a:solidFill>
                  <a:srgbClr val="132A4E"/>
                </a:solidFill>
                <a:latin typeface="Cambria" pitchFamily="34" charset="0"/>
                <a:ea typeface="Cambria" pitchFamily="34" charset="-122"/>
                <a:cs typeface="Cambria" pitchFamily="34" charset="-120"/>
              </a:rPr>
              <a:t>What it actually is</a:t>
            </a:r>
            <a:endParaRPr lang="en-US" sz="1400" dirty="0"/>
          </a:p>
        </p:txBody>
      </p:sp>
      <p:sp>
        <p:nvSpPr>
          <p:cNvPr id="23" name="Text 21"/>
          <p:cNvSpPr/>
          <p:nvPr/>
        </p:nvSpPr>
        <p:spPr>
          <a:xfrm>
            <a:off x="8321040" y="301752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The detailed design definition: drawings, part numbers, the as-built configuration.</a:t>
            </a:r>
            <a:endParaRPr lang="en-US" sz="1150" dirty="0"/>
          </a:p>
        </p:txBody>
      </p:sp>
      <p:sp>
        <p:nvSpPr>
          <p:cNvPr id="24" name="Text 22"/>
          <p:cNvSpPr/>
          <p:nvPr/>
        </p:nvSpPr>
        <p:spPr>
          <a:xfrm>
            <a:off x="8321040" y="3968496"/>
            <a:ext cx="3108960"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WHAT BINDS HERE</a:t>
            </a:r>
            <a:endParaRPr lang="en-US" sz="950" dirty="0"/>
          </a:p>
        </p:txBody>
      </p:sp>
      <p:sp>
        <p:nvSpPr>
          <p:cNvPr id="25" name="Text 23"/>
          <p:cNvSpPr/>
          <p:nvPr/>
        </p:nvSpPr>
        <p:spPr>
          <a:xfrm>
            <a:off x="8321040" y="4206240"/>
            <a:ext cx="3108960" cy="91440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Assumptions bind to specific items at specific revisions, and can be verified by test and audit.</a:t>
            </a:r>
            <a:endParaRPr lang="en-US" sz="1150" dirty="0"/>
          </a:p>
        </p:txBody>
      </p:sp>
      <p:sp>
        <p:nvSpPr>
          <p:cNvPr id="26" name="Shape 24"/>
          <p:cNvSpPr/>
          <p:nvPr/>
        </p:nvSpPr>
        <p:spPr>
          <a:xfrm>
            <a:off x="548640" y="5431536"/>
            <a:ext cx="11091672" cy="1005840"/>
          </a:xfrm>
          <a:prstGeom prst="roundRect">
            <a:avLst>
              <a:gd name="adj" fmla="val 4545"/>
            </a:avLst>
          </a:prstGeom>
          <a:solidFill>
            <a:srgbClr val="132A4E"/>
          </a:solidFill>
          <a:ln w="12700">
            <a:solidFill>
              <a:srgbClr val="132A4E"/>
            </a:solidFill>
            <a:prstDash val="solid"/>
          </a:ln>
        </p:spPr>
      </p:sp>
      <p:sp>
        <p:nvSpPr>
          <p:cNvPr id="27" name="Text 25"/>
          <p:cNvSpPr/>
          <p:nvPr/>
        </p:nvSpPr>
        <p:spPr>
          <a:xfrm>
            <a:off x="841248" y="5559552"/>
            <a:ext cx="10515600" cy="74980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This is the answer to the obvious objection. Assumptions are written at proposal, and configuration items do not exist for years. But baselines arrive in stages, and each stage gives us something to attach to. We do not wait. We bind progressively, and we keep count of what is still unattached.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WHAT WE ARE PROPOSING</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The fix, in one page</a:t>
            </a:r>
            <a:endParaRPr lang="en-US" sz="2800" dirty="0"/>
          </a:p>
        </p:txBody>
      </p:sp>
      <p:sp>
        <p:nvSpPr>
          <p:cNvPr id="4" name="Shape 2"/>
          <p:cNvSpPr/>
          <p:nvPr/>
        </p:nvSpPr>
        <p:spPr>
          <a:xfrm>
            <a:off x="548640" y="1225296"/>
            <a:ext cx="5394960" cy="1517904"/>
          </a:xfrm>
          <a:prstGeom prst="roundRect">
            <a:avLst>
              <a:gd name="adj" fmla="val 3012"/>
            </a:avLst>
          </a:prstGeom>
          <a:solidFill>
            <a:srgbClr val="E9EEF7"/>
          </a:solidFill>
          <a:ln w="12700">
            <a:solidFill>
              <a:srgbClr val="D3DEEF"/>
            </a:solidFill>
            <a:prstDash val="solid"/>
          </a:ln>
        </p:spPr>
      </p:sp>
      <p:sp>
        <p:nvSpPr>
          <p:cNvPr id="5" name="Text 3"/>
          <p:cNvSpPr/>
          <p:nvPr/>
        </p:nvSpPr>
        <p:spPr>
          <a:xfrm>
            <a:off x="786384" y="1353312"/>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Write the conditions down, at the moment the assumption is made</a:t>
            </a:r>
            <a:endParaRPr lang="en-US" sz="1250" dirty="0"/>
          </a:p>
        </p:txBody>
      </p:sp>
      <p:sp>
        <p:nvSpPr>
          <p:cNvPr id="6" name="Text 4"/>
          <p:cNvSpPr/>
          <p:nvPr/>
        </p:nvSpPr>
        <p:spPr>
          <a:xfrm>
            <a:off x="786384" y="1682496"/>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Every safety-relevant assumption gets a short record: what is being assumed, why, and specifically what has to be true for it to hold. Written by the person who knows, when they know it. This is the cheap step and it is the one that unlocks everything else.</a:t>
            </a:r>
            <a:endParaRPr lang="en-US" sz="1150" dirty="0"/>
          </a:p>
        </p:txBody>
      </p:sp>
      <p:sp>
        <p:nvSpPr>
          <p:cNvPr id="7" name="Shape 5"/>
          <p:cNvSpPr/>
          <p:nvPr/>
        </p:nvSpPr>
        <p:spPr>
          <a:xfrm>
            <a:off x="6245352" y="1225296"/>
            <a:ext cx="5394960" cy="1517904"/>
          </a:xfrm>
          <a:prstGeom prst="roundRect">
            <a:avLst>
              <a:gd name="adj" fmla="val 3012"/>
            </a:avLst>
          </a:prstGeom>
          <a:solidFill>
            <a:srgbClr val="FFFFFF"/>
          </a:solidFill>
          <a:ln w="12700">
            <a:solidFill>
              <a:srgbClr val="D3DEEF"/>
            </a:solidFill>
            <a:prstDash val="solid"/>
          </a:ln>
        </p:spPr>
      </p:sp>
      <p:sp>
        <p:nvSpPr>
          <p:cNvPr id="8" name="Text 6"/>
          <p:cNvSpPr/>
          <p:nvPr/>
        </p:nvSpPr>
        <p:spPr>
          <a:xfrm>
            <a:off x="6483096" y="1353312"/>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Point each condition at a controlled document rather than restating it</a:t>
            </a:r>
            <a:endParaRPr lang="en-US" sz="1250" dirty="0"/>
          </a:p>
        </p:txBody>
      </p:sp>
      <p:sp>
        <p:nvSpPr>
          <p:cNvPr id="9" name="Text 7"/>
          <p:cNvSpPr/>
          <p:nvPr/>
        </p:nvSpPr>
        <p:spPr>
          <a:xfrm>
            <a:off x="6483096" y="1682496"/>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If the assumption depends on a 400-hour inspection interval, it cites the document that sets the interval instead of repeating the number. Restating is how assumptions quietly go stale when the source changes.</a:t>
            </a:r>
            <a:endParaRPr lang="en-US" sz="1150" dirty="0"/>
          </a:p>
        </p:txBody>
      </p:sp>
      <p:sp>
        <p:nvSpPr>
          <p:cNvPr id="10" name="Shape 8"/>
          <p:cNvSpPr/>
          <p:nvPr/>
        </p:nvSpPr>
        <p:spPr>
          <a:xfrm>
            <a:off x="548640" y="2926080"/>
            <a:ext cx="5394960" cy="1517904"/>
          </a:xfrm>
          <a:prstGeom prst="roundRect">
            <a:avLst>
              <a:gd name="adj" fmla="val 3012"/>
            </a:avLst>
          </a:prstGeom>
          <a:solidFill>
            <a:srgbClr val="E9EEF7"/>
          </a:solidFill>
          <a:ln w="12700">
            <a:solidFill>
              <a:srgbClr val="D3DEEF"/>
            </a:solidFill>
            <a:prstDash val="solid"/>
          </a:ln>
        </p:spPr>
      </p:sp>
      <p:sp>
        <p:nvSpPr>
          <p:cNvPr id="11" name="Text 9"/>
          <p:cNvSpPr/>
          <p:nvPr/>
        </p:nvSpPr>
        <p:spPr>
          <a:xfrm>
            <a:off x="786384" y="305409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Give every risk-bearing assumption a named owner on this program</a:t>
            </a:r>
            <a:endParaRPr lang="en-US" sz="1250" dirty="0"/>
          </a:p>
        </p:txBody>
      </p:sp>
      <p:sp>
        <p:nvSpPr>
          <p:cNvPr id="12" name="Text 10"/>
          <p:cNvSpPr/>
          <p:nvPr/>
        </p:nvSpPr>
        <p:spPr>
          <a:xfrm>
            <a:off x="786384" y="3383280"/>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Someone here accepts the residual risk. Inherited acceptance from the earlier program does not count. This is the item SM-0001 already requires and it is the one with compliance teeth.</a:t>
            </a:r>
            <a:endParaRPr lang="en-US" sz="1150" dirty="0"/>
          </a:p>
        </p:txBody>
      </p:sp>
      <p:sp>
        <p:nvSpPr>
          <p:cNvPr id="13" name="Shape 11"/>
          <p:cNvSpPr/>
          <p:nvPr/>
        </p:nvSpPr>
        <p:spPr>
          <a:xfrm>
            <a:off x="6245352" y="2926080"/>
            <a:ext cx="5394960" cy="1517904"/>
          </a:xfrm>
          <a:prstGeom prst="roundRect">
            <a:avLst>
              <a:gd name="adj" fmla="val 3012"/>
            </a:avLst>
          </a:prstGeom>
          <a:solidFill>
            <a:srgbClr val="FFFFFF"/>
          </a:solidFill>
          <a:ln w="12700">
            <a:solidFill>
              <a:srgbClr val="D3DEEF"/>
            </a:solidFill>
            <a:prstDash val="solid"/>
          </a:ln>
        </p:spPr>
      </p:sp>
      <p:sp>
        <p:nvSpPr>
          <p:cNvPr id="14" name="Text 12"/>
          <p:cNvSpPr/>
          <p:nvPr/>
        </p:nvSpPr>
        <p:spPr>
          <a:xfrm>
            <a:off x="6483096" y="305409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Let the change process raise the question automatically</a:t>
            </a:r>
            <a:endParaRPr lang="en-US" sz="1250" dirty="0"/>
          </a:p>
        </p:txBody>
      </p:sp>
      <p:sp>
        <p:nvSpPr>
          <p:cNvPr id="15" name="Text 13"/>
          <p:cNvSpPr/>
          <p:nvPr/>
        </p:nvSpPr>
        <p:spPr>
          <a:xfrm>
            <a:off x="6483096" y="3383280"/>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Once assumptions point at controlled documents, an engineering change against one of those documents surfaces every assumption that depends on it. Nobody has to remember. The mechanism does the remembering.</a:t>
            </a:r>
            <a:endParaRPr lang="en-US" sz="1150" dirty="0"/>
          </a:p>
        </p:txBody>
      </p:sp>
      <p:sp>
        <p:nvSpPr>
          <p:cNvPr id="16" name="Shape 14"/>
          <p:cNvSpPr/>
          <p:nvPr/>
        </p:nvSpPr>
        <p:spPr>
          <a:xfrm>
            <a:off x="548640" y="4626864"/>
            <a:ext cx="5394960" cy="1517904"/>
          </a:xfrm>
          <a:prstGeom prst="roundRect">
            <a:avLst>
              <a:gd name="adj" fmla="val 3012"/>
            </a:avLst>
          </a:prstGeom>
          <a:solidFill>
            <a:srgbClr val="E9EEF7"/>
          </a:solidFill>
          <a:ln w="12700">
            <a:solidFill>
              <a:srgbClr val="D3DEEF"/>
            </a:solidFill>
            <a:prstDash val="solid"/>
          </a:ln>
        </p:spPr>
      </p:sp>
      <p:sp>
        <p:nvSpPr>
          <p:cNvPr id="17" name="Text 15"/>
          <p:cNvSpPr/>
          <p:nvPr/>
        </p:nvSpPr>
        <p:spPr>
          <a:xfrm>
            <a:off x="786384" y="475488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Bind progressively, and count what is still unbound</a:t>
            </a:r>
            <a:endParaRPr lang="en-US" sz="1250" dirty="0"/>
          </a:p>
        </p:txBody>
      </p:sp>
      <p:sp>
        <p:nvSpPr>
          <p:cNvPr id="18" name="Text 16"/>
          <p:cNvSpPr/>
          <p:nvPr/>
        </p:nvSpPr>
        <p:spPr>
          <a:xfrm>
            <a:off x="786384" y="5084064"/>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Assumptions start unattached at proposal and attach to firmer documents as baselines arrive. What matters is that the unattached population is visible, reported at design reviews, and shrinking.</a:t>
            </a:r>
            <a:endParaRPr lang="en-US" sz="1150" dirty="0"/>
          </a:p>
        </p:txBody>
      </p:sp>
      <p:sp>
        <p:nvSpPr>
          <p:cNvPr id="19" name="Shape 17"/>
          <p:cNvSpPr/>
          <p:nvPr/>
        </p:nvSpPr>
        <p:spPr>
          <a:xfrm>
            <a:off x="6245352" y="4626864"/>
            <a:ext cx="5394960" cy="1517904"/>
          </a:xfrm>
          <a:prstGeom prst="roundRect">
            <a:avLst>
              <a:gd name="adj" fmla="val 3012"/>
            </a:avLst>
          </a:prstGeom>
          <a:solidFill>
            <a:srgbClr val="FFFFFF"/>
          </a:solidFill>
          <a:ln w="12700">
            <a:solidFill>
              <a:srgbClr val="D3DEEF"/>
            </a:solidFill>
            <a:prstDash val="solid"/>
          </a:ln>
        </p:spPr>
      </p:sp>
      <p:sp>
        <p:nvSpPr>
          <p:cNvPr id="20" name="Text 18"/>
          <p:cNvSpPr/>
          <p:nvPr/>
        </p:nvSpPr>
        <p:spPr>
          <a:xfrm>
            <a:off x="6483096" y="475488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Do not inherit. Re-baseline.</a:t>
            </a:r>
            <a:endParaRPr lang="en-US" sz="1250" dirty="0"/>
          </a:p>
        </p:txBody>
      </p:sp>
      <p:sp>
        <p:nvSpPr>
          <p:cNvPr id="21" name="Text 19"/>
          <p:cNvSpPr/>
          <p:nvPr/>
        </p:nvSpPr>
        <p:spPr>
          <a:xfrm>
            <a:off x="6483096" y="5084064"/>
            <a:ext cx="4956048" cy="950976"/>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An assumption cannot be carried across as-is. It can be re-adopted after a documented comparison of the two programs covering the conditions, not just the part number. Anything unverifiable goes back into safety risk management.</a:t>
            </a:r>
            <a:endParaRPr lang="en-US" sz="1150" dirty="0"/>
          </a:p>
        </p:txBody>
      </p:sp>
      <p:sp>
        <p:nvSpPr>
          <p:cNvPr id="22" name="Shape 20"/>
          <p:cNvSpPr/>
          <p:nvPr/>
        </p:nvSpPr>
        <p:spPr>
          <a:xfrm>
            <a:off x="548640" y="5742432"/>
            <a:ext cx="11091672" cy="822960"/>
          </a:xfrm>
          <a:prstGeom prst="roundRect">
            <a:avLst>
              <a:gd name="adj" fmla="val 5556"/>
            </a:avLst>
          </a:prstGeom>
          <a:solidFill>
            <a:srgbClr val="132A4E"/>
          </a:solidFill>
          <a:ln w="12700">
            <a:solidFill>
              <a:srgbClr val="132A4E"/>
            </a:solidFill>
            <a:prstDash val="solid"/>
          </a:ln>
        </p:spPr>
      </p:sp>
      <p:sp>
        <p:nvSpPr>
          <p:cNvPr id="23" name="Text 21"/>
          <p:cNvSpPr/>
          <p:nvPr/>
        </p:nvSpPr>
        <p:spPr>
          <a:xfrm>
            <a:off x="841248" y="5870448"/>
            <a:ext cx="10515600" cy="56692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Five of these six are record-keeping and routing. Only the sixth costs real engineering time, and only for the small set of assumptions that actually carry risk credit.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ARTIFACT</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What goes in the record</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This is deliberately close to the hazard record content that SM-0001 Appendix 2 already asks for. We are reusing a data model the safety organization already understands, applied one level down.</a:t>
            </a:r>
            <a:endParaRPr lang="en-US" sz="1350" dirty="0"/>
          </a:p>
        </p:txBody>
      </p:sp>
      <p:sp>
        <p:nvSpPr>
          <p:cNvPr id="5" name="Shape 3"/>
          <p:cNvSpPr/>
          <p:nvPr/>
        </p:nvSpPr>
        <p:spPr>
          <a:xfrm>
            <a:off x="548640" y="1920240"/>
            <a:ext cx="2606040" cy="1920240"/>
          </a:xfrm>
          <a:prstGeom prst="roundRect">
            <a:avLst>
              <a:gd name="adj" fmla="val 2381"/>
            </a:avLst>
          </a:prstGeom>
          <a:solidFill>
            <a:srgbClr val="E9EEF7"/>
          </a:solidFill>
          <a:ln w="12700">
            <a:solidFill>
              <a:srgbClr val="D3DEEF"/>
            </a:solidFill>
            <a:prstDash val="solid"/>
          </a:ln>
        </p:spPr>
      </p:sp>
      <p:sp>
        <p:nvSpPr>
          <p:cNvPr id="6" name="Text 4"/>
          <p:cNvSpPr/>
          <p:nvPr/>
        </p:nvSpPr>
        <p:spPr>
          <a:xfrm>
            <a:off x="749808" y="206654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Identifier and owner</a:t>
            </a:r>
            <a:endParaRPr lang="en-US" sz="1200" dirty="0"/>
          </a:p>
        </p:txBody>
      </p:sp>
      <p:sp>
        <p:nvSpPr>
          <p:cNvPr id="7" name="Text 5"/>
          <p:cNvSpPr/>
          <p:nvPr/>
        </p:nvSpPr>
        <p:spPr>
          <a:xfrm>
            <a:off x="749808" y="259689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A unique number, the engineer responsible, and the current binding state.</a:t>
            </a:r>
            <a:endParaRPr lang="en-US" sz="1100" dirty="0"/>
          </a:p>
        </p:txBody>
      </p:sp>
      <p:sp>
        <p:nvSpPr>
          <p:cNvPr id="8" name="Shape 6"/>
          <p:cNvSpPr/>
          <p:nvPr/>
        </p:nvSpPr>
        <p:spPr>
          <a:xfrm>
            <a:off x="3346704" y="1920240"/>
            <a:ext cx="2606040" cy="1920240"/>
          </a:xfrm>
          <a:prstGeom prst="roundRect">
            <a:avLst>
              <a:gd name="adj" fmla="val 2381"/>
            </a:avLst>
          </a:prstGeom>
          <a:solidFill>
            <a:srgbClr val="FFFFFF"/>
          </a:solidFill>
          <a:ln w="12700">
            <a:solidFill>
              <a:srgbClr val="D3DEEF"/>
            </a:solidFill>
            <a:prstDash val="solid"/>
          </a:ln>
        </p:spPr>
      </p:sp>
      <p:sp>
        <p:nvSpPr>
          <p:cNvPr id="9" name="Text 7"/>
          <p:cNvSpPr/>
          <p:nvPr/>
        </p:nvSpPr>
        <p:spPr>
          <a:xfrm>
            <a:off x="3547872" y="206654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The assumption itself</a:t>
            </a:r>
            <a:endParaRPr lang="en-US" sz="1200" dirty="0"/>
          </a:p>
        </p:txBody>
      </p:sp>
      <p:sp>
        <p:nvSpPr>
          <p:cNvPr id="10" name="Text 8"/>
          <p:cNvSpPr/>
          <p:nvPr/>
        </p:nvSpPr>
        <p:spPr>
          <a:xfrm>
            <a:off x="3547872" y="259689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claim, stated on its own, separate from the reasoning behind it.</a:t>
            </a:r>
            <a:endParaRPr lang="en-US" sz="1100" dirty="0"/>
          </a:p>
        </p:txBody>
      </p:sp>
      <p:sp>
        <p:nvSpPr>
          <p:cNvPr id="11" name="Shape 9"/>
          <p:cNvSpPr/>
          <p:nvPr/>
        </p:nvSpPr>
        <p:spPr>
          <a:xfrm>
            <a:off x="6144768" y="1920240"/>
            <a:ext cx="2606040" cy="1920240"/>
          </a:xfrm>
          <a:prstGeom prst="roundRect">
            <a:avLst>
              <a:gd name="adj" fmla="val 2381"/>
            </a:avLst>
          </a:prstGeom>
          <a:solidFill>
            <a:srgbClr val="E9EEF7"/>
          </a:solidFill>
          <a:ln w="12700">
            <a:solidFill>
              <a:srgbClr val="D3DEEF"/>
            </a:solidFill>
            <a:prstDash val="solid"/>
          </a:ln>
        </p:spPr>
      </p:sp>
      <p:sp>
        <p:nvSpPr>
          <p:cNvPr id="12" name="Text 10"/>
          <p:cNvSpPr/>
          <p:nvPr/>
        </p:nvSpPr>
        <p:spPr>
          <a:xfrm>
            <a:off x="6345936" y="206654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The reasoning</a:t>
            </a:r>
            <a:endParaRPr lang="en-US" sz="1200" dirty="0"/>
          </a:p>
        </p:txBody>
      </p:sp>
      <p:sp>
        <p:nvSpPr>
          <p:cNvPr id="13" name="Text 11"/>
          <p:cNvSpPr/>
          <p:nvPr/>
        </p:nvSpPr>
        <p:spPr>
          <a:xfrm>
            <a:off x="6345936" y="259689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Why it was made. This is the part that becomes impossible to reconstruct after a few years, and the part most worth capturing.</a:t>
            </a:r>
            <a:endParaRPr lang="en-US" sz="1100" dirty="0"/>
          </a:p>
        </p:txBody>
      </p:sp>
      <p:sp>
        <p:nvSpPr>
          <p:cNvPr id="14" name="Shape 12"/>
          <p:cNvSpPr/>
          <p:nvPr/>
        </p:nvSpPr>
        <p:spPr>
          <a:xfrm>
            <a:off x="8942832" y="1920240"/>
            <a:ext cx="2606040" cy="1920240"/>
          </a:xfrm>
          <a:prstGeom prst="roundRect">
            <a:avLst>
              <a:gd name="adj" fmla="val 2381"/>
            </a:avLst>
          </a:prstGeom>
          <a:solidFill>
            <a:srgbClr val="FFFFFF"/>
          </a:solidFill>
          <a:ln w="12700">
            <a:solidFill>
              <a:srgbClr val="D3DEEF"/>
            </a:solidFill>
            <a:prstDash val="solid"/>
          </a:ln>
        </p:spPr>
      </p:sp>
      <p:sp>
        <p:nvSpPr>
          <p:cNvPr id="15" name="Text 13"/>
          <p:cNvSpPr/>
          <p:nvPr/>
        </p:nvSpPr>
        <p:spPr>
          <a:xfrm>
            <a:off x="9144000" y="206654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The conditions</a:t>
            </a:r>
            <a:endParaRPr lang="en-US" sz="1200" dirty="0"/>
          </a:p>
        </p:txBody>
      </p:sp>
      <p:sp>
        <p:nvSpPr>
          <p:cNvPr id="16" name="Text 14"/>
          <p:cNvSpPr/>
          <p:nvPr/>
        </p:nvSpPr>
        <p:spPr>
          <a:xfrm>
            <a:off x="9144000" y="259689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What has to be true. Written so that someone could check them and get a clear yes or no.</a:t>
            </a:r>
            <a:endParaRPr lang="en-US" sz="1100" dirty="0"/>
          </a:p>
        </p:txBody>
      </p:sp>
      <p:sp>
        <p:nvSpPr>
          <p:cNvPr id="17" name="Shape 15"/>
          <p:cNvSpPr/>
          <p:nvPr/>
        </p:nvSpPr>
        <p:spPr>
          <a:xfrm>
            <a:off x="548640" y="4023360"/>
            <a:ext cx="2606040" cy="1920240"/>
          </a:xfrm>
          <a:prstGeom prst="roundRect">
            <a:avLst>
              <a:gd name="adj" fmla="val 2381"/>
            </a:avLst>
          </a:prstGeom>
          <a:solidFill>
            <a:srgbClr val="E9EEF7"/>
          </a:solidFill>
          <a:ln w="12700">
            <a:solidFill>
              <a:srgbClr val="D3DEEF"/>
            </a:solidFill>
            <a:prstDash val="solid"/>
          </a:ln>
        </p:spPr>
      </p:sp>
      <p:sp>
        <p:nvSpPr>
          <p:cNvPr id="18" name="Text 16"/>
          <p:cNvSpPr/>
          <p:nvPr/>
        </p:nvSpPr>
        <p:spPr>
          <a:xfrm>
            <a:off x="749808" y="416966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What it points at</a:t>
            </a:r>
            <a:endParaRPr lang="en-US" sz="1200" dirty="0"/>
          </a:p>
        </p:txBody>
      </p:sp>
      <p:sp>
        <p:nvSpPr>
          <p:cNvPr id="19" name="Text 17"/>
          <p:cNvSpPr/>
          <p:nvPr/>
        </p:nvSpPr>
        <p:spPr>
          <a:xfrm>
            <a:off x="749808" y="470001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controlled document, item and revision each condition depends on. Cited, not copied.</a:t>
            </a:r>
            <a:endParaRPr lang="en-US" sz="1100" dirty="0"/>
          </a:p>
        </p:txBody>
      </p:sp>
      <p:sp>
        <p:nvSpPr>
          <p:cNvPr id="20" name="Shape 18"/>
          <p:cNvSpPr/>
          <p:nvPr/>
        </p:nvSpPr>
        <p:spPr>
          <a:xfrm>
            <a:off x="3346704" y="4023360"/>
            <a:ext cx="2606040" cy="1920240"/>
          </a:xfrm>
          <a:prstGeom prst="roundRect">
            <a:avLst>
              <a:gd name="adj" fmla="val 2381"/>
            </a:avLst>
          </a:prstGeom>
          <a:solidFill>
            <a:srgbClr val="FFFFFF"/>
          </a:solidFill>
          <a:ln w="12700">
            <a:solidFill>
              <a:srgbClr val="D3DEEF"/>
            </a:solidFill>
            <a:prstDash val="solid"/>
          </a:ln>
        </p:spPr>
      </p:sp>
      <p:sp>
        <p:nvSpPr>
          <p:cNvPr id="21" name="Text 19"/>
          <p:cNvSpPr/>
          <p:nvPr/>
        </p:nvSpPr>
        <p:spPr>
          <a:xfrm>
            <a:off x="3547872" y="416966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What depends on it</a:t>
            </a:r>
            <a:endParaRPr lang="en-US" sz="1200" dirty="0"/>
          </a:p>
        </p:txBody>
      </p:sp>
      <p:sp>
        <p:nvSpPr>
          <p:cNvPr id="22" name="Text 20"/>
          <p:cNvSpPr/>
          <p:nvPr/>
        </p:nvSpPr>
        <p:spPr>
          <a:xfrm>
            <a:off x="3547872" y="470001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Which analyses use it, and which hazard would reopen if it turned out to be false.</a:t>
            </a:r>
            <a:endParaRPr lang="en-US" sz="1100" dirty="0"/>
          </a:p>
        </p:txBody>
      </p:sp>
      <p:sp>
        <p:nvSpPr>
          <p:cNvPr id="23" name="Shape 21"/>
          <p:cNvSpPr/>
          <p:nvPr/>
        </p:nvSpPr>
        <p:spPr>
          <a:xfrm>
            <a:off x="6144768" y="4023360"/>
            <a:ext cx="2606040" cy="1920240"/>
          </a:xfrm>
          <a:prstGeom prst="roundRect">
            <a:avLst>
              <a:gd name="adj" fmla="val 2381"/>
            </a:avLst>
          </a:prstGeom>
          <a:solidFill>
            <a:srgbClr val="FBEBDC"/>
          </a:solidFill>
          <a:ln w="12700">
            <a:solidFill>
              <a:srgbClr val="ECC8AE"/>
            </a:solidFill>
            <a:prstDash val="solid"/>
          </a:ln>
        </p:spPr>
      </p:sp>
      <p:sp>
        <p:nvSpPr>
          <p:cNvPr id="24" name="Text 22"/>
          <p:cNvSpPr/>
          <p:nvPr/>
        </p:nvSpPr>
        <p:spPr>
          <a:xfrm>
            <a:off x="6345936" y="416966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B4530C"/>
                </a:solidFill>
                <a:latin typeface="Calibri" pitchFamily="34" charset="0"/>
                <a:ea typeface="Calibri" pitchFamily="34" charset="-122"/>
                <a:cs typeface="Calibri" pitchFamily="34" charset="-120"/>
              </a:rPr>
              <a:t>Who accepted the risk</a:t>
            </a:r>
            <a:endParaRPr lang="en-US" sz="1200" dirty="0"/>
          </a:p>
        </p:txBody>
      </p:sp>
      <p:sp>
        <p:nvSpPr>
          <p:cNvPr id="25" name="Text 23"/>
          <p:cNvSpPr/>
          <p:nvPr/>
        </p:nvSpPr>
        <p:spPr>
          <a:xfrm>
            <a:off x="6345936" y="470001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named individual on this program. Not the person on the earlier program.</a:t>
            </a:r>
            <a:endParaRPr lang="en-US" sz="1100" dirty="0"/>
          </a:p>
        </p:txBody>
      </p:sp>
      <p:sp>
        <p:nvSpPr>
          <p:cNvPr id="26" name="Shape 24"/>
          <p:cNvSpPr/>
          <p:nvPr/>
        </p:nvSpPr>
        <p:spPr>
          <a:xfrm>
            <a:off x="8942832" y="4023360"/>
            <a:ext cx="2606040" cy="1920240"/>
          </a:xfrm>
          <a:prstGeom prst="roundRect">
            <a:avLst>
              <a:gd name="adj" fmla="val 2381"/>
            </a:avLst>
          </a:prstGeom>
          <a:solidFill>
            <a:srgbClr val="FFFFFF"/>
          </a:solidFill>
          <a:ln w="12700">
            <a:solidFill>
              <a:srgbClr val="D3DEEF"/>
            </a:solidFill>
            <a:prstDash val="solid"/>
          </a:ln>
        </p:spPr>
      </p:sp>
      <p:sp>
        <p:nvSpPr>
          <p:cNvPr id="27" name="Text 25"/>
          <p:cNvSpPr/>
          <p:nvPr/>
        </p:nvSpPr>
        <p:spPr>
          <a:xfrm>
            <a:off x="9144000" y="4169664"/>
            <a:ext cx="2240280" cy="512064"/>
          </a:xfrm>
          <a:prstGeom prst="rect">
            <a:avLst/>
          </a:prstGeom>
          <a:noFill/>
          <a:ln/>
        </p:spPr>
        <p:txBody>
          <a:bodyPr wrap="square" lIns="0" tIns="0" rIns="0" bIns="0" rtlCol="0" anchor="ctr"/>
          <a:lstStyle/>
          <a:p>
            <a:pPr indent="0" marL="0">
              <a:lnSpc>
                <a:spcPts val="1600"/>
              </a:lnSpc>
              <a:buNone/>
            </a:pPr>
            <a:r>
              <a:rPr lang="en-US" sz="1200" b="1" dirty="0">
                <a:solidFill>
                  <a:srgbClr val="1F4380"/>
                </a:solidFill>
                <a:latin typeface="Calibri" pitchFamily="34" charset="0"/>
                <a:ea typeface="Calibri" pitchFamily="34" charset="-122"/>
                <a:cs typeface="Calibri" pitchFamily="34" charset="-120"/>
              </a:rPr>
              <a:t>Where it came from</a:t>
            </a:r>
            <a:endParaRPr lang="en-US" sz="1200" dirty="0"/>
          </a:p>
        </p:txBody>
      </p:sp>
      <p:sp>
        <p:nvSpPr>
          <p:cNvPr id="28" name="Text 26"/>
          <p:cNvSpPr/>
          <p:nvPr/>
        </p:nvSpPr>
        <p:spPr>
          <a:xfrm>
            <a:off x="9144000" y="4700016"/>
            <a:ext cx="2249424" cy="11338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If inherited: the source program, the original record number and revision, and what the similarity claim was based on.</a:t>
            </a:r>
            <a:endParaRPr lang="en-US" sz="1100" dirty="0"/>
          </a:p>
        </p:txBody>
      </p:sp>
      <p:sp>
        <p:nvSpPr>
          <p:cNvPr id="29" name="Text 27"/>
          <p:cNvSpPr/>
          <p:nvPr/>
        </p:nvSpPr>
        <p:spPr>
          <a:xfrm>
            <a:off x="548640" y="6053328"/>
            <a:ext cx="11064240" cy="457200"/>
          </a:xfrm>
          <a:prstGeom prst="rect">
            <a:avLst/>
          </a:prstGeom>
          <a:noFill/>
          <a:ln/>
        </p:spPr>
        <p:txBody>
          <a:bodyPr wrap="square" lIns="0" tIns="0" rIns="0" bIns="0"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None of this is exotic. Most programs already hold four of these eight fields somewhere. The gap is that they are held in a document nobody queries, rather than a record something can trigger off.</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SINGLE MOST IMPORTANT HABIT</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Cite the document. Do not restate the number.</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This looks like a trivial formatting preference. It is the difference between an assumption that can be checked automatically and one that cannot.</a:t>
            </a:r>
            <a:endParaRPr lang="en-US" sz="1350" dirty="0"/>
          </a:p>
        </p:txBody>
      </p:sp>
      <p:sp>
        <p:nvSpPr>
          <p:cNvPr id="5" name="Shape 3"/>
          <p:cNvSpPr/>
          <p:nvPr/>
        </p:nvSpPr>
        <p:spPr>
          <a:xfrm>
            <a:off x="548640" y="1920240"/>
            <a:ext cx="5394960" cy="2286000"/>
          </a:xfrm>
          <a:prstGeom prst="roundRect">
            <a:avLst>
              <a:gd name="adj" fmla="val 2000"/>
            </a:avLst>
          </a:prstGeom>
          <a:solidFill>
            <a:srgbClr val="FBEBDC"/>
          </a:solidFill>
          <a:ln w="12700">
            <a:solidFill>
              <a:srgbClr val="ECC8AE"/>
            </a:solidFill>
            <a:prstDash val="solid"/>
          </a:ln>
        </p:spPr>
      </p:sp>
      <p:sp>
        <p:nvSpPr>
          <p:cNvPr id="6" name="Text 4"/>
          <p:cNvSpPr/>
          <p:nvPr/>
        </p:nvSpPr>
        <p:spPr>
          <a:xfrm>
            <a:off x="822960" y="2066544"/>
            <a:ext cx="4846320" cy="274320"/>
          </a:xfrm>
          <a:prstGeom prst="rect">
            <a:avLst/>
          </a:prstGeom>
          <a:noFill/>
          <a:ln/>
        </p:spPr>
        <p:txBody>
          <a:bodyPr wrap="square" lIns="0" tIns="0" rIns="0" bIns="0" rtlCol="0" anchor="ctr"/>
          <a:lstStyle/>
          <a:p>
            <a:pPr indent="0" marL="0">
              <a:buNone/>
            </a:pPr>
            <a:r>
              <a:rPr lang="en-US" sz="1200" b="1" dirty="0">
                <a:solidFill>
                  <a:srgbClr val="B4530C"/>
                </a:solidFill>
                <a:latin typeface="Calibri" pitchFamily="34" charset="0"/>
                <a:ea typeface="Calibri" pitchFamily="34" charset="-122"/>
                <a:cs typeface="Calibri" pitchFamily="34" charset="-120"/>
              </a:rPr>
              <a:t>Restated  ·  goes stale silently</a:t>
            </a:r>
            <a:endParaRPr lang="en-US" sz="1200" dirty="0"/>
          </a:p>
        </p:txBody>
      </p:sp>
      <p:sp>
        <p:nvSpPr>
          <p:cNvPr id="7" name="Text 5"/>
          <p:cNvSpPr/>
          <p:nvPr/>
        </p:nvSpPr>
        <p:spPr>
          <a:xfrm>
            <a:off x="822960" y="2395728"/>
            <a:ext cx="4864608" cy="1737360"/>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"Assumes the line is inspected every 400 flight hours."</a:t>
            </a:r>
            <a:endParaRPr lang="en-US" sz="1200" dirty="0"/>
          </a:p>
          <a:p>
            <a:pPr indent="0" marL="0">
              <a:lnSpc>
                <a:spcPts val="1800"/>
              </a:lnSpc>
              <a:buNone/>
            </a:pPr>
            <a:endParaRPr lang="en-US" sz="1200" dirty="0"/>
          </a:p>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When the maintenance program moves to 600 hours, nothing connects that change to this sentence. The sentence stays in the document, still reading as true, for the life of the program.</a:t>
            </a:r>
            <a:endParaRPr lang="en-US" sz="1200" dirty="0"/>
          </a:p>
        </p:txBody>
      </p:sp>
      <p:sp>
        <p:nvSpPr>
          <p:cNvPr id="8" name="Shape 6"/>
          <p:cNvSpPr/>
          <p:nvPr/>
        </p:nvSpPr>
        <p:spPr>
          <a:xfrm>
            <a:off x="6245352" y="1920240"/>
            <a:ext cx="5394960" cy="2286000"/>
          </a:xfrm>
          <a:prstGeom prst="roundRect">
            <a:avLst>
              <a:gd name="adj" fmla="val 2000"/>
            </a:avLst>
          </a:prstGeom>
          <a:solidFill>
            <a:srgbClr val="DFF0ED"/>
          </a:solidFill>
          <a:ln w="12700">
            <a:solidFill>
              <a:srgbClr val="B9DBD5"/>
            </a:solidFill>
            <a:prstDash val="solid"/>
          </a:ln>
        </p:spPr>
      </p:sp>
      <p:sp>
        <p:nvSpPr>
          <p:cNvPr id="9" name="Text 7"/>
          <p:cNvSpPr/>
          <p:nvPr/>
        </p:nvSpPr>
        <p:spPr>
          <a:xfrm>
            <a:off x="6519672" y="2066544"/>
            <a:ext cx="4846320" cy="274320"/>
          </a:xfrm>
          <a:prstGeom prst="rect">
            <a:avLst/>
          </a:prstGeom>
          <a:noFill/>
          <a:ln/>
        </p:spPr>
        <p:txBody>
          <a:bodyPr wrap="square" lIns="0" tIns="0" rIns="0" bIns="0" rtlCol="0" anchor="ctr"/>
          <a:lstStyle/>
          <a:p>
            <a:pPr indent="0" marL="0">
              <a:buNone/>
            </a:pPr>
            <a:r>
              <a:rPr lang="en-US" sz="1200" b="1" dirty="0">
                <a:solidFill>
                  <a:srgbClr val="0F6B62"/>
                </a:solidFill>
                <a:latin typeface="Calibri" pitchFamily="34" charset="0"/>
                <a:ea typeface="Calibri" pitchFamily="34" charset="-122"/>
                <a:cs typeface="Calibri" pitchFamily="34" charset="-120"/>
              </a:rPr>
              <a:t>Cited  ·  breaks loudly when it should</a:t>
            </a:r>
            <a:endParaRPr lang="en-US" sz="1200" dirty="0"/>
          </a:p>
        </p:txBody>
      </p:sp>
      <p:sp>
        <p:nvSpPr>
          <p:cNvPr id="10" name="Text 8"/>
          <p:cNvSpPr/>
          <p:nvPr/>
        </p:nvSpPr>
        <p:spPr>
          <a:xfrm>
            <a:off x="6519672" y="2395728"/>
            <a:ext cx="4864608" cy="1737360"/>
          </a:xfrm>
          <a:prstGeom prst="rect">
            <a:avLst/>
          </a:prstGeom>
          <a:noFill/>
          <a:ln/>
        </p:spPr>
        <p:txBody>
          <a:bodyPr wrap="square" lIns="0" tIns="0" rIns="0" bIns="0" rtlCol="0" anchor="t"/>
          <a:lstStyle/>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"Assumes the inspection interval defined in [maintenance requirement document, item, revision]."</a:t>
            </a:r>
            <a:endParaRPr lang="en-US" sz="1200" dirty="0"/>
          </a:p>
          <a:p>
            <a:pPr indent="0" marL="0">
              <a:lnSpc>
                <a:spcPts val="1800"/>
              </a:lnSpc>
              <a:buNone/>
            </a:pPr>
            <a:endParaRPr lang="en-US" sz="1200" dirty="0"/>
          </a:p>
          <a:p>
            <a:pPr indent="0" marL="0">
              <a:lnSpc>
                <a:spcPts val="1800"/>
              </a:lnSpc>
              <a:buNone/>
            </a:pPr>
            <a:r>
              <a:rPr lang="en-US" sz="1200" dirty="0">
                <a:solidFill>
                  <a:srgbClr val="1A2333"/>
                </a:solidFill>
                <a:latin typeface="Calibri" pitchFamily="34" charset="0"/>
                <a:ea typeface="Calibri" pitchFamily="34" charset="-122"/>
                <a:cs typeface="Calibri" pitchFamily="34" charset="-120"/>
              </a:rPr>
              <a:t>When that document is revised, the change record shows this assumption among the things affected, and someone is required to say whether it still holds.</a:t>
            </a:r>
            <a:endParaRPr lang="en-US" sz="1200" dirty="0"/>
          </a:p>
        </p:txBody>
      </p:sp>
      <p:sp>
        <p:nvSpPr>
          <p:cNvPr id="11" name="Shape 9"/>
          <p:cNvSpPr/>
          <p:nvPr/>
        </p:nvSpPr>
        <p:spPr>
          <a:xfrm>
            <a:off x="548640" y="4370832"/>
            <a:ext cx="11091672" cy="1060704"/>
          </a:xfrm>
          <a:prstGeom prst="roundRect">
            <a:avLst>
              <a:gd name="adj" fmla="val 4310"/>
            </a:avLst>
          </a:prstGeom>
          <a:solidFill>
            <a:srgbClr val="132A4E"/>
          </a:solidFill>
          <a:ln w="12700">
            <a:solidFill>
              <a:srgbClr val="132A4E"/>
            </a:solidFill>
            <a:prstDash val="solid"/>
          </a:ln>
        </p:spPr>
      </p:sp>
      <p:sp>
        <p:nvSpPr>
          <p:cNvPr id="12" name="Text 10"/>
          <p:cNvSpPr/>
          <p:nvPr/>
        </p:nvSpPr>
        <p:spPr>
          <a:xfrm>
            <a:off x="841248" y="4498848"/>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Why the citation is what makes the mechanism work</a:t>
            </a:r>
            <a:endParaRPr lang="en-US" sz="1200" dirty="0"/>
          </a:p>
        </p:txBody>
      </p:sp>
      <p:sp>
        <p:nvSpPr>
          <p:cNvPr id="13" name="Text 11"/>
          <p:cNvSpPr/>
          <p:nvPr/>
        </p:nvSpPr>
        <p:spPr>
          <a:xfrm>
            <a:off x="841248" y="4791456"/>
            <a:ext cx="10515600" cy="512064"/>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Under EIA-649-1, an engineering change proposal has to describe the full extent of a change's effects before it is approved, and safety-affecting changes are classified as major. If assumptions cite controlled documents, they show up inside that existing assessment. If they restate values, they are invisible to it.</a:t>
            </a:r>
            <a:endParaRPr lang="en-US" sz="1250" dirty="0"/>
          </a:p>
        </p:txBody>
      </p:sp>
      <p:sp>
        <p:nvSpPr>
          <p:cNvPr id="14" name="Shape 12"/>
          <p:cNvSpPr/>
          <p:nvPr/>
        </p:nvSpPr>
        <p:spPr>
          <a:xfrm>
            <a:off x="548640" y="5577840"/>
            <a:ext cx="11091672" cy="841248"/>
          </a:xfrm>
          <a:prstGeom prst="roundRect">
            <a:avLst>
              <a:gd name="adj" fmla="val 5435"/>
            </a:avLst>
          </a:prstGeom>
          <a:solidFill>
            <a:srgbClr val="E9EEF7"/>
          </a:solidFill>
          <a:ln w="12700">
            <a:solidFill>
              <a:srgbClr val="D3DEEF"/>
            </a:solidFill>
            <a:prstDash val="solid"/>
          </a:ln>
        </p:spPr>
      </p:sp>
      <p:sp>
        <p:nvSpPr>
          <p:cNvPr id="15" name="Text 13"/>
          <p:cNvSpPr/>
          <p:nvPr/>
        </p:nvSpPr>
        <p:spPr>
          <a:xfrm>
            <a:off x="822960" y="5577840"/>
            <a:ext cx="10515600" cy="841248"/>
          </a:xfrm>
          <a:prstGeom prst="rect">
            <a:avLst/>
          </a:prstGeom>
          <a:noFill/>
          <a:ln/>
        </p:spPr>
        <p:txBody>
          <a:bodyPr wrap="square" lIns="0" tIns="0" rIns="0" bIns="0" rtlCol="0" anchor="ctr"/>
          <a:lstStyle/>
          <a:p>
            <a:pPr indent="0" marL="0">
              <a:lnSpc>
                <a:spcPts val="1700"/>
              </a:lnSpc>
              <a:buNone/>
            </a:pPr>
            <a:r>
              <a:rPr lang="en-US" sz="1200" b="1" dirty="0">
                <a:solidFill>
                  <a:srgbClr val="132A4E"/>
                </a:solidFill>
                <a:latin typeface="Calibri" pitchFamily="34" charset="0"/>
                <a:ea typeface="Calibri" pitchFamily="34" charset="-122"/>
                <a:cs typeface="Calibri" pitchFamily="34" charset="-120"/>
              </a:rPr>
              <a:t>Cheapest single intervention in this deck: add one field to the engineering change proposal form asking which assumptions are affected. That is a form change, not a new process, and it converts assumption review from something people have to remember into something the workflow asks for.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HOW IT WORKS OVER TIME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Binding an assumption, stage by stage</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Each assumption carries a state showing how firmly it is attached. The state is what gets reported at design reviews. The goal is not perfection, it is that the unattached population is known and falling.</a:t>
            </a:r>
            <a:endParaRPr lang="en-US" sz="1350" dirty="0"/>
          </a:p>
        </p:txBody>
      </p:sp>
      <p:sp>
        <p:nvSpPr>
          <p:cNvPr id="5" name="Shape 3"/>
          <p:cNvSpPr/>
          <p:nvPr/>
        </p:nvSpPr>
        <p:spPr>
          <a:xfrm>
            <a:off x="548640" y="1956816"/>
            <a:ext cx="11091672" cy="749808"/>
          </a:xfrm>
          <a:prstGeom prst="roundRect">
            <a:avLst>
              <a:gd name="adj" fmla="val 6098"/>
            </a:avLst>
          </a:prstGeom>
          <a:solidFill>
            <a:srgbClr val="E9EEF7"/>
          </a:solidFill>
          <a:ln w="12700">
            <a:solidFill>
              <a:srgbClr val="D3DEEF"/>
            </a:solidFill>
            <a:prstDash val="solid"/>
          </a:ln>
        </p:spPr>
      </p:sp>
      <p:sp>
        <p:nvSpPr>
          <p:cNvPr id="6" name="Shape 4"/>
          <p:cNvSpPr/>
          <p:nvPr/>
        </p:nvSpPr>
        <p:spPr>
          <a:xfrm>
            <a:off x="731520" y="2112264"/>
            <a:ext cx="2423160" cy="438912"/>
          </a:xfrm>
          <a:prstGeom prst="roundRect">
            <a:avLst>
              <a:gd name="adj" fmla="val 12500"/>
            </a:avLst>
          </a:prstGeom>
          <a:solidFill>
            <a:srgbClr val="B4530C"/>
          </a:solidFill>
          <a:ln w="12700">
            <a:solidFill>
              <a:srgbClr val="B4530C"/>
            </a:solidFill>
            <a:prstDash val="solid"/>
          </a:ln>
        </p:spPr>
      </p:sp>
      <p:sp>
        <p:nvSpPr>
          <p:cNvPr id="7" name="Text 5"/>
          <p:cNvSpPr/>
          <p:nvPr/>
        </p:nvSpPr>
        <p:spPr>
          <a:xfrm>
            <a:off x="731520" y="2112264"/>
            <a:ext cx="24231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UNATTACHED</a:t>
            </a:r>
            <a:endParaRPr lang="en-US" sz="950" dirty="0"/>
          </a:p>
        </p:txBody>
      </p:sp>
      <p:sp>
        <p:nvSpPr>
          <p:cNvPr id="8" name="Text 6"/>
          <p:cNvSpPr/>
          <p:nvPr/>
        </p:nvSpPr>
        <p:spPr>
          <a:xfrm>
            <a:off x="3319272" y="1956816"/>
            <a:ext cx="1965960" cy="749808"/>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Proposal</a:t>
            </a:r>
            <a:endParaRPr lang="en-US" sz="1150" dirty="0"/>
          </a:p>
        </p:txBody>
      </p:sp>
      <p:sp>
        <p:nvSpPr>
          <p:cNvPr id="9" name="Text 7"/>
          <p:cNvSpPr/>
          <p:nvPr/>
        </p:nvSpPr>
        <p:spPr>
          <a:xfrm>
            <a:off x="5394960" y="1956816"/>
            <a:ext cx="6080760" cy="749808"/>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Recorded with an owner, the reasoning and the conditions. Nothing to point at yet, because no baseline exists. This is where every assumption starts and it is fine to be here at this stage.</a:t>
            </a:r>
            <a:endParaRPr lang="en-US" sz="1100" dirty="0"/>
          </a:p>
        </p:txBody>
      </p:sp>
      <p:sp>
        <p:nvSpPr>
          <p:cNvPr id="10" name="Shape 8"/>
          <p:cNvSpPr/>
          <p:nvPr/>
        </p:nvSpPr>
        <p:spPr>
          <a:xfrm>
            <a:off x="548640" y="2798064"/>
            <a:ext cx="11091672" cy="749808"/>
          </a:xfrm>
          <a:prstGeom prst="roundRect">
            <a:avLst>
              <a:gd name="adj" fmla="val 6098"/>
            </a:avLst>
          </a:prstGeom>
          <a:solidFill>
            <a:srgbClr val="FFFFFF"/>
          </a:solidFill>
          <a:ln w="12700">
            <a:solidFill>
              <a:srgbClr val="D3DEEF"/>
            </a:solidFill>
            <a:prstDash val="solid"/>
          </a:ln>
        </p:spPr>
      </p:sp>
      <p:sp>
        <p:nvSpPr>
          <p:cNvPr id="11" name="Shape 9"/>
          <p:cNvSpPr/>
          <p:nvPr/>
        </p:nvSpPr>
        <p:spPr>
          <a:xfrm>
            <a:off x="731520" y="2953512"/>
            <a:ext cx="2423160" cy="438912"/>
          </a:xfrm>
          <a:prstGeom prst="roundRect">
            <a:avLst>
              <a:gd name="adj" fmla="val 12500"/>
            </a:avLst>
          </a:prstGeom>
          <a:solidFill>
            <a:srgbClr val="1F4380"/>
          </a:solidFill>
          <a:ln w="12700">
            <a:solidFill>
              <a:srgbClr val="1F4380"/>
            </a:solidFill>
            <a:prstDash val="solid"/>
          </a:ln>
        </p:spPr>
      </p:sp>
      <p:sp>
        <p:nvSpPr>
          <p:cNvPr id="12" name="Text 10"/>
          <p:cNvSpPr/>
          <p:nvPr/>
        </p:nvSpPr>
        <p:spPr>
          <a:xfrm>
            <a:off x="731520" y="2953512"/>
            <a:ext cx="24231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ATTACHED  ·  SYSTEM LEVEL</a:t>
            </a:r>
            <a:endParaRPr lang="en-US" sz="950" dirty="0"/>
          </a:p>
        </p:txBody>
      </p:sp>
      <p:sp>
        <p:nvSpPr>
          <p:cNvPr id="13" name="Text 11"/>
          <p:cNvSpPr/>
          <p:nvPr/>
        </p:nvSpPr>
        <p:spPr>
          <a:xfrm>
            <a:off x="3319272" y="2798064"/>
            <a:ext cx="1965960" cy="749808"/>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Functional baseline</a:t>
            </a:r>
            <a:endParaRPr lang="en-US" sz="1150" dirty="0"/>
          </a:p>
        </p:txBody>
      </p:sp>
      <p:sp>
        <p:nvSpPr>
          <p:cNvPr id="14" name="Text 12"/>
          <p:cNvSpPr/>
          <p:nvPr/>
        </p:nvSpPr>
        <p:spPr>
          <a:xfrm>
            <a:off x="5394960" y="2798064"/>
            <a:ext cx="6080760" cy="749808"/>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Operating environment and performance assumptions now point at the approved system specification. A meaningful proportion of proposal assumptions get discharged or reopened here.</a:t>
            </a:r>
            <a:endParaRPr lang="en-US" sz="1100" dirty="0"/>
          </a:p>
        </p:txBody>
      </p:sp>
      <p:sp>
        <p:nvSpPr>
          <p:cNvPr id="15" name="Shape 13"/>
          <p:cNvSpPr/>
          <p:nvPr/>
        </p:nvSpPr>
        <p:spPr>
          <a:xfrm>
            <a:off x="548640" y="3639312"/>
            <a:ext cx="11091672" cy="749808"/>
          </a:xfrm>
          <a:prstGeom prst="roundRect">
            <a:avLst>
              <a:gd name="adj" fmla="val 6098"/>
            </a:avLst>
          </a:prstGeom>
          <a:solidFill>
            <a:srgbClr val="E9EEF7"/>
          </a:solidFill>
          <a:ln w="12700">
            <a:solidFill>
              <a:srgbClr val="D3DEEF"/>
            </a:solidFill>
            <a:prstDash val="solid"/>
          </a:ln>
        </p:spPr>
      </p:sp>
      <p:sp>
        <p:nvSpPr>
          <p:cNvPr id="16" name="Shape 14"/>
          <p:cNvSpPr/>
          <p:nvPr/>
        </p:nvSpPr>
        <p:spPr>
          <a:xfrm>
            <a:off x="731520" y="3794760"/>
            <a:ext cx="2423160" cy="438912"/>
          </a:xfrm>
          <a:prstGeom prst="roundRect">
            <a:avLst>
              <a:gd name="adj" fmla="val 12500"/>
            </a:avLst>
          </a:prstGeom>
          <a:solidFill>
            <a:srgbClr val="1F4380"/>
          </a:solidFill>
          <a:ln w="12700">
            <a:solidFill>
              <a:srgbClr val="1F4380"/>
            </a:solidFill>
            <a:prstDash val="solid"/>
          </a:ln>
        </p:spPr>
      </p:sp>
      <p:sp>
        <p:nvSpPr>
          <p:cNvPr id="17" name="Text 15"/>
          <p:cNvSpPr/>
          <p:nvPr/>
        </p:nvSpPr>
        <p:spPr>
          <a:xfrm>
            <a:off x="731520" y="3794760"/>
            <a:ext cx="24231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ATTACHED  ·  SUBSYSTEM LEVEL</a:t>
            </a:r>
            <a:endParaRPr lang="en-US" sz="950" dirty="0"/>
          </a:p>
        </p:txBody>
      </p:sp>
      <p:sp>
        <p:nvSpPr>
          <p:cNvPr id="18" name="Text 16"/>
          <p:cNvSpPr/>
          <p:nvPr/>
        </p:nvSpPr>
        <p:spPr>
          <a:xfrm>
            <a:off x="3319272" y="3639312"/>
            <a:ext cx="1965960" cy="749808"/>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Allocated baseline</a:t>
            </a:r>
            <a:endParaRPr lang="en-US" sz="1150" dirty="0"/>
          </a:p>
        </p:txBody>
      </p:sp>
      <p:sp>
        <p:nvSpPr>
          <p:cNvPr id="19" name="Text 17"/>
          <p:cNvSpPr/>
          <p:nvPr/>
        </p:nvSpPr>
        <p:spPr>
          <a:xfrm>
            <a:off x="5394960" y="3639312"/>
            <a:ext cx="6080760" cy="749808"/>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Interface, installation, thermal and duty-cycle assumptions attach. Human-factors assumptions attach to procedure and training documents rather than to hardware.</a:t>
            </a:r>
            <a:endParaRPr lang="en-US" sz="1100" dirty="0"/>
          </a:p>
        </p:txBody>
      </p:sp>
      <p:sp>
        <p:nvSpPr>
          <p:cNvPr id="20" name="Shape 18"/>
          <p:cNvSpPr/>
          <p:nvPr/>
        </p:nvSpPr>
        <p:spPr>
          <a:xfrm>
            <a:off x="548640" y="4480560"/>
            <a:ext cx="11091672" cy="749808"/>
          </a:xfrm>
          <a:prstGeom prst="roundRect">
            <a:avLst>
              <a:gd name="adj" fmla="val 6098"/>
            </a:avLst>
          </a:prstGeom>
          <a:solidFill>
            <a:srgbClr val="FFFFFF"/>
          </a:solidFill>
          <a:ln w="12700">
            <a:solidFill>
              <a:srgbClr val="D3DEEF"/>
            </a:solidFill>
            <a:prstDash val="solid"/>
          </a:ln>
        </p:spPr>
      </p:sp>
      <p:sp>
        <p:nvSpPr>
          <p:cNvPr id="21" name="Shape 19"/>
          <p:cNvSpPr/>
          <p:nvPr/>
        </p:nvSpPr>
        <p:spPr>
          <a:xfrm>
            <a:off x="731520" y="4636008"/>
            <a:ext cx="2423160" cy="438912"/>
          </a:xfrm>
          <a:prstGeom prst="roundRect">
            <a:avLst>
              <a:gd name="adj" fmla="val 12500"/>
            </a:avLst>
          </a:prstGeom>
          <a:solidFill>
            <a:srgbClr val="0F6B62"/>
          </a:solidFill>
          <a:ln w="12700">
            <a:solidFill>
              <a:srgbClr val="0F6B62"/>
            </a:solidFill>
            <a:prstDash val="solid"/>
          </a:ln>
        </p:spPr>
      </p:sp>
      <p:sp>
        <p:nvSpPr>
          <p:cNvPr id="22" name="Text 20"/>
          <p:cNvSpPr/>
          <p:nvPr/>
        </p:nvSpPr>
        <p:spPr>
          <a:xfrm>
            <a:off x="731520" y="4636008"/>
            <a:ext cx="24231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ATTACHED  ·  ITEM LEVEL</a:t>
            </a:r>
            <a:endParaRPr lang="en-US" sz="950" dirty="0"/>
          </a:p>
        </p:txBody>
      </p:sp>
      <p:sp>
        <p:nvSpPr>
          <p:cNvPr id="23" name="Text 21"/>
          <p:cNvSpPr/>
          <p:nvPr/>
        </p:nvSpPr>
        <p:spPr>
          <a:xfrm>
            <a:off x="3319272" y="4480560"/>
            <a:ext cx="1965960" cy="749808"/>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Detail design and CDR</a:t>
            </a:r>
            <a:endParaRPr lang="en-US" sz="1150" dirty="0"/>
          </a:p>
        </p:txBody>
      </p:sp>
      <p:sp>
        <p:nvSpPr>
          <p:cNvPr id="24" name="Text 22"/>
          <p:cNvSpPr/>
          <p:nvPr/>
        </p:nvSpPr>
        <p:spPr>
          <a:xfrm>
            <a:off x="5394960" y="4480560"/>
            <a:ext cx="6080760" cy="749808"/>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Pointing at specific items at specific revisions. This is the first moment at which "the hardware is similar" can actually be checked instead of asserted.</a:t>
            </a:r>
            <a:endParaRPr lang="en-US" sz="1100" dirty="0"/>
          </a:p>
        </p:txBody>
      </p:sp>
      <p:sp>
        <p:nvSpPr>
          <p:cNvPr id="25" name="Shape 23"/>
          <p:cNvSpPr/>
          <p:nvPr/>
        </p:nvSpPr>
        <p:spPr>
          <a:xfrm>
            <a:off x="548640" y="5321808"/>
            <a:ext cx="11091672" cy="749808"/>
          </a:xfrm>
          <a:prstGeom prst="roundRect">
            <a:avLst>
              <a:gd name="adj" fmla="val 6098"/>
            </a:avLst>
          </a:prstGeom>
          <a:solidFill>
            <a:srgbClr val="E9EEF7"/>
          </a:solidFill>
          <a:ln w="12700">
            <a:solidFill>
              <a:srgbClr val="D3DEEF"/>
            </a:solidFill>
            <a:prstDash val="solid"/>
          </a:ln>
        </p:spPr>
      </p:sp>
      <p:sp>
        <p:nvSpPr>
          <p:cNvPr id="26" name="Shape 24"/>
          <p:cNvSpPr/>
          <p:nvPr/>
        </p:nvSpPr>
        <p:spPr>
          <a:xfrm>
            <a:off x="731520" y="5477256"/>
            <a:ext cx="2423160" cy="438912"/>
          </a:xfrm>
          <a:prstGeom prst="roundRect">
            <a:avLst>
              <a:gd name="adj" fmla="val 12500"/>
            </a:avLst>
          </a:prstGeom>
          <a:solidFill>
            <a:srgbClr val="0F6B62"/>
          </a:solidFill>
          <a:ln w="12700">
            <a:solidFill>
              <a:srgbClr val="0F6B62"/>
            </a:solidFill>
            <a:prstDash val="solid"/>
          </a:ln>
        </p:spPr>
      </p:sp>
      <p:sp>
        <p:nvSpPr>
          <p:cNvPr id="27" name="Text 25"/>
          <p:cNvSpPr/>
          <p:nvPr/>
        </p:nvSpPr>
        <p:spPr>
          <a:xfrm>
            <a:off x="731520" y="5477256"/>
            <a:ext cx="2423160" cy="43891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VERIFIED</a:t>
            </a:r>
            <a:endParaRPr lang="en-US" sz="950" dirty="0"/>
          </a:p>
        </p:txBody>
      </p:sp>
      <p:sp>
        <p:nvSpPr>
          <p:cNvPr id="28" name="Text 26"/>
          <p:cNvSpPr/>
          <p:nvPr/>
        </p:nvSpPr>
        <p:spPr>
          <a:xfrm>
            <a:off x="3319272" y="5321808"/>
            <a:ext cx="1965960" cy="749808"/>
          </a:xfrm>
          <a:prstGeom prst="rect">
            <a:avLst/>
          </a:prstGeom>
          <a:noFill/>
          <a:ln/>
        </p:spPr>
        <p:txBody>
          <a:bodyPr wrap="square" lIns="0" tIns="0" rIns="0" bIns="0" rtlCol="0" anchor="ctr"/>
          <a:lstStyle/>
          <a:p>
            <a:pPr indent="0" marL="0">
              <a:lnSpc>
                <a:spcPts val="1500"/>
              </a:lnSpc>
              <a:buNone/>
            </a:pPr>
            <a:r>
              <a:rPr lang="en-US" sz="1150" b="1" dirty="0">
                <a:solidFill>
                  <a:srgbClr val="132A4E"/>
                </a:solidFill>
                <a:latin typeface="Calibri" pitchFamily="34" charset="0"/>
                <a:ea typeface="Calibri" pitchFamily="34" charset="-122"/>
                <a:cs typeface="Calibri" pitchFamily="34" charset="-120"/>
              </a:rPr>
              <a:t>Product baseline and audits</a:t>
            </a:r>
            <a:endParaRPr lang="en-US" sz="1150" dirty="0"/>
          </a:p>
        </p:txBody>
      </p:sp>
      <p:sp>
        <p:nvSpPr>
          <p:cNvPr id="29" name="Text 27"/>
          <p:cNvSpPr/>
          <p:nvPr/>
        </p:nvSpPr>
        <p:spPr>
          <a:xfrm>
            <a:off x="5394960" y="5321808"/>
            <a:ext cx="6080760" cy="749808"/>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The conditions have been confirmed by test, analysis or audit. From here on, anything that falsifies the assumption is handled as a major change.</a:t>
            </a:r>
            <a:endParaRPr lang="en-US" sz="1100" dirty="0"/>
          </a:p>
        </p:txBody>
      </p:sp>
      <p:sp>
        <p:nvSpPr>
          <p:cNvPr id="30" name="Text 28"/>
          <p:cNvSpPr/>
          <p:nvPr/>
        </p:nvSpPr>
        <p:spPr>
          <a:xfrm>
            <a:off x="548640" y="6217920"/>
            <a:ext cx="11064240" cy="365760"/>
          </a:xfrm>
          <a:prstGeom prst="rect">
            <a:avLst/>
          </a:prstGeom>
          <a:noFill/>
          <a:ln/>
        </p:spPr>
        <p:txBody>
          <a:bodyPr wrap="square" lIns="0" tIns="0" rIns="0" bIns="0" rtlCol="0" anchor="ctr"/>
          <a:lstStyle/>
          <a:p>
            <a:pPr indent="0" marL="0">
              <a:buNone/>
            </a:pPr>
            <a:r>
              <a:rPr lang="en-US" sz="1200" i="1" dirty="0">
                <a:solidFill>
                  <a:srgbClr val="4A5568"/>
                </a:solidFill>
                <a:latin typeface="Calibri" pitchFamily="34" charset="0"/>
                <a:ea typeface="Calibri" pitchFamily="34" charset="-122"/>
                <a:cs typeface="Calibri" pitchFamily="34" charset="-120"/>
              </a:rPr>
              <a:t>Expect the count of unattached assumptions to be uncomfortable the first time a program reports it. That is the point of measuring it.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KEEPING THIS AFFORDABLE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Not every assumption gets the same treatment</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If this applies to every assumption on a program it will be rejected, and rightly. The scope decision is made once, early, and it is what determines whether the practice survives contact with a schedule.</a:t>
            </a:r>
            <a:endParaRPr lang="en-US" sz="1350" dirty="0"/>
          </a:p>
        </p:txBody>
      </p:sp>
      <p:sp>
        <p:nvSpPr>
          <p:cNvPr id="5" name="Shape 3"/>
          <p:cNvSpPr/>
          <p:nvPr/>
        </p:nvSpPr>
        <p:spPr>
          <a:xfrm>
            <a:off x="548640" y="1975104"/>
            <a:ext cx="3520440" cy="3566160"/>
          </a:xfrm>
          <a:prstGeom prst="roundRect">
            <a:avLst>
              <a:gd name="adj" fmla="val 1299"/>
            </a:avLst>
          </a:prstGeom>
          <a:solidFill>
            <a:srgbClr val="FBEBDC"/>
          </a:solidFill>
          <a:ln w="12700">
            <a:solidFill>
              <a:srgbClr val="ECC8AE"/>
            </a:solidFill>
            <a:prstDash val="solid"/>
          </a:ln>
        </p:spPr>
      </p:sp>
      <p:sp>
        <p:nvSpPr>
          <p:cNvPr id="6" name="Shape 4"/>
          <p:cNvSpPr/>
          <p:nvPr/>
        </p:nvSpPr>
        <p:spPr>
          <a:xfrm>
            <a:off x="768096" y="2157984"/>
            <a:ext cx="1143000" cy="384048"/>
          </a:xfrm>
          <a:prstGeom prst="roundRect">
            <a:avLst>
              <a:gd name="adj" fmla="val 14286"/>
            </a:avLst>
          </a:prstGeom>
          <a:solidFill>
            <a:srgbClr val="B4530C"/>
          </a:solidFill>
          <a:ln w="12700">
            <a:solidFill>
              <a:srgbClr val="B4530C"/>
            </a:solidFill>
            <a:prstDash val="solid"/>
          </a:ln>
        </p:spPr>
      </p:sp>
      <p:sp>
        <p:nvSpPr>
          <p:cNvPr id="7" name="Text 5"/>
          <p:cNvSpPr/>
          <p:nvPr/>
        </p:nvSpPr>
        <p:spPr>
          <a:xfrm>
            <a:off x="768096" y="2157984"/>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1</a:t>
            </a:r>
            <a:endParaRPr lang="en-US" sz="1050" dirty="0"/>
          </a:p>
        </p:txBody>
      </p:sp>
      <p:sp>
        <p:nvSpPr>
          <p:cNvPr id="8" name="Text 6"/>
          <p:cNvSpPr/>
          <p:nvPr/>
        </p:nvSpPr>
        <p:spPr>
          <a:xfrm>
            <a:off x="2011680" y="2157984"/>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Controlled</a:t>
            </a:r>
            <a:endParaRPr lang="en-US" sz="1600" dirty="0"/>
          </a:p>
        </p:txBody>
      </p:sp>
      <p:sp>
        <p:nvSpPr>
          <p:cNvPr id="9" name="Text 7"/>
          <p:cNvSpPr/>
          <p:nvPr/>
        </p:nvSpPr>
        <p:spPr>
          <a:xfrm>
            <a:off x="786384" y="2688336"/>
            <a:ext cx="3090672" cy="146304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Assumptions a hazard analysis or a certification finding actually depends on. Full record, pointed at controlled documents, named risk acceptor, reported at design reviews.</a:t>
            </a:r>
            <a:endParaRPr lang="en-US" sz="1150" dirty="0"/>
          </a:p>
        </p:txBody>
      </p:sp>
      <p:sp>
        <p:nvSpPr>
          <p:cNvPr id="10" name="Text 8"/>
          <p:cNvSpPr/>
          <p:nvPr/>
        </p:nvSpPr>
        <p:spPr>
          <a:xfrm>
            <a:off x="786384" y="4206240"/>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1" name="Text 9"/>
          <p:cNvSpPr/>
          <p:nvPr/>
        </p:nvSpPr>
        <p:spPr>
          <a:xfrm>
            <a:off x="786384" y="4443984"/>
            <a:ext cx="3090672" cy="96926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Expect a small minority of the total. On most programs this is tens of items, not hundreds.</a:t>
            </a:r>
            <a:endParaRPr lang="en-US" sz="1100" dirty="0"/>
          </a:p>
        </p:txBody>
      </p:sp>
      <p:sp>
        <p:nvSpPr>
          <p:cNvPr id="12" name="Shape 10"/>
          <p:cNvSpPr/>
          <p:nvPr/>
        </p:nvSpPr>
        <p:spPr>
          <a:xfrm>
            <a:off x="4315968" y="1975104"/>
            <a:ext cx="3520440" cy="3566160"/>
          </a:xfrm>
          <a:prstGeom prst="roundRect">
            <a:avLst>
              <a:gd name="adj" fmla="val 1299"/>
            </a:avLst>
          </a:prstGeom>
          <a:solidFill>
            <a:srgbClr val="E9EEF7"/>
          </a:solidFill>
          <a:ln w="12700">
            <a:solidFill>
              <a:srgbClr val="D3DEEF"/>
            </a:solidFill>
            <a:prstDash val="solid"/>
          </a:ln>
        </p:spPr>
      </p:sp>
      <p:sp>
        <p:nvSpPr>
          <p:cNvPr id="13" name="Shape 11"/>
          <p:cNvSpPr/>
          <p:nvPr/>
        </p:nvSpPr>
        <p:spPr>
          <a:xfrm>
            <a:off x="4535424" y="2157984"/>
            <a:ext cx="1143000" cy="384048"/>
          </a:xfrm>
          <a:prstGeom prst="roundRect">
            <a:avLst>
              <a:gd name="adj" fmla="val 14286"/>
            </a:avLst>
          </a:prstGeom>
          <a:solidFill>
            <a:srgbClr val="1F4380"/>
          </a:solidFill>
          <a:ln w="12700">
            <a:solidFill>
              <a:srgbClr val="1F4380"/>
            </a:solidFill>
            <a:prstDash val="solid"/>
          </a:ln>
        </p:spPr>
      </p:sp>
      <p:sp>
        <p:nvSpPr>
          <p:cNvPr id="14" name="Text 12"/>
          <p:cNvSpPr/>
          <p:nvPr/>
        </p:nvSpPr>
        <p:spPr>
          <a:xfrm>
            <a:off x="4535424" y="2157984"/>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2</a:t>
            </a:r>
            <a:endParaRPr lang="en-US" sz="1050" dirty="0"/>
          </a:p>
        </p:txBody>
      </p:sp>
      <p:sp>
        <p:nvSpPr>
          <p:cNvPr id="15" name="Text 13"/>
          <p:cNvSpPr/>
          <p:nvPr/>
        </p:nvSpPr>
        <p:spPr>
          <a:xfrm>
            <a:off x="5779008" y="2157984"/>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Registered</a:t>
            </a:r>
            <a:endParaRPr lang="en-US" sz="1600" dirty="0"/>
          </a:p>
        </p:txBody>
      </p:sp>
      <p:sp>
        <p:nvSpPr>
          <p:cNvPr id="16" name="Text 14"/>
          <p:cNvSpPr/>
          <p:nvPr/>
        </p:nvSpPr>
        <p:spPr>
          <a:xfrm>
            <a:off x="4553712" y="2688336"/>
            <a:ext cx="3090672" cy="146304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Assumptions that shape design decisions but carry no safety risk credit. Identifier, owner, statement and reasoning captured. No document citation required, no gate reporting.</a:t>
            </a:r>
            <a:endParaRPr lang="en-US" sz="1150" dirty="0"/>
          </a:p>
        </p:txBody>
      </p:sp>
      <p:sp>
        <p:nvSpPr>
          <p:cNvPr id="17" name="Text 15"/>
          <p:cNvSpPr/>
          <p:nvPr/>
        </p:nvSpPr>
        <p:spPr>
          <a:xfrm>
            <a:off x="4553712" y="4206240"/>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18" name="Text 16"/>
          <p:cNvSpPr/>
          <p:nvPr/>
        </p:nvSpPr>
        <p:spPr>
          <a:xfrm>
            <a:off x="4553712" y="4443984"/>
            <a:ext cx="3090672" cy="96926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Cheap to maintain. Its value is that a Tier 2 item can be promoted to Tier 1 later if analysis shows it is load-bearing.</a:t>
            </a:r>
            <a:endParaRPr lang="en-US" sz="1100" dirty="0"/>
          </a:p>
        </p:txBody>
      </p:sp>
      <p:sp>
        <p:nvSpPr>
          <p:cNvPr id="19" name="Shape 17"/>
          <p:cNvSpPr/>
          <p:nvPr/>
        </p:nvSpPr>
        <p:spPr>
          <a:xfrm>
            <a:off x="8083296" y="1975104"/>
            <a:ext cx="3520440" cy="3566160"/>
          </a:xfrm>
          <a:prstGeom prst="roundRect">
            <a:avLst>
              <a:gd name="adj" fmla="val 1299"/>
            </a:avLst>
          </a:prstGeom>
          <a:solidFill>
            <a:srgbClr val="E9EEF7"/>
          </a:solidFill>
          <a:ln w="12700">
            <a:solidFill>
              <a:srgbClr val="D3DEEF"/>
            </a:solidFill>
            <a:prstDash val="solid"/>
          </a:ln>
        </p:spPr>
      </p:sp>
      <p:sp>
        <p:nvSpPr>
          <p:cNvPr id="20" name="Shape 18"/>
          <p:cNvSpPr/>
          <p:nvPr/>
        </p:nvSpPr>
        <p:spPr>
          <a:xfrm>
            <a:off x="8302752" y="2157984"/>
            <a:ext cx="1143000" cy="384048"/>
          </a:xfrm>
          <a:prstGeom prst="roundRect">
            <a:avLst>
              <a:gd name="adj" fmla="val 14286"/>
            </a:avLst>
          </a:prstGeom>
          <a:solidFill>
            <a:srgbClr val="4A5568"/>
          </a:solidFill>
          <a:ln w="12700">
            <a:solidFill>
              <a:srgbClr val="4A5568"/>
            </a:solidFill>
            <a:prstDash val="solid"/>
          </a:ln>
        </p:spPr>
      </p:sp>
      <p:sp>
        <p:nvSpPr>
          <p:cNvPr id="21" name="Text 19"/>
          <p:cNvSpPr/>
          <p:nvPr/>
        </p:nvSpPr>
        <p:spPr>
          <a:xfrm>
            <a:off x="8302752" y="2157984"/>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TIER 3</a:t>
            </a:r>
            <a:endParaRPr lang="en-US" sz="1050" dirty="0"/>
          </a:p>
        </p:txBody>
      </p:sp>
      <p:sp>
        <p:nvSpPr>
          <p:cNvPr id="22" name="Text 20"/>
          <p:cNvSpPr/>
          <p:nvPr/>
        </p:nvSpPr>
        <p:spPr>
          <a:xfrm>
            <a:off x="9546336" y="2157984"/>
            <a:ext cx="1920240" cy="384048"/>
          </a:xfrm>
          <a:prstGeom prst="rect">
            <a:avLst/>
          </a:prstGeom>
          <a:noFill/>
          <a:ln/>
        </p:spPr>
        <p:txBody>
          <a:bodyPr wrap="square" lIns="0" tIns="0" rIns="0" bIns="0" rtlCol="0" anchor="ctr"/>
          <a:lstStyle/>
          <a:p>
            <a:pPr indent="0" marL="0">
              <a:buNone/>
            </a:pPr>
            <a:r>
              <a:rPr lang="en-US" sz="1600" b="1" dirty="0">
                <a:solidFill>
                  <a:srgbClr val="132A4E"/>
                </a:solidFill>
                <a:latin typeface="Cambria" pitchFamily="34" charset="0"/>
                <a:ea typeface="Cambria" pitchFamily="34" charset="-122"/>
                <a:cs typeface="Cambria" pitchFamily="34" charset="-120"/>
              </a:rPr>
              <a:t>Engineering note</a:t>
            </a:r>
            <a:endParaRPr lang="en-US" sz="1600" dirty="0"/>
          </a:p>
        </p:txBody>
      </p:sp>
      <p:sp>
        <p:nvSpPr>
          <p:cNvPr id="23" name="Text 21"/>
          <p:cNvSpPr/>
          <p:nvPr/>
        </p:nvSpPr>
        <p:spPr>
          <a:xfrm>
            <a:off x="8321040" y="2688336"/>
            <a:ext cx="3090672" cy="1463040"/>
          </a:xfrm>
          <a:prstGeom prst="rect">
            <a:avLst/>
          </a:prstGeom>
          <a:noFill/>
          <a:ln/>
        </p:spPr>
        <p:txBody>
          <a:bodyPr wrap="square" lIns="0" tIns="0" rIns="0" bIns="0" rtlCol="0" anchor="ctr"/>
          <a:lstStyle/>
          <a:p>
            <a:pPr indent="0" marL="0">
              <a:lnSpc>
                <a:spcPts val="1600"/>
              </a:lnSpc>
              <a:buNone/>
            </a:pPr>
            <a:r>
              <a:rPr lang="en-US" sz="1150" dirty="0">
                <a:solidFill>
                  <a:srgbClr val="1A2333"/>
                </a:solidFill>
                <a:latin typeface="Calibri" pitchFamily="34" charset="0"/>
                <a:ea typeface="Calibri" pitchFamily="34" charset="-122"/>
                <a:cs typeface="Calibri" pitchFamily="34" charset="-120"/>
              </a:rPr>
              <a:t>Everything else. Working assumptions, estimating conventions, modeling simplifications with no safety consequence.</a:t>
            </a:r>
            <a:endParaRPr lang="en-US" sz="1150" dirty="0"/>
          </a:p>
        </p:txBody>
      </p:sp>
      <p:sp>
        <p:nvSpPr>
          <p:cNvPr id="24" name="Text 22"/>
          <p:cNvSpPr/>
          <p:nvPr/>
        </p:nvSpPr>
        <p:spPr>
          <a:xfrm>
            <a:off x="8321040" y="4206240"/>
            <a:ext cx="3090672" cy="219456"/>
          </a:xfrm>
          <a:prstGeom prst="rect">
            <a:avLst/>
          </a:prstGeom>
          <a:noFill/>
          <a:ln/>
        </p:spPr>
        <p:txBody>
          <a:bodyPr wrap="square" lIns="0" tIns="0" rIns="0" bIns="0" rtlCol="0" anchor="ctr"/>
          <a:lstStyle/>
          <a:p>
            <a:pPr indent="0" marL="0">
              <a:buNone/>
            </a:pPr>
            <a:r>
              <a:rPr lang="en-US" sz="950" b="1" spc="120" kern="0" dirty="0">
                <a:solidFill>
                  <a:srgbClr val="4A5568"/>
                </a:solidFill>
                <a:latin typeface="Calibri" pitchFamily="34" charset="0"/>
                <a:ea typeface="Calibri" pitchFamily="34" charset="-122"/>
                <a:cs typeface="Calibri" pitchFamily="34" charset="-120"/>
              </a:rPr>
              <a:t>IN PRACTICE</a:t>
            </a:r>
            <a:endParaRPr lang="en-US" sz="950" dirty="0"/>
          </a:p>
        </p:txBody>
      </p:sp>
      <p:sp>
        <p:nvSpPr>
          <p:cNvPr id="25" name="Text 23"/>
          <p:cNvSpPr/>
          <p:nvPr/>
        </p:nvSpPr>
        <p:spPr>
          <a:xfrm>
            <a:off x="8321040" y="4443984"/>
            <a:ext cx="3090672" cy="969264"/>
          </a:xfrm>
          <a:prstGeom prst="rect">
            <a:avLst/>
          </a:prstGeom>
          <a:noFill/>
          <a:ln/>
        </p:spPr>
        <p:txBody>
          <a:bodyPr wrap="square" lIns="0" tIns="0" rIns="0" bIns="0" rtlCol="0" anchor="ctr"/>
          <a:lstStyle/>
          <a:p>
            <a:pPr indent="0" marL="0">
              <a:lnSpc>
                <a:spcPts val="1500"/>
              </a:lnSpc>
              <a:buNone/>
            </a:pPr>
            <a:r>
              <a:rPr lang="en-US" sz="1100" dirty="0">
                <a:solidFill>
                  <a:srgbClr val="1A2333"/>
                </a:solidFill>
                <a:latin typeface="Calibri" pitchFamily="34" charset="0"/>
                <a:ea typeface="Calibri" pitchFamily="34" charset="-122"/>
                <a:cs typeface="Calibri" pitchFamily="34" charset="-120"/>
              </a:rPr>
              <a:t>No control at all. Explicitly saying so is what makes Tier 1 credible rather than diluted.</a:t>
            </a:r>
            <a:endParaRPr lang="en-US" sz="1100" dirty="0"/>
          </a:p>
        </p:txBody>
      </p:sp>
      <p:sp>
        <p:nvSpPr>
          <p:cNvPr id="26" name="Shape 24"/>
          <p:cNvSpPr/>
          <p:nvPr/>
        </p:nvSpPr>
        <p:spPr>
          <a:xfrm>
            <a:off x="548640" y="5687568"/>
            <a:ext cx="11091672" cy="841248"/>
          </a:xfrm>
          <a:prstGeom prst="roundRect">
            <a:avLst>
              <a:gd name="adj" fmla="val 5435"/>
            </a:avLst>
          </a:prstGeom>
          <a:solidFill>
            <a:srgbClr val="132A4E"/>
          </a:solidFill>
          <a:ln w="12700">
            <a:solidFill>
              <a:srgbClr val="132A4E"/>
            </a:solidFill>
            <a:prstDash val="solid"/>
          </a:ln>
        </p:spPr>
      </p:sp>
      <p:sp>
        <p:nvSpPr>
          <p:cNvPr id="27" name="Text 25"/>
          <p:cNvSpPr/>
          <p:nvPr/>
        </p:nvSpPr>
        <p:spPr>
          <a:xfrm>
            <a:off x="841248" y="5815584"/>
            <a:ext cx="10515600" cy="585216"/>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Tier 1 scope is bounded by the organizational system description that SM-0001 already requires, and by the safety-significant items the configuration item selection process already identifies. Both are existing artifacts, so the boundary is defensible to an auditor without inventing a new rule.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A4E"/>
        </a:solidFill>
      </p:bgPr>
    </p:bg>
    <p:spTree>
      <p:nvGrpSpPr>
        <p:cNvPr id="1" name=""/>
        <p:cNvGrpSpPr/>
        <p:nvPr/>
      </p:nvGrpSpPr>
      <p:grpSpPr>
        <a:xfrm>
          <a:off x="0" y="0"/>
          <a:ext cx="0" cy="0"/>
          <a:chOff x="0" y="0"/>
          <a:chExt cx="0" cy="0"/>
        </a:xfrm>
      </p:grpSpPr>
      <p:sp>
        <p:nvSpPr>
          <p:cNvPr id="2" name="Shape 0"/>
          <p:cNvSpPr/>
          <p:nvPr/>
        </p:nvSpPr>
        <p:spPr>
          <a:xfrm>
            <a:off x="8778240" y="4480560"/>
            <a:ext cx="1280160" cy="1280160"/>
          </a:xfrm>
          <a:prstGeom prst="roundRect">
            <a:avLst>
              <a:gd name="adj" fmla="val 1429"/>
            </a:avLst>
          </a:prstGeom>
          <a:solidFill>
            <a:srgbClr val="B4530C"/>
          </a:solidFill>
          <a:ln w="12700">
            <a:solidFill>
              <a:srgbClr val="B4530C"/>
            </a:solidFill>
            <a:prstDash val="solid"/>
          </a:ln>
        </p:spPr>
      </p:sp>
      <p:sp>
        <p:nvSpPr>
          <p:cNvPr id="3" name="Text 1"/>
          <p:cNvSpPr/>
          <p:nvPr/>
        </p:nvSpPr>
        <p:spPr>
          <a:xfrm>
            <a:off x="548640" y="1920240"/>
            <a:ext cx="10515600" cy="274320"/>
          </a:xfrm>
          <a:prstGeom prst="rect">
            <a:avLst/>
          </a:prstGeom>
          <a:noFill/>
          <a:ln/>
        </p:spPr>
        <p:txBody>
          <a:bodyPr wrap="square" lIns="0" tIns="0" rIns="0" bIns="0" rtlCol="0" anchor="ctr"/>
          <a:lstStyle/>
          <a:p>
            <a:pPr indent="0" marL="0">
              <a:buNone/>
            </a:pPr>
            <a:r>
              <a:rPr lang="en-US" sz="1100" b="1" spc="180" kern="0" dirty="0">
                <a:solidFill>
                  <a:srgbClr val="F0B37E"/>
                </a:solidFill>
                <a:latin typeface="Calibri" pitchFamily="34" charset="0"/>
                <a:ea typeface="Calibri" pitchFamily="34" charset="-122"/>
                <a:cs typeface="Calibri" pitchFamily="34" charset="-120"/>
              </a:rPr>
              <a:t>SECTION THREE</a:t>
            </a:r>
            <a:endParaRPr lang="en-US" sz="1100" dirty="0"/>
          </a:p>
        </p:txBody>
      </p:sp>
      <p:sp>
        <p:nvSpPr>
          <p:cNvPr id="4" name="Text 2"/>
          <p:cNvSpPr/>
          <p:nvPr/>
        </p:nvSpPr>
        <p:spPr>
          <a:xfrm>
            <a:off x="548640" y="2286000"/>
            <a:ext cx="7863840" cy="12801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What happens when, and who owns it</a:t>
            </a:r>
            <a:endParaRPr lang="en-US" sz="3400" dirty="0"/>
          </a:p>
        </p:txBody>
      </p:sp>
      <p:sp>
        <p:nvSpPr>
          <p:cNvPr id="5" name="Text 3"/>
          <p:cNvSpPr/>
          <p:nvPr/>
        </p:nvSpPr>
        <p:spPr>
          <a:xfrm>
            <a:off x="548640" y="3749040"/>
            <a:ext cx="7680960" cy="1371600"/>
          </a:xfrm>
          <a:prstGeom prst="rect">
            <a:avLst/>
          </a:prstGeom>
          <a:noFill/>
          <a:ln/>
        </p:spPr>
        <p:txBody>
          <a:bodyPr wrap="square" lIns="0" tIns="0" rIns="0" bIns="0" rtlCol="0" anchor="ctr"/>
          <a:lstStyle/>
          <a:p>
            <a:pPr indent="0" marL="0">
              <a:lnSpc>
                <a:spcPts val="2200"/>
              </a:lnSpc>
              <a:buNone/>
            </a:pPr>
            <a:r>
              <a:rPr lang="en-US" sz="1400" dirty="0">
                <a:solidFill>
                  <a:srgbClr val="C9D6EC"/>
                </a:solidFill>
                <a:latin typeface="Calibri" pitchFamily="34" charset="0"/>
                <a:ea typeface="Calibri" pitchFamily="34" charset="-122"/>
                <a:cs typeface="Calibri" pitchFamily="34" charset="-120"/>
              </a:rPr>
              <a:t>Seven lifecycle states. For each one: the actions required, the activity that owns each action, and the existing document or standard clause it hangs off. Owning activities are shown as Program Management, Systems Engineering, Configuration Management, SRM, SMS Safety Assurance, Human Factors, Quality and Supply Chain.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NO BASELINES EXIST YET, SO EVERYTHING HERE IS ABOUT LEAVING A TRACE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0  ·  Proposal and pre-award</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Nothing can be attached to anything at this point, and that is expected. What this state has to produce is a written record of what is being assumed and why, made by the people who still know the answer. Everything later in the deck depends on this state being done properly.</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Create a short record for every assumption that closes or reduces a hazard: number, owner, claim, reasoning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Program Mgmt with Systems Eng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New assumption register</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Write the conditions as things somebody could later check and get a yes or no answer to</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record</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If the assumption came from an earlier program, record which one, which record, which revision, and what the similarity claim rested 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record</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Capture the hazards and risk controls the borrowed assumptions were serving on the source program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hazard identification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Mark every assumption unattached and start counting them from day one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safety performance monitoring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Separately flag assumptions about people rather than hardware, because nothing in a parts comparison will surface them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register</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Put the cost of discharging these assumptions into the bid rather than discovering it later</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Basis of estimate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Name the assumption register in the configuration management plan and give it an identifier convention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CM plan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This is the state where the work is cheapest and where we currently do none of it.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FIRST HAZARD ANALYSIS, FIRST REAL SCOPING DECISION</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1  ·  Concept and early design</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The first system-level hazard analysis is where we find out which assumptions are actually load-bearing. This is also where the tiering decision gets made, and where inherited risk acceptance has to be replaced with a decision made on this program.</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51435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Run system-level hazard identification and test each assumption against it: does it close or reduce a hazard, or not?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hazard identification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Make the tiering decision. Only assumptions carrying safety risk credit go into full control</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 with SMS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Tiering criteria</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Assign a named risk acceptor on this program to every Tier 1 assumption. Inherited acceptance does not carry over</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Accountable Executive delegate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risk acceptance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Document the organizational system description, which sets the outer boundary of what is in scope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system description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Attach operating-environment and performance assumptions to the approved system specification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Functional baseline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Nominate the top-level safety-significant items for individual tracking and agree them with the customer</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 with Systems Eng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item selection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Set the assumption register up as a controlled data type in the release system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CM plan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If the tiering decision is made well here, everything downstream stays affordable. If it is made badly, the practice will be abandoned within a year.</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WHERE INHERITED ASSUMPTIONS MOST OFTEN FAIL</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2  ·  Development and subsystem design</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Most assumptions that go wrong are about the item's surroundings rather than the item: what it is bolted to, what it talks to, how hot it gets, who maintains it. This is the state where those become attachable, and it is the highest-yield state in the whole sequence.</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51435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Push hazard analysis down to subsystem level and restate assumption conditions at that level</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hazard identification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Attach interface, installation, thermal, loads and duty-cycle assumptions to the subsystem requirement documents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Allocated baseline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Identify all internal and external interface requirements, write them into the controlled documentation and place them under change control</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interface control</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Nominate lower-tier safety-significant items; each one pulls its dependent assumptions into scope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 with Systems Eng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item selection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Attach human-factors assumptions to procedure, training and manual documents rather than to hardware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Procedural baselines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Start reporting the count of unattached Tier 1 assumptions against agreed review criteria</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Design review criteria</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1435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Flow assumption ownership and reporting duties to suppliers through contracts and interface agreements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Supply Chain with Config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interfaces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In the running example, three of the four broken conditions become visible at this state if anyone is looking for them.</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FIRST POINT AT WHICH SIMILARITY CAN BE CHECKED RATHER THAN ASSERTED</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3  ·  Detail design through critical design review</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This is the gate. Until now, "the hardware is the same" has been an assertion. Here there is enough detailed definition on both sides to actually compare them. It is also the last comfortable moment to find out that an inherited assumption does not hold.</a:t>
            </a:r>
            <a:endParaRPr lang="en-US" sz="13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Attach remaining assumptions to specific items at specific revisions, citing the document rather than repeating its contents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 with Config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Product definition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For every inherited assumption, run a written comparison of source and receiving program covering each condition, not just the part number</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 with 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register</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Any condition that cannot be verified against this program's own data goes back into safety risk management rather than transferring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risk management</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Assess risk against the defined acceptability criteria. Raise any Tier 1 assumption still lacking a named acceptor as a finding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risk acceptance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Add a field to the engineering change proposal form asking which assumptions the change affects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ECP form and process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Confirm the status accounting system can answer: which assumptions depend on this item at this revision?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Status accounting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Check operator and maintainer assumptions against the actual draft procedures and task analysis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Task analysis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Hold the review criterion: unattached Tier 1 assumption count at or below the agreed threshold</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Program Management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Design review criteria</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If only one thing from this deck is adopted, make it the comparison in row two and the form field in row five.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EVIDENCE REPLACES ASSERTION</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4  ·  Verification, audits and certification</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Assumptions that have survived this far now get tested. Where an assumption turns out to be wrong, it stops being an analysis issue and becomes a change with cost and schedule consequences, which is why the earlier states matter so much.</a:t>
            </a:r>
            <a:endParaRPr lang="en-US" sz="13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Move assumptions from attached to verified as test, analysis and audit evidence accumulates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Engineering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register</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Extend requirement-to-test traceability back to the assumption that scoped the requirement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Systems Eng with Quality</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Verification traceability</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Handle any assumption falsified by test as a major change, because it affects safety</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change classification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Complete the functional and physical configuration audits and reconcile production against development definition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 Mgmt with Quality</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audits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Validate the risk controls that depended on assumptions and confirm effectiveness measures exist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 with SMS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safety assurance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Confirm assumed task times, alerting detection and workload by test or simulation rather than by assertion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Human Factors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Human factors validation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In the running example, this is where the different alerting threshold would surface, at roughly a hundred times the cost of catching it at proposal.</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KEEPING THE LINK ALIVE ONCE CHANGE VOLUME INCREASES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5  ·  Production</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Production is where the largest number of changes happen and where the discipline is most likely to quietly lapse. The controls here are mostly about making sure the mechanism keeps running rather than about new analysis.</a:t>
            </a:r>
            <a:endParaRPr lang="en-US" sz="13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Screen every engineering change proposal for effect on assumptions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ECP process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When a repeated deviation is made permanent, reopen the assumptions it touches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 Mgmt with 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EIA-649-1 variance handling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Monitor whether assumption re-checks are actually being done on change, or quietly waived</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change management assurance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Maintain status accounting by item and reconcile as-designed against as-built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Status accounting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Treat repeated nonconformances as candidate invalid manufacturing or human-factors assumptions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Quality with Human Factors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hazard identification</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Trigger a human-factors assumption review when a procedure or training course is revised, even though no hardware change exists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Human Factors with Config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Procedural baselines</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The last row closes a real gap: procedure and training changes generate no hardware change record, so today nothing prompts a re-check.</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THE LOOP CLOSES, THEN IMMEDIATELY REOPENS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State 6  ·  In service, and handing on to the next program</a:t>
            </a:r>
            <a:endParaRPr lang="en-US" sz="2800" dirty="0"/>
          </a:p>
        </p:txBody>
      </p:sp>
      <p:sp>
        <p:nvSpPr>
          <p:cNvPr id="4" name="Text 2"/>
          <p:cNvSpPr/>
          <p:nvPr/>
        </p:nvSpPr>
        <p:spPr>
          <a:xfrm>
            <a:off x="548640" y="1188720"/>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Field evidence is the only thing that can test assumptions about how the aircraft is actually operated and maintained. It is also the state where this program becomes the source that the next program borrows from, which is where the whole cycle either improves or repeats.</a:t>
            </a:r>
            <a:endParaRPr lang="en-US" sz="13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975104"/>
          <a:ext cx="11091672" cy="914400"/>
        </p:xfrm>
        <a:graphic>
          <a:graphicData uri="http://schemas.openxmlformats.org/drawingml/2006/table">
            <a:tbl>
              <a:tblPr/>
              <a:tblGrid>
                <a:gridCol w="6035040"/>
                <a:gridCol w="2148840"/>
                <a:gridCol w="2907792"/>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Action required</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Who owns it</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Hangs off</a:t>
                      </a:r>
                      <a:endParaRPr lang="en-US" sz="11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132A4E"/>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Route continued operational safety findings to assumption owners, not only to hazard owners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SRM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safety assurance</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Re-check assumptions on a schedule and on trigger, and track how long since each was last confirmed</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 Safety Assurance</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SM-0001 continuous improvement</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Confirm that retrofit and modification embodiment matches the configuration the assumption relied on</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Status accounting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Use configuration history to work out which aircraft a falsified assumption actually applies to</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Configuration Mgmt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Status accounting</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When exporting to a derivative or new program, send the conditions, the document references and the verification evidence with the statement</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Program Mgmt with Systems Eng</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Assumption register</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1A2333"/>
                          </a:solidFill>
                          <a:latin typeface="Calibri" pitchFamily="34" charset="0"/>
                          <a:ea typeface="Calibri" pitchFamily="34" charset="-122"/>
                          <a:cs typeface="Calibri" pitchFamily="34" charset="-120"/>
                        </a:rPr>
                        <a:t>Do not release bare assumption statements to another program. That is precisely what created this problem</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1050" b="1" dirty="0">
                          <a:solidFill>
                            <a:srgbClr val="1F4380"/>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c>
                  <a:txBody>
                    <a:bodyPr/>
                    <a:lstStyle/>
                    <a:p>
                      <a:pPr indent="0" marL="0">
                        <a:buNone/>
                      </a:pPr>
                      <a:r>
                        <a:rPr lang="en-US" sz="950" i="1" dirty="0">
                          <a:solidFill>
                            <a:srgbClr val="4A5568"/>
                          </a:solidFill>
                          <a:latin typeface="Calibri" pitchFamily="34" charset="0"/>
                          <a:ea typeface="Calibri" pitchFamily="34" charset="-122"/>
                          <a:cs typeface="Calibri" pitchFamily="34" charset="-120"/>
                        </a:rPr>
                        <a:t>Enterprise policy</a:t>
                      </a:r>
                      <a:endParaRPr lang="en-US" sz="950" dirty="0">
                        <a:latin typeface="Calibri" charset="0"/>
                        <a:ea typeface="Calibri" charset="0"/>
                        <a:cs typeface="Calibri" charset="0"/>
                      </a:endParaRPr>
                    </a:p>
                  </a:txBody>
                  <a:tcPr marL="100584" marR="100584" marT="45720" marB="45720" anchor="ctr">
                    <a:lnL w="12700" cap="flat" cmpd="sng" algn="ctr">
                      <a:solidFill>
                        <a:srgbClr val="D3DEEF"/>
                      </a:solidFill>
                      <a:prstDash val="solid"/>
                      <a:round/>
                      <a:headEnd type="none" w="med" len="med"/>
                      <a:tailEnd type="none" w="med" len="med"/>
                    </a:lnL>
                    <a:lnR w="12700" cap="flat" cmpd="sng" algn="ctr">
                      <a:solidFill>
                        <a:srgbClr val="D3DEEF"/>
                      </a:solidFill>
                      <a:prstDash val="solid"/>
                      <a:round/>
                      <a:headEnd type="none" w="med" len="med"/>
                      <a:tailEnd type="none" w="med" len="med"/>
                    </a:lnR>
                    <a:lnT w="12700" cap="flat" cmpd="sng" algn="ctr">
                      <a:solidFill>
                        <a:srgbClr val="D3DEEF"/>
                      </a:solidFill>
                      <a:prstDash val="solid"/>
                      <a:round/>
                      <a:headEnd type="none" w="med" len="med"/>
                      <a:tailEnd type="none" w="med" len="med"/>
                    </a:lnT>
                    <a:lnB w="12700" cap="flat" cmpd="sng" algn="ctr">
                      <a:solidFill>
                        <a:srgbClr val="D3DEEF"/>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6144768"/>
            <a:ext cx="11064240" cy="411480"/>
          </a:xfrm>
          <a:prstGeom prst="rect">
            <a:avLst/>
          </a:prstGeom>
          <a:noFill/>
          <a:ln/>
        </p:spPr>
        <p:txBody>
          <a:bodyPr wrap="square" lIns="0" tIns="0" rIns="0" bIns="0" rtlCol="0" anchor="ctr"/>
          <a:lstStyle/>
          <a:p>
            <a:pPr indent="0" marL="0">
              <a:lnSpc>
                <a:spcPts val="1600"/>
              </a:lnSpc>
              <a:buNone/>
            </a:pPr>
            <a:r>
              <a:rPr lang="en-US" sz="1150" i="1" dirty="0">
                <a:solidFill>
                  <a:srgbClr val="4A5568"/>
                </a:solidFill>
                <a:latin typeface="Calibri" pitchFamily="34" charset="0"/>
                <a:ea typeface="Calibri" pitchFamily="34" charset="-122"/>
                <a:cs typeface="Calibri" pitchFamily="34" charset="-120"/>
              </a:rPr>
              <a:t>A program that exports well makes the next program cheaper. A program that exports badly makes it more dangerous.</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OWNERSHIP SUMMARY</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Who owns what, across the whole lifecycle</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No single activity owns this end to end today, which is the underlying reason it falls through. The proposal spreads specific duties across six activities and asks the safety organization to hold the overall position.</a:t>
            </a:r>
            <a:endParaRPr lang="en-US" sz="1350" dirty="0"/>
          </a:p>
        </p:txBody>
      </p:sp>
      <p:sp>
        <p:nvSpPr>
          <p:cNvPr id="5" name="Shape 3"/>
          <p:cNvSpPr/>
          <p:nvPr/>
        </p:nvSpPr>
        <p:spPr>
          <a:xfrm>
            <a:off x="548640" y="1975104"/>
            <a:ext cx="5394960" cy="1371600"/>
          </a:xfrm>
          <a:prstGeom prst="roundRect">
            <a:avLst>
              <a:gd name="adj" fmla="val 3333"/>
            </a:avLst>
          </a:prstGeom>
          <a:solidFill>
            <a:srgbClr val="E9EEF7"/>
          </a:solidFill>
          <a:ln w="12700">
            <a:solidFill>
              <a:srgbClr val="D3DEEF"/>
            </a:solidFill>
            <a:prstDash val="solid"/>
          </a:ln>
        </p:spPr>
      </p:sp>
      <p:sp>
        <p:nvSpPr>
          <p:cNvPr id="6" name="Text 4"/>
          <p:cNvSpPr/>
          <p:nvPr/>
        </p:nvSpPr>
        <p:spPr>
          <a:xfrm>
            <a:off x="786384" y="210312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Program Management</a:t>
            </a:r>
            <a:endParaRPr lang="en-US" sz="1250" dirty="0"/>
          </a:p>
        </p:txBody>
      </p:sp>
      <p:sp>
        <p:nvSpPr>
          <p:cNvPr id="7" name="Text 5"/>
          <p:cNvSpPr/>
          <p:nvPr/>
        </p:nvSpPr>
        <p:spPr>
          <a:xfrm>
            <a:off x="786384" y="243230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Funds and schedules the work. Owns the design review criteria and the reported position on unattached assumptions. Owns what gets exported to the next program.</a:t>
            </a:r>
            <a:endParaRPr lang="en-US" sz="1150" dirty="0"/>
          </a:p>
        </p:txBody>
      </p:sp>
      <p:sp>
        <p:nvSpPr>
          <p:cNvPr id="8" name="Shape 6"/>
          <p:cNvSpPr/>
          <p:nvPr/>
        </p:nvSpPr>
        <p:spPr>
          <a:xfrm>
            <a:off x="6245352" y="1975104"/>
            <a:ext cx="5394960" cy="1371600"/>
          </a:xfrm>
          <a:prstGeom prst="roundRect">
            <a:avLst>
              <a:gd name="adj" fmla="val 3333"/>
            </a:avLst>
          </a:prstGeom>
          <a:solidFill>
            <a:srgbClr val="FFFFFF"/>
          </a:solidFill>
          <a:ln w="12700">
            <a:solidFill>
              <a:srgbClr val="D3DEEF"/>
            </a:solidFill>
            <a:prstDash val="solid"/>
          </a:ln>
        </p:spPr>
      </p:sp>
      <p:sp>
        <p:nvSpPr>
          <p:cNvPr id="9" name="Text 7"/>
          <p:cNvSpPr/>
          <p:nvPr/>
        </p:nvSpPr>
        <p:spPr>
          <a:xfrm>
            <a:off x="6483096" y="210312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Systems Engineering</a:t>
            </a:r>
            <a:endParaRPr lang="en-US" sz="1250" dirty="0"/>
          </a:p>
        </p:txBody>
      </p:sp>
      <p:sp>
        <p:nvSpPr>
          <p:cNvPr id="10" name="Text 8"/>
          <p:cNvSpPr/>
          <p:nvPr/>
        </p:nvSpPr>
        <p:spPr>
          <a:xfrm>
            <a:off x="6483096" y="243230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Writes the conditions. Performs the attachment to documents and the source-to-receiving comparison. Owns the citation rather than the restatement.</a:t>
            </a:r>
            <a:endParaRPr lang="en-US" sz="1150" dirty="0"/>
          </a:p>
        </p:txBody>
      </p:sp>
      <p:sp>
        <p:nvSpPr>
          <p:cNvPr id="11" name="Shape 9"/>
          <p:cNvSpPr/>
          <p:nvPr/>
        </p:nvSpPr>
        <p:spPr>
          <a:xfrm>
            <a:off x="548640" y="3529584"/>
            <a:ext cx="5394960" cy="1371600"/>
          </a:xfrm>
          <a:prstGeom prst="roundRect">
            <a:avLst>
              <a:gd name="adj" fmla="val 3333"/>
            </a:avLst>
          </a:prstGeom>
          <a:solidFill>
            <a:srgbClr val="E9EEF7"/>
          </a:solidFill>
          <a:ln w="12700">
            <a:solidFill>
              <a:srgbClr val="D3DEEF"/>
            </a:solidFill>
            <a:prstDash val="solid"/>
          </a:ln>
        </p:spPr>
      </p:sp>
      <p:sp>
        <p:nvSpPr>
          <p:cNvPr id="12" name="Text 10"/>
          <p:cNvSpPr/>
          <p:nvPr/>
        </p:nvSpPr>
        <p:spPr>
          <a:xfrm>
            <a:off x="786384" y="365760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Configuration Management</a:t>
            </a:r>
            <a:endParaRPr lang="en-US" sz="1250" dirty="0"/>
          </a:p>
        </p:txBody>
      </p:sp>
      <p:sp>
        <p:nvSpPr>
          <p:cNvPr id="13" name="Text 11"/>
          <p:cNvSpPr/>
          <p:nvPr/>
        </p:nvSpPr>
        <p:spPr>
          <a:xfrm>
            <a:off x="786384" y="398678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Makes the register a controlled data type, maintains the link to items and documents, adds the field to the change form, and provides the query that finds affected assumptions.</a:t>
            </a:r>
            <a:endParaRPr lang="en-US" sz="1150" dirty="0"/>
          </a:p>
        </p:txBody>
      </p:sp>
      <p:sp>
        <p:nvSpPr>
          <p:cNvPr id="14" name="Shape 12"/>
          <p:cNvSpPr/>
          <p:nvPr/>
        </p:nvSpPr>
        <p:spPr>
          <a:xfrm>
            <a:off x="6245352" y="3529584"/>
            <a:ext cx="5394960" cy="1371600"/>
          </a:xfrm>
          <a:prstGeom prst="roundRect">
            <a:avLst>
              <a:gd name="adj" fmla="val 3333"/>
            </a:avLst>
          </a:prstGeom>
          <a:solidFill>
            <a:srgbClr val="FFFFFF"/>
          </a:solidFill>
          <a:ln w="12700">
            <a:solidFill>
              <a:srgbClr val="D3DEEF"/>
            </a:solidFill>
            <a:prstDash val="solid"/>
          </a:ln>
        </p:spPr>
      </p:sp>
      <p:sp>
        <p:nvSpPr>
          <p:cNvPr id="15" name="Text 13"/>
          <p:cNvSpPr/>
          <p:nvPr/>
        </p:nvSpPr>
        <p:spPr>
          <a:xfrm>
            <a:off x="6483096" y="365760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Safety Risk Management</a:t>
            </a:r>
            <a:endParaRPr lang="en-US" sz="1250" dirty="0"/>
          </a:p>
        </p:txBody>
      </p:sp>
      <p:sp>
        <p:nvSpPr>
          <p:cNvPr id="16" name="Text 14"/>
          <p:cNvSpPr/>
          <p:nvPr/>
        </p:nvSpPr>
        <p:spPr>
          <a:xfrm>
            <a:off x="6483096" y="398678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Decides which assumptions carry risk credit, reopens the ones that cannot be verified, and routes in-service findings back to assumption owners.</a:t>
            </a:r>
            <a:endParaRPr lang="en-US" sz="1150" dirty="0"/>
          </a:p>
        </p:txBody>
      </p:sp>
      <p:sp>
        <p:nvSpPr>
          <p:cNvPr id="17" name="Shape 15"/>
          <p:cNvSpPr/>
          <p:nvPr/>
        </p:nvSpPr>
        <p:spPr>
          <a:xfrm>
            <a:off x="548640" y="5084064"/>
            <a:ext cx="5394960" cy="1371600"/>
          </a:xfrm>
          <a:prstGeom prst="roundRect">
            <a:avLst>
              <a:gd name="adj" fmla="val 3333"/>
            </a:avLst>
          </a:prstGeom>
          <a:solidFill>
            <a:srgbClr val="E9EEF7"/>
          </a:solidFill>
          <a:ln w="12700">
            <a:solidFill>
              <a:srgbClr val="D3DEEF"/>
            </a:solidFill>
            <a:prstDash val="solid"/>
          </a:ln>
        </p:spPr>
      </p:sp>
      <p:sp>
        <p:nvSpPr>
          <p:cNvPr id="18" name="Text 16"/>
          <p:cNvSpPr/>
          <p:nvPr/>
        </p:nvSpPr>
        <p:spPr>
          <a:xfrm>
            <a:off x="786384" y="521208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SMS Safety Assurance</a:t>
            </a:r>
            <a:endParaRPr lang="en-US" sz="1250" dirty="0"/>
          </a:p>
        </p:txBody>
      </p:sp>
      <p:sp>
        <p:nvSpPr>
          <p:cNvPr id="19" name="Text 17"/>
          <p:cNvSpPr/>
          <p:nvPr/>
        </p:nvSpPr>
        <p:spPr>
          <a:xfrm>
            <a:off x="786384" y="554126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Owns scope through the system description, the named-acceptor rule, the monitoring of whether re-checks actually happen, and periodic re-validation.</a:t>
            </a:r>
            <a:endParaRPr lang="en-US" sz="1150" dirty="0"/>
          </a:p>
        </p:txBody>
      </p:sp>
      <p:sp>
        <p:nvSpPr>
          <p:cNvPr id="20" name="Shape 18"/>
          <p:cNvSpPr/>
          <p:nvPr/>
        </p:nvSpPr>
        <p:spPr>
          <a:xfrm>
            <a:off x="6245352" y="5084064"/>
            <a:ext cx="5394960" cy="1371600"/>
          </a:xfrm>
          <a:prstGeom prst="roundRect">
            <a:avLst>
              <a:gd name="adj" fmla="val 3333"/>
            </a:avLst>
          </a:prstGeom>
          <a:solidFill>
            <a:srgbClr val="FFFFFF"/>
          </a:solidFill>
          <a:ln w="12700">
            <a:solidFill>
              <a:srgbClr val="D3DEEF"/>
            </a:solidFill>
            <a:prstDash val="solid"/>
          </a:ln>
        </p:spPr>
      </p:sp>
      <p:sp>
        <p:nvSpPr>
          <p:cNvPr id="21" name="Text 19"/>
          <p:cNvSpPr/>
          <p:nvPr/>
        </p:nvSpPr>
        <p:spPr>
          <a:xfrm>
            <a:off x="6483096" y="5212080"/>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Human Factors</a:t>
            </a:r>
            <a:endParaRPr lang="en-US" sz="1250" dirty="0"/>
          </a:p>
        </p:txBody>
      </p:sp>
      <p:sp>
        <p:nvSpPr>
          <p:cNvPr id="22" name="Text 20"/>
          <p:cNvSpPr/>
          <p:nvPr/>
        </p:nvSpPr>
        <p:spPr>
          <a:xfrm>
            <a:off x="6483096" y="5541264"/>
            <a:ext cx="4956048" cy="804672"/>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Owns the class of assumptions that have no part number. Attaches them to procedure and training documents and validates the claims about people by test rather than assertion.</a:t>
            </a:r>
            <a:endParaRPr lang="en-US" sz="1150" dirty="0"/>
          </a:p>
        </p:txBody>
      </p:sp>
      <p:sp>
        <p:nvSpPr>
          <p:cNvPr id="23" name="Text 21"/>
          <p:cNvSpPr/>
          <p:nvPr/>
        </p:nvSpPr>
        <p:spPr>
          <a:xfrm>
            <a:off x="548640" y="6035040"/>
            <a:ext cx="11064240" cy="502920"/>
          </a:xfrm>
          <a:prstGeom prst="rect">
            <a:avLst/>
          </a:prstGeom>
          <a:noFill/>
          <a:ln/>
        </p:spPr>
        <p:txBody>
          <a:bodyPr wrap="square" lIns="0" tIns="0" rIns="0" bIns="0" rtlCol="0" anchor="ctr"/>
          <a:lstStyle/>
          <a:p>
            <a:pPr indent="0" marL="0">
              <a:lnSpc>
                <a:spcPts val="1700"/>
              </a:lnSpc>
              <a:buNone/>
            </a:pPr>
            <a:r>
              <a:rPr lang="en-US" sz="1200" b="1" i="1" dirty="0">
                <a:solidFill>
                  <a:srgbClr val="B4530C"/>
                </a:solidFill>
                <a:latin typeface="Calibri" pitchFamily="34" charset="0"/>
                <a:ea typeface="Calibri" pitchFamily="34" charset="-122"/>
                <a:cs typeface="Calibri" pitchFamily="34" charset="-120"/>
              </a:rPr>
              <a:t>Quality and Supply Chain carry supporting actions in States 2, 4 and 5. The single accountable position sits with the Safety Accountable Executive, because that is the only role with authority over both the cost pressure and the risk it creates.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BEYOND HARDWARE  ·  HUMAN FACTORS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Assumptions about people, which no parts comparison will ever find</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A similarity review compares hardware. Assumptions about people have no part number, so nothing in that comparison surfaces them. They are simultaneously the most frequently reused assumptions we hold and the least frequently checked.</a:t>
            </a:r>
            <a:endParaRPr lang="en-US" sz="1350" dirty="0"/>
          </a:p>
        </p:txBody>
      </p:sp>
      <p:sp>
        <p:nvSpPr>
          <p:cNvPr id="5" name="Shape 3"/>
          <p:cNvSpPr/>
          <p:nvPr/>
        </p:nvSpPr>
        <p:spPr>
          <a:xfrm>
            <a:off x="548640" y="1883664"/>
            <a:ext cx="11091672" cy="914400"/>
          </a:xfrm>
          <a:prstGeom prst="roundRect">
            <a:avLst>
              <a:gd name="adj" fmla="val 5000"/>
            </a:avLst>
          </a:prstGeom>
          <a:solidFill>
            <a:srgbClr val="FBEBDC"/>
          </a:solidFill>
          <a:ln w="12700">
            <a:solidFill>
              <a:srgbClr val="ECC8AE"/>
            </a:solidFill>
            <a:prstDash val="solid"/>
          </a:ln>
        </p:spPr>
      </p:sp>
      <p:sp>
        <p:nvSpPr>
          <p:cNvPr id="6" name="Text 4"/>
          <p:cNvSpPr/>
          <p:nvPr/>
        </p:nvSpPr>
        <p:spPr>
          <a:xfrm>
            <a:off x="822960" y="1883664"/>
            <a:ext cx="10515600" cy="914400"/>
          </a:xfrm>
          <a:prstGeom prst="rect">
            <a:avLst/>
          </a:prstGeom>
          <a:noFill/>
          <a:ln/>
        </p:spPr>
        <p:txBody>
          <a:bodyPr wrap="square" lIns="0" tIns="0" rIns="0" bIns="0" rtlCol="0" anchor="ctr"/>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Typical examples: assumed crew training standard and recency  ·  assumed workload during the phase of flight in question  ·  assumed maintainer skill level and certification  ·  assumed probability that an inspector will spot a defect  ·  assumed time available to complete a procedure  ·  assumed alerting salience  ·  assumed staffing levels  ·  assumed shift patterns and fatigue exposure  ·  assumed compliance with the written procedure</a:t>
            </a:r>
            <a:endParaRPr lang="en-US" sz="1150" dirty="0"/>
          </a:p>
        </p:txBody>
      </p:sp>
      <p:sp>
        <p:nvSpPr>
          <p:cNvPr id="7" name="Shape 5"/>
          <p:cNvSpPr/>
          <p:nvPr/>
        </p:nvSpPr>
        <p:spPr>
          <a:xfrm>
            <a:off x="548640" y="2926080"/>
            <a:ext cx="5394960" cy="1572768"/>
          </a:xfrm>
          <a:prstGeom prst="roundRect">
            <a:avLst>
              <a:gd name="adj" fmla="val 2907"/>
            </a:avLst>
          </a:prstGeom>
          <a:solidFill>
            <a:srgbClr val="E9EEF7"/>
          </a:solidFill>
          <a:ln w="12700">
            <a:solidFill>
              <a:srgbClr val="D3DEEF"/>
            </a:solidFill>
            <a:prstDash val="solid"/>
          </a:ln>
        </p:spPr>
      </p:sp>
      <p:sp>
        <p:nvSpPr>
          <p:cNvPr id="8" name="Text 6"/>
          <p:cNvSpPr/>
          <p:nvPr/>
        </p:nvSpPr>
        <p:spPr>
          <a:xfrm>
            <a:off x="786384" y="305409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Where their validity actually lives</a:t>
            </a:r>
            <a:endParaRPr lang="en-US" sz="1250" dirty="0"/>
          </a:p>
        </p:txBody>
      </p:sp>
      <p:sp>
        <p:nvSpPr>
          <p:cNvPr id="9" name="Text 7"/>
          <p:cNvSpPr/>
          <p:nvPr/>
        </p:nvSpPr>
        <p:spPr>
          <a:xfrm>
            <a:off x="786384" y="3383280"/>
            <a:ext cx="495604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Not in drawings. In the operating environment: people, procedures, facilities, training. SM-0001 already treats all of that as part of the organizational system description, so the concept is available to us.</a:t>
            </a:r>
            <a:endParaRPr lang="en-US" sz="1150" dirty="0"/>
          </a:p>
        </p:txBody>
      </p:sp>
      <p:sp>
        <p:nvSpPr>
          <p:cNvPr id="10" name="Shape 8"/>
          <p:cNvSpPr/>
          <p:nvPr/>
        </p:nvSpPr>
        <p:spPr>
          <a:xfrm>
            <a:off x="6245352" y="2926080"/>
            <a:ext cx="5394960" cy="1572768"/>
          </a:xfrm>
          <a:prstGeom prst="roundRect">
            <a:avLst>
              <a:gd name="adj" fmla="val 2907"/>
            </a:avLst>
          </a:prstGeom>
          <a:solidFill>
            <a:srgbClr val="FFFFFF"/>
          </a:solidFill>
          <a:ln w="12700">
            <a:solidFill>
              <a:srgbClr val="D3DEEF"/>
            </a:solidFill>
            <a:prstDash val="solid"/>
          </a:ln>
        </p:spPr>
      </p:sp>
      <p:sp>
        <p:nvSpPr>
          <p:cNvPr id="11" name="Text 9"/>
          <p:cNvSpPr/>
          <p:nvPr/>
        </p:nvSpPr>
        <p:spPr>
          <a:xfrm>
            <a:off x="6483096" y="3054096"/>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What to attach them to</a:t>
            </a:r>
            <a:endParaRPr lang="en-US" sz="1250" dirty="0"/>
          </a:p>
        </p:txBody>
      </p:sp>
      <p:sp>
        <p:nvSpPr>
          <p:cNvPr id="12" name="Text 10"/>
          <p:cNvSpPr/>
          <p:nvPr/>
        </p:nvSpPr>
        <p:spPr>
          <a:xfrm>
            <a:off x="6483096" y="3383280"/>
            <a:ext cx="495604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Procedure documents, training curricula, task analyses and the maintenance manual. Where these carry safety risk credit, they need the same change control as a drawing, because that is what makes the trigger work.</a:t>
            </a:r>
            <a:endParaRPr lang="en-US" sz="1150" dirty="0"/>
          </a:p>
        </p:txBody>
      </p:sp>
      <p:sp>
        <p:nvSpPr>
          <p:cNvPr id="13" name="Shape 11"/>
          <p:cNvSpPr/>
          <p:nvPr/>
        </p:nvSpPr>
        <p:spPr>
          <a:xfrm>
            <a:off x="548640" y="4681728"/>
            <a:ext cx="5394960" cy="1572768"/>
          </a:xfrm>
          <a:prstGeom prst="roundRect">
            <a:avLst>
              <a:gd name="adj" fmla="val 2907"/>
            </a:avLst>
          </a:prstGeom>
          <a:solidFill>
            <a:srgbClr val="E9EEF7"/>
          </a:solidFill>
          <a:ln w="12700">
            <a:solidFill>
              <a:srgbClr val="D3DEEF"/>
            </a:solidFill>
            <a:prstDash val="solid"/>
          </a:ln>
        </p:spPr>
      </p:sp>
      <p:sp>
        <p:nvSpPr>
          <p:cNvPr id="14" name="Text 12"/>
          <p:cNvSpPr/>
          <p:nvPr/>
        </p:nvSpPr>
        <p:spPr>
          <a:xfrm>
            <a:off x="786384" y="4809744"/>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gap that lets them rot</a:t>
            </a:r>
            <a:endParaRPr lang="en-US" sz="1250" dirty="0"/>
          </a:p>
        </p:txBody>
      </p:sp>
      <p:sp>
        <p:nvSpPr>
          <p:cNvPr id="15" name="Text 13"/>
          <p:cNvSpPr/>
          <p:nvPr/>
        </p:nvSpPr>
        <p:spPr>
          <a:xfrm>
            <a:off x="786384" y="5138928"/>
            <a:ext cx="495604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A procedure revision or a training course update generates no engineering change against hardware. Nothing in the current system prompts anyone to ask whether an assumption just broke. This has to be an explicit trigger in its own right.</a:t>
            </a:r>
            <a:endParaRPr lang="en-US" sz="1150" dirty="0"/>
          </a:p>
        </p:txBody>
      </p:sp>
      <p:sp>
        <p:nvSpPr>
          <p:cNvPr id="16" name="Shape 14"/>
          <p:cNvSpPr/>
          <p:nvPr/>
        </p:nvSpPr>
        <p:spPr>
          <a:xfrm>
            <a:off x="6245352" y="4681728"/>
            <a:ext cx="5394960" cy="1572768"/>
          </a:xfrm>
          <a:prstGeom prst="roundRect">
            <a:avLst>
              <a:gd name="adj" fmla="val 2907"/>
            </a:avLst>
          </a:prstGeom>
          <a:solidFill>
            <a:srgbClr val="FFFFFF"/>
          </a:solidFill>
          <a:ln w="12700">
            <a:solidFill>
              <a:srgbClr val="D3DEEF"/>
            </a:solidFill>
            <a:prstDash val="solid"/>
          </a:ln>
        </p:spPr>
      </p:sp>
      <p:sp>
        <p:nvSpPr>
          <p:cNvPr id="17" name="Text 15"/>
          <p:cNvSpPr/>
          <p:nvPr/>
        </p:nvSpPr>
        <p:spPr>
          <a:xfrm>
            <a:off x="6483096" y="4809744"/>
            <a:ext cx="4937760" cy="310896"/>
          </a:xfrm>
          <a:prstGeom prst="rect">
            <a:avLst/>
          </a:prstGeom>
          <a:noFill/>
          <a:ln/>
        </p:spPr>
        <p:txBody>
          <a:bodyPr wrap="square" lIns="0" tIns="0" rIns="0" bIns="0" rtlCol="0" anchor="ctr"/>
          <a:lstStyle/>
          <a:p>
            <a:pPr indent="0" marL="0">
              <a:buNone/>
            </a:pPr>
            <a:r>
              <a:rPr lang="en-US" sz="1250" b="1" dirty="0">
                <a:solidFill>
                  <a:srgbClr val="132A4E"/>
                </a:solidFill>
                <a:latin typeface="Calibri" pitchFamily="34" charset="0"/>
                <a:ea typeface="Calibri" pitchFamily="34" charset="-122"/>
                <a:cs typeface="Calibri" pitchFamily="34" charset="-120"/>
              </a:rPr>
              <a:t>The disguised case worth calling out</a:t>
            </a:r>
            <a:endParaRPr lang="en-US" sz="1250" dirty="0"/>
          </a:p>
        </p:txBody>
      </p:sp>
      <p:sp>
        <p:nvSpPr>
          <p:cNvPr id="18" name="Text 16"/>
          <p:cNvSpPr/>
          <p:nvPr/>
        </p:nvSpPr>
        <p:spPr>
          <a:xfrm>
            <a:off x="6483096" y="5138928"/>
            <a:ext cx="4956048" cy="1005840"/>
          </a:xfrm>
          <a:prstGeom prst="rect">
            <a:avLst/>
          </a:prstGeom>
          <a:noFill/>
          <a:ln/>
        </p:spPr>
        <p:txBody>
          <a:bodyPr wrap="square" lIns="0" tIns="0" rIns="0" bIns="0" rtlCol="0" anchor="ctr"/>
          <a:lstStyle/>
          <a:p>
            <a:pPr indent="0" marL="0">
              <a:lnSpc>
                <a:spcPts val="1650"/>
              </a:lnSpc>
              <a:buNone/>
            </a:pPr>
            <a:r>
              <a:rPr lang="en-US" sz="1150" dirty="0">
                <a:solidFill>
                  <a:srgbClr val="1A2333"/>
                </a:solidFill>
                <a:latin typeface="Calibri" pitchFamily="34" charset="0"/>
                <a:ea typeface="Calibri" pitchFamily="34" charset="-122"/>
                <a:cs typeface="Calibri" pitchFamily="34" charset="-120"/>
              </a:rPr>
              <a:t>Detectability ratings in a failure modes analysis are assumptions about human performance wearing hardware clothing. So are assumed inspection intervals. Reuse those and you have silently reused another program's workforce and maintenance organization.</a:t>
            </a:r>
            <a:endParaRPr lang="en-US" sz="1150" dirty="0"/>
          </a:p>
        </p:txBody>
      </p:sp>
      <p:sp>
        <p:nvSpPr>
          <p:cNvPr id="19" name="Text 17"/>
          <p:cNvSpPr/>
          <p:nvPr/>
        </p:nvSpPr>
        <p:spPr>
          <a:xfrm>
            <a:off x="548640" y="6309360"/>
            <a:ext cx="11064240" cy="365760"/>
          </a:xfrm>
          <a:prstGeom prst="rect">
            <a:avLst/>
          </a:prstGeom>
          <a:noFill/>
          <a:ln/>
        </p:spPr>
        <p:txBody>
          <a:bodyPr wrap="square" lIns="0" tIns="0" rIns="0" bIns="0" rtlCol="0" anchor="ctr"/>
          <a:lstStyle/>
          <a:p>
            <a:pPr indent="0" marL="0">
              <a:buNone/>
            </a:pPr>
            <a:r>
              <a:rPr lang="en-US" sz="1150" i="1" dirty="0">
                <a:solidFill>
                  <a:srgbClr val="4A5568"/>
                </a:solidFill>
                <a:latin typeface="Calibri" pitchFamily="34" charset="0"/>
                <a:ea typeface="Calibri" pitchFamily="34" charset="-122"/>
                <a:cs typeface="Calibri" pitchFamily="34" charset="-120"/>
              </a:rPr>
              <a:t>SM-0001 already requires risk controls to take operational, technical, human and organizational factors into account. This is not an extension of the standard, it is an application of it.</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BEYOND HARDWARE  ·  INTERFACES</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Same box, different everything it touches</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Reuse by similarity is a claim about the item. An interface assumption is a claim about the item's surroundings, which is exactly what did not come across. This is where inherited assumptions fail most often.</a:t>
            </a:r>
            <a:endParaRPr lang="en-US" sz="1350" dirty="0"/>
          </a:p>
        </p:txBody>
      </p:sp>
      <p:sp>
        <p:nvSpPr>
          <p:cNvPr id="5" name="Shape 3"/>
          <p:cNvSpPr/>
          <p:nvPr/>
        </p:nvSpPr>
        <p:spPr>
          <a:xfrm>
            <a:off x="548640" y="1883664"/>
            <a:ext cx="5394960" cy="2331720"/>
          </a:xfrm>
          <a:prstGeom prst="roundRect">
            <a:avLst>
              <a:gd name="adj" fmla="val 1961"/>
            </a:avLst>
          </a:prstGeom>
          <a:solidFill>
            <a:srgbClr val="E9EEF7"/>
          </a:solidFill>
          <a:ln w="12700">
            <a:solidFill>
              <a:srgbClr val="D3DEEF"/>
            </a:solidFill>
            <a:prstDash val="solid"/>
          </a:ln>
        </p:spPr>
      </p:sp>
      <p:sp>
        <p:nvSpPr>
          <p:cNvPr id="6" name="Text 4"/>
          <p:cNvSpPr/>
          <p:nvPr/>
        </p:nvSpPr>
        <p:spPr>
          <a:xfrm>
            <a:off x="822960" y="2029968"/>
            <a:ext cx="4846320" cy="310896"/>
          </a:xfrm>
          <a:prstGeom prst="rect">
            <a:avLst/>
          </a:prstGeom>
          <a:noFill/>
          <a:ln/>
        </p:spPr>
        <p:txBody>
          <a:bodyPr wrap="square" lIns="0" tIns="0" rIns="0" bIns="0" rtlCol="0" anchor="ctr"/>
          <a:lstStyle/>
          <a:p>
            <a:pPr indent="0" marL="0">
              <a:buNone/>
            </a:pPr>
            <a:r>
              <a:rPr lang="en-US" sz="1500" b="1" dirty="0">
                <a:solidFill>
                  <a:srgbClr val="132A4E"/>
                </a:solidFill>
                <a:latin typeface="Cambria" pitchFamily="34" charset="0"/>
                <a:ea typeface="Cambria" pitchFamily="34" charset="-122"/>
                <a:cs typeface="Cambria" pitchFamily="34" charset="-120"/>
              </a:rPr>
              <a:t>Technical interfaces  ·  between parts of the product</a:t>
            </a:r>
            <a:endParaRPr lang="en-US" sz="1500" dirty="0"/>
          </a:p>
        </p:txBody>
      </p:sp>
      <p:sp>
        <p:nvSpPr>
          <p:cNvPr id="7" name="Text 5"/>
          <p:cNvSpPr/>
          <p:nvPr/>
        </p:nvSpPr>
        <p:spPr>
          <a:xfrm>
            <a:off x="822960" y="2395728"/>
            <a:ext cx="4864608" cy="173736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 obligation already exists. Internal and external interface requirements have to be identified, written into the controlled documentation and kept under change control, with a representative on the interface working group where one exists. Attaching interface assumptions to those documents adds a link, not a process.</a:t>
            </a:r>
            <a:endParaRPr lang="en-US" sz="1150" dirty="0"/>
          </a:p>
        </p:txBody>
      </p:sp>
      <p:sp>
        <p:nvSpPr>
          <p:cNvPr id="8" name="Shape 6"/>
          <p:cNvSpPr/>
          <p:nvPr/>
        </p:nvSpPr>
        <p:spPr>
          <a:xfrm>
            <a:off x="6245352" y="1883664"/>
            <a:ext cx="5394960" cy="2331720"/>
          </a:xfrm>
          <a:prstGeom prst="roundRect">
            <a:avLst>
              <a:gd name="adj" fmla="val 1961"/>
            </a:avLst>
          </a:prstGeom>
          <a:solidFill>
            <a:srgbClr val="FBEBDC"/>
          </a:solidFill>
          <a:ln w="12700">
            <a:solidFill>
              <a:srgbClr val="ECC8AE"/>
            </a:solidFill>
            <a:prstDash val="solid"/>
          </a:ln>
        </p:spPr>
      </p:sp>
      <p:sp>
        <p:nvSpPr>
          <p:cNvPr id="9" name="Text 7"/>
          <p:cNvSpPr/>
          <p:nvPr/>
        </p:nvSpPr>
        <p:spPr>
          <a:xfrm>
            <a:off x="6519672" y="2029968"/>
            <a:ext cx="4846320" cy="310896"/>
          </a:xfrm>
          <a:prstGeom prst="rect">
            <a:avLst/>
          </a:prstGeom>
          <a:noFill/>
          <a:ln/>
        </p:spPr>
        <p:txBody>
          <a:bodyPr wrap="square" lIns="0" tIns="0" rIns="0" bIns="0" rtlCol="0" anchor="ctr"/>
          <a:lstStyle/>
          <a:p>
            <a:pPr indent="0" marL="0">
              <a:buNone/>
            </a:pPr>
            <a:r>
              <a:rPr lang="en-US" sz="1500" b="1" dirty="0">
                <a:solidFill>
                  <a:srgbClr val="B4530C"/>
                </a:solidFill>
                <a:latin typeface="Cambria" pitchFamily="34" charset="0"/>
                <a:ea typeface="Cambria" pitchFamily="34" charset="-122"/>
                <a:cs typeface="Cambria" pitchFamily="34" charset="-120"/>
              </a:rPr>
              <a:t>Organizational interfaces  ·  between companies</a:t>
            </a:r>
            <a:endParaRPr lang="en-US" sz="1500" dirty="0"/>
          </a:p>
        </p:txBody>
      </p:sp>
      <p:sp>
        <p:nvSpPr>
          <p:cNvPr id="10" name="Text 8"/>
          <p:cNvSpPr/>
          <p:nvPr/>
        </p:nvSpPr>
        <p:spPr>
          <a:xfrm>
            <a:off x="6519672" y="2395728"/>
            <a:ext cx="4864608" cy="1737360"/>
          </a:xfrm>
          <a:prstGeom prst="rect">
            <a:avLst/>
          </a:prstGeom>
          <a:noFill/>
          <a:ln/>
        </p:spPr>
        <p:txBody>
          <a:bodyPr wrap="square" lIns="0" tIns="0" rIns="0" bIns="0" rtlCol="0" anchor="t"/>
          <a:lstStyle/>
          <a:p>
            <a:pPr indent="0" marL="0">
              <a:lnSpc>
                <a:spcPts val="1700"/>
              </a:lnSpc>
              <a:buNone/>
            </a:pPr>
            <a:r>
              <a:rPr lang="en-US" sz="1150" dirty="0">
                <a:solidFill>
                  <a:srgbClr val="1A2333"/>
                </a:solidFill>
                <a:latin typeface="Calibri" pitchFamily="34" charset="0"/>
                <a:ea typeface="Calibri" pitchFamily="34" charset="-122"/>
                <a:cs typeface="Calibri" pitchFamily="34" charset="-120"/>
              </a:rPr>
              <a:t>The classic failure: the supplier assumed the integrator was covering it, and the integrator assumed the supplier had. The assumption falls into the gap between two safety management systems, each of which believes the other owns it. The fix is to name an assumption owner for each interface in the interface documentation.</a:t>
            </a:r>
            <a:endParaRPr lang="en-US" sz="1150" dirty="0"/>
          </a:p>
        </p:txBody>
      </p:sp>
      <p:sp>
        <p:nvSpPr>
          <p:cNvPr id="11" name="Shape 9"/>
          <p:cNvSpPr/>
          <p:nvPr/>
        </p:nvSpPr>
        <p:spPr>
          <a:xfrm>
            <a:off x="548640" y="4352544"/>
            <a:ext cx="11091672" cy="1371600"/>
          </a:xfrm>
          <a:prstGeom prst="roundRect">
            <a:avLst>
              <a:gd name="adj" fmla="val 3333"/>
            </a:avLst>
          </a:prstGeom>
          <a:solidFill>
            <a:srgbClr val="132A4E"/>
          </a:solidFill>
          <a:ln w="12700">
            <a:solidFill>
              <a:srgbClr val="132A4E"/>
            </a:solidFill>
            <a:prstDash val="solid"/>
          </a:ln>
        </p:spPr>
      </p:sp>
      <p:sp>
        <p:nvSpPr>
          <p:cNvPr id="12" name="Text 10"/>
          <p:cNvSpPr/>
          <p:nvPr/>
        </p:nvSpPr>
        <p:spPr>
          <a:xfrm>
            <a:off x="841248" y="4480560"/>
            <a:ext cx="10515600" cy="274320"/>
          </a:xfrm>
          <a:prstGeom prst="rect">
            <a:avLst/>
          </a:prstGeom>
          <a:noFill/>
          <a:ln/>
        </p:spPr>
        <p:txBody>
          <a:bodyPr wrap="square" lIns="0" tIns="0" rIns="0" bIns="0" rtlCol="0" anchor="ctr"/>
          <a:lstStyle/>
          <a:p>
            <a:pPr indent="0" marL="0">
              <a:buNone/>
            </a:pPr>
            <a:r>
              <a:rPr lang="en-US" sz="1200" b="1" dirty="0">
                <a:solidFill>
                  <a:srgbClr val="F0B37E"/>
                </a:solidFill>
                <a:latin typeface="Calibri" pitchFamily="34" charset="0"/>
                <a:ea typeface="Calibri" pitchFamily="34" charset="-122"/>
                <a:cs typeface="Calibri" pitchFamily="34" charset="-120"/>
              </a:rPr>
              <a:t>One caution on how the interface provisions get read</a:t>
            </a:r>
            <a:endParaRPr lang="en-US" sz="1200" dirty="0"/>
          </a:p>
        </p:txBody>
      </p:sp>
      <p:sp>
        <p:nvSpPr>
          <p:cNvPr id="13" name="Text 11"/>
          <p:cNvSpPr/>
          <p:nvPr/>
        </p:nvSpPr>
        <p:spPr>
          <a:xfrm>
            <a:off x="841248" y="4773168"/>
            <a:ext cx="10515600" cy="822960"/>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SM-0001 deliberately limits how much hazard and risk analysis has to be pushed across an organizational boundary; knowing that a risk is being assessed and controlled by the responsible party is often enough. That should not be read as permission to withhold interface assumptions. The assumptions that cross a boundary are the minimum necessary exchange, because each side is relying on them and neither can see the other's. They are the content that provision exists to protect, not to suppress.</a:t>
            </a:r>
            <a:endParaRPr lang="en-US" sz="1250" dirty="0"/>
          </a:p>
        </p:txBody>
      </p:sp>
      <p:sp>
        <p:nvSpPr>
          <p:cNvPr id="14" name="Shape 12"/>
          <p:cNvSpPr/>
          <p:nvPr/>
        </p:nvSpPr>
        <p:spPr>
          <a:xfrm>
            <a:off x="548640" y="5870448"/>
            <a:ext cx="11091672" cy="603504"/>
          </a:xfrm>
          <a:prstGeom prst="roundRect">
            <a:avLst>
              <a:gd name="adj" fmla="val 7576"/>
            </a:avLst>
          </a:prstGeom>
          <a:solidFill>
            <a:srgbClr val="E9EEF7"/>
          </a:solidFill>
          <a:ln w="12700">
            <a:solidFill>
              <a:srgbClr val="D3DEEF"/>
            </a:solidFill>
            <a:prstDash val="solid"/>
          </a:ln>
        </p:spPr>
      </p:sp>
      <p:sp>
        <p:nvSpPr>
          <p:cNvPr id="15" name="Text 13"/>
          <p:cNvSpPr/>
          <p:nvPr/>
        </p:nvSpPr>
        <p:spPr>
          <a:xfrm>
            <a:off x="822960" y="5870448"/>
            <a:ext cx="10515600" cy="603504"/>
          </a:xfrm>
          <a:prstGeom prst="rect">
            <a:avLst/>
          </a:prstGeom>
          <a:noFill/>
          <a:ln/>
        </p:spPr>
        <p:txBody>
          <a:bodyPr wrap="square" lIns="0" tIns="0" rIns="0" bIns="0" rtlCol="0" anchor="ctr"/>
          <a:lstStyle/>
          <a:p>
            <a:pPr indent="0" marL="0">
              <a:buNone/>
            </a:pPr>
            <a:r>
              <a:rPr lang="en-US" sz="1150" b="1" dirty="0">
                <a:solidFill>
                  <a:srgbClr val="132A4E"/>
                </a:solidFill>
                <a:latin typeface="Calibri" pitchFamily="34" charset="0"/>
                <a:ea typeface="Calibri" pitchFamily="34" charset="-122"/>
                <a:cs typeface="Calibri" pitchFamily="34" charset="-120"/>
              </a:rPr>
              <a:t>In the running example, three of the four broken conditions are interface conditions: the alerting logic, the maintenance program and the bay layout. The hardware really was identical.</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PULLING IT TOGETHER</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Three kinds of assumption, three things to attach them to</a:t>
            </a:r>
            <a:endParaRPr lang="en-US" sz="2800" dirty="0"/>
          </a:p>
        </p:txBody>
      </p:sp>
      <p:sp>
        <p:nvSpPr>
          <p:cNvPr id="4" name="Text 2"/>
          <p:cNvSpPr/>
          <p:nvPr/>
        </p:nvSpPr>
        <p:spPr>
          <a:xfrm>
            <a:off x="548640" y="1225296"/>
            <a:ext cx="11064240" cy="566928"/>
          </a:xfrm>
          <a:prstGeom prst="rect">
            <a:avLst/>
          </a:prstGeom>
          <a:noFill/>
          <a:ln/>
        </p:spPr>
        <p:txBody>
          <a:bodyPr wrap="square" lIns="0" tIns="0" rIns="0" bIns="0" rtlCol="0" anchor="ctr"/>
          <a:lstStyle/>
          <a:p>
            <a:pPr indent="0" marL="0">
              <a:lnSpc>
                <a:spcPts val="2000"/>
              </a:lnSpc>
              <a:buNone/>
            </a:pPr>
            <a:r>
              <a:rPr lang="en-US" sz="1350" dirty="0">
                <a:solidFill>
                  <a:srgbClr val="1A2333"/>
                </a:solidFill>
                <a:latin typeface="Calibri" pitchFamily="34" charset="0"/>
                <a:ea typeface="Calibri" pitchFamily="34" charset="-122"/>
                <a:cs typeface="Calibri" pitchFamily="34" charset="-120"/>
              </a:rPr>
              <a:t>The mechanism is the same in each case. What differs is which controlled document the assumption points at, and therefore which change process raises the flag when something moves.</a:t>
            </a:r>
            <a:endParaRPr lang="en-US" sz="1350" dirty="0"/>
          </a:p>
        </p:txBody>
      </p:sp>
      <p:sp>
        <p:nvSpPr>
          <p:cNvPr id="5" name="Shape 3"/>
          <p:cNvSpPr/>
          <p:nvPr/>
        </p:nvSpPr>
        <p:spPr>
          <a:xfrm>
            <a:off x="548640" y="1975104"/>
            <a:ext cx="11091672" cy="1225296"/>
          </a:xfrm>
          <a:prstGeom prst="roundRect">
            <a:avLst>
              <a:gd name="adj" fmla="val 3731"/>
            </a:avLst>
          </a:prstGeom>
          <a:solidFill>
            <a:srgbClr val="E9EEF7"/>
          </a:solidFill>
          <a:ln w="12700">
            <a:solidFill>
              <a:srgbClr val="D3DEEF"/>
            </a:solidFill>
            <a:prstDash val="solid"/>
          </a:ln>
        </p:spPr>
      </p:sp>
      <p:sp>
        <p:nvSpPr>
          <p:cNvPr id="6" name="Shape 4"/>
          <p:cNvSpPr/>
          <p:nvPr/>
        </p:nvSpPr>
        <p:spPr>
          <a:xfrm>
            <a:off x="749808" y="2176272"/>
            <a:ext cx="2651760" cy="822960"/>
          </a:xfrm>
          <a:prstGeom prst="roundRect">
            <a:avLst>
              <a:gd name="adj" fmla="val 6667"/>
            </a:avLst>
          </a:prstGeom>
          <a:solidFill>
            <a:srgbClr val="1F4380"/>
          </a:solidFill>
          <a:ln w="12700">
            <a:solidFill>
              <a:srgbClr val="1F4380"/>
            </a:solidFill>
            <a:prstDash val="solid"/>
          </a:ln>
        </p:spPr>
      </p:sp>
      <p:sp>
        <p:nvSpPr>
          <p:cNvPr id="7" name="Text 5"/>
          <p:cNvSpPr/>
          <p:nvPr/>
        </p:nvSpPr>
        <p:spPr>
          <a:xfrm>
            <a:off x="822960" y="2176272"/>
            <a:ext cx="2505456"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Hardware and performance</a:t>
            </a:r>
            <a:endParaRPr lang="en-US" sz="1250" dirty="0"/>
          </a:p>
        </p:txBody>
      </p:sp>
      <p:sp>
        <p:nvSpPr>
          <p:cNvPr id="8" name="Text 6"/>
          <p:cNvSpPr/>
          <p:nvPr/>
        </p:nvSpPr>
        <p:spPr>
          <a:xfrm>
            <a:off x="3584448" y="2139696"/>
            <a:ext cx="4480560" cy="219456"/>
          </a:xfrm>
          <a:prstGeom prst="rect">
            <a:avLst/>
          </a:prstGeom>
          <a:noFill/>
          <a:ln/>
        </p:spPr>
        <p:txBody>
          <a:bodyPr wrap="square" lIns="0" tIns="0" rIns="0" bIns="0" rtlCol="0" anchor="ctr"/>
          <a:lstStyle/>
          <a:p>
            <a:pPr indent="0" marL="0">
              <a:buNone/>
            </a:pPr>
            <a:r>
              <a:rPr lang="en-US" sz="900" b="1" spc="120" kern="0" dirty="0">
                <a:solidFill>
                  <a:srgbClr val="4A5568"/>
                </a:solidFill>
                <a:latin typeface="Calibri" pitchFamily="34" charset="0"/>
                <a:ea typeface="Calibri" pitchFamily="34" charset="-122"/>
                <a:cs typeface="Calibri" pitchFamily="34" charset="-120"/>
              </a:rPr>
              <a:t>POINTS AT</a:t>
            </a:r>
            <a:endParaRPr lang="en-US" sz="900" dirty="0"/>
          </a:p>
        </p:txBody>
      </p:sp>
      <p:sp>
        <p:nvSpPr>
          <p:cNvPr id="9" name="Text 7"/>
          <p:cNvSpPr/>
          <p:nvPr/>
        </p:nvSpPr>
        <p:spPr>
          <a:xfrm>
            <a:off x="3584448" y="2377440"/>
            <a:ext cx="4480560" cy="658368"/>
          </a:xfrm>
          <a:prstGeom prst="rect">
            <a:avLst/>
          </a:prstGeom>
          <a:noFill/>
          <a:ln/>
        </p:spPr>
        <p:txBody>
          <a:bodyPr wrap="square" lIns="0" tIns="0" rIns="0" bIns="0" rtlCol="0" anchor="ctr"/>
          <a:lstStyle/>
          <a:p>
            <a:pPr indent="0" marL="0">
              <a:lnSpc>
                <a:spcPts val="1700"/>
              </a:lnSpc>
              <a:buNone/>
            </a:pPr>
            <a:r>
              <a:rPr lang="en-US" sz="1250" b="1" dirty="0">
                <a:solidFill>
                  <a:srgbClr val="132A4E"/>
                </a:solidFill>
                <a:latin typeface="Calibri" pitchFamily="34" charset="0"/>
                <a:ea typeface="Calibri" pitchFamily="34" charset="-122"/>
                <a:cs typeface="Calibri" pitchFamily="34" charset="-120"/>
              </a:rPr>
              <a:t>Configuration items and the approved product definition</a:t>
            </a:r>
            <a:endParaRPr lang="en-US" sz="1250" dirty="0"/>
          </a:p>
        </p:txBody>
      </p:sp>
      <p:sp>
        <p:nvSpPr>
          <p:cNvPr id="10" name="Text 8"/>
          <p:cNvSpPr/>
          <p:nvPr/>
        </p:nvSpPr>
        <p:spPr>
          <a:xfrm>
            <a:off x="8275320" y="2139696"/>
            <a:ext cx="3200400" cy="384048"/>
          </a:xfrm>
          <a:prstGeom prst="rect">
            <a:avLst/>
          </a:prstGeom>
          <a:noFill/>
          <a:ln/>
        </p:spPr>
        <p:txBody>
          <a:bodyPr wrap="square" lIns="0" tIns="0" rIns="0" bIns="0" rtlCol="0" anchor="ctr"/>
          <a:lstStyle/>
          <a:p>
            <a:pPr indent="0" marL="0">
              <a:lnSpc>
                <a:spcPts val="1400"/>
              </a:lnSpc>
              <a:buNone/>
            </a:pPr>
            <a:r>
              <a:rPr lang="en-US" sz="1050" b="1" dirty="0">
                <a:solidFill>
                  <a:srgbClr val="1F4380"/>
                </a:solidFill>
                <a:latin typeface="Calibri" pitchFamily="34" charset="0"/>
                <a:ea typeface="Calibri" pitchFamily="34" charset="-122"/>
                <a:cs typeface="Calibri" pitchFamily="34" charset="-120"/>
              </a:rPr>
              <a:t>Systems Engineering with Configuration Management</a:t>
            </a:r>
            <a:endParaRPr lang="en-US" sz="1050" dirty="0"/>
          </a:p>
        </p:txBody>
      </p:sp>
      <p:sp>
        <p:nvSpPr>
          <p:cNvPr id="11" name="Text 9"/>
          <p:cNvSpPr/>
          <p:nvPr/>
        </p:nvSpPr>
        <p:spPr>
          <a:xfrm>
            <a:off x="8275320" y="2542032"/>
            <a:ext cx="3200400" cy="603504"/>
          </a:xfrm>
          <a:prstGeom prst="rect">
            <a:avLst/>
          </a:prstGeom>
          <a:noFill/>
          <a:ln/>
        </p:spPr>
        <p:txBody>
          <a:bodyPr wrap="square" lIns="0" tIns="0" rIns="0" bIns="0" rtlCol="0" anchor="ctr"/>
          <a:lstStyle/>
          <a:p>
            <a:pPr indent="0" marL="0">
              <a:lnSpc>
                <a:spcPts val="1400"/>
              </a:lnSpc>
              <a:buNone/>
            </a:pPr>
            <a:r>
              <a:rPr lang="en-US" sz="1000" dirty="0">
                <a:solidFill>
                  <a:srgbClr val="1A2333"/>
                </a:solidFill>
                <a:latin typeface="Calibri" pitchFamily="34" charset="0"/>
                <a:ea typeface="Calibri" pitchFamily="34" charset="-122"/>
                <a:cs typeface="Calibri" pitchFamily="34" charset="-120"/>
              </a:rPr>
              <a:t>Attaches during subsystem design, firms up at critical design review, verified at the configuration audits.</a:t>
            </a:r>
            <a:endParaRPr lang="en-US" sz="1000" dirty="0"/>
          </a:p>
        </p:txBody>
      </p:sp>
      <p:sp>
        <p:nvSpPr>
          <p:cNvPr id="12" name="Shape 10"/>
          <p:cNvSpPr/>
          <p:nvPr/>
        </p:nvSpPr>
        <p:spPr>
          <a:xfrm>
            <a:off x="548640" y="3346704"/>
            <a:ext cx="11091672" cy="1225296"/>
          </a:xfrm>
          <a:prstGeom prst="roundRect">
            <a:avLst>
              <a:gd name="adj" fmla="val 3731"/>
            </a:avLst>
          </a:prstGeom>
          <a:solidFill>
            <a:srgbClr val="FFFFFF"/>
          </a:solidFill>
          <a:ln w="12700">
            <a:solidFill>
              <a:srgbClr val="D3DEEF"/>
            </a:solidFill>
            <a:prstDash val="solid"/>
          </a:ln>
        </p:spPr>
      </p:sp>
      <p:sp>
        <p:nvSpPr>
          <p:cNvPr id="13" name="Shape 11"/>
          <p:cNvSpPr/>
          <p:nvPr/>
        </p:nvSpPr>
        <p:spPr>
          <a:xfrm>
            <a:off x="749808" y="3547872"/>
            <a:ext cx="2651760" cy="822960"/>
          </a:xfrm>
          <a:prstGeom prst="roundRect">
            <a:avLst>
              <a:gd name="adj" fmla="val 6667"/>
            </a:avLst>
          </a:prstGeom>
          <a:solidFill>
            <a:srgbClr val="B4530C"/>
          </a:solidFill>
          <a:ln w="12700">
            <a:solidFill>
              <a:srgbClr val="B4530C"/>
            </a:solidFill>
            <a:prstDash val="solid"/>
          </a:ln>
        </p:spPr>
      </p:sp>
      <p:sp>
        <p:nvSpPr>
          <p:cNvPr id="14" name="Text 12"/>
          <p:cNvSpPr/>
          <p:nvPr/>
        </p:nvSpPr>
        <p:spPr>
          <a:xfrm>
            <a:off x="822960" y="3547872"/>
            <a:ext cx="2505456"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People and organization</a:t>
            </a:r>
            <a:endParaRPr lang="en-US" sz="1250" dirty="0"/>
          </a:p>
        </p:txBody>
      </p:sp>
      <p:sp>
        <p:nvSpPr>
          <p:cNvPr id="15" name="Text 13"/>
          <p:cNvSpPr/>
          <p:nvPr/>
        </p:nvSpPr>
        <p:spPr>
          <a:xfrm>
            <a:off x="3584448" y="3511296"/>
            <a:ext cx="4480560" cy="219456"/>
          </a:xfrm>
          <a:prstGeom prst="rect">
            <a:avLst/>
          </a:prstGeom>
          <a:noFill/>
          <a:ln/>
        </p:spPr>
        <p:txBody>
          <a:bodyPr wrap="square" lIns="0" tIns="0" rIns="0" bIns="0" rtlCol="0" anchor="ctr"/>
          <a:lstStyle/>
          <a:p>
            <a:pPr indent="0" marL="0">
              <a:buNone/>
            </a:pPr>
            <a:r>
              <a:rPr lang="en-US" sz="900" b="1" spc="120" kern="0" dirty="0">
                <a:solidFill>
                  <a:srgbClr val="4A5568"/>
                </a:solidFill>
                <a:latin typeface="Calibri" pitchFamily="34" charset="0"/>
                <a:ea typeface="Calibri" pitchFamily="34" charset="-122"/>
                <a:cs typeface="Calibri" pitchFamily="34" charset="-120"/>
              </a:rPr>
              <a:t>POINTS AT</a:t>
            </a:r>
            <a:endParaRPr lang="en-US" sz="900" dirty="0"/>
          </a:p>
        </p:txBody>
      </p:sp>
      <p:sp>
        <p:nvSpPr>
          <p:cNvPr id="16" name="Text 14"/>
          <p:cNvSpPr/>
          <p:nvPr/>
        </p:nvSpPr>
        <p:spPr>
          <a:xfrm>
            <a:off x="3584448" y="3749040"/>
            <a:ext cx="4480560" cy="658368"/>
          </a:xfrm>
          <a:prstGeom prst="rect">
            <a:avLst/>
          </a:prstGeom>
          <a:noFill/>
          <a:ln/>
        </p:spPr>
        <p:txBody>
          <a:bodyPr wrap="square" lIns="0" tIns="0" rIns="0" bIns="0" rtlCol="0" anchor="ctr"/>
          <a:lstStyle/>
          <a:p>
            <a:pPr indent="0" marL="0">
              <a:lnSpc>
                <a:spcPts val="1700"/>
              </a:lnSpc>
              <a:buNone/>
            </a:pPr>
            <a:r>
              <a:rPr lang="en-US" sz="1250" b="1" dirty="0">
                <a:solidFill>
                  <a:srgbClr val="132A4E"/>
                </a:solidFill>
                <a:latin typeface="Calibri" pitchFamily="34" charset="0"/>
                <a:ea typeface="Calibri" pitchFamily="34" charset="-122"/>
                <a:cs typeface="Calibri" pitchFamily="34" charset="-120"/>
              </a:rPr>
              <a:t>System description, plus procedure, training and manual documents</a:t>
            </a:r>
            <a:endParaRPr lang="en-US" sz="1250" dirty="0"/>
          </a:p>
        </p:txBody>
      </p:sp>
      <p:sp>
        <p:nvSpPr>
          <p:cNvPr id="17" name="Text 15"/>
          <p:cNvSpPr/>
          <p:nvPr/>
        </p:nvSpPr>
        <p:spPr>
          <a:xfrm>
            <a:off x="8275320" y="3511296"/>
            <a:ext cx="3200400" cy="384048"/>
          </a:xfrm>
          <a:prstGeom prst="rect">
            <a:avLst/>
          </a:prstGeom>
          <a:noFill/>
          <a:ln/>
        </p:spPr>
        <p:txBody>
          <a:bodyPr wrap="square" lIns="0" tIns="0" rIns="0" bIns="0" rtlCol="0" anchor="ctr"/>
          <a:lstStyle/>
          <a:p>
            <a:pPr indent="0" marL="0">
              <a:lnSpc>
                <a:spcPts val="1400"/>
              </a:lnSpc>
              <a:buNone/>
            </a:pPr>
            <a:r>
              <a:rPr lang="en-US" sz="1050" b="1" dirty="0">
                <a:solidFill>
                  <a:srgbClr val="B4530C"/>
                </a:solidFill>
                <a:latin typeface="Calibri" pitchFamily="34" charset="0"/>
                <a:ea typeface="Calibri" pitchFamily="34" charset="-122"/>
                <a:cs typeface="Calibri" pitchFamily="34" charset="-120"/>
              </a:rPr>
              <a:t>Human Factors with SMS</a:t>
            </a:r>
            <a:endParaRPr lang="en-US" sz="1050" dirty="0"/>
          </a:p>
        </p:txBody>
      </p:sp>
      <p:sp>
        <p:nvSpPr>
          <p:cNvPr id="18" name="Text 16"/>
          <p:cNvSpPr/>
          <p:nvPr/>
        </p:nvSpPr>
        <p:spPr>
          <a:xfrm>
            <a:off x="8275320" y="3913632"/>
            <a:ext cx="3200400" cy="603504"/>
          </a:xfrm>
          <a:prstGeom prst="rect">
            <a:avLst/>
          </a:prstGeom>
          <a:noFill/>
          <a:ln/>
        </p:spPr>
        <p:txBody>
          <a:bodyPr wrap="square" lIns="0" tIns="0" rIns="0" bIns="0" rtlCol="0" anchor="ctr"/>
          <a:lstStyle/>
          <a:p>
            <a:pPr indent="0" marL="0">
              <a:lnSpc>
                <a:spcPts val="1400"/>
              </a:lnSpc>
              <a:buNone/>
            </a:pPr>
            <a:r>
              <a:rPr lang="en-US" sz="1000" dirty="0">
                <a:solidFill>
                  <a:srgbClr val="1A2333"/>
                </a:solidFill>
                <a:latin typeface="Calibri" pitchFamily="34" charset="0"/>
                <a:ea typeface="Calibri" pitchFamily="34" charset="-122"/>
                <a:cs typeface="Calibri" pitchFamily="34" charset="-120"/>
              </a:rPr>
              <a:t>Attaches during subsystem design, and must be re-checked on every procedure or training revision.</a:t>
            </a:r>
            <a:endParaRPr lang="en-US" sz="1000" dirty="0"/>
          </a:p>
        </p:txBody>
      </p:sp>
      <p:sp>
        <p:nvSpPr>
          <p:cNvPr id="19" name="Shape 17"/>
          <p:cNvSpPr/>
          <p:nvPr/>
        </p:nvSpPr>
        <p:spPr>
          <a:xfrm>
            <a:off x="548640" y="4718304"/>
            <a:ext cx="11091672" cy="1225296"/>
          </a:xfrm>
          <a:prstGeom prst="roundRect">
            <a:avLst>
              <a:gd name="adj" fmla="val 3731"/>
            </a:avLst>
          </a:prstGeom>
          <a:solidFill>
            <a:srgbClr val="E9EEF7"/>
          </a:solidFill>
          <a:ln w="12700">
            <a:solidFill>
              <a:srgbClr val="D3DEEF"/>
            </a:solidFill>
            <a:prstDash val="solid"/>
          </a:ln>
        </p:spPr>
      </p:sp>
      <p:sp>
        <p:nvSpPr>
          <p:cNvPr id="20" name="Shape 18"/>
          <p:cNvSpPr/>
          <p:nvPr/>
        </p:nvSpPr>
        <p:spPr>
          <a:xfrm>
            <a:off x="749808" y="4919472"/>
            <a:ext cx="2651760" cy="822960"/>
          </a:xfrm>
          <a:prstGeom prst="roundRect">
            <a:avLst>
              <a:gd name="adj" fmla="val 6667"/>
            </a:avLst>
          </a:prstGeom>
          <a:solidFill>
            <a:srgbClr val="0F6B62"/>
          </a:solidFill>
          <a:ln w="12700">
            <a:solidFill>
              <a:srgbClr val="0F6B62"/>
            </a:solidFill>
            <a:prstDash val="solid"/>
          </a:ln>
        </p:spPr>
      </p:sp>
      <p:sp>
        <p:nvSpPr>
          <p:cNvPr id="21" name="Text 19"/>
          <p:cNvSpPr/>
          <p:nvPr/>
        </p:nvSpPr>
        <p:spPr>
          <a:xfrm>
            <a:off x="822960" y="4919472"/>
            <a:ext cx="2505456" cy="822960"/>
          </a:xfrm>
          <a:prstGeom prst="rect">
            <a:avLst/>
          </a:prstGeom>
          <a:noFill/>
          <a:ln/>
        </p:spPr>
        <p:txBody>
          <a:bodyPr wrap="square" lIns="0" tIns="0" rIns="0" bIns="0" rtlCol="0" anchor="ctr"/>
          <a:lstStyle/>
          <a:p>
            <a:pPr algn="ctr" indent="0" marL="0">
              <a:lnSpc>
                <a:spcPts val="1600"/>
              </a:lnSpc>
              <a:buNone/>
            </a:pPr>
            <a:r>
              <a:rPr lang="en-US" sz="1250" b="1" dirty="0">
                <a:solidFill>
                  <a:srgbClr val="FFFFFF"/>
                </a:solidFill>
                <a:latin typeface="Calibri" pitchFamily="34" charset="0"/>
                <a:ea typeface="Calibri" pitchFamily="34" charset="-122"/>
                <a:cs typeface="Calibri" pitchFamily="34" charset="-120"/>
              </a:rPr>
              <a:t>Interfaces</a:t>
            </a:r>
            <a:endParaRPr lang="en-US" sz="1250" dirty="0"/>
          </a:p>
        </p:txBody>
      </p:sp>
      <p:sp>
        <p:nvSpPr>
          <p:cNvPr id="22" name="Text 20"/>
          <p:cNvSpPr/>
          <p:nvPr/>
        </p:nvSpPr>
        <p:spPr>
          <a:xfrm>
            <a:off x="3584448" y="4882896"/>
            <a:ext cx="4480560" cy="219456"/>
          </a:xfrm>
          <a:prstGeom prst="rect">
            <a:avLst/>
          </a:prstGeom>
          <a:noFill/>
          <a:ln/>
        </p:spPr>
        <p:txBody>
          <a:bodyPr wrap="square" lIns="0" tIns="0" rIns="0" bIns="0" rtlCol="0" anchor="ctr"/>
          <a:lstStyle/>
          <a:p>
            <a:pPr indent="0" marL="0">
              <a:buNone/>
            </a:pPr>
            <a:r>
              <a:rPr lang="en-US" sz="900" b="1" spc="120" kern="0" dirty="0">
                <a:solidFill>
                  <a:srgbClr val="4A5568"/>
                </a:solidFill>
                <a:latin typeface="Calibri" pitchFamily="34" charset="0"/>
                <a:ea typeface="Calibri" pitchFamily="34" charset="-122"/>
                <a:cs typeface="Calibri" pitchFamily="34" charset="-120"/>
              </a:rPr>
              <a:t>POINTS AT</a:t>
            </a:r>
            <a:endParaRPr lang="en-US" sz="900" dirty="0"/>
          </a:p>
        </p:txBody>
      </p:sp>
      <p:sp>
        <p:nvSpPr>
          <p:cNvPr id="23" name="Text 21"/>
          <p:cNvSpPr/>
          <p:nvPr/>
        </p:nvSpPr>
        <p:spPr>
          <a:xfrm>
            <a:off x="3584448" y="5120640"/>
            <a:ext cx="4480560" cy="658368"/>
          </a:xfrm>
          <a:prstGeom prst="rect">
            <a:avLst/>
          </a:prstGeom>
          <a:noFill/>
          <a:ln/>
        </p:spPr>
        <p:txBody>
          <a:bodyPr wrap="square" lIns="0" tIns="0" rIns="0" bIns="0" rtlCol="0" anchor="ctr"/>
          <a:lstStyle/>
          <a:p>
            <a:pPr indent="0" marL="0">
              <a:lnSpc>
                <a:spcPts val="1700"/>
              </a:lnSpc>
              <a:buNone/>
            </a:pPr>
            <a:r>
              <a:rPr lang="en-US" sz="1250" b="1" dirty="0">
                <a:solidFill>
                  <a:srgbClr val="132A4E"/>
                </a:solidFill>
                <a:latin typeface="Calibri" pitchFamily="34" charset="0"/>
                <a:ea typeface="Calibri" pitchFamily="34" charset="-122"/>
                <a:cs typeface="Calibri" pitchFamily="34" charset="-120"/>
              </a:rPr>
              <a:t>Interface control documentation, interface agreements and contracts</a:t>
            </a:r>
            <a:endParaRPr lang="en-US" sz="1250" dirty="0"/>
          </a:p>
        </p:txBody>
      </p:sp>
      <p:sp>
        <p:nvSpPr>
          <p:cNvPr id="24" name="Text 22"/>
          <p:cNvSpPr/>
          <p:nvPr/>
        </p:nvSpPr>
        <p:spPr>
          <a:xfrm>
            <a:off x="8275320" y="4882896"/>
            <a:ext cx="3200400" cy="384048"/>
          </a:xfrm>
          <a:prstGeom prst="rect">
            <a:avLst/>
          </a:prstGeom>
          <a:noFill/>
          <a:ln/>
        </p:spPr>
        <p:txBody>
          <a:bodyPr wrap="square" lIns="0" tIns="0" rIns="0" bIns="0" rtlCol="0" anchor="ctr"/>
          <a:lstStyle/>
          <a:p>
            <a:pPr indent="0" marL="0">
              <a:lnSpc>
                <a:spcPts val="1400"/>
              </a:lnSpc>
              <a:buNone/>
            </a:pPr>
            <a:r>
              <a:rPr lang="en-US" sz="1050" b="1" dirty="0">
                <a:solidFill>
                  <a:srgbClr val="0F6B62"/>
                </a:solidFill>
                <a:latin typeface="Calibri" pitchFamily="34" charset="0"/>
                <a:ea typeface="Calibri" pitchFamily="34" charset="-122"/>
                <a:cs typeface="Calibri" pitchFamily="34" charset="-120"/>
              </a:rPr>
              <a:t>Configuration Management with Supply Chain</a:t>
            </a:r>
            <a:endParaRPr lang="en-US" sz="1050" dirty="0"/>
          </a:p>
        </p:txBody>
      </p:sp>
      <p:sp>
        <p:nvSpPr>
          <p:cNvPr id="25" name="Text 23"/>
          <p:cNvSpPr/>
          <p:nvPr/>
        </p:nvSpPr>
        <p:spPr>
          <a:xfrm>
            <a:off x="8275320" y="5285232"/>
            <a:ext cx="3200400" cy="603504"/>
          </a:xfrm>
          <a:prstGeom prst="rect">
            <a:avLst/>
          </a:prstGeom>
          <a:noFill/>
          <a:ln/>
        </p:spPr>
        <p:txBody>
          <a:bodyPr wrap="square" lIns="0" tIns="0" rIns="0" bIns="0" rtlCol="0" anchor="ctr"/>
          <a:lstStyle/>
          <a:p>
            <a:pPr indent="0" marL="0">
              <a:lnSpc>
                <a:spcPts val="1400"/>
              </a:lnSpc>
              <a:buNone/>
            </a:pPr>
            <a:r>
              <a:rPr lang="en-US" sz="1000" dirty="0">
                <a:solidFill>
                  <a:srgbClr val="1A2333"/>
                </a:solidFill>
                <a:latin typeface="Calibri" pitchFamily="34" charset="0"/>
                <a:ea typeface="Calibri" pitchFamily="34" charset="-122"/>
                <a:cs typeface="Calibri" pitchFamily="34" charset="-120"/>
              </a:rPr>
              <a:t>Attaches during subsystem design, with a named assumption owner recorded for each interface.</a:t>
            </a:r>
            <a:endParaRPr lang="en-US" sz="1000" dirty="0"/>
          </a:p>
        </p:txBody>
      </p:sp>
      <p:sp>
        <p:nvSpPr>
          <p:cNvPr id="26" name="Shape 24"/>
          <p:cNvSpPr/>
          <p:nvPr/>
        </p:nvSpPr>
        <p:spPr>
          <a:xfrm>
            <a:off x="548640" y="6089904"/>
            <a:ext cx="11091672" cy="566928"/>
          </a:xfrm>
          <a:prstGeom prst="roundRect">
            <a:avLst>
              <a:gd name="adj" fmla="val 8065"/>
            </a:avLst>
          </a:prstGeom>
          <a:solidFill>
            <a:srgbClr val="132A4E"/>
          </a:solidFill>
          <a:ln w="12700">
            <a:solidFill>
              <a:srgbClr val="132A4E"/>
            </a:solidFill>
            <a:prstDash val="solid"/>
          </a:ln>
        </p:spPr>
      </p:sp>
      <p:sp>
        <p:nvSpPr>
          <p:cNvPr id="27" name="Text 25"/>
          <p:cNvSpPr/>
          <p:nvPr/>
        </p:nvSpPr>
        <p:spPr>
          <a:xfrm>
            <a:off x="841248" y="6217920"/>
            <a:ext cx="10515600" cy="310896"/>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An assumption that points at none of these three is not an assumption. It is a hope with a document number.</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A4E"/>
        </a:solidFill>
      </p:bgPr>
    </p:bg>
    <p:spTree>
      <p:nvGrpSpPr>
        <p:cNvPr id="1" name=""/>
        <p:cNvGrpSpPr/>
        <p:nvPr/>
      </p:nvGrpSpPr>
      <p:grpSpPr>
        <a:xfrm>
          <a:off x="0" y="0"/>
          <a:ext cx="0" cy="0"/>
          <a:chOff x="0" y="0"/>
          <a:chExt cx="0" cy="0"/>
        </a:xfrm>
      </p:grpSpPr>
      <p:sp>
        <p:nvSpPr>
          <p:cNvPr id="2" name="Text 0"/>
          <p:cNvSpPr/>
          <p:nvPr/>
        </p:nvSpPr>
        <p:spPr>
          <a:xfrm>
            <a:off x="548640" y="457200"/>
            <a:ext cx="10515600" cy="274320"/>
          </a:xfrm>
          <a:prstGeom prst="rect">
            <a:avLst/>
          </a:prstGeom>
          <a:noFill/>
          <a:ln/>
        </p:spPr>
        <p:txBody>
          <a:bodyPr wrap="square" lIns="0" tIns="0" rIns="0" bIns="0" rtlCol="0" anchor="ctr"/>
          <a:lstStyle/>
          <a:p>
            <a:pPr indent="0" marL="0">
              <a:buNone/>
            </a:pPr>
            <a:r>
              <a:rPr lang="en-US" sz="1100" b="1" spc="180" kern="0" dirty="0">
                <a:solidFill>
                  <a:srgbClr val="F0B37E"/>
                </a:solidFill>
                <a:latin typeface="Calibri" pitchFamily="34" charset="0"/>
                <a:ea typeface="Calibri" pitchFamily="34" charset="-122"/>
                <a:cs typeface="Calibri" pitchFamily="34" charset="-120"/>
              </a:rPr>
              <a:t>WHAT I AM ASKING FOR</a:t>
            </a:r>
            <a:endParaRPr lang="en-US" sz="1100" dirty="0"/>
          </a:p>
        </p:txBody>
      </p:sp>
      <p:sp>
        <p:nvSpPr>
          <p:cNvPr id="3" name="Text 1"/>
          <p:cNvSpPr/>
          <p:nvPr/>
        </p:nvSpPr>
        <p:spPr>
          <a:xfrm>
            <a:off x="548640" y="768096"/>
            <a:ext cx="10515600" cy="603504"/>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Five decisions</a:t>
            </a:r>
            <a:endParaRPr lang="en-US" sz="3000" dirty="0"/>
          </a:p>
        </p:txBody>
      </p:sp>
      <p:sp>
        <p:nvSpPr>
          <p:cNvPr id="4" name="Shape 2"/>
          <p:cNvSpPr/>
          <p:nvPr/>
        </p:nvSpPr>
        <p:spPr>
          <a:xfrm>
            <a:off x="548640" y="1719072"/>
            <a:ext cx="384048" cy="384048"/>
          </a:xfrm>
          <a:prstGeom prst="roundRect">
            <a:avLst>
              <a:gd name="adj" fmla="val 16667"/>
            </a:avLst>
          </a:prstGeom>
          <a:solidFill>
            <a:srgbClr val="B4530C"/>
          </a:solidFill>
          <a:ln w="12700">
            <a:solidFill>
              <a:srgbClr val="B4530C"/>
            </a:solidFill>
            <a:prstDash val="solid"/>
          </a:ln>
        </p:spPr>
      </p:sp>
      <p:sp>
        <p:nvSpPr>
          <p:cNvPr id="5" name="Text 3"/>
          <p:cNvSpPr/>
          <p:nvPr/>
        </p:nvSpPr>
        <p:spPr>
          <a:xfrm>
            <a:off x="548640" y="17190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15568" y="1572768"/>
            <a:ext cx="448056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Name the assumption register in the configuration management plan</a:t>
            </a:r>
            <a:endParaRPr lang="en-US" sz="1250" dirty="0"/>
          </a:p>
        </p:txBody>
      </p:sp>
      <p:sp>
        <p:nvSpPr>
          <p:cNvPr id="7" name="Text 5"/>
          <p:cNvSpPr/>
          <p:nvPr/>
        </p:nvSpPr>
        <p:spPr>
          <a:xfrm>
            <a:off x="5779008" y="1572768"/>
            <a:ext cx="585216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Give it an identifier convention, a control class and a place in the release system. Configuration Management owns the mechanism. Nothing else works until this exists.</a:t>
            </a:r>
            <a:endParaRPr lang="en-US" sz="1100" dirty="0"/>
          </a:p>
        </p:txBody>
      </p:sp>
      <p:sp>
        <p:nvSpPr>
          <p:cNvPr id="8" name="Shape 6"/>
          <p:cNvSpPr/>
          <p:nvPr/>
        </p:nvSpPr>
        <p:spPr>
          <a:xfrm>
            <a:off x="548640" y="2578608"/>
            <a:ext cx="384048" cy="384048"/>
          </a:xfrm>
          <a:prstGeom prst="roundRect">
            <a:avLst>
              <a:gd name="adj" fmla="val 16667"/>
            </a:avLst>
          </a:prstGeom>
          <a:solidFill>
            <a:srgbClr val="B4530C"/>
          </a:solidFill>
          <a:ln w="12700">
            <a:solidFill>
              <a:srgbClr val="B4530C"/>
            </a:solidFill>
            <a:prstDash val="solid"/>
          </a:ln>
        </p:spPr>
      </p:sp>
      <p:sp>
        <p:nvSpPr>
          <p:cNvPr id="9" name="Text 7"/>
          <p:cNvSpPr/>
          <p:nvPr/>
        </p:nvSpPr>
        <p:spPr>
          <a:xfrm>
            <a:off x="548640" y="25786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15568" y="2432304"/>
            <a:ext cx="448056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Require a named risk acceptor on this program for every safety-bearing assumption</a:t>
            </a:r>
            <a:endParaRPr lang="en-US" sz="1250" dirty="0"/>
          </a:p>
        </p:txBody>
      </p:sp>
      <p:sp>
        <p:nvSpPr>
          <p:cNvPr id="11" name="Text 9"/>
          <p:cNvSpPr/>
          <p:nvPr/>
        </p:nvSpPr>
        <p:spPr>
          <a:xfrm>
            <a:off x="5779008" y="2432304"/>
            <a:ext cx="585216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Inherited acceptance from the source program does not carry over. This is the item with genuine compliance weight, and it is the one to lead with in front of program leadership.</a:t>
            </a:r>
            <a:endParaRPr lang="en-US" sz="1100" dirty="0"/>
          </a:p>
        </p:txBody>
      </p:sp>
      <p:sp>
        <p:nvSpPr>
          <p:cNvPr id="12" name="Shape 10"/>
          <p:cNvSpPr/>
          <p:nvPr/>
        </p:nvSpPr>
        <p:spPr>
          <a:xfrm>
            <a:off x="548640" y="3438144"/>
            <a:ext cx="384048" cy="384048"/>
          </a:xfrm>
          <a:prstGeom prst="roundRect">
            <a:avLst>
              <a:gd name="adj" fmla="val 16667"/>
            </a:avLst>
          </a:prstGeom>
          <a:solidFill>
            <a:srgbClr val="B4530C"/>
          </a:solidFill>
          <a:ln w="12700">
            <a:solidFill>
              <a:srgbClr val="B4530C"/>
            </a:solidFill>
            <a:prstDash val="solid"/>
          </a:ln>
        </p:spPr>
      </p:sp>
      <p:sp>
        <p:nvSpPr>
          <p:cNvPr id="13" name="Text 11"/>
          <p:cNvSpPr/>
          <p:nvPr/>
        </p:nvSpPr>
        <p:spPr>
          <a:xfrm>
            <a:off x="548640" y="34381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15568" y="3291840"/>
            <a:ext cx="448056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Add one field to the engineering change proposal form</a:t>
            </a:r>
            <a:endParaRPr lang="en-US" sz="1250" dirty="0"/>
          </a:p>
        </p:txBody>
      </p:sp>
      <p:sp>
        <p:nvSpPr>
          <p:cNvPr id="15" name="Text 13"/>
          <p:cNvSpPr/>
          <p:nvPr/>
        </p:nvSpPr>
        <p:spPr>
          <a:xfrm>
            <a:off x="5779008" y="3291840"/>
            <a:ext cx="585216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Ask which assumptions the change affects. A form change, not a new process, and it converts assumption review from something people must remember into something the workflow asks for.</a:t>
            </a:r>
            <a:endParaRPr lang="en-US" sz="1100" dirty="0"/>
          </a:p>
        </p:txBody>
      </p:sp>
      <p:sp>
        <p:nvSpPr>
          <p:cNvPr id="16" name="Shape 14"/>
          <p:cNvSpPr/>
          <p:nvPr/>
        </p:nvSpPr>
        <p:spPr>
          <a:xfrm>
            <a:off x="548640" y="4297680"/>
            <a:ext cx="384048" cy="384048"/>
          </a:xfrm>
          <a:prstGeom prst="roundRect">
            <a:avLst>
              <a:gd name="adj" fmla="val 16667"/>
            </a:avLst>
          </a:prstGeom>
          <a:solidFill>
            <a:srgbClr val="B4530C"/>
          </a:solidFill>
          <a:ln w="12700">
            <a:solidFill>
              <a:srgbClr val="B4530C"/>
            </a:solidFill>
            <a:prstDash val="solid"/>
          </a:ln>
        </p:spPr>
      </p:sp>
      <p:sp>
        <p:nvSpPr>
          <p:cNvPr id="17" name="Text 15"/>
          <p:cNvSpPr/>
          <p:nvPr/>
        </p:nvSpPr>
        <p:spPr>
          <a:xfrm>
            <a:off x="548640" y="4297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115568" y="4151376"/>
            <a:ext cx="448056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Report the count of unattached safety-bearing assumptions at design reviews</a:t>
            </a:r>
            <a:endParaRPr lang="en-US" sz="1250" dirty="0"/>
          </a:p>
        </p:txBody>
      </p:sp>
      <p:sp>
        <p:nvSpPr>
          <p:cNvPr id="19" name="Text 17"/>
          <p:cNvSpPr/>
          <p:nvPr/>
        </p:nvSpPr>
        <p:spPr>
          <a:xfrm>
            <a:off x="5779008" y="4151376"/>
            <a:ext cx="585216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At system, preliminary and critical design review. Program Management owns the position; Safety Assurance owns the measure. Expect the first number to be uncomfortable.</a:t>
            </a:r>
            <a:endParaRPr lang="en-US" sz="1100" dirty="0"/>
          </a:p>
        </p:txBody>
      </p:sp>
      <p:sp>
        <p:nvSpPr>
          <p:cNvPr id="20" name="Shape 18"/>
          <p:cNvSpPr/>
          <p:nvPr/>
        </p:nvSpPr>
        <p:spPr>
          <a:xfrm>
            <a:off x="548640" y="5157216"/>
            <a:ext cx="384048" cy="384048"/>
          </a:xfrm>
          <a:prstGeom prst="roundRect">
            <a:avLst>
              <a:gd name="adj" fmla="val 16667"/>
            </a:avLst>
          </a:prstGeom>
          <a:solidFill>
            <a:srgbClr val="B4530C"/>
          </a:solidFill>
          <a:ln w="12700">
            <a:solidFill>
              <a:srgbClr val="B4530C"/>
            </a:solidFill>
            <a:prstDash val="solid"/>
          </a:ln>
        </p:spPr>
      </p:sp>
      <p:sp>
        <p:nvSpPr>
          <p:cNvPr id="21" name="Text 19"/>
          <p:cNvSpPr/>
          <p:nvPr/>
        </p:nvSpPr>
        <p:spPr>
          <a:xfrm>
            <a:off x="54864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115568" y="5010912"/>
            <a:ext cx="4480560" cy="768096"/>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Stop releasing bare assumption statements to other programs</a:t>
            </a:r>
            <a:endParaRPr lang="en-US" sz="1250" dirty="0"/>
          </a:p>
        </p:txBody>
      </p:sp>
      <p:sp>
        <p:nvSpPr>
          <p:cNvPr id="23" name="Text 21"/>
          <p:cNvSpPr/>
          <p:nvPr/>
        </p:nvSpPr>
        <p:spPr>
          <a:xfrm>
            <a:off x="5779008" y="5010912"/>
            <a:ext cx="5852160" cy="768096"/>
          </a:xfrm>
          <a:prstGeom prst="rect">
            <a:avLst/>
          </a:prstGeom>
          <a:noFill/>
          <a:ln/>
        </p:spPr>
        <p:txBody>
          <a:bodyPr wrap="square" lIns="0" tIns="0" rIns="0" bIns="0" rtlCol="0" anchor="ctr"/>
          <a:lstStyle/>
          <a:p>
            <a:pPr indent="0" marL="0">
              <a:lnSpc>
                <a:spcPts val="1500"/>
              </a:lnSpc>
              <a:buNone/>
            </a:pPr>
            <a:r>
              <a:rPr lang="en-US" sz="1100" dirty="0">
                <a:solidFill>
                  <a:srgbClr val="C9D6EC"/>
                </a:solidFill>
                <a:latin typeface="Calibri" pitchFamily="34" charset="0"/>
                <a:ea typeface="Calibri" pitchFamily="34" charset="-122"/>
                <a:cs typeface="Calibri" pitchFamily="34" charset="-120"/>
              </a:rPr>
              <a:t>The conditions, the document references and the verification evidence travel with the statement, or nothing travels. This is what stops us manufacturing the same problem for the next program.</a:t>
            </a:r>
            <a:endParaRPr lang="en-US" sz="1100" dirty="0"/>
          </a:p>
        </p:txBody>
      </p:sp>
      <p:sp>
        <p:nvSpPr>
          <p:cNvPr id="24" name="Shape 22"/>
          <p:cNvSpPr/>
          <p:nvPr/>
        </p:nvSpPr>
        <p:spPr>
          <a:xfrm>
            <a:off x="548640" y="5943600"/>
            <a:ext cx="11091672" cy="713232"/>
          </a:xfrm>
          <a:prstGeom prst="roundRect">
            <a:avLst>
              <a:gd name="adj" fmla="val 6410"/>
            </a:avLst>
          </a:prstGeom>
          <a:solidFill>
            <a:srgbClr val="1F4380"/>
          </a:solidFill>
          <a:ln w="12700">
            <a:solidFill>
              <a:srgbClr val="1F4380"/>
            </a:solidFill>
            <a:prstDash val="solid"/>
          </a:ln>
        </p:spPr>
      </p:sp>
      <p:sp>
        <p:nvSpPr>
          <p:cNvPr id="25" name="Text 23"/>
          <p:cNvSpPr/>
          <p:nvPr/>
        </p:nvSpPr>
        <p:spPr>
          <a:xfrm>
            <a:off x="822960" y="5943600"/>
            <a:ext cx="10515600" cy="713232"/>
          </a:xfrm>
          <a:prstGeom prst="rect">
            <a:avLst/>
          </a:prstGeom>
          <a:noFill/>
          <a:ln/>
        </p:spPr>
        <p:txBody>
          <a:bodyPr wrap="square" lIns="0" tIns="0" rIns="0" bIns="0" rtlCol="0" anchor="ctr"/>
          <a:lstStyle/>
          <a:p>
            <a:pPr indent="0" marL="0">
              <a:lnSpc>
                <a:spcPts val="1500"/>
              </a:lnSpc>
              <a:buNone/>
            </a:pPr>
            <a:r>
              <a:rPr lang="en-US" sz="1050" dirty="0">
                <a:solidFill>
                  <a:srgbClr val="D6E0F2"/>
                </a:solidFill>
                <a:latin typeface="Calibri" pitchFamily="34" charset="0"/>
                <a:ea typeface="Calibri" pitchFamily="34" charset="-122"/>
                <a:cs typeface="Calibri" pitchFamily="34" charset="-120"/>
              </a:rPr>
              <a:t>Two honest caveats:  neither SM-0001 nor EIA-649-1 requires an assumption register today, so this is a bridge we are building rather than an existing obligation, and it should be annotated as such.  And applied to everything it is unaffordable, so the tiering decision on slide 17 is the thing that determines whether it survives.</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48640" y="274320"/>
            <a:ext cx="11064240" cy="237744"/>
          </a:xfrm>
          <a:prstGeom prst="rect">
            <a:avLst/>
          </a:prstGeom>
          <a:noFill/>
          <a:ln/>
        </p:spPr>
        <p:txBody>
          <a:bodyPr wrap="square" lIns="0" tIns="0" rIns="0" bIns="0" rtlCol="0" anchor="ctr"/>
          <a:lstStyle/>
          <a:p>
            <a:pPr indent="0" marL="0">
              <a:buNone/>
            </a:pPr>
            <a:r>
              <a:rPr lang="en-US" sz="1050" b="1" spc="160" kern="0" dirty="0">
                <a:solidFill>
                  <a:srgbClr val="B4530C"/>
                </a:solidFill>
                <a:latin typeface="Calibri" pitchFamily="34" charset="0"/>
                <a:ea typeface="Calibri" pitchFamily="34" charset="-122"/>
                <a:cs typeface="Calibri" pitchFamily="34" charset="-120"/>
              </a:rPr>
              <a:t>REFERENCE</a:t>
            </a:r>
            <a:endParaRPr lang="en-US" sz="1050" dirty="0"/>
          </a:p>
        </p:txBody>
      </p:sp>
      <p:sp>
        <p:nvSpPr>
          <p:cNvPr id="3" name="Text 1"/>
          <p:cNvSpPr/>
          <p:nvPr/>
        </p:nvSpPr>
        <p:spPr>
          <a:xfrm>
            <a:off x="548640" y="530352"/>
            <a:ext cx="11064240" cy="621792"/>
          </a:xfrm>
          <a:prstGeom prst="rect">
            <a:avLst/>
          </a:prstGeom>
          <a:noFill/>
          <a:ln/>
        </p:spPr>
        <p:txBody>
          <a:bodyPr wrap="square" lIns="0" tIns="0" rIns="0" bIns="0" rtlCol="0" anchor="t"/>
          <a:lstStyle/>
          <a:p>
            <a:pPr indent="0" marL="0">
              <a:buNone/>
            </a:pPr>
            <a:r>
              <a:rPr lang="en-US" sz="2800" b="1" dirty="0">
                <a:solidFill>
                  <a:srgbClr val="132A4E"/>
                </a:solidFill>
                <a:latin typeface="Cambria" pitchFamily="34" charset="0"/>
                <a:ea typeface="Cambria" pitchFamily="34" charset="-122"/>
                <a:cs typeface="Cambria" pitchFamily="34" charset="-120"/>
              </a:rPr>
              <a:t>Glossary</a:t>
            </a:r>
            <a:endParaRPr lang="en-US" sz="2800" dirty="0"/>
          </a:p>
        </p:txBody>
      </p:sp>
      <p:sp>
        <p:nvSpPr>
          <p:cNvPr id="4" name="Shape 2"/>
          <p:cNvSpPr/>
          <p:nvPr/>
        </p:nvSpPr>
        <p:spPr>
          <a:xfrm>
            <a:off x="548640" y="1225296"/>
            <a:ext cx="5394960" cy="1133856"/>
          </a:xfrm>
          <a:prstGeom prst="roundRect">
            <a:avLst>
              <a:gd name="adj" fmla="val 4032"/>
            </a:avLst>
          </a:prstGeom>
          <a:solidFill>
            <a:srgbClr val="E9EEF7"/>
          </a:solidFill>
          <a:ln w="12700">
            <a:solidFill>
              <a:srgbClr val="D3DEEF"/>
            </a:solidFill>
            <a:prstDash val="solid"/>
          </a:ln>
        </p:spPr>
      </p:sp>
      <p:sp>
        <p:nvSpPr>
          <p:cNvPr id="5" name="Text 3"/>
          <p:cNvSpPr/>
          <p:nvPr/>
        </p:nvSpPr>
        <p:spPr>
          <a:xfrm>
            <a:off x="786384" y="134416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Ground rules and assumptions</a:t>
            </a:r>
            <a:endParaRPr lang="en-US" sz="1200" dirty="0"/>
          </a:p>
        </p:txBody>
      </p:sp>
      <p:sp>
        <p:nvSpPr>
          <p:cNvPr id="6" name="Text 4"/>
          <p:cNvSpPr/>
          <p:nvPr/>
        </p:nvSpPr>
        <p:spPr>
          <a:xfrm>
            <a:off x="786384" y="163677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Statements a program adopts as true in order to bound analysis and design. In safety work they usually carry risk credit, meaning a hazard was closed partly because of them.</a:t>
            </a:r>
            <a:endParaRPr lang="en-US" sz="1100" dirty="0"/>
          </a:p>
        </p:txBody>
      </p:sp>
      <p:sp>
        <p:nvSpPr>
          <p:cNvPr id="7" name="Shape 5"/>
          <p:cNvSpPr/>
          <p:nvPr/>
        </p:nvSpPr>
        <p:spPr>
          <a:xfrm>
            <a:off x="6181344" y="1225296"/>
            <a:ext cx="5394960" cy="1133856"/>
          </a:xfrm>
          <a:prstGeom prst="roundRect">
            <a:avLst>
              <a:gd name="adj" fmla="val 4032"/>
            </a:avLst>
          </a:prstGeom>
          <a:solidFill>
            <a:srgbClr val="FFFFFF"/>
          </a:solidFill>
          <a:ln w="12700">
            <a:solidFill>
              <a:srgbClr val="D3DEEF"/>
            </a:solidFill>
            <a:prstDash val="solid"/>
          </a:ln>
        </p:spPr>
      </p:sp>
      <p:sp>
        <p:nvSpPr>
          <p:cNvPr id="8" name="Text 6"/>
          <p:cNvSpPr/>
          <p:nvPr/>
        </p:nvSpPr>
        <p:spPr>
          <a:xfrm>
            <a:off x="6419088" y="134416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Configuration item</a:t>
            </a:r>
            <a:endParaRPr lang="en-US" sz="1200" dirty="0"/>
          </a:p>
        </p:txBody>
      </p:sp>
      <p:sp>
        <p:nvSpPr>
          <p:cNvPr id="9" name="Text 7"/>
          <p:cNvSpPr/>
          <p:nvPr/>
        </p:nvSpPr>
        <p:spPr>
          <a:xfrm>
            <a:off x="6419088" y="163677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A part of the product designated for individual tracking and change control. Safety-significant items are already required to be designated as such.</a:t>
            </a:r>
            <a:endParaRPr lang="en-US" sz="1100" dirty="0"/>
          </a:p>
        </p:txBody>
      </p:sp>
      <p:sp>
        <p:nvSpPr>
          <p:cNvPr id="10" name="Shape 8"/>
          <p:cNvSpPr/>
          <p:nvPr/>
        </p:nvSpPr>
        <p:spPr>
          <a:xfrm>
            <a:off x="548640" y="2505456"/>
            <a:ext cx="5394960" cy="1133856"/>
          </a:xfrm>
          <a:prstGeom prst="roundRect">
            <a:avLst>
              <a:gd name="adj" fmla="val 4032"/>
            </a:avLst>
          </a:prstGeom>
          <a:solidFill>
            <a:srgbClr val="E9EEF7"/>
          </a:solidFill>
          <a:ln w="12700">
            <a:solidFill>
              <a:srgbClr val="D3DEEF"/>
            </a:solidFill>
            <a:prstDash val="solid"/>
          </a:ln>
        </p:spPr>
      </p:sp>
      <p:sp>
        <p:nvSpPr>
          <p:cNvPr id="11" name="Text 9"/>
          <p:cNvSpPr/>
          <p:nvPr/>
        </p:nvSpPr>
        <p:spPr>
          <a:xfrm>
            <a:off x="786384" y="262432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Configuration documentation</a:t>
            </a:r>
            <a:endParaRPr lang="en-US" sz="1200" dirty="0"/>
          </a:p>
        </p:txBody>
      </p:sp>
      <p:sp>
        <p:nvSpPr>
          <p:cNvPr id="12" name="Text 10"/>
          <p:cNvSpPr/>
          <p:nvPr/>
        </p:nvSpPr>
        <p:spPr>
          <a:xfrm>
            <a:off x="786384" y="291693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approved drawings, specifications and requirements defining what an item is supposed to be.</a:t>
            </a:r>
            <a:endParaRPr lang="en-US" sz="1100" dirty="0"/>
          </a:p>
        </p:txBody>
      </p:sp>
      <p:sp>
        <p:nvSpPr>
          <p:cNvPr id="13" name="Shape 11"/>
          <p:cNvSpPr/>
          <p:nvPr/>
        </p:nvSpPr>
        <p:spPr>
          <a:xfrm>
            <a:off x="6181344" y="2505456"/>
            <a:ext cx="5394960" cy="1133856"/>
          </a:xfrm>
          <a:prstGeom prst="roundRect">
            <a:avLst>
              <a:gd name="adj" fmla="val 4032"/>
            </a:avLst>
          </a:prstGeom>
          <a:solidFill>
            <a:srgbClr val="FFFFFF"/>
          </a:solidFill>
          <a:ln w="12700">
            <a:solidFill>
              <a:srgbClr val="D3DEEF"/>
            </a:solidFill>
            <a:prstDash val="solid"/>
          </a:ln>
        </p:spPr>
      </p:sp>
      <p:sp>
        <p:nvSpPr>
          <p:cNvPr id="14" name="Text 12"/>
          <p:cNvSpPr/>
          <p:nvPr/>
        </p:nvSpPr>
        <p:spPr>
          <a:xfrm>
            <a:off x="6419088" y="262432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Baseline</a:t>
            </a:r>
            <a:endParaRPr lang="en-US" sz="1200" dirty="0"/>
          </a:p>
        </p:txBody>
      </p:sp>
      <p:sp>
        <p:nvSpPr>
          <p:cNvPr id="15" name="Text 13"/>
          <p:cNvSpPr/>
          <p:nvPr/>
        </p:nvSpPr>
        <p:spPr>
          <a:xfrm>
            <a:off x="6419088" y="291693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An approved snapshot of that documentation. Functional covers what the system does, allocated what each part does, product what it actually is.</a:t>
            </a:r>
            <a:endParaRPr lang="en-US" sz="1100" dirty="0"/>
          </a:p>
        </p:txBody>
      </p:sp>
      <p:sp>
        <p:nvSpPr>
          <p:cNvPr id="16" name="Shape 14"/>
          <p:cNvSpPr/>
          <p:nvPr/>
        </p:nvSpPr>
        <p:spPr>
          <a:xfrm>
            <a:off x="548640" y="3785616"/>
            <a:ext cx="5394960" cy="1133856"/>
          </a:xfrm>
          <a:prstGeom prst="roundRect">
            <a:avLst>
              <a:gd name="adj" fmla="val 4032"/>
            </a:avLst>
          </a:prstGeom>
          <a:solidFill>
            <a:srgbClr val="E9EEF7"/>
          </a:solidFill>
          <a:ln w="12700">
            <a:solidFill>
              <a:srgbClr val="D3DEEF"/>
            </a:solidFill>
            <a:prstDash val="solid"/>
          </a:ln>
        </p:spPr>
      </p:sp>
      <p:sp>
        <p:nvSpPr>
          <p:cNvPr id="17" name="Text 15"/>
          <p:cNvSpPr/>
          <p:nvPr/>
        </p:nvSpPr>
        <p:spPr>
          <a:xfrm>
            <a:off x="786384" y="390448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Engineering change proposal</a:t>
            </a:r>
            <a:endParaRPr lang="en-US" sz="1200" dirty="0"/>
          </a:p>
        </p:txBody>
      </p:sp>
      <p:sp>
        <p:nvSpPr>
          <p:cNvPr id="18" name="Text 16"/>
          <p:cNvSpPr/>
          <p:nvPr/>
        </p:nvSpPr>
        <p:spPr>
          <a:xfrm>
            <a:off x="786384" y="419709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formal package proposing a change to something baselined, including an assessment of the full extent of its effects.</a:t>
            </a:r>
            <a:endParaRPr lang="en-US" sz="1100" dirty="0"/>
          </a:p>
        </p:txBody>
      </p:sp>
      <p:sp>
        <p:nvSpPr>
          <p:cNvPr id="19" name="Shape 17"/>
          <p:cNvSpPr/>
          <p:nvPr/>
        </p:nvSpPr>
        <p:spPr>
          <a:xfrm>
            <a:off x="6181344" y="3785616"/>
            <a:ext cx="5394960" cy="1133856"/>
          </a:xfrm>
          <a:prstGeom prst="roundRect">
            <a:avLst>
              <a:gd name="adj" fmla="val 4032"/>
            </a:avLst>
          </a:prstGeom>
          <a:solidFill>
            <a:srgbClr val="FFFFFF"/>
          </a:solidFill>
          <a:ln w="12700">
            <a:solidFill>
              <a:srgbClr val="D3DEEF"/>
            </a:solidFill>
            <a:prstDash val="solid"/>
          </a:ln>
        </p:spPr>
      </p:sp>
      <p:sp>
        <p:nvSpPr>
          <p:cNvPr id="20" name="Text 18"/>
          <p:cNvSpPr/>
          <p:nvPr/>
        </p:nvSpPr>
        <p:spPr>
          <a:xfrm>
            <a:off x="6419088" y="390448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Configuration status accounting</a:t>
            </a:r>
            <a:endParaRPr lang="en-US" sz="1200" dirty="0"/>
          </a:p>
        </p:txBody>
      </p:sp>
      <p:sp>
        <p:nvSpPr>
          <p:cNvPr id="21" name="Text 19"/>
          <p:cNvSpPr/>
          <p:nvPr/>
        </p:nvSpPr>
        <p:spPr>
          <a:xfrm>
            <a:off x="6419088" y="419709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record-keeping that can report the current approved definition of an item and what changes are outstanding against it.</a:t>
            </a:r>
            <a:endParaRPr lang="en-US" sz="1100" dirty="0"/>
          </a:p>
        </p:txBody>
      </p:sp>
      <p:sp>
        <p:nvSpPr>
          <p:cNvPr id="22" name="Shape 20"/>
          <p:cNvSpPr/>
          <p:nvPr/>
        </p:nvSpPr>
        <p:spPr>
          <a:xfrm>
            <a:off x="548640" y="5065776"/>
            <a:ext cx="5394960" cy="1133856"/>
          </a:xfrm>
          <a:prstGeom prst="roundRect">
            <a:avLst>
              <a:gd name="adj" fmla="val 4032"/>
            </a:avLst>
          </a:prstGeom>
          <a:solidFill>
            <a:srgbClr val="E9EEF7"/>
          </a:solidFill>
          <a:ln w="12700">
            <a:solidFill>
              <a:srgbClr val="D3DEEF"/>
            </a:solidFill>
            <a:prstDash val="solid"/>
          </a:ln>
        </p:spPr>
      </p:sp>
      <p:sp>
        <p:nvSpPr>
          <p:cNvPr id="23" name="Text 21"/>
          <p:cNvSpPr/>
          <p:nvPr/>
        </p:nvSpPr>
        <p:spPr>
          <a:xfrm>
            <a:off x="786384" y="518464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Binding or attaching</a:t>
            </a:r>
            <a:endParaRPr lang="en-US" sz="1200" dirty="0"/>
          </a:p>
        </p:txBody>
      </p:sp>
      <p:sp>
        <p:nvSpPr>
          <p:cNvPr id="24" name="Text 22"/>
          <p:cNvSpPr/>
          <p:nvPr/>
        </p:nvSpPr>
        <p:spPr>
          <a:xfrm>
            <a:off x="786384" y="547725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Used in this deck to mean linking an assumption to the specific controlled document that makes its conditions checkable.</a:t>
            </a:r>
            <a:endParaRPr lang="en-US" sz="1100" dirty="0"/>
          </a:p>
        </p:txBody>
      </p:sp>
      <p:sp>
        <p:nvSpPr>
          <p:cNvPr id="25" name="Shape 23"/>
          <p:cNvSpPr/>
          <p:nvPr/>
        </p:nvSpPr>
        <p:spPr>
          <a:xfrm>
            <a:off x="6181344" y="5065776"/>
            <a:ext cx="5394960" cy="1133856"/>
          </a:xfrm>
          <a:prstGeom prst="roundRect">
            <a:avLst>
              <a:gd name="adj" fmla="val 4032"/>
            </a:avLst>
          </a:prstGeom>
          <a:solidFill>
            <a:srgbClr val="FFFFFF"/>
          </a:solidFill>
          <a:ln w="12700">
            <a:solidFill>
              <a:srgbClr val="D3DEEF"/>
            </a:solidFill>
            <a:prstDash val="solid"/>
          </a:ln>
        </p:spPr>
      </p:sp>
      <p:sp>
        <p:nvSpPr>
          <p:cNvPr id="26" name="Text 24"/>
          <p:cNvSpPr/>
          <p:nvPr/>
        </p:nvSpPr>
        <p:spPr>
          <a:xfrm>
            <a:off x="6419088" y="5184648"/>
            <a:ext cx="4882896" cy="274320"/>
          </a:xfrm>
          <a:prstGeom prst="rect">
            <a:avLst/>
          </a:prstGeom>
          <a:noFill/>
          <a:ln/>
        </p:spPr>
        <p:txBody>
          <a:bodyPr wrap="square" lIns="0" tIns="0" rIns="0" bIns="0" rtlCol="0" anchor="ctr"/>
          <a:lstStyle/>
          <a:p>
            <a:pPr indent="0" marL="0">
              <a:buNone/>
            </a:pPr>
            <a:r>
              <a:rPr lang="en-US" sz="1200" b="1" dirty="0">
                <a:solidFill>
                  <a:srgbClr val="1F4380"/>
                </a:solidFill>
                <a:latin typeface="Calibri" pitchFamily="34" charset="0"/>
                <a:ea typeface="Calibri" pitchFamily="34" charset="-122"/>
                <a:cs typeface="Calibri" pitchFamily="34" charset="-120"/>
              </a:rPr>
              <a:t>Risk credit</a:t>
            </a:r>
            <a:endParaRPr lang="en-US" sz="1200" dirty="0"/>
          </a:p>
        </p:txBody>
      </p:sp>
      <p:sp>
        <p:nvSpPr>
          <p:cNvPr id="27" name="Text 25"/>
          <p:cNvSpPr/>
          <p:nvPr/>
        </p:nvSpPr>
        <p:spPr>
          <a:xfrm>
            <a:off x="6419088" y="5477256"/>
            <a:ext cx="4901184" cy="676656"/>
          </a:xfrm>
          <a:prstGeom prst="rect">
            <a:avLst/>
          </a:prstGeom>
          <a:noFill/>
          <a:ln/>
        </p:spPr>
        <p:txBody>
          <a:bodyPr wrap="square" lIns="0" tIns="0" rIns="0" bIns="0" rtlCol="0" anchor="ctr"/>
          <a:lstStyle/>
          <a:p>
            <a:pPr indent="0" marL="0">
              <a:lnSpc>
                <a:spcPts val="1550"/>
              </a:lnSpc>
              <a:buNone/>
            </a:pPr>
            <a:r>
              <a:rPr lang="en-US" sz="1100" dirty="0">
                <a:solidFill>
                  <a:srgbClr val="1A2333"/>
                </a:solidFill>
                <a:latin typeface="Calibri" pitchFamily="34" charset="0"/>
                <a:ea typeface="Calibri" pitchFamily="34" charset="-122"/>
                <a:cs typeface="Calibri" pitchFamily="34" charset="-120"/>
              </a:rPr>
              <a:t>The reduction in assessed risk that an assumption is providing. If the assumption fails, the credit is withdrawn and the hazard reopens.</a:t>
            </a:r>
            <a:endParaRPr lang="en-US" sz="1100" dirty="0"/>
          </a:p>
        </p:txBody>
      </p:sp>
      <p:sp>
        <p:nvSpPr>
          <p:cNvPr id="28" name="Text 26"/>
          <p:cNvSpPr/>
          <p:nvPr/>
        </p:nvSpPr>
        <p:spPr>
          <a:xfrm>
            <a:off x="548640" y="6355080"/>
            <a:ext cx="11064240" cy="365760"/>
          </a:xfrm>
          <a:prstGeom prst="rect">
            <a:avLst/>
          </a:prstGeom>
          <a:noFill/>
          <a:ln/>
        </p:spPr>
        <p:txBody>
          <a:bodyPr wrap="square" lIns="0" tIns="0" rIns="0" bIns="0" rtlCol="0" anchor="ctr"/>
          <a:lstStyle/>
          <a:p>
            <a:pPr indent="0" marL="0">
              <a:buNone/>
            </a:pPr>
            <a:r>
              <a:rPr lang="en-US" sz="1100" i="1" dirty="0">
                <a:solidFill>
                  <a:srgbClr val="4A5568"/>
                </a:solidFill>
                <a:latin typeface="Calibri" pitchFamily="34" charset="0"/>
                <a:ea typeface="Calibri" pitchFamily="34" charset="-122"/>
                <a:cs typeface="Calibri" pitchFamily="34" charset="-120"/>
              </a:rPr>
              <a:t>Standard references used in this deck: SM-0001 Issue C for safety management system and safety risk management requirements; EIA-649-1 and GEIA-HB-649 for configuration management requirements and guidance.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2026-08-05T02:18:18Z</dcterms:created>
  <dcterms:modified xsi:type="dcterms:W3CDTF">2026-08-05T02:18:18Z</dcterms:modified>
</cp:coreProperties>
</file>